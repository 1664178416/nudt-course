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81" r:id="rId2"/>
    <p:sldId id="282" r:id="rId3"/>
    <p:sldId id="283" r:id="rId4"/>
    <p:sldId id="284" r:id="rId5"/>
    <p:sldId id="285" r:id="rId6"/>
    <p:sldId id="290" r:id="rId7"/>
    <p:sldId id="286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304" r:id="rId22"/>
    <p:sldId id="305" r:id="rId23"/>
    <p:sldId id="306" r:id="rId24"/>
    <p:sldId id="307" r:id="rId25"/>
    <p:sldId id="308" r:id="rId26"/>
    <p:sldId id="318" r:id="rId27"/>
    <p:sldId id="319" r:id="rId28"/>
    <p:sldId id="320" r:id="rId29"/>
    <p:sldId id="321" r:id="rId30"/>
    <p:sldId id="309" r:id="rId31"/>
    <p:sldId id="322" r:id="rId32"/>
    <p:sldId id="310" r:id="rId33"/>
    <p:sldId id="323" r:id="rId34"/>
    <p:sldId id="324" r:id="rId35"/>
    <p:sldId id="325" r:id="rId36"/>
    <p:sldId id="326" r:id="rId37"/>
    <p:sldId id="327" r:id="rId38"/>
    <p:sldId id="328" r:id="rId39"/>
    <p:sldId id="329" r:id="rId40"/>
    <p:sldId id="330" r:id="rId41"/>
    <p:sldId id="311" r:id="rId42"/>
    <p:sldId id="317" r:id="rId43"/>
    <p:sldId id="260" r:id="rId4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DD7E"/>
    <a:srgbClr val="FFCC99"/>
    <a:srgbClr val="B89076"/>
    <a:srgbClr val="003153"/>
    <a:srgbClr val="E5DDD7"/>
    <a:srgbClr val="00324D"/>
    <a:srgbClr val="778B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713" autoAdjust="0"/>
  </p:normalViewPr>
  <p:slideViewPr>
    <p:cSldViewPr snapToGrid="0">
      <p:cViewPr varScale="1">
        <p:scale>
          <a:sx n="109" d="100"/>
          <a:sy n="109" d="100"/>
        </p:scale>
        <p:origin x="624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BB9ACA-2278-4D0B-918D-4C6C0ECC0AB1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8F5B74-5D12-419B-81D4-E75E56A2C5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4016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8F5B74-5D12-419B-81D4-E75E56A2C51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77167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rgbClr val="00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264A71-7401-9212-2599-1D9A943A69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方正小标宋简体" panose="02000000000000000000" pitchFamily="2" charset="-122"/>
                <a:ea typeface="方正小标宋简体" panose="02000000000000000000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D50A2D1-51B3-56A4-DBD5-5AEBD5EA04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16012"/>
            <a:ext cx="9144000" cy="1041788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327616-1DBB-86E1-AEC7-A53F993D1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A020B4B-9F71-4A7D-B2B3-B930E817569B}" type="datetimeFigureOut">
              <a:rPr lang="zh-CN" altLang="en-US" smtClean="0"/>
              <a:pPr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9771D2-14A5-C068-4A2B-0A2AB90D3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9A0480-5121-45EE-AF78-E97704E40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B2EA2D-A50E-44FB-B88E-CBE7D8AFAE3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874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00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AD0AC1-EDFF-AA60-E64B-5A50D8ED0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513" y="136525"/>
            <a:ext cx="11252719" cy="581835"/>
          </a:xfrm>
        </p:spPr>
        <p:txBody>
          <a:bodyPr>
            <a:normAutofit/>
          </a:bodyPr>
          <a:lstStyle>
            <a:lvl1pPr>
              <a:lnSpc>
                <a:spcPct val="110000"/>
              </a:lnSpc>
              <a:defRPr sz="2800">
                <a:solidFill>
                  <a:schemeClr val="bg1"/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533667-01AD-99BF-2EAF-E3A9809BC7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513" y="807720"/>
            <a:ext cx="11252719" cy="5478779"/>
          </a:xfrm>
        </p:spPr>
        <p:txBody>
          <a:bodyPr/>
          <a:lstStyle>
            <a:lvl1pPr marL="0" indent="0">
              <a:lnSpc>
                <a:spcPct val="130000"/>
              </a:lnSpc>
              <a:buNone/>
              <a:defRPr sz="2400">
                <a:solidFill>
                  <a:schemeClr val="bg1"/>
                </a:solidFill>
                <a:latin typeface="香萃等粗宋" panose="02020700000000000000" pitchFamily="18" charset="-122"/>
                <a:ea typeface="香萃等粗宋" panose="02020700000000000000" pitchFamily="18" charset="-122"/>
              </a:defRPr>
            </a:lvl1pPr>
            <a:lvl2pPr marL="457200" indent="0">
              <a:lnSpc>
                <a:spcPct val="130000"/>
              </a:lnSpc>
              <a:buNone/>
              <a:defRPr sz="200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defRPr>
            </a:lvl2pPr>
            <a:lvl3pPr marL="914400" indent="0">
              <a:lnSpc>
                <a:spcPct val="130000"/>
              </a:lnSpc>
              <a:buNone/>
              <a:defRPr sz="180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defRPr>
            </a:lvl3pPr>
            <a:lvl4pPr marL="1371600" indent="0">
              <a:lnSpc>
                <a:spcPct val="130000"/>
              </a:lnSpc>
              <a:buNone/>
              <a:defRPr sz="160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defRPr>
            </a:lvl4pPr>
            <a:lvl5pPr marL="1828800" indent="0">
              <a:lnSpc>
                <a:spcPct val="130000"/>
              </a:lnSpc>
              <a:buNone/>
              <a:defRPr sz="160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47511F-EB6C-ECE7-A1F7-1254E43974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A020B4B-9F71-4A7D-B2B3-B930E817569B}" type="datetimeFigureOut">
              <a:rPr lang="zh-CN" altLang="en-US" smtClean="0"/>
              <a:pPr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654D3C-AEE8-48A9-D289-7191854E3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C28D73-1FDE-16E0-79C5-A56FB8C13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B2EA2D-A50E-44FB-B88E-CBE7D8AFAE3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5647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0031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149C6F-6E87-4941-F7ED-112B5F124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F935FBC-00D6-CE13-3D40-723C23487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106CCC-0FE8-835A-A852-6EE687D44A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A020B4B-9F71-4A7D-B2B3-B930E817569B}" type="datetimeFigureOut">
              <a:rPr lang="zh-CN" altLang="en-US" smtClean="0"/>
              <a:pPr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40B616-3F61-16B3-69D5-1E95EF06F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0DF95E-9AED-F509-70D3-CC9F048BB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BB2EA2D-A50E-44FB-B88E-CBE7D8AFAE3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91385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rgbClr val="00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6602EB-EB8A-49A6-AD05-22521418A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方正粗黑宋简体" panose="02000000000000000000" pitchFamily="2" charset="-122"/>
                <a:ea typeface="方正粗黑宋简体" panose="02000000000000000000" pitchFamily="2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11982C-760C-1C32-66E4-BD1CA94895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方正屏显雅宋简体" panose="02010600010101010101" pitchFamily="2" charset="-122"/>
                <a:ea typeface="方正屏显雅宋简体" panose="02010600010101010101" pitchFamily="2" charset="-122"/>
              </a:defRPr>
            </a:lvl1pPr>
            <a:lvl2pPr>
              <a:defRPr>
                <a:latin typeface="方正屏显雅宋简体" panose="02010600010101010101" pitchFamily="2" charset="-122"/>
                <a:ea typeface="方正屏显雅宋简体" panose="02010600010101010101" pitchFamily="2" charset="-122"/>
              </a:defRPr>
            </a:lvl2pPr>
            <a:lvl3pPr>
              <a:defRPr>
                <a:latin typeface="方正屏显雅宋简体" panose="02010600010101010101" pitchFamily="2" charset="-122"/>
                <a:ea typeface="方正屏显雅宋简体" panose="02010600010101010101" pitchFamily="2" charset="-122"/>
              </a:defRPr>
            </a:lvl3pPr>
            <a:lvl4pPr>
              <a:defRPr>
                <a:latin typeface="方正屏显雅宋简体" panose="02010600010101010101" pitchFamily="2" charset="-122"/>
                <a:ea typeface="方正屏显雅宋简体" panose="02010600010101010101" pitchFamily="2" charset="-122"/>
              </a:defRPr>
            </a:lvl4pPr>
            <a:lvl5pPr>
              <a:defRPr>
                <a:latin typeface="方正屏显雅宋简体" panose="02010600010101010101" pitchFamily="2" charset="-122"/>
                <a:ea typeface="方正屏显雅宋简体" panose="0201060001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2057263-C51E-F1DF-58D8-69E2B022A0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方正屏显雅宋简体" panose="02010600010101010101" pitchFamily="2" charset="-122"/>
                <a:ea typeface="方正屏显雅宋简体" panose="02010600010101010101" pitchFamily="2" charset="-122"/>
              </a:defRPr>
            </a:lvl1pPr>
            <a:lvl2pPr>
              <a:defRPr>
                <a:latin typeface="方正屏显雅宋简体" panose="02010600010101010101" pitchFamily="2" charset="-122"/>
                <a:ea typeface="方正屏显雅宋简体" panose="02010600010101010101" pitchFamily="2" charset="-122"/>
              </a:defRPr>
            </a:lvl2pPr>
            <a:lvl3pPr>
              <a:defRPr>
                <a:latin typeface="方正屏显雅宋简体" panose="02010600010101010101" pitchFamily="2" charset="-122"/>
                <a:ea typeface="方正屏显雅宋简体" panose="02010600010101010101" pitchFamily="2" charset="-122"/>
              </a:defRPr>
            </a:lvl3pPr>
            <a:lvl4pPr>
              <a:defRPr>
                <a:latin typeface="方正屏显雅宋简体" panose="02010600010101010101" pitchFamily="2" charset="-122"/>
                <a:ea typeface="方正屏显雅宋简体" panose="02010600010101010101" pitchFamily="2" charset="-122"/>
              </a:defRPr>
            </a:lvl4pPr>
            <a:lvl5pPr>
              <a:defRPr>
                <a:latin typeface="方正屏显雅宋简体" panose="02010600010101010101" pitchFamily="2" charset="-122"/>
                <a:ea typeface="方正屏显雅宋简体" panose="02010600010101010101" pitchFamily="2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6BFD33E-244A-BDB6-7EB7-0F6100360B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020B4B-9F71-4A7D-B2B3-B930E817569B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D98EA0E-4CD1-18C1-845C-DAB2F605B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3B80800-75DF-65FF-07AC-2451A4D77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2EA2D-A50E-44FB-B88E-CBE7D8AFAE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8871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rgbClr val="00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E8E749-B46E-0C41-5765-C81C2C6C0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947144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DEEBF1C-A15C-4BD3-7E09-0D55B9A6A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8804972-AB11-F737-55CA-E75627B039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EDF1FCB-D115-053B-9AFB-41467CA785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43548D2-2539-768B-693C-3EB74E02CF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8C23B9C-FE79-DD87-6F06-D4145BDFDD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020B4B-9F71-4A7D-B2B3-B930E817569B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83BAA2C-8C06-D26D-01C1-9CC822C7A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7D5BB11-7A56-C4C4-F364-31FC6255E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2EA2D-A50E-44FB-B88E-CBE7D8AFAE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652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rgbClr val="00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6467A8-9E95-47EB-30F8-05CFD2B5C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B150B11-ED7F-D480-95C5-BEDB4CE67F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020B4B-9F71-4A7D-B2B3-B930E817569B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B252EF7-72F9-ED4A-FAF4-472B4CD8D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C079716-0DDC-9633-EE3E-5C72A6DD8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2EA2D-A50E-44FB-B88E-CBE7D8AFAE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7450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rgbClr val="00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B9E4FED-0E06-855F-6854-86D5B7CF65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020B4B-9F71-4A7D-B2B3-B930E817569B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9AA87B6-A943-BE8B-8214-342C78221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98ED05-FCEF-503F-682F-1CF45538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2EA2D-A50E-44FB-B88E-CBE7D8AFAE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9554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rgbClr val="00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3B0044-67F5-3C8E-CA2D-610A33F13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5BC19-00AF-3A64-05EA-392E067EFA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B195FF0-4CF1-FBBF-4575-0919D22E74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FA61DDF-9D8B-38C7-E9B5-D4C9537C0B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020B4B-9F71-4A7D-B2B3-B930E817569B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3B1C2D-9989-8298-C7A6-DCA762D93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401DF21-45AC-037B-F23F-E8C7F0447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2EA2D-A50E-44FB-B88E-CBE7D8AFAE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0688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rgbClr val="00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DAD4DE-2472-79D9-0925-53F3AF304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9153EFD-D361-AF9A-B651-F124820F72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8CA45F4-519C-047B-9AD5-AEA5FC8B2D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F57627F-F3C8-1D2D-C07C-6359C55AE6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020B4B-9F71-4A7D-B2B3-B930E817569B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FD985F-DA64-B306-9873-70744B11C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B77194-C6FC-F225-58B7-E804870FC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2EA2D-A50E-44FB-B88E-CBE7D8AFAE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2324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rgbClr val="00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66816E-1A09-CA6A-B590-38B686AE0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9894DEF-5238-F11A-F990-D9493146A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FA23C0-BD99-9635-9441-C3C809882D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020B4B-9F71-4A7D-B2B3-B930E817569B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98B8DC-105F-4706-760C-ED87C5215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6C4EE8-812E-6AF3-414B-9138FF193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2EA2D-A50E-44FB-B88E-CBE7D8AFAE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87515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rgbClr val="00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0DF08A6-AEEC-5D19-6058-E0AAEC0956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27D1CDC-C7FF-C3E5-6DB5-8A700633AB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91FA3E-7ACF-6752-2ACE-81ECC815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020B4B-9F71-4A7D-B2B3-B930E817569B}" type="datetimeFigureOut">
              <a:rPr lang="zh-CN" altLang="en-US" smtClean="0"/>
              <a:t>2025/11/26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F58582-0246-EC22-719F-182B0A133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BB2C423-EA3F-693C-F48C-D312BF360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B2EA2D-A50E-44FB-B88E-CBE7D8AFAE3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4250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5576ACB-FE79-1491-BC66-08BAD0C59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171" y="136525"/>
            <a:ext cx="11316749" cy="6286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3D4A27B-95A6-BFED-6519-751B95613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8171" y="922020"/>
            <a:ext cx="11316749" cy="53568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A284D6-C559-13D4-B1CA-9C05421872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8BB2EA2D-A50E-44FB-B88E-CBE7D8AFAE30}" type="slidenum">
              <a:rPr lang="zh-CN" altLang="en-US" smtClean="0"/>
              <a:pPr/>
              <a:t>‹#›</a:t>
            </a:fld>
            <a:endParaRPr lang="zh-CN" altLang="en-US"/>
          </a:p>
        </p:txBody>
      </p:sp>
      <p:pic>
        <p:nvPicPr>
          <p:cNvPr id="11" name="图形 10">
            <a:extLst>
              <a:ext uri="{FF2B5EF4-FFF2-40B4-BE49-F238E27FC236}">
                <a16:creationId xmlns:a16="http://schemas.microsoft.com/office/drawing/2014/main" id="{C86258C2-45F2-E69A-DBB9-C272546A73A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0" y="6353334"/>
            <a:ext cx="1610686" cy="50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645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bg1"/>
          </a:solidFill>
          <a:latin typeface="方正小标宋简体" panose="02010601030101010101" pitchFamily="2" charset="-122"/>
          <a:ea typeface="方正小标宋简体" panose="02010601030101010101" pitchFamily="2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bg1"/>
          </a:solidFill>
          <a:latin typeface="方正小标宋简体" panose="02010601030101010101" pitchFamily="2" charset="-122"/>
          <a:ea typeface="方正小标宋简体" panose="02010601030101010101" pitchFamily="2" charset="-122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bg1"/>
          </a:solidFill>
          <a:latin typeface="方正小标宋简体" panose="02010601030101010101" pitchFamily="2" charset="-122"/>
          <a:ea typeface="方正小标宋简体" panose="02010601030101010101" pitchFamily="2" charset="-122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bg1"/>
          </a:solidFill>
          <a:latin typeface="方正小标宋简体" panose="02010601030101010101" pitchFamily="2" charset="-122"/>
          <a:ea typeface="方正小标宋简体" panose="02010601030101010101" pitchFamily="2" charset="-122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bg1"/>
          </a:solidFill>
          <a:latin typeface="方正小标宋简体" panose="02010601030101010101" pitchFamily="2" charset="-122"/>
          <a:ea typeface="方正小标宋简体" panose="02010601030101010101" pitchFamily="2" charset="-122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bg1"/>
          </a:solidFill>
          <a:latin typeface="方正小标宋简体" panose="02010601030101010101" pitchFamily="2" charset="-122"/>
          <a:ea typeface="方正小标宋简体" panose="02010601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DBD6877-EC60-33A0-0A8A-38AC4D04D2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48188"/>
            <a:ext cx="9144000" cy="2387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>
                    <a:lumMod val="85000"/>
                  </a:schemeClr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第</a:t>
            </a:r>
            <a:r>
              <a:rPr lang="en-US" altLang="zh-CN" dirty="0">
                <a:solidFill>
                  <a:schemeClr val="bg1">
                    <a:lumMod val="85000"/>
                  </a:schemeClr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8</a:t>
            </a:r>
            <a:r>
              <a:rPr lang="zh-CN" altLang="en-US">
                <a:solidFill>
                  <a:schemeClr val="bg1">
                    <a:lumMod val="85000"/>
                  </a:schemeClr>
                </a:solidFill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章 一阶逻辑</a:t>
            </a:r>
            <a:endParaRPr lang="zh-CN" altLang="en-US" sz="4800" b="1" dirty="0">
              <a:solidFill>
                <a:schemeClr val="bg1">
                  <a:lumMod val="85000"/>
                </a:schemeClr>
              </a:solidFill>
              <a:latin typeface="方正小标宋简体" panose="02010601030101010101" pitchFamily="2" charset="-122"/>
              <a:ea typeface="方正小标宋简体" panose="02010601030101010101" pitchFamily="2" charset="-122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70FC282-555E-F47D-B591-7787A0206B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教员：庄东晔 副教授</a:t>
            </a:r>
            <a:endParaRPr lang="en-US" altLang="zh-CN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zh-CN" altLang="en-US" dirty="0">
                <a:solidFill>
                  <a:schemeClr val="bg1">
                    <a:lumMod val="85000"/>
                  </a:schemeClr>
                </a:solidFill>
              </a:rPr>
              <a:t>智能科学学院</a:t>
            </a: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C6D74270-5819-9935-1293-08DD1F2E0DCF}"/>
              </a:ext>
            </a:extLst>
          </p:cNvPr>
          <p:cNvSpPr/>
          <p:nvPr/>
        </p:nvSpPr>
        <p:spPr>
          <a:xfrm>
            <a:off x="-2" y="0"/>
            <a:ext cx="9580419" cy="728071"/>
          </a:xfrm>
          <a:prstGeom prst="homePlate">
            <a:avLst/>
          </a:prstGeom>
          <a:solidFill>
            <a:srgbClr val="B890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600" b="1" dirty="0">
                <a:solidFill>
                  <a:srgbClr val="00324D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2025</a:t>
            </a:r>
            <a:r>
              <a:rPr lang="zh-CN" altLang="en-US" sz="3600" b="1" dirty="0">
                <a:solidFill>
                  <a:srgbClr val="00324D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年秋季学期研究生课程</a:t>
            </a:r>
            <a:r>
              <a:rPr lang="en-US" altLang="zh-CN" sz="3600" b="1" dirty="0">
                <a:solidFill>
                  <a:srgbClr val="00324D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《</a:t>
            </a:r>
            <a:r>
              <a:rPr lang="zh-CN" altLang="en-US" sz="3600" b="1" dirty="0">
                <a:solidFill>
                  <a:srgbClr val="00324D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人工智能</a:t>
            </a:r>
            <a:r>
              <a:rPr lang="en-US" altLang="zh-CN" sz="3600" b="1" dirty="0">
                <a:solidFill>
                  <a:srgbClr val="00324D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》</a:t>
            </a:r>
            <a:endParaRPr lang="zh-CN" altLang="en-US" sz="3600" b="1" dirty="0">
              <a:solidFill>
                <a:srgbClr val="00324D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08339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E3B85A-91F2-1BAD-49E3-53AF7CB4D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引子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EC2B64-9D7B-D95F-A189-0FF000E46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两个问题</a:t>
            </a:r>
            <a:endParaRPr lang="en-US" altLang="zh-CN" dirty="0"/>
          </a:p>
          <a:p>
            <a:pPr lvl="1"/>
            <a:r>
              <a:rPr lang="en-US" altLang="zh-CN" dirty="0"/>
              <a:t>P</a:t>
            </a:r>
            <a:r>
              <a:rPr lang="zh-CN" altLang="en-US" dirty="0"/>
              <a:t>：凡偶数都能被</a:t>
            </a:r>
            <a:r>
              <a:rPr lang="en-US" altLang="zh-CN" dirty="0"/>
              <a:t>2</a:t>
            </a:r>
            <a:r>
              <a:rPr lang="zh-CN" altLang="en-US" dirty="0"/>
              <a:t>整除</a:t>
            </a:r>
          </a:p>
          <a:p>
            <a:pPr lvl="1"/>
            <a:r>
              <a:rPr lang="en-US" altLang="zh-CN" dirty="0"/>
              <a:t>Q</a:t>
            </a:r>
            <a:r>
              <a:rPr lang="zh-CN" altLang="en-US" dirty="0"/>
              <a:t>：</a:t>
            </a:r>
            <a:r>
              <a:rPr lang="en-US" altLang="zh-CN" dirty="0"/>
              <a:t>6</a:t>
            </a:r>
            <a:r>
              <a:rPr lang="zh-CN" altLang="en-US" dirty="0"/>
              <a:t>是偶数                              </a:t>
            </a:r>
          </a:p>
          <a:p>
            <a:pPr lvl="1"/>
            <a:r>
              <a:rPr lang="en-US" altLang="zh-CN" dirty="0"/>
              <a:t>R</a:t>
            </a:r>
            <a:r>
              <a:rPr lang="zh-CN" altLang="en-US" dirty="0"/>
              <a:t>：</a:t>
            </a:r>
            <a:r>
              <a:rPr lang="en-US" altLang="zh-CN" dirty="0"/>
              <a:t>6</a:t>
            </a:r>
            <a:r>
              <a:rPr lang="zh-CN" altLang="en-US" dirty="0"/>
              <a:t>能被</a:t>
            </a:r>
            <a:r>
              <a:rPr lang="en-US" altLang="zh-CN" dirty="0"/>
              <a:t>2</a:t>
            </a:r>
            <a:r>
              <a:rPr lang="zh-CN" altLang="en-US" dirty="0"/>
              <a:t>整除</a:t>
            </a:r>
          </a:p>
          <a:p>
            <a:pPr lvl="1"/>
            <a:r>
              <a:rPr lang="zh-CN" altLang="en-US" dirty="0"/>
              <a:t>请问是否能得到 </a:t>
            </a:r>
            <a:r>
              <a:rPr lang="en-US" altLang="zh-CN" dirty="0"/>
              <a:t>(P∧Q)⇒R </a:t>
            </a:r>
            <a:r>
              <a:rPr lang="zh-CN" altLang="en-US" dirty="0"/>
              <a:t>？</a:t>
            </a:r>
          </a:p>
          <a:p>
            <a:endParaRPr lang="zh-CN" altLang="en-US" dirty="0"/>
          </a:p>
          <a:p>
            <a:pPr lvl="1"/>
            <a:r>
              <a:rPr lang="en-US" altLang="zh-CN" dirty="0"/>
              <a:t>P</a:t>
            </a:r>
            <a:r>
              <a:rPr lang="zh-CN" altLang="en-US" dirty="0"/>
              <a:t>：人都会死</a:t>
            </a:r>
          </a:p>
          <a:p>
            <a:pPr lvl="1"/>
            <a:r>
              <a:rPr lang="en-US" altLang="zh-CN" dirty="0"/>
              <a:t>Q</a:t>
            </a:r>
            <a:r>
              <a:rPr lang="zh-CN" altLang="en-US" dirty="0"/>
              <a:t>：苏格拉底是人</a:t>
            </a:r>
          </a:p>
          <a:p>
            <a:pPr lvl="1"/>
            <a:r>
              <a:rPr lang="en-US" altLang="zh-CN" dirty="0"/>
              <a:t>R</a:t>
            </a:r>
            <a:r>
              <a:rPr lang="zh-CN" altLang="en-US" dirty="0"/>
              <a:t>：苏格拉底会死</a:t>
            </a:r>
          </a:p>
          <a:p>
            <a:pPr lvl="1"/>
            <a:r>
              <a:rPr lang="zh-CN" altLang="en-US" dirty="0"/>
              <a:t>请问是否能得到 </a:t>
            </a:r>
            <a:r>
              <a:rPr lang="en-US" altLang="zh-CN" dirty="0"/>
              <a:t>(P∧Q)⇒R </a:t>
            </a:r>
            <a:r>
              <a:rPr lang="zh-CN" altLang="en-US" dirty="0"/>
              <a:t>？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9337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E3B85A-91F2-1BAD-49E3-53AF7CB4D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引子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EC2B64-9D7B-D95F-A189-0FF000E46E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sz="2800" dirty="0"/>
              <a:t>2.</a:t>
            </a:r>
            <a:r>
              <a:rPr lang="zh-CN" altLang="en-US" sz="2800" dirty="0"/>
              <a:t>贵圈真乱</a:t>
            </a:r>
            <a:r>
              <a:rPr lang="en-US" altLang="zh-CN" sz="2800" dirty="0"/>
              <a:t>——KB</a:t>
            </a:r>
          </a:p>
          <a:p>
            <a:r>
              <a:rPr lang="zh-CN" altLang="en-US" sz="2400" dirty="0">
                <a:solidFill>
                  <a:srgbClr val="FFCC99"/>
                </a:solidFill>
              </a:rPr>
              <a:t>周迅的前男友窦鹏是窦唯的堂弟；窦唯是王菲的前夫；周迅的前男友宋宁是高原的表弟；高原是窦唯的前妻；周迅的前男友李亚鹏是王菲的现任丈夫；周迅的前男友朴树的音乐制作人是张亚东；张亚东是王菲的前夫窦唯的妹妹窦颖的前夫，也是王菲的音乐制作人；张亚东是李亚鹏前女友瞿颖的现男友。</a:t>
            </a:r>
          </a:p>
          <a:p>
            <a:endParaRPr lang="zh-CN" altLang="en-US" sz="2400" dirty="0"/>
          </a:p>
          <a:p>
            <a:r>
              <a:rPr lang="zh-CN" altLang="en-US" sz="2400" dirty="0"/>
              <a:t>请问 下列说法不正确的是： </a:t>
            </a:r>
          </a:p>
          <a:p>
            <a:r>
              <a:rPr lang="en-US" altLang="zh-CN" sz="2400" dirty="0"/>
              <a:t>• </a:t>
            </a:r>
            <a:r>
              <a:rPr lang="zh-CN" altLang="en-US" sz="2400" dirty="0"/>
              <a:t>王菲周迅是情敌关系；</a:t>
            </a:r>
          </a:p>
          <a:p>
            <a:r>
              <a:rPr lang="en-US" altLang="zh-CN" sz="2400" dirty="0"/>
              <a:t>• </a:t>
            </a:r>
            <a:r>
              <a:rPr lang="zh-CN" altLang="en-US" sz="2400" dirty="0"/>
              <a:t>瞿颖王菲是情敌关系； </a:t>
            </a:r>
          </a:p>
          <a:p>
            <a:r>
              <a:rPr lang="en-US" altLang="zh-CN" sz="2400" dirty="0"/>
              <a:t>• </a:t>
            </a:r>
            <a:r>
              <a:rPr lang="zh-CN" altLang="en-US" sz="2400" dirty="0"/>
              <a:t>窦颖周迅是情敌关系；</a:t>
            </a:r>
          </a:p>
          <a:p>
            <a:r>
              <a:rPr lang="en-US" altLang="zh-CN" sz="2400" dirty="0"/>
              <a:t>• </a:t>
            </a:r>
            <a:r>
              <a:rPr lang="zh-CN" altLang="en-US" sz="2400" dirty="0"/>
              <a:t>瞿颖周迅是情敌关系</a:t>
            </a:r>
            <a:r>
              <a:rPr lang="en-US" altLang="zh-CN" sz="2400" dirty="0"/>
              <a:t>. </a:t>
            </a:r>
            <a:endParaRPr lang="zh-CN" altLang="en-US" sz="24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31177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3CAF86-9E0E-5A2E-871E-11C96DFCE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AA0BAAB-ED73-C0D8-CFE8-0F769B345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>
                <a:latin typeface="香萃等粗宋" panose="02020700000000000000" pitchFamily="18" charset="-122"/>
                <a:ea typeface="香萃等粗宋" panose="02020700000000000000" pitchFamily="18" charset="-122"/>
              </a:rPr>
              <a:t>8.1 </a:t>
            </a:r>
            <a:r>
              <a:rPr lang="zh-CN" altLang="en-US" b="1" dirty="0">
                <a:latin typeface="香萃等粗宋" panose="02020700000000000000" pitchFamily="18" charset="-122"/>
                <a:ea typeface="香萃等粗宋" panose="02020700000000000000" pitchFamily="18" charset="-122"/>
              </a:rPr>
              <a:t>为什么引入一阶逻辑？</a:t>
            </a:r>
            <a:endParaRPr lang="en-US" altLang="zh-CN" b="1" dirty="0">
              <a:latin typeface="香萃等粗宋" panose="02020700000000000000" pitchFamily="18" charset="-122"/>
              <a:ea typeface="香萃等粗宋" panose="02020700000000000000" pitchFamily="18" charset="-122"/>
            </a:endParaRPr>
          </a:p>
          <a:p>
            <a:r>
              <a:rPr lang="en-US" altLang="zh-CN" b="1" dirty="0">
                <a:latin typeface="香萃等粗宋" panose="02020700000000000000" pitchFamily="18" charset="-122"/>
                <a:ea typeface="香萃等粗宋" panose="02020700000000000000" pitchFamily="18" charset="-122"/>
              </a:rPr>
              <a:t>8.2</a:t>
            </a:r>
            <a:r>
              <a:rPr lang="zh-CN" altLang="en-US" b="1" dirty="0">
                <a:latin typeface="香萃等粗宋" panose="02020700000000000000" pitchFamily="18" charset="-122"/>
                <a:ea typeface="香萃等粗宋" panose="02020700000000000000" pitchFamily="18" charset="-122"/>
              </a:rPr>
              <a:t> 一阶逻辑的语法和语义</a:t>
            </a:r>
            <a:endParaRPr lang="en-US" altLang="zh-CN" b="1" dirty="0">
              <a:latin typeface="香萃等粗宋" panose="02020700000000000000" pitchFamily="18" charset="-122"/>
              <a:ea typeface="香萃等粗宋" panose="02020700000000000000" pitchFamily="18" charset="-122"/>
            </a:endParaRPr>
          </a:p>
          <a:p>
            <a:r>
              <a:rPr lang="en-US" altLang="zh-CN" b="1" dirty="0">
                <a:latin typeface="香萃等粗宋" panose="02020700000000000000" pitchFamily="18" charset="-122"/>
                <a:ea typeface="香萃等粗宋" panose="02020700000000000000" pitchFamily="18" charset="-122"/>
              </a:rPr>
              <a:t>8.3 </a:t>
            </a:r>
            <a:r>
              <a:rPr lang="zh-CN" altLang="en-US" b="1" dirty="0">
                <a:latin typeface="香萃等粗宋" panose="02020700000000000000" pitchFamily="18" charset="-122"/>
                <a:ea typeface="香萃等粗宋" panose="02020700000000000000" pitchFamily="18" charset="-122"/>
              </a:rPr>
              <a:t>一阶逻辑的应用</a:t>
            </a:r>
            <a:endParaRPr lang="en-US" altLang="zh-CN" b="1" dirty="0">
              <a:latin typeface="香萃等粗宋" panose="02020700000000000000" pitchFamily="18" charset="-122"/>
              <a:ea typeface="香萃等粗宋" panose="02020700000000000000" pitchFamily="18" charset="-122"/>
            </a:endParaRPr>
          </a:p>
          <a:p>
            <a:r>
              <a:rPr lang="en-US" altLang="zh-CN" b="1" dirty="0"/>
              <a:t>8.4 </a:t>
            </a:r>
            <a:r>
              <a:rPr lang="zh-CN" altLang="en-US" b="1" dirty="0"/>
              <a:t>知识工程与本体论</a:t>
            </a:r>
            <a:endParaRPr lang="zh-CN" altLang="en-US" b="1" dirty="0">
              <a:latin typeface="香萃等粗宋" panose="02020700000000000000" pitchFamily="18" charset="-122"/>
              <a:ea typeface="香萃等粗宋" panose="02020700000000000000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35053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0957A0-2CBC-129F-A3DC-C95548B25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1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8.1 </a:t>
            </a:r>
            <a:r>
              <a:rPr lang="zh-CN" altLang="en-US" b="1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为什么引入一阶逻辑？</a:t>
            </a:r>
            <a:endParaRPr lang="zh-CN" altLang="en-US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DD0BC24-060A-517C-D0CA-8EB2706C3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命题逻辑的局限性</a:t>
            </a:r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）形如 </a:t>
            </a:r>
            <a:r>
              <a:rPr lang="en-US" altLang="zh-CN" dirty="0"/>
              <a:t>¬P</a:t>
            </a:r>
            <a:r>
              <a:rPr lang="zh-CN" altLang="en-US" dirty="0"/>
              <a:t>，</a:t>
            </a:r>
            <a:r>
              <a:rPr lang="en-US" altLang="zh-CN" dirty="0"/>
              <a:t>P∧Q</a:t>
            </a:r>
            <a:r>
              <a:rPr lang="zh-CN" altLang="en-US" dirty="0"/>
              <a:t>，</a:t>
            </a:r>
            <a:r>
              <a:rPr lang="en-US" altLang="zh-CN" dirty="0"/>
              <a:t>P∨Q</a:t>
            </a:r>
            <a:r>
              <a:rPr lang="zh-CN" altLang="en-US" dirty="0"/>
              <a:t>，</a:t>
            </a:r>
            <a:r>
              <a:rPr lang="en-US" altLang="zh-CN" dirty="0"/>
              <a:t>P → Q </a:t>
            </a:r>
            <a:r>
              <a:rPr lang="zh-CN" altLang="en-US" dirty="0"/>
              <a:t>的语句，值为</a:t>
            </a:r>
            <a:r>
              <a:rPr lang="en-US" altLang="zh-CN" dirty="0"/>
              <a:t>True</a:t>
            </a:r>
            <a:r>
              <a:rPr lang="zh-CN" altLang="en-US" dirty="0"/>
              <a:t>或者</a:t>
            </a:r>
            <a:r>
              <a:rPr lang="en-US" altLang="zh-CN" dirty="0"/>
              <a:t>False</a:t>
            </a:r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）推理规则较简单（</a:t>
            </a:r>
            <a:r>
              <a:rPr lang="en-US" altLang="zh-CN" dirty="0"/>
              <a:t>1.</a:t>
            </a:r>
            <a:r>
              <a:rPr lang="zh-CN" altLang="en-US" dirty="0"/>
              <a:t>真值表 </a:t>
            </a:r>
            <a:r>
              <a:rPr lang="en-US" altLang="zh-CN" dirty="0"/>
              <a:t>2.</a:t>
            </a:r>
            <a:r>
              <a:rPr lang="zh-CN" altLang="en-US" dirty="0"/>
              <a:t>为数不多的推理规则）</a:t>
            </a:r>
            <a:endParaRPr lang="en-US" altLang="zh-CN" dirty="0"/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）在命题逻辑中，命题是最基本的单位，对简单命题不再进行分解，并且</a:t>
            </a:r>
            <a:r>
              <a:rPr lang="zh-CN" altLang="en-US" dirty="0">
                <a:solidFill>
                  <a:srgbClr val="FF0000"/>
                </a:solidFill>
              </a:rPr>
              <a:t>不考虑命题之间的内在联系和数量关系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32622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775A16-3736-DDC9-08B8-49C7E24C8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8.1 </a:t>
            </a:r>
            <a:r>
              <a:rPr lang="zh-CN" altLang="en-US" b="1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为什么引入一阶逻辑？</a:t>
            </a:r>
            <a:endParaRPr lang="zh-CN" altLang="en-US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33EDB7-8D23-B484-A830-AD9DC5211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命题逻辑只是对事物的</a:t>
            </a:r>
            <a:r>
              <a:rPr lang="zh-CN" altLang="en-US" dirty="0">
                <a:solidFill>
                  <a:srgbClr val="FF0000"/>
                </a:solidFill>
              </a:rPr>
              <a:t>存在</a:t>
            </a:r>
            <a:r>
              <a:rPr lang="zh-CN" altLang="en-US" dirty="0"/>
              <a:t>进行限定，而一阶逻辑对于</a:t>
            </a:r>
            <a:r>
              <a:rPr lang="zh-CN" altLang="en-US" dirty="0">
                <a:solidFill>
                  <a:srgbClr val="FF0000"/>
                </a:solidFill>
              </a:rPr>
              <a:t>对象和关系</a:t>
            </a:r>
            <a:r>
              <a:rPr lang="zh-CN" altLang="en-US" dirty="0"/>
              <a:t>的存在进行限定</a:t>
            </a:r>
            <a:endParaRPr lang="en-US" altLang="zh-CN" dirty="0"/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）苏格拉底是对象，人是对象</a:t>
            </a:r>
            <a:endParaRPr lang="en-US" altLang="zh-CN" dirty="0"/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）苏格拉底是人（是对象之间的关系）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85800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775A16-3736-DDC9-08B8-49C7E24C8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8.2 </a:t>
            </a:r>
            <a:r>
              <a:rPr lang="zh-CN" altLang="en-US" b="1" dirty="0">
                <a:latin typeface="方正小标宋简体" panose="02000000000000000000" pitchFamily="2" charset="-122"/>
                <a:ea typeface="方正小标宋简体" panose="02000000000000000000" pitchFamily="2" charset="-122"/>
              </a:rPr>
              <a:t>一阶逻辑的语义和语法</a:t>
            </a:r>
            <a:endParaRPr lang="zh-CN" altLang="en-US" dirty="0">
              <a:latin typeface="方正小标宋简体" panose="02000000000000000000" pitchFamily="2" charset="-122"/>
              <a:ea typeface="方正小标宋简体" panose="02000000000000000000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33EDB7-8D23-B484-A830-AD9DC5211B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一阶逻辑</a:t>
            </a:r>
            <a:endParaRPr lang="en-US" altLang="zh-CN" dirty="0"/>
          </a:p>
          <a:p>
            <a:pPr lvl="1"/>
            <a:r>
              <a:rPr lang="zh-CN" altLang="en-US" dirty="0"/>
              <a:t>在命题逻辑的基础上，进一步分析语句中的成分与表达成分之间的关系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一阶逻辑三要素</a:t>
            </a:r>
            <a:endParaRPr lang="en-US" altLang="zh-CN" dirty="0"/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）对象</a:t>
            </a:r>
            <a:endParaRPr lang="en-US" altLang="zh-CN" dirty="0"/>
          </a:p>
          <a:p>
            <a:pPr lvl="2"/>
            <a:r>
              <a:rPr lang="zh-CN" altLang="en-US" dirty="0"/>
              <a:t>实体对象、抽象对象，如人，房子，数，颜色，战争，树，篮球赛</a:t>
            </a:r>
            <a:endParaRPr lang="en-US" altLang="zh-CN" dirty="0"/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）关系</a:t>
            </a:r>
            <a:endParaRPr lang="en-US" altLang="zh-CN" dirty="0"/>
          </a:p>
          <a:p>
            <a:pPr lvl="2"/>
            <a:r>
              <a:rPr lang="zh-CN" altLang="en-US" dirty="0"/>
              <a:t>对象之间的相互联系和作用，</a:t>
            </a:r>
            <a:r>
              <a:rPr lang="zh-CN" altLang="en-US" dirty="0">
                <a:solidFill>
                  <a:srgbClr val="FF0000"/>
                </a:solidFill>
              </a:rPr>
              <a:t>以对象为输入，输出为</a:t>
            </a:r>
            <a:r>
              <a:rPr lang="en-US" altLang="zh-CN" dirty="0">
                <a:solidFill>
                  <a:srgbClr val="FF0000"/>
                </a:solidFill>
              </a:rPr>
              <a:t>T/F</a:t>
            </a:r>
            <a:r>
              <a:rPr lang="zh-CN" altLang="en-US" dirty="0"/>
              <a:t>。如一元关系表达属性，如红色，圆形，素数，二元关系涉及两个对象，如兄弟，大于，分量，</a:t>
            </a:r>
            <a:r>
              <a:rPr lang="en-US" altLang="zh-CN" dirty="0"/>
              <a:t>…</a:t>
            </a:r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）函数</a:t>
            </a:r>
            <a:endParaRPr lang="en-US" altLang="zh-CN" dirty="0"/>
          </a:p>
          <a:p>
            <a:pPr lvl="2"/>
            <a:r>
              <a:rPr lang="zh-CN" altLang="en-US" dirty="0"/>
              <a:t>一类特殊的关系，给定输入，只有唯一的一个输出（单射），且</a:t>
            </a:r>
            <a:r>
              <a:rPr lang="zh-CN" altLang="en-US" dirty="0">
                <a:solidFill>
                  <a:srgbClr val="FF0000"/>
                </a:solidFill>
              </a:rPr>
              <a:t>输出的仍为一个对象</a:t>
            </a:r>
            <a:r>
              <a:rPr lang="zh-CN" altLang="en-US" dirty="0"/>
              <a:t>，如父亲，最好朋友，加法，</a:t>
            </a:r>
            <a:r>
              <a:rPr lang="en-US" altLang="zh-CN" dirty="0"/>
              <a:t>…</a:t>
            </a:r>
            <a:r>
              <a:rPr lang="zh-CN" altLang="en-US" dirty="0"/>
              <a:t>。函数的引入，可以不用给每个对象命名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35765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5C0E1F-E0D0-7196-F6C2-3BDCB094C3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8.2 </a:t>
            </a:r>
            <a:r>
              <a:rPr lang="zh-CN" altLang="en-US" dirty="0"/>
              <a:t>一阶逻辑的语义和语法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E5C49F-9999-E49E-97C6-31ED3A8BB5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）一阶逻辑实例</a:t>
            </a:r>
            <a:endParaRPr lang="en-US" altLang="zh-CN" dirty="0"/>
          </a:p>
          <a:p>
            <a:pPr lvl="1"/>
            <a:r>
              <a:rPr lang="en-US" altLang="zh-CN" dirty="0"/>
              <a:t>1</a:t>
            </a:r>
            <a:r>
              <a:rPr lang="zh-CN" altLang="en-US" dirty="0"/>
              <a:t>）</a:t>
            </a:r>
            <a:r>
              <a:rPr lang="en-US" altLang="zh-CN" dirty="0"/>
              <a:t>one plus two equals three</a:t>
            </a:r>
          </a:p>
          <a:p>
            <a:r>
              <a:rPr lang="en-US" altLang="zh-CN" dirty="0"/>
              <a:t>      </a:t>
            </a:r>
            <a:r>
              <a:rPr lang="zh-CN" altLang="en-US" dirty="0"/>
              <a:t>对象：</a:t>
            </a:r>
            <a:r>
              <a:rPr lang="en-US" altLang="zh-CN" dirty="0"/>
              <a:t>one</a:t>
            </a:r>
            <a:r>
              <a:rPr lang="zh-CN" altLang="en-US" dirty="0"/>
              <a:t>、</a:t>
            </a:r>
            <a:r>
              <a:rPr lang="en-US" altLang="zh-CN" dirty="0"/>
              <a:t>two</a:t>
            </a:r>
            <a:r>
              <a:rPr lang="zh-CN" altLang="en-US" dirty="0"/>
              <a:t>、</a:t>
            </a:r>
            <a:r>
              <a:rPr lang="en-US" altLang="zh-CN" dirty="0"/>
              <a:t>three</a:t>
            </a:r>
            <a:r>
              <a:rPr lang="zh-CN" altLang="en-US" dirty="0"/>
              <a:t>、</a:t>
            </a:r>
            <a:r>
              <a:rPr lang="en-US" altLang="zh-CN" dirty="0"/>
              <a:t>one plus two</a:t>
            </a:r>
          </a:p>
          <a:p>
            <a:r>
              <a:rPr lang="en-US" altLang="zh-CN" dirty="0"/>
              <a:t>      </a:t>
            </a:r>
            <a:r>
              <a:rPr lang="zh-CN" altLang="en-US" dirty="0"/>
              <a:t>关系：</a:t>
            </a:r>
            <a:r>
              <a:rPr lang="en-US" altLang="zh-CN" dirty="0"/>
              <a:t>equals</a:t>
            </a:r>
          </a:p>
          <a:p>
            <a:r>
              <a:rPr lang="en-US" altLang="zh-CN" dirty="0"/>
              <a:t>      </a:t>
            </a:r>
            <a:r>
              <a:rPr lang="zh-CN" altLang="en-US" dirty="0"/>
              <a:t>函数：</a:t>
            </a:r>
            <a:r>
              <a:rPr lang="en-US" altLang="zh-CN" dirty="0"/>
              <a:t>plus</a:t>
            </a:r>
          </a:p>
          <a:p>
            <a:pPr lvl="1"/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en-US" altLang="zh-CN" dirty="0"/>
              <a:t>Square neighboring the </a:t>
            </a:r>
            <a:r>
              <a:rPr lang="en-US" altLang="zh-CN" dirty="0" err="1"/>
              <a:t>wumpus</a:t>
            </a:r>
            <a:r>
              <a:rPr lang="en-US" altLang="zh-CN" dirty="0"/>
              <a:t> are smelly</a:t>
            </a:r>
          </a:p>
          <a:p>
            <a:r>
              <a:rPr lang="en-US" altLang="zh-CN" dirty="0"/>
              <a:t>      </a:t>
            </a:r>
            <a:r>
              <a:rPr lang="zh-CN" altLang="en-US" dirty="0"/>
              <a:t>对象：</a:t>
            </a:r>
            <a:r>
              <a:rPr lang="en-US" altLang="zh-CN" dirty="0"/>
              <a:t>square</a:t>
            </a:r>
            <a:r>
              <a:rPr lang="zh-CN" altLang="en-US" dirty="0"/>
              <a:t>、</a:t>
            </a:r>
            <a:r>
              <a:rPr lang="en-US" altLang="zh-CN" dirty="0" err="1"/>
              <a:t>wumpus</a:t>
            </a:r>
            <a:endParaRPr lang="en-US" altLang="zh-CN" dirty="0"/>
          </a:p>
          <a:p>
            <a:r>
              <a:rPr lang="en-US" altLang="zh-CN" dirty="0"/>
              <a:t>      </a:t>
            </a:r>
            <a:r>
              <a:rPr lang="zh-CN" altLang="en-US" dirty="0"/>
              <a:t>关系：</a:t>
            </a:r>
            <a:r>
              <a:rPr lang="en-US" altLang="zh-CN" dirty="0"/>
              <a:t>neighboring</a:t>
            </a:r>
          </a:p>
          <a:p>
            <a:r>
              <a:rPr lang="en-US" altLang="zh-CN" dirty="0"/>
              <a:t>      </a:t>
            </a:r>
            <a:r>
              <a:rPr lang="zh-CN" altLang="en-US" dirty="0"/>
              <a:t>属性：</a:t>
            </a:r>
            <a:r>
              <a:rPr lang="en-US" altLang="zh-CN" dirty="0"/>
              <a:t>smelly</a:t>
            </a:r>
          </a:p>
          <a:p>
            <a:pPr lvl="1"/>
            <a:r>
              <a:rPr lang="en-US" altLang="zh-CN" dirty="0"/>
              <a:t>3</a:t>
            </a:r>
            <a:r>
              <a:rPr lang="zh-CN" altLang="en-US" dirty="0"/>
              <a:t>）</a:t>
            </a:r>
            <a:r>
              <a:rPr lang="en-US" altLang="zh-CN" dirty="0"/>
              <a:t>Evil King John ruled England in 1200</a:t>
            </a:r>
          </a:p>
          <a:p>
            <a:r>
              <a:rPr lang="en-US" altLang="zh-CN" dirty="0"/>
              <a:t>     </a:t>
            </a:r>
            <a:r>
              <a:rPr lang="zh-CN" altLang="en-US" dirty="0"/>
              <a:t>对象：</a:t>
            </a:r>
            <a:r>
              <a:rPr lang="en-US" altLang="zh-CN" dirty="0"/>
              <a:t>John</a:t>
            </a:r>
            <a:r>
              <a:rPr lang="zh-CN" altLang="en-US" dirty="0"/>
              <a:t>、</a:t>
            </a:r>
            <a:r>
              <a:rPr lang="en-US" altLang="zh-CN" dirty="0"/>
              <a:t>England</a:t>
            </a:r>
            <a:r>
              <a:rPr lang="zh-CN" altLang="en-US" dirty="0"/>
              <a:t>、</a:t>
            </a:r>
            <a:r>
              <a:rPr lang="en-US" altLang="zh-CN" dirty="0"/>
              <a:t>1200</a:t>
            </a:r>
          </a:p>
          <a:p>
            <a:r>
              <a:rPr lang="en-US" altLang="zh-CN" dirty="0"/>
              <a:t>     </a:t>
            </a:r>
            <a:r>
              <a:rPr lang="zh-CN" altLang="en-US" dirty="0"/>
              <a:t>关系：</a:t>
            </a:r>
            <a:r>
              <a:rPr lang="en-US" altLang="zh-CN" dirty="0"/>
              <a:t>rule</a:t>
            </a:r>
          </a:p>
          <a:p>
            <a:r>
              <a:rPr lang="en-US" altLang="zh-CN" dirty="0"/>
              <a:t>     </a:t>
            </a:r>
            <a:r>
              <a:rPr lang="zh-CN" altLang="en-US" dirty="0"/>
              <a:t>属性：</a:t>
            </a:r>
            <a:r>
              <a:rPr lang="en-US" altLang="zh-CN" dirty="0"/>
              <a:t>evil </a:t>
            </a:r>
            <a:r>
              <a:rPr lang="zh-CN" altLang="en-US" dirty="0"/>
              <a:t>、</a:t>
            </a:r>
            <a:r>
              <a:rPr lang="en-US" altLang="zh-CN" dirty="0"/>
              <a:t>king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4503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39BA5E-0BA6-30A1-8D0B-AD09320C2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8.2 </a:t>
            </a:r>
            <a:r>
              <a:rPr lang="zh-CN" altLang="en-US" dirty="0"/>
              <a:t>一阶逻辑的语义和语法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D10CEA-91DB-8055-3189-4485A76D0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3.</a:t>
            </a:r>
            <a:r>
              <a:rPr lang="zh-CN" altLang="en-US" dirty="0"/>
              <a:t>常用符号</a:t>
            </a:r>
          </a:p>
          <a:p>
            <a:pPr lvl="1"/>
            <a:r>
              <a:rPr lang="en-US" altLang="zh-CN" dirty="0"/>
              <a:t> </a:t>
            </a:r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）常量符号    </a:t>
            </a:r>
            <a:r>
              <a:rPr lang="en-US" altLang="zh-CN" dirty="0"/>
              <a:t>a</a:t>
            </a:r>
            <a:r>
              <a:rPr lang="zh-CN" altLang="en-US" dirty="0"/>
              <a:t>、</a:t>
            </a:r>
            <a:r>
              <a:rPr lang="en-US" altLang="zh-CN" dirty="0"/>
              <a:t>b</a:t>
            </a:r>
            <a:r>
              <a:rPr lang="zh-CN" altLang="en-US" dirty="0"/>
              <a:t>、</a:t>
            </a:r>
            <a:r>
              <a:rPr lang="en-US" altLang="zh-CN" dirty="0"/>
              <a:t>c</a:t>
            </a:r>
            <a:r>
              <a:rPr lang="zh-CN" altLang="en-US" dirty="0"/>
              <a:t>、</a:t>
            </a:r>
            <a:r>
              <a:rPr lang="en-US" altLang="zh-CN" dirty="0"/>
              <a:t>a1</a:t>
            </a:r>
            <a:r>
              <a:rPr lang="zh-CN" altLang="en-US" dirty="0"/>
              <a:t>、</a:t>
            </a:r>
            <a:r>
              <a:rPr lang="en-US" altLang="zh-CN" dirty="0"/>
              <a:t>b1</a:t>
            </a:r>
            <a:r>
              <a:rPr lang="zh-CN" altLang="en-US" dirty="0"/>
              <a:t>、</a:t>
            </a:r>
            <a:r>
              <a:rPr lang="en-US" altLang="zh-CN" dirty="0"/>
              <a:t>c1</a:t>
            </a:r>
            <a:r>
              <a:rPr lang="zh-CN" altLang="en-US" dirty="0"/>
              <a:t>、</a:t>
            </a:r>
            <a:r>
              <a:rPr lang="en-US" altLang="zh-CN" dirty="0"/>
              <a:t>…</a:t>
            </a:r>
          </a:p>
          <a:p>
            <a:pPr lvl="1"/>
            <a:r>
              <a:rPr lang="en-US" altLang="zh-CN" dirty="0"/>
              <a:t> </a:t>
            </a:r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</a:t>
            </a:r>
            <a:r>
              <a:rPr lang="zh-CN" altLang="en-US" dirty="0">
                <a:solidFill>
                  <a:srgbClr val="FF0000"/>
                </a:solidFill>
              </a:rPr>
              <a:t>变量</a:t>
            </a:r>
            <a:r>
              <a:rPr lang="zh-CN" altLang="en-US" dirty="0"/>
              <a:t>符号    </a:t>
            </a:r>
            <a:r>
              <a:rPr lang="en-US" altLang="zh-CN" dirty="0"/>
              <a:t>x</a:t>
            </a:r>
            <a:r>
              <a:rPr lang="zh-CN" altLang="en-US" dirty="0"/>
              <a:t>、</a:t>
            </a:r>
            <a:r>
              <a:rPr lang="en-US" altLang="zh-CN" dirty="0"/>
              <a:t>y</a:t>
            </a:r>
            <a:r>
              <a:rPr lang="zh-CN" altLang="en-US" dirty="0"/>
              <a:t>、</a:t>
            </a:r>
            <a:r>
              <a:rPr lang="en-US" altLang="zh-CN" dirty="0"/>
              <a:t>z</a:t>
            </a:r>
            <a:r>
              <a:rPr lang="zh-CN" altLang="en-US" dirty="0"/>
              <a:t>、</a:t>
            </a:r>
            <a:r>
              <a:rPr lang="en-US" altLang="zh-CN" dirty="0"/>
              <a:t>x1</a:t>
            </a:r>
            <a:r>
              <a:rPr lang="zh-CN" altLang="en-US" dirty="0"/>
              <a:t>、</a:t>
            </a:r>
            <a:r>
              <a:rPr lang="en-US" altLang="zh-CN" dirty="0"/>
              <a:t>y1</a:t>
            </a:r>
            <a:r>
              <a:rPr lang="zh-CN" altLang="en-US" dirty="0"/>
              <a:t>、</a:t>
            </a:r>
            <a:r>
              <a:rPr lang="en-US" altLang="zh-CN" dirty="0"/>
              <a:t>z1</a:t>
            </a:r>
            <a:r>
              <a:rPr lang="zh-CN" altLang="en-US" dirty="0"/>
              <a:t>、</a:t>
            </a:r>
            <a:r>
              <a:rPr lang="en-US" altLang="zh-CN" dirty="0"/>
              <a:t>…</a:t>
            </a:r>
          </a:p>
          <a:p>
            <a:pPr lvl="1"/>
            <a:r>
              <a:rPr lang="en-US" altLang="zh-CN" dirty="0"/>
              <a:t> </a:t>
            </a:r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）函数符号    </a:t>
            </a:r>
            <a:r>
              <a:rPr lang="en-US" altLang="zh-CN" dirty="0"/>
              <a:t>f</a:t>
            </a:r>
            <a:r>
              <a:rPr lang="zh-CN" altLang="en-US" dirty="0"/>
              <a:t>、</a:t>
            </a:r>
            <a:r>
              <a:rPr lang="en-US" altLang="zh-CN" dirty="0"/>
              <a:t>g</a:t>
            </a:r>
            <a:r>
              <a:rPr lang="zh-CN" altLang="en-US" dirty="0"/>
              <a:t>、</a:t>
            </a:r>
            <a:r>
              <a:rPr lang="en-US" altLang="zh-CN" dirty="0"/>
              <a:t>h</a:t>
            </a:r>
            <a:r>
              <a:rPr lang="zh-CN" altLang="en-US" dirty="0"/>
              <a:t>、</a:t>
            </a:r>
            <a:r>
              <a:rPr lang="en-US" altLang="zh-CN" dirty="0"/>
              <a:t>…</a:t>
            </a:r>
          </a:p>
          <a:p>
            <a:pPr lvl="1"/>
            <a:r>
              <a:rPr lang="en-US" altLang="zh-CN" dirty="0"/>
              <a:t> </a:t>
            </a:r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</a:t>
            </a:r>
            <a:r>
              <a:rPr lang="zh-CN" altLang="en-US" dirty="0">
                <a:solidFill>
                  <a:srgbClr val="FF0000"/>
                </a:solidFill>
              </a:rPr>
              <a:t>谓词符号    </a:t>
            </a:r>
            <a:r>
              <a:rPr lang="en-US" altLang="zh-CN" dirty="0"/>
              <a:t>P</a:t>
            </a:r>
            <a:r>
              <a:rPr lang="zh-CN" altLang="en-US" dirty="0"/>
              <a:t>、</a:t>
            </a:r>
            <a:r>
              <a:rPr lang="en-US" altLang="zh-CN" dirty="0"/>
              <a:t>Q</a:t>
            </a:r>
            <a:r>
              <a:rPr lang="zh-CN" altLang="en-US" dirty="0"/>
              <a:t>、</a:t>
            </a:r>
            <a:r>
              <a:rPr lang="en-US" altLang="zh-CN" dirty="0"/>
              <a:t>S</a:t>
            </a:r>
            <a:r>
              <a:rPr lang="zh-CN" altLang="en-US" dirty="0"/>
              <a:t>、</a:t>
            </a:r>
            <a:r>
              <a:rPr lang="en-US" altLang="zh-CN" dirty="0"/>
              <a:t>R</a:t>
            </a:r>
            <a:r>
              <a:rPr lang="zh-CN" altLang="en-US" dirty="0"/>
              <a:t>、</a:t>
            </a:r>
            <a:r>
              <a:rPr lang="en-US" altLang="zh-CN" dirty="0"/>
              <a:t>…</a:t>
            </a:r>
          </a:p>
          <a:p>
            <a:pPr lvl="1"/>
            <a:r>
              <a:rPr lang="en-US" altLang="zh-CN" dirty="0"/>
              <a:t> </a:t>
            </a:r>
            <a:r>
              <a:rPr lang="zh-CN" altLang="en-US" dirty="0"/>
              <a:t>（</a:t>
            </a:r>
            <a:r>
              <a:rPr lang="en-US" altLang="zh-CN" dirty="0"/>
              <a:t>5</a:t>
            </a:r>
            <a:r>
              <a:rPr lang="zh-CN" altLang="en-US" dirty="0"/>
              <a:t>）连接符  </a:t>
            </a:r>
            <a:r>
              <a:rPr lang="zh-CN" altLang="en-US" dirty="0">
                <a:solidFill>
                  <a:srgbClr val="FF0000"/>
                </a:solidFill>
                <a:sym typeface="Symbol" pitchFamily="18" charset="2"/>
              </a:rPr>
              <a:t>，，，，</a:t>
            </a:r>
            <a:r>
              <a:rPr lang="zh-CN" altLang="en-US" dirty="0"/>
              <a:t></a:t>
            </a:r>
          </a:p>
          <a:p>
            <a:pPr lvl="1"/>
            <a:r>
              <a:rPr lang="zh-CN" altLang="en-US" dirty="0"/>
              <a:t> （</a:t>
            </a:r>
            <a:r>
              <a:rPr lang="en-US" altLang="zh-CN" dirty="0"/>
              <a:t>6</a:t>
            </a:r>
            <a:r>
              <a:rPr lang="zh-CN" altLang="en-US" dirty="0"/>
              <a:t>）</a:t>
            </a:r>
            <a:r>
              <a:rPr lang="zh-CN" altLang="en-US" dirty="0">
                <a:solidFill>
                  <a:srgbClr val="FF0000"/>
                </a:solidFill>
              </a:rPr>
              <a:t>等词</a:t>
            </a:r>
            <a:r>
              <a:rPr lang="zh-CN" altLang="en-US" dirty="0"/>
              <a:t>	   </a:t>
            </a:r>
            <a:r>
              <a:rPr lang="en-US" altLang="zh-CN" dirty="0">
                <a:solidFill>
                  <a:srgbClr val="FF0000"/>
                </a:solidFill>
              </a:rPr>
              <a:t>=</a:t>
            </a:r>
            <a:r>
              <a:rPr lang="en-US" altLang="zh-CN" dirty="0"/>
              <a:t> </a:t>
            </a:r>
          </a:p>
          <a:p>
            <a:pPr lvl="1"/>
            <a:r>
              <a:rPr lang="en-US" altLang="zh-CN" dirty="0"/>
              <a:t> </a:t>
            </a:r>
            <a:r>
              <a:rPr lang="zh-CN" altLang="en-US" dirty="0"/>
              <a:t>（</a:t>
            </a:r>
            <a:r>
              <a:rPr lang="en-US" altLang="zh-CN" dirty="0"/>
              <a:t>7</a:t>
            </a:r>
            <a:r>
              <a:rPr lang="zh-CN" altLang="en-US" dirty="0"/>
              <a:t>）</a:t>
            </a:r>
            <a:r>
              <a:rPr lang="zh-CN" altLang="en-US" dirty="0">
                <a:solidFill>
                  <a:srgbClr val="FF0000"/>
                </a:solidFill>
              </a:rPr>
              <a:t>量词</a:t>
            </a:r>
            <a:r>
              <a:rPr lang="zh-CN" altLang="en-US" dirty="0"/>
              <a:t>  	 </a:t>
            </a:r>
            <a:r>
              <a:rPr lang="zh-CN" altLang="en-US" dirty="0">
                <a:solidFill>
                  <a:srgbClr val="FF0000"/>
                </a:solidFill>
                <a:sym typeface="Symbol" pitchFamily="18" charset="2"/>
              </a:rPr>
              <a:t>，</a:t>
            </a:r>
            <a:r>
              <a:rPr lang="zh-CN" altLang="en-US" dirty="0"/>
              <a:t></a:t>
            </a:r>
          </a:p>
          <a:p>
            <a:pPr lvl="1"/>
            <a:r>
              <a:rPr lang="zh-CN" altLang="en-US" dirty="0"/>
              <a:t>另外，允许一些有</a:t>
            </a:r>
            <a:r>
              <a:rPr lang="zh-CN" altLang="en-US" dirty="0">
                <a:solidFill>
                  <a:srgbClr val="FF0000"/>
                </a:solidFill>
              </a:rPr>
              <a:t>字面意义</a:t>
            </a:r>
            <a:r>
              <a:rPr lang="zh-CN" altLang="en-US" dirty="0"/>
              <a:t>的符号作为常量、变量、函数符号、谓词符号。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18878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DF0846-535E-BC8E-B806-245FC3E61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8.2 </a:t>
            </a:r>
            <a:r>
              <a:rPr lang="zh-CN" altLang="en-US" dirty="0"/>
              <a:t>一阶逻辑的语义和语法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2C5AF0-BAFE-1A2A-9019-B6E35E78C8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4.</a:t>
            </a:r>
            <a:r>
              <a:rPr lang="zh-CN" altLang="en-US" dirty="0"/>
              <a:t>一阶逻辑的原子语句</a:t>
            </a:r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）项</a:t>
            </a:r>
            <a:r>
              <a:rPr lang="en-US" altLang="zh-CN" dirty="0"/>
              <a:t>(term)</a:t>
            </a:r>
          </a:p>
          <a:p>
            <a:pPr lvl="1"/>
            <a:r>
              <a:rPr lang="zh-CN" altLang="en-US" dirty="0"/>
              <a:t>    是指代对象的逻辑表达式</a:t>
            </a:r>
          </a:p>
          <a:p>
            <a:pPr lvl="1"/>
            <a:r>
              <a:rPr lang="zh-CN" altLang="en-US" dirty="0"/>
              <a:t>    常量符号是项，变量是项</a:t>
            </a:r>
          </a:p>
          <a:p>
            <a:pPr lvl="1"/>
            <a:r>
              <a:rPr lang="zh-CN" altLang="en-US" dirty="0"/>
              <a:t>    若</a:t>
            </a:r>
            <a:r>
              <a:rPr lang="en-US" altLang="zh-CN" dirty="0"/>
              <a:t>f</a:t>
            </a:r>
            <a:r>
              <a:rPr lang="zh-CN" altLang="en-US" dirty="0"/>
              <a:t>是</a:t>
            </a:r>
            <a:r>
              <a:rPr lang="en-US" altLang="zh-CN" dirty="0"/>
              <a:t>n</a:t>
            </a:r>
            <a:r>
              <a:rPr lang="zh-CN" altLang="en-US" dirty="0"/>
              <a:t>元函数符号，</a:t>
            </a:r>
            <a:r>
              <a:rPr lang="en-US" altLang="zh-CN" dirty="0" err="1"/>
              <a:t>ti</a:t>
            </a:r>
            <a:r>
              <a:rPr lang="zh-CN" altLang="en-US" dirty="0"/>
              <a:t>是项，则</a:t>
            </a:r>
            <a:r>
              <a:rPr lang="en-US" altLang="zh-CN" dirty="0"/>
              <a:t>f(t1, ..., </a:t>
            </a:r>
            <a:r>
              <a:rPr lang="en-US" altLang="zh-CN" dirty="0" err="1"/>
              <a:t>tn</a:t>
            </a:r>
            <a:r>
              <a:rPr lang="en-US" altLang="zh-CN" dirty="0"/>
              <a:t>)</a:t>
            </a:r>
            <a:r>
              <a:rPr lang="zh-CN" altLang="en-US" dirty="0"/>
              <a:t>是项；</a:t>
            </a:r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）原子语句定义</a:t>
            </a:r>
          </a:p>
          <a:p>
            <a:pPr lvl="1"/>
            <a:r>
              <a:rPr lang="en-US" altLang="zh-CN" dirty="0"/>
              <a:t>    1</a:t>
            </a:r>
            <a:r>
              <a:rPr lang="zh-CN" altLang="en-US" dirty="0"/>
              <a:t>）若</a:t>
            </a:r>
            <a:r>
              <a:rPr lang="en-US" altLang="zh-CN" dirty="0"/>
              <a:t>P</a:t>
            </a:r>
            <a:r>
              <a:rPr lang="zh-CN" altLang="en-US" dirty="0"/>
              <a:t>是</a:t>
            </a:r>
            <a:r>
              <a:rPr lang="en-US" altLang="zh-CN" dirty="0"/>
              <a:t>n</a:t>
            </a:r>
            <a:r>
              <a:rPr lang="zh-CN" altLang="en-US" dirty="0"/>
              <a:t>元谓词符号，</a:t>
            </a:r>
            <a:r>
              <a:rPr lang="en-US" altLang="zh-CN" dirty="0"/>
              <a:t>t1, ..., </a:t>
            </a:r>
            <a:r>
              <a:rPr lang="en-US" altLang="zh-CN" dirty="0" err="1"/>
              <a:t>tn</a:t>
            </a:r>
            <a:r>
              <a:rPr lang="zh-CN" altLang="en-US" dirty="0"/>
              <a:t>是项，则</a:t>
            </a:r>
            <a:r>
              <a:rPr lang="en-US" altLang="zh-CN" dirty="0"/>
              <a:t>P(t1,..., </a:t>
            </a:r>
            <a:r>
              <a:rPr lang="en-US" altLang="zh-CN" dirty="0" err="1"/>
              <a:t>tn</a:t>
            </a:r>
            <a:r>
              <a:rPr lang="en-US" altLang="zh-CN" dirty="0"/>
              <a:t>)</a:t>
            </a:r>
            <a:r>
              <a:rPr lang="zh-CN" altLang="en-US" dirty="0"/>
              <a:t>是原子语句</a:t>
            </a:r>
          </a:p>
          <a:p>
            <a:pPr lvl="1"/>
            <a:r>
              <a:rPr lang="en-US" altLang="zh-CN" dirty="0"/>
              <a:t>    2</a:t>
            </a:r>
            <a:r>
              <a:rPr lang="zh-CN" altLang="en-US" dirty="0"/>
              <a:t>）若项</a:t>
            </a:r>
            <a:r>
              <a:rPr lang="en-US" altLang="zh-CN" dirty="0"/>
              <a:t>t1, ..., </a:t>
            </a:r>
            <a:r>
              <a:rPr lang="en-US" altLang="zh-CN" dirty="0" err="1"/>
              <a:t>tn</a:t>
            </a:r>
            <a:r>
              <a:rPr lang="zh-CN" altLang="en-US" dirty="0"/>
              <a:t>都是基础项（非函数项），则</a:t>
            </a:r>
            <a:r>
              <a:rPr lang="en-US" altLang="zh-CN" dirty="0"/>
              <a:t>P(t1,..., </a:t>
            </a:r>
            <a:r>
              <a:rPr lang="en-US" altLang="zh-CN" dirty="0" err="1"/>
              <a:t>tn</a:t>
            </a:r>
            <a:r>
              <a:rPr lang="en-US" altLang="zh-CN" dirty="0"/>
              <a:t>)</a:t>
            </a:r>
            <a:r>
              <a:rPr lang="zh-CN" altLang="en-US" dirty="0"/>
              <a:t>是命题 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99759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48CE77-142D-9F01-B2F9-04F11B998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8.2 </a:t>
            </a:r>
            <a:r>
              <a:rPr lang="zh-CN" altLang="en-US" dirty="0"/>
              <a:t>一阶逻辑的语义和语法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ABBB99-2C83-F6B9-86FC-12E79874A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5.</a:t>
            </a:r>
            <a:r>
              <a:rPr lang="zh-CN" altLang="en-US" dirty="0"/>
              <a:t>复合语句</a:t>
            </a:r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）原子语句是复合语句；</a:t>
            </a:r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）若</a:t>
            </a:r>
            <a:r>
              <a:rPr lang="en-US" altLang="zh-CN" dirty="0"/>
              <a:t>G</a:t>
            </a:r>
            <a:r>
              <a:rPr lang="zh-CN" altLang="en-US" dirty="0"/>
              <a:t>和</a:t>
            </a:r>
            <a:r>
              <a:rPr lang="en-US" altLang="zh-CN" dirty="0"/>
              <a:t>H</a:t>
            </a:r>
            <a:r>
              <a:rPr lang="zh-CN" altLang="en-US" dirty="0"/>
              <a:t>是复合语句，则</a:t>
            </a:r>
          </a:p>
          <a:p>
            <a:pPr lvl="2"/>
            <a:r>
              <a:rPr lang="zh-CN" altLang="en-US" dirty="0"/>
              <a:t> ┐</a:t>
            </a:r>
            <a:r>
              <a:rPr lang="en-US" altLang="zh-CN" dirty="0"/>
              <a:t>G</a:t>
            </a:r>
            <a:r>
              <a:rPr lang="en-US" altLang="zh-CN" dirty="0">
                <a:latin typeface="Times New Roman" pitchFamily="18" charset="0"/>
              </a:rPr>
              <a:t>，</a:t>
            </a:r>
            <a:r>
              <a:rPr lang="en-US" altLang="zh-CN" dirty="0"/>
              <a:t>G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</a:t>
            </a:r>
            <a:r>
              <a:rPr lang="en-US" altLang="zh-CN" dirty="0"/>
              <a:t>H</a:t>
            </a:r>
            <a:r>
              <a:rPr lang="en-US" altLang="zh-CN" dirty="0">
                <a:latin typeface="Times New Roman" pitchFamily="18" charset="0"/>
              </a:rPr>
              <a:t>，</a:t>
            </a:r>
            <a:r>
              <a:rPr lang="en-US" altLang="zh-CN" dirty="0"/>
              <a:t>G</a:t>
            </a:r>
            <a:r>
              <a:rPr lang="en-US" altLang="zh-CN" dirty="0">
                <a:latin typeface="Times New Roman" pitchFamily="18" charset="0"/>
                <a:sym typeface="Symbol" pitchFamily="18" charset="2"/>
              </a:rPr>
              <a:t></a:t>
            </a:r>
            <a:r>
              <a:rPr lang="en-US" altLang="zh-CN" dirty="0"/>
              <a:t>H</a:t>
            </a:r>
            <a:r>
              <a:rPr lang="en-US" altLang="zh-CN" dirty="0">
                <a:latin typeface="Times New Roman" pitchFamily="18" charset="0"/>
              </a:rPr>
              <a:t>，</a:t>
            </a:r>
            <a:r>
              <a:rPr lang="en-US" altLang="zh-CN" dirty="0"/>
              <a:t>G </a:t>
            </a:r>
            <a:r>
              <a:rPr lang="en-US" altLang="zh-CN" dirty="0">
                <a:sym typeface="Symbol" pitchFamily="18" charset="2"/>
              </a:rPr>
              <a:t> </a:t>
            </a:r>
            <a:r>
              <a:rPr lang="en-US" altLang="zh-CN" dirty="0"/>
              <a:t>H </a:t>
            </a:r>
            <a:r>
              <a:rPr lang="en-US" altLang="zh-CN" dirty="0">
                <a:latin typeface="Times New Roman" pitchFamily="18" charset="0"/>
              </a:rPr>
              <a:t>，</a:t>
            </a:r>
            <a:r>
              <a:rPr lang="en-US" altLang="zh-CN" dirty="0"/>
              <a:t>G </a:t>
            </a:r>
            <a:r>
              <a:rPr lang="en-US" altLang="zh-CN" dirty="0">
                <a:sym typeface="Symbol" pitchFamily="18" charset="2"/>
              </a:rPr>
              <a:t></a:t>
            </a:r>
            <a:r>
              <a:rPr lang="en-US" altLang="zh-CN" dirty="0"/>
              <a:t> H</a:t>
            </a:r>
            <a:r>
              <a:rPr lang="zh-CN" altLang="en-US" dirty="0"/>
              <a:t>也是复合语句；</a:t>
            </a:r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3</a:t>
            </a:r>
            <a:r>
              <a:rPr lang="zh-CN" altLang="en-US" dirty="0"/>
              <a:t>）若</a:t>
            </a:r>
            <a:r>
              <a:rPr lang="en-US" altLang="zh-CN" dirty="0"/>
              <a:t>G</a:t>
            </a:r>
            <a:r>
              <a:rPr lang="zh-CN" altLang="en-US" dirty="0"/>
              <a:t>＝</a:t>
            </a:r>
            <a:r>
              <a:rPr lang="en-US" altLang="zh-CN" dirty="0"/>
              <a:t>G[x]</a:t>
            </a:r>
            <a:r>
              <a:rPr lang="zh-CN" altLang="en-US" dirty="0"/>
              <a:t>，则  </a:t>
            </a:r>
            <a:r>
              <a:rPr lang="zh-CN" altLang="en-US" dirty="0">
                <a:latin typeface="Times New Roman" pitchFamily="18" charset="0"/>
                <a:sym typeface="Symbol" pitchFamily="18" charset="2"/>
              </a:rPr>
              <a:t>  </a:t>
            </a:r>
            <a:r>
              <a:rPr lang="en-US" altLang="zh-CN" dirty="0" err="1"/>
              <a:t>xG</a:t>
            </a:r>
            <a:r>
              <a:rPr lang="en-US" altLang="zh-CN" dirty="0"/>
              <a:t>[x]</a:t>
            </a:r>
            <a:r>
              <a:rPr lang="zh-CN" altLang="en-US" dirty="0"/>
              <a:t>，</a:t>
            </a:r>
            <a:r>
              <a:rPr lang="zh-CN" altLang="en-US" dirty="0">
                <a:latin typeface="Times New Roman" pitchFamily="18" charset="0"/>
                <a:sym typeface="Symbol" pitchFamily="18" charset="2"/>
              </a:rPr>
              <a:t>  </a:t>
            </a:r>
            <a:r>
              <a:rPr lang="en-US" altLang="zh-CN" dirty="0" err="1"/>
              <a:t>xG</a:t>
            </a:r>
            <a:r>
              <a:rPr lang="en-US" altLang="zh-CN" dirty="0"/>
              <a:t>[x]</a:t>
            </a:r>
            <a:r>
              <a:rPr lang="zh-CN" altLang="en-US" dirty="0"/>
              <a:t>是复合语句；</a:t>
            </a:r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）任何复合语句都是由上述规则产生。</a:t>
            </a:r>
          </a:p>
          <a:p>
            <a:pPr lvl="1"/>
            <a:r>
              <a:rPr lang="zh-CN" altLang="en-US" dirty="0"/>
              <a:t>  复合语句简称</a:t>
            </a:r>
            <a:r>
              <a:rPr lang="zh-CN" altLang="en-US" dirty="0">
                <a:solidFill>
                  <a:srgbClr val="FF0000"/>
                </a:solidFill>
              </a:rPr>
              <a:t>公式</a:t>
            </a:r>
            <a:r>
              <a:rPr lang="zh-CN" altLang="en-US" dirty="0"/>
              <a:t>，也称为语句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51814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48CE77-142D-9F01-B2F9-04F11B998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8.2 </a:t>
            </a:r>
            <a:r>
              <a:rPr lang="zh-CN" altLang="en-US" dirty="0"/>
              <a:t>一阶逻辑的语义和语法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ABBB99-2C83-F6B9-86FC-12E79874A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方正屏显雅宋简体" panose="02010600010101010101" pitchFamily="2" charset="-122"/>
              </a:rPr>
              <a:t>6.</a:t>
            </a:r>
            <a:r>
              <a:rPr lang="zh-CN" altLang="en-US" dirty="0">
                <a:solidFill>
                  <a:srgbClr val="FF0000"/>
                </a:solidFill>
                <a:latin typeface="方正屏显雅宋简体" panose="02010600010101010101" pitchFamily="2" charset="-122"/>
              </a:rPr>
              <a:t>全称量词</a:t>
            </a:r>
            <a:endParaRPr lang="en-US" altLang="zh-CN" dirty="0">
              <a:solidFill>
                <a:srgbClr val="FF0000"/>
              </a:solidFill>
              <a:latin typeface="方正屏显雅宋简体" panose="0201060001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sym typeface="Symbol" pitchFamily="18" charset="2"/>
              </a:rPr>
              <a:t>形式： </a:t>
            </a:r>
            <a:r>
              <a:rPr lang="zh-CN" altLang="en-US" dirty="0">
                <a:solidFill>
                  <a:srgbClr val="C00000"/>
                </a:solidFill>
                <a:sym typeface="Symbol" pitchFamily="18" charset="2"/>
              </a:rPr>
              <a:t></a:t>
            </a:r>
            <a:r>
              <a:rPr lang="zh-CN" altLang="en-US" dirty="0">
                <a:solidFill>
                  <a:srgbClr val="C00000"/>
                </a:solidFill>
              </a:rPr>
              <a:t>&lt;</a:t>
            </a:r>
            <a:r>
              <a:rPr lang="zh-CN" altLang="en-US" i="1" dirty="0">
                <a:solidFill>
                  <a:srgbClr val="C00000"/>
                </a:solidFill>
              </a:rPr>
              <a:t>变量</a:t>
            </a:r>
            <a:r>
              <a:rPr lang="zh-CN" altLang="en-US" dirty="0">
                <a:solidFill>
                  <a:srgbClr val="C00000"/>
                </a:solidFill>
              </a:rPr>
              <a:t>&gt; &lt;</a:t>
            </a:r>
            <a:r>
              <a:rPr lang="zh-CN" altLang="en-US" i="1" dirty="0">
                <a:solidFill>
                  <a:srgbClr val="C00000"/>
                </a:solidFill>
              </a:rPr>
              <a:t>语句</a:t>
            </a:r>
            <a:r>
              <a:rPr lang="zh-CN" altLang="en-US" dirty="0">
                <a:solidFill>
                  <a:srgbClr val="C00000"/>
                </a:solidFill>
              </a:rPr>
              <a:t>&gt;</a:t>
            </a:r>
            <a:endParaRPr lang="en-US" altLang="zh-CN" dirty="0">
              <a:solidFill>
                <a:srgbClr val="C00000"/>
              </a:solidFill>
            </a:endParaRPr>
          </a:p>
          <a:p>
            <a:pPr lvl="1">
              <a:lnSpc>
                <a:spcPct val="130000"/>
              </a:lnSpc>
            </a:pPr>
            <a:r>
              <a:rPr lang="zh-CN" altLang="en-US" dirty="0"/>
              <a:t>例子： 在</a:t>
            </a:r>
            <a:r>
              <a:rPr lang="en-US" altLang="zh-CN" i="1" dirty="0">
                <a:solidFill>
                  <a:srgbClr val="FF0000"/>
                </a:solidFill>
              </a:rPr>
              <a:t>Berkeley</a:t>
            </a:r>
            <a:r>
              <a:rPr lang="zh-CN" altLang="en-US" dirty="0"/>
              <a:t>的每个人都是聪明的：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  <a:sym typeface="Symbol" pitchFamily="18" charset="2"/>
              </a:rPr>
              <a:t>               </a:t>
            </a:r>
            <a:r>
              <a:rPr lang="en-US" altLang="zh-CN" sz="2000" dirty="0"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x  At(x,</a:t>
            </a:r>
            <a:r>
              <a:rPr lang="en-US" altLang="zh-CN" sz="2000" i="1" dirty="0">
                <a:solidFill>
                  <a:srgbClr val="003300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 </a:t>
            </a:r>
            <a:r>
              <a:rPr lang="en-US" altLang="zh-CN" sz="2000" i="1" dirty="0">
                <a:solidFill>
                  <a:srgbClr val="FF0000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Berkeley</a:t>
            </a:r>
            <a:r>
              <a:rPr lang="en-US" altLang="zh-CN" sz="2000" dirty="0"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) </a:t>
            </a:r>
            <a:r>
              <a:rPr lang="en-US" altLang="zh-CN" sz="2000" dirty="0"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  <a:sym typeface="Symbol" pitchFamily="18" charset="2"/>
              </a:rPr>
              <a:t> </a:t>
            </a:r>
            <a:r>
              <a:rPr lang="en-US" altLang="zh-CN" sz="2000" dirty="0"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Smart(x)</a:t>
            </a:r>
            <a:endParaRPr lang="en-US" altLang="zh-CN" sz="4000" dirty="0">
              <a:latin typeface="Aa花间辞楷书 (非商业使用)" panose="02010600010101010101" pitchFamily="2" charset="-122"/>
              <a:ea typeface="Aa花间辞楷书 (非商业使用)" panose="02010600010101010101" pitchFamily="2" charset="-122"/>
              <a:sym typeface="Symbol" pitchFamily="18" charset="2"/>
            </a:endParaRPr>
          </a:p>
          <a:p>
            <a:pPr lvl="1">
              <a:lnSpc>
                <a:spcPct val="130000"/>
              </a:lnSpc>
            </a:pPr>
            <a:r>
              <a:rPr lang="en-US" altLang="zh-CN" sz="2400" dirty="0">
                <a:sym typeface="Symbol" pitchFamily="18" charset="2"/>
              </a:rPr>
              <a:t></a:t>
            </a:r>
            <a:r>
              <a:rPr lang="en-US" altLang="zh-CN" sz="2400" dirty="0"/>
              <a:t>x </a:t>
            </a:r>
            <a:r>
              <a:rPr lang="en-US" altLang="zh-CN" sz="2400" i="1" dirty="0"/>
              <a:t>P[x]</a:t>
            </a:r>
            <a:r>
              <a:rPr lang="en-US" altLang="zh-CN" sz="2400" dirty="0"/>
              <a:t> </a:t>
            </a:r>
            <a:r>
              <a:rPr lang="zh-CN" altLang="en-US" sz="2400" dirty="0"/>
              <a:t>在模型</a:t>
            </a:r>
            <a:r>
              <a:rPr lang="en-US" altLang="zh-CN" sz="2400" dirty="0"/>
              <a:t>m</a:t>
            </a:r>
            <a:r>
              <a:rPr lang="zh-CN" altLang="en-US" sz="2400" dirty="0"/>
              <a:t>中为真  </a:t>
            </a:r>
            <a:r>
              <a:rPr lang="en-US" altLang="zh-CN" sz="2400" dirty="0" err="1"/>
              <a:t>iff</a:t>
            </a:r>
            <a:r>
              <a:rPr lang="en-US" altLang="zh-CN" sz="2400" dirty="0"/>
              <a:t>  </a:t>
            </a:r>
            <a:r>
              <a:rPr lang="zh-CN" altLang="en-US" sz="2400" dirty="0"/>
              <a:t>对于</a:t>
            </a:r>
            <a:r>
              <a:rPr lang="en-US" altLang="zh-CN" sz="2400" dirty="0"/>
              <a:t>m</a:t>
            </a:r>
            <a:r>
              <a:rPr lang="zh-CN" altLang="en-US" sz="2400" dirty="0"/>
              <a:t>中的每个对象</a:t>
            </a:r>
            <a:r>
              <a:rPr lang="en-US" altLang="zh-CN" sz="2400" dirty="0" err="1"/>
              <a:t>d，</a:t>
            </a:r>
            <a:r>
              <a:rPr lang="en-US" altLang="zh-CN" sz="2400" i="1" dirty="0" err="1"/>
              <a:t>P</a:t>
            </a:r>
            <a:r>
              <a:rPr lang="en-US" altLang="zh-CN" sz="2400" i="1" dirty="0"/>
              <a:t>[d]</a:t>
            </a:r>
            <a:r>
              <a:rPr lang="zh-CN" altLang="en-US" sz="2400" i="1" dirty="0"/>
              <a:t>为真</a:t>
            </a:r>
            <a:endParaRPr lang="zh-CN" altLang="en-US" sz="2400" dirty="0"/>
          </a:p>
          <a:p>
            <a:pPr lvl="1">
              <a:lnSpc>
                <a:spcPct val="130000"/>
              </a:lnSpc>
            </a:pPr>
            <a:r>
              <a:rPr lang="en-US" altLang="zh-CN" sz="2600" dirty="0"/>
              <a:t>    </a:t>
            </a:r>
            <a:r>
              <a:rPr lang="zh-CN" altLang="en-US" sz="2600" dirty="0"/>
              <a:t>它</a:t>
            </a:r>
            <a:r>
              <a:rPr lang="zh-CN" altLang="en-US" sz="2600" dirty="0">
                <a:solidFill>
                  <a:srgbClr val="FF0000"/>
                </a:solidFill>
              </a:rPr>
              <a:t>等价</a:t>
            </a:r>
            <a:r>
              <a:rPr lang="zh-CN" altLang="en-US" sz="2600" dirty="0"/>
              <a:t>于</a:t>
            </a:r>
            <a:r>
              <a:rPr lang="en-US" altLang="zh-CN" sz="2600" i="1" dirty="0"/>
              <a:t>P</a:t>
            </a:r>
            <a:r>
              <a:rPr lang="zh-CN" altLang="en-US" sz="2600" dirty="0"/>
              <a:t>的实例的</a:t>
            </a:r>
            <a:r>
              <a:rPr lang="zh-CN" altLang="en-US" sz="2600" dirty="0">
                <a:solidFill>
                  <a:srgbClr val="FF0000"/>
                </a:solidFill>
              </a:rPr>
              <a:t>合取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        At(</a:t>
            </a:r>
            <a:r>
              <a:rPr lang="en-US" altLang="zh-CN" sz="2000" dirty="0" err="1"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KingJohn</a:t>
            </a:r>
            <a:r>
              <a:rPr lang="en-US" altLang="zh-CN" sz="2000" dirty="0"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, </a:t>
            </a:r>
            <a:r>
              <a:rPr lang="en-US" altLang="zh-CN" sz="2000" i="1" dirty="0">
                <a:solidFill>
                  <a:srgbClr val="FF0000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Berkeley</a:t>
            </a:r>
            <a:r>
              <a:rPr lang="en-US" altLang="zh-CN" sz="2000" dirty="0"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) </a:t>
            </a:r>
            <a:r>
              <a:rPr lang="en-US" altLang="zh-CN" sz="2000" dirty="0"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  <a:sym typeface="Symbol" pitchFamily="18" charset="2"/>
              </a:rPr>
              <a:t> </a:t>
            </a:r>
            <a:r>
              <a:rPr lang="en-US" altLang="zh-CN" sz="2000" dirty="0"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Smart(</a:t>
            </a:r>
            <a:r>
              <a:rPr lang="en-US" altLang="zh-CN" sz="2000" dirty="0" err="1"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KingJohn</a:t>
            </a:r>
            <a:r>
              <a:rPr lang="en-US" altLang="zh-CN" sz="2000" dirty="0"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)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       </a:t>
            </a:r>
            <a:r>
              <a:rPr lang="en-US" altLang="zh-CN" sz="2000" dirty="0"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  <a:sym typeface="Symbol" pitchFamily="18" charset="2"/>
              </a:rPr>
              <a:t>  </a:t>
            </a:r>
            <a:r>
              <a:rPr lang="en-US" altLang="zh-CN" sz="2000" dirty="0"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At(Richard, </a:t>
            </a:r>
            <a:r>
              <a:rPr lang="en-US" altLang="zh-CN" sz="2000" i="1" dirty="0">
                <a:solidFill>
                  <a:srgbClr val="FF0000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Berkeley</a:t>
            </a:r>
            <a:r>
              <a:rPr lang="en-US" altLang="zh-CN" sz="2000" dirty="0"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) </a:t>
            </a:r>
            <a:r>
              <a:rPr lang="en-US" altLang="zh-CN" sz="2000" dirty="0"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  <a:sym typeface="Symbol" pitchFamily="18" charset="2"/>
              </a:rPr>
              <a:t></a:t>
            </a:r>
            <a:r>
              <a:rPr lang="en-US" altLang="zh-CN" sz="2000" dirty="0"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  Smart(Richard)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       </a:t>
            </a:r>
            <a:r>
              <a:rPr lang="en-US" altLang="zh-CN" sz="2000" dirty="0"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  <a:sym typeface="Symbol" pitchFamily="18" charset="2"/>
              </a:rPr>
              <a:t>  </a:t>
            </a:r>
            <a:r>
              <a:rPr lang="en-US" altLang="zh-CN" sz="2000" dirty="0"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At(Mike, </a:t>
            </a:r>
            <a:r>
              <a:rPr lang="en-US" altLang="zh-CN" sz="2000" i="1" dirty="0">
                <a:solidFill>
                  <a:srgbClr val="FF0000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Berkeley</a:t>
            </a:r>
            <a:r>
              <a:rPr lang="en-US" altLang="zh-CN" sz="2000" dirty="0"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) </a:t>
            </a:r>
            <a:r>
              <a:rPr lang="en-US" altLang="zh-CN" sz="2000" dirty="0"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  <a:sym typeface="Symbol" pitchFamily="18" charset="2"/>
              </a:rPr>
              <a:t></a:t>
            </a:r>
            <a:r>
              <a:rPr lang="en-US" altLang="zh-CN" sz="2000" dirty="0"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 Smart(Mike)</a:t>
            </a:r>
          </a:p>
          <a:p>
            <a:pPr>
              <a:lnSpc>
                <a:spcPct val="130000"/>
              </a:lnSpc>
            </a:pPr>
            <a:r>
              <a:rPr lang="en-US" altLang="zh-CN" sz="2000" dirty="0"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       </a:t>
            </a:r>
            <a:r>
              <a:rPr lang="en-US" altLang="zh-CN" sz="2000" dirty="0"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  <a:sym typeface="Symbol" pitchFamily="18" charset="2"/>
              </a:rPr>
              <a:t></a:t>
            </a:r>
            <a:r>
              <a:rPr lang="en-US" altLang="zh-CN" sz="2000" dirty="0"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  ...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3488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48CE77-142D-9F01-B2F9-04F11B998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8.2 </a:t>
            </a:r>
            <a:r>
              <a:rPr lang="zh-CN" altLang="en-US" dirty="0"/>
              <a:t>一阶逻辑的语义和语法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ABBB99-2C83-F6B9-86FC-12E79874A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  <a:latin typeface="方正屏显雅宋简体" panose="02010600010101010101" pitchFamily="2" charset="-122"/>
              </a:rPr>
              <a:t>6.</a:t>
            </a:r>
            <a:r>
              <a:rPr lang="zh-CN" altLang="en-US" dirty="0">
                <a:solidFill>
                  <a:srgbClr val="FF0000"/>
                </a:solidFill>
                <a:latin typeface="方正屏显雅宋简体" panose="02010600010101010101" pitchFamily="2" charset="-122"/>
              </a:rPr>
              <a:t>全称量词</a:t>
            </a:r>
            <a:endParaRPr lang="en-US" altLang="zh-CN" dirty="0">
              <a:solidFill>
                <a:srgbClr val="FF0000"/>
              </a:solidFill>
              <a:latin typeface="方正屏显雅宋简体" panose="0201060001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>
                <a:solidFill>
                  <a:srgbClr val="FFC000"/>
                </a:solidFill>
              </a:rPr>
              <a:t>注意：使用全称量词应避免的常见错误</a:t>
            </a:r>
          </a:p>
          <a:p>
            <a:pPr lvl="1">
              <a:lnSpc>
                <a:spcPct val="150000"/>
              </a:lnSpc>
            </a:pPr>
            <a:r>
              <a:rPr lang="en-US" altLang="zh-CN" sz="2400" dirty="0"/>
              <a:t>1</a:t>
            </a:r>
            <a:r>
              <a:rPr lang="zh-CN" altLang="en-US" sz="2400" dirty="0"/>
              <a:t>）一般情况， </a:t>
            </a:r>
            <a:r>
              <a:rPr lang="zh-CN" altLang="en-US" sz="2400" dirty="0">
                <a:sym typeface="Symbol" pitchFamily="18" charset="2"/>
              </a:rPr>
              <a:t></a:t>
            </a:r>
            <a:r>
              <a:rPr lang="zh-CN" altLang="en-US" sz="2400" dirty="0"/>
              <a:t> 是与</a:t>
            </a:r>
            <a:r>
              <a:rPr lang="en-US" altLang="zh-CN" sz="2400" dirty="0">
                <a:sym typeface="Symbol" pitchFamily="18" charset="2"/>
              </a:rPr>
              <a:t></a:t>
            </a:r>
            <a:r>
              <a:rPr lang="zh-CN" altLang="en-US" sz="2400" dirty="0"/>
              <a:t>在一起的主要连接词</a:t>
            </a:r>
          </a:p>
          <a:p>
            <a:pPr lvl="1">
              <a:lnSpc>
                <a:spcPct val="150000"/>
              </a:lnSpc>
            </a:pPr>
            <a:r>
              <a:rPr lang="en-US" altLang="zh-CN" sz="2400" dirty="0"/>
              <a:t>2</a:t>
            </a:r>
            <a:r>
              <a:rPr lang="zh-CN" altLang="en-US" sz="2400" dirty="0"/>
              <a:t>）常见错误：把</a:t>
            </a:r>
            <a:r>
              <a:rPr lang="en-US" altLang="zh-CN" sz="2400" dirty="0">
                <a:sym typeface="Symbol" pitchFamily="18" charset="2"/>
              </a:rPr>
              <a:t></a:t>
            </a:r>
            <a:r>
              <a:rPr lang="zh-CN" altLang="en-US" sz="2400" dirty="0"/>
              <a:t>与</a:t>
            </a:r>
            <a:r>
              <a:rPr lang="en-US" altLang="zh-CN" sz="2400" dirty="0">
                <a:sym typeface="Symbol" pitchFamily="18" charset="2"/>
              </a:rPr>
              <a:t></a:t>
            </a:r>
            <a:r>
              <a:rPr lang="zh-CN" altLang="en-US" sz="2400" dirty="0"/>
              <a:t>放在一起：</a:t>
            </a:r>
            <a:endParaRPr lang="en-US" altLang="zh-CN" sz="2400" dirty="0"/>
          </a:p>
          <a:p>
            <a:pPr lvl="1">
              <a:lnSpc>
                <a:spcPct val="150000"/>
              </a:lnSpc>
            </a:pPr>
            <a:r>
              <a:rPr lang="en-US" altLang="zh-CN" sz="2400" dirty="0">
                <a:sym typeface="Symbol" pitchFamily="18" charset="2"/>
              </a:rPr>
              <a:t>          </a:t>
            </a:r>
            <a:r>
              <a:rPr lang="en-US" altLang="zh-CN" sz="2400" dirty="0">
                <a:solidFill>
                  <a:srgbClr val="FF0000"/>
                </a:solidFill>
                <a:sym typeface="Symbol" pitchFamily="18" charset="2"/>
              </a:rPr>
              <a:t></a:t>
            </a:r>
            <a:r>
              <a:rPr lang="en-US" altLang="zh-CN" sz="2400" dirty="0">
                <a:solidFill>
                  <a:srgbClr val="FF0000"/>
                </a:solidFill>
              </a:rPr>
              <a:t>x (At(x, </a:t>
            </a:r>
            <a:r>
              <a:rPr lang="en-US" altLang="zh-CN" sz="2400" i="1" dirty="0">
                <a:solidFill>
                  <a:srgbClr val="FF0000"/>
                </a:solidFill>
              </a:rPr>
              <a:t>Berkeley</a:t>
            </a:r>
            <a:r>
              <a:rPr lang="en-US" altLang="zh-CN" sz="2400" dirty="0">
                <a:solidFill>
                  <a:srgbClr val="FF0000"/>
                </a:solidFill>
              </a:rPr>
              <a:t>) </a:t>
            </a:r>
            <a:r>
              <a:rPr lang="en-US" altLang="zh-CN" sz="2400" dirty="0">
                <a:solidFill>
                  <a:srgbClr val="FF0000"/>
                </a:solidFill>
                <a:sym typeface="Symbol" pitchFamily="18" charset="2"/>
              </a:rPr>
              <a:t> </a:t>
            </a:r>
            <a:r>
              <a:rPr lang="en-US" altLang="zh-CN" sz="2400" dirty="0">
                <a:solidFill>
                  <a:srgbClr val="FF0000"/>
                </a:solidFill>
              </a:rPr>
              <a:t>Smart(x))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/>
              <a:t>  意指：“每个人都在</a:t>
            </a:r>
            <a:r>
              <a:rPr lang="en-US" altLang="zh-CN" sz="2400" i="1" dirty="0">
                <a:solidFill>
                  <a:srgbClr val="003300"/>
                </a:solidFill>
              </a:rPr>
              <a:t> </a:t>
            </a:r>
            <a:r>
              <a:rPr lang="en-US" altLang="zh-CN" sz="2400" i="1" dirty="0">
                <a:solidFill>
                  <a:srgbClr val="FF0000"/>
                </a:solidFill>
              </a:rPr>
              <a:t>Berkeley</a:t>
            </a:r>
            <a:r>
              <a:rPr lang="zh-CN" altLang="en-US" sz="2400" dirty="0"/>
              <a:t>且每个人都是聪明的</a:t>
            </a:r>
            <a:r>
              <a:rPr lang="en-US" altLang="zh-CN" sz="2400" dirty="0"/>
              <a:t>”</a:t>
            </a:r>
          </a:p>
          <a:p>
            <a:pPr lvl="1">
              <a:lnSpc>
                <a:spcPct val="150000"/>
              </a:lnSpc>
            </a:pPr>
            <a:r>
              <a:rPr lang="zh-CN" altLang="en-US" sz="2400" dirty="0"/>
              <a:t>与“在</a:t>
            </a:r>
            <a:r>
              <a:rPr lang="en-US" altLang="zh-CN" sz="2400" i="1" dirty="0">
                <a:solidFill>
                  <a:srgbClr val="FF0000"/>
                </a:solidFill>
              </a:rPr>
              <a:t>Berkeley</a:t>
            </a:r>
            <a:r>
              <a:rPr lang="zh-CN" altLang="en-US" sz="2400" dirty="0"/>
              <a:t>的每个人都是聪明的”含义完全不同。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34929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48CE77-142D-9F01-B2F9-04F11B998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8.2 </a:t>
            </a:r>
            <a:r>
              <a:rPr lang="zh-CN" altLang="en-US" dirty="0"/>
              <a:t>一阶逻辑的语义和语法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ABBB99-2C83-F6B9-86FC-12E79874A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  <a:latin typeface="方正屏显雅宋简体" panose="02010600010101010101" pitchFamily="2" charset="-122"/>
              </a:rPr>
              <a:t>7.</a:t>
            </a:r>
            <a:r>
              <a:rPr lang="zh-CN" altLang="en-US" dirty="0">
                <a:solidFill>
                  <a:srgbClr val="FF0000"/>
                </a:solidFill>
                <a:latin typeface="方正屏显雅宋简体" panose="02010600010101010101" pitchFamily="2" charset="-122"/>
              </a:rPr>
              <a:t>存在量词</a:t>
            </a:r>
            <a:endParaRPr lang="en-US" altLang="zh-CN" dirty="0">
              <a:solidFill>
                <a:srgbClr val="FF0000"/>
              </a:solidFill>
              <a:latin typeface="方正屏显雅宋简体" panose="02010600010101010101" pitchFamily="2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dirty="0">
                <a:sym typeface="Symbol" pitchFamily="18" charset="2"/>
              </a:rPr>
              <a:t>形式：</a:t>
            </a:r>
            <a:r>
              <a:rPr lang="zh-CN" altLang="en-US" dirty="0">
                <a:solidFill>
                  <a:srgbClr val="FF0000"/>
                </a:solidFill>
                <a:sym typeface="Symbol" pitchFamily="18" charset="2"/>
              </a:rPr>
              <a:t> </a:t>
            </a:r>
            <a:r>
              <a:rPr lang="zh-CN" altLang="en-US" dirty="0">
                <a:solidFill>
                  <a:srgbClr val="FF0000"/>
                </a:solidFill>
              </a:rPr>
              <a:t>&lt;</a:t>
            </a:r>
            <a:r>
              <a:rPr lang="zh-CN" altLang="en-US" i="1" dirty="0">
                <a:solidFill>
                  <a:srgbClr val="FF0000"/>
                </a:solidFill>
              </a:rPr>
              <a:t>变量</a:t>
            </a:r>
            <a:r>
              <a:rPr lang="en-US" altLang="zh-CN" dirty="0">
                <a:solidFill>
                  <a:srgbClr val="FF0000"/>
                </a:solidFill>
              </a:rPr>
              <a:t>&gt; &lt;</a:t>
            </a:r>
            <a:r>
              <a:rPr lang="zh-CN" altLang="en-US" i="1" dirty="0">
                <a:solidFill>
                  <a:srgbClr val="FF0000"/>
                </a:solidFill>
              </a:rPr>
              <a:t>语句</a:t>
            </a:r>
            <a:r>
              <a:rPr lang="zh-CN" altLang="en-US" dirty="0">
                <a:solidFill>
                  <a:srgbClr val="FF0000"/>
                </a:solidFill>
              </a:rPr>
              <a:t>&gt;</a:t>
            </a:r>
          </a:p>
          <a:p>
            <a:pPr lvl="1">
              <a:lnSpc>
                <a:spcPct val="130000"/>
              </a:lnSpc>
            </a:pPr>
            <a:r>
              <a:rPr lang="zh-CN" altLang="en-US" dirty="0"/>
              <a:t>例：在</a:t>
            </a:r>
            <a:r>
              <a:rPr lang="en-US" altLang="zh-CN" dirty="0"/>
              <a:t>Stanford</a:t>
            </a:r>
            <a:r>
              <a:rPr lang="zh-CN" altLang="en-US" dirty="0"/>
              <a:t>的有些人是聪明的：</a:t>
            </a:r>
          </a:p>
          <a:p>
            <a:pPr lvl="1">
              <a:lnSpc>
                <a:spcPct val="130000"/>
              </a:lnSpc>
            </a:pPr>
            <a:r>
              <a:rPr lang="en-US" altLang="zh-CN" dirty="0">
                <a:sym typeface="Symbol" pitchFamily="18" charset="2"/>
              </a:rPr>
              <a:t>           </a:t>
            </a:r>
            <a:r>
              <a:rPr lang="en-US" altLang="zh-CN" i="1" dirty="0"/>
              <a:t>x</a:t>
            </a:r>
            <a:r>
              <a:rPr lang="en-US" altLang="zh-CN" dirty="0"/>
              <a:t> At(x,</a:t>
            </a:r>
            <a:r>
              <a:rPr lang="en-US" altLang="zh-CN" i="1" dirty="0">
                <a:solidFill>
                  <a:srgbClr val="003300"/>
                </a:solidFill>
              </a:rPr>
              <a:t> </a:t>
            </a:r>
            <a:r>
              <a:rPr lang="en-US" altLang="zh-CN" i="1" dirty="0">
                <a:solidFill>
                  <a:srgbClr val="FF0000"/>
                </a:solidFill>
              </a:rPr>
              <a:t>Stanford</a:t>
            </a:r>
            <a:r>
              <a:rPr lang="en-US" altLang="zh-CN" dirty="0"/>
              <a:t>) </a:t>
            </a:r>
            <a:r>
              <a:rPr lang="en-US" altLang="zh-CN" dirty="0">
                <a:sym typeface="Symbol" pitchFamily="18" charset="2"/>
              </a:rPr>
              <a:t></a:t>
            </a:r>
            <a:r>
              <a:rPr lang="en-US" altLang="zh-CN" dirty="0"/>
              <a:t> Smart(x)</a:t>
            </a:r>
            <a:endParaRPr lang="en-US" altLang="zh-CN" sz="4000" dirty="0">
              <a:sym typeface="Symbol" pitchFamily="18" charset="2"/>
            </a:endParaRPr>
          </a:p>
          <a:p>
            <a:pPr lvl="1">
              <a:lnSpc>
                <a:spcPct val="130000"/>
              </a:lnSpc>
            </a:pPr>
            <a:r>
              <a:rPr lang="en-US" altLang="zh-CN" dirty="0">
                <a:sym typeface="Symbol" pitchFamily="18" charset="2"/>
              </a:rPr>
              <a:t></a:t>
            </a:r>
            <a:r>
              <a:rPr lang="en-US" altLang="zh-CN" i="1" dirty="0"/>
              <a:t>x</a:t>
            </a:r>
            <a:r>
              <a:rPr lang="en-US" altLang="zh-CN" dirty="0"/>
              <a:t> </a:t>
            </a:r>
            <a:r>
              <a:rPr lang="en-US" altLang="zh-CN" i="1" dirty="0"/>
              <a:t>P[x]</a:t>
            </a:r>
            <a:r>
              <a:rPr lang="zh-CN" altLang="en-US" dirty="0"/>
              <a:t>在模型</a:t>
            </a:r>
            <a:r>
              <a:rPr lang="en-US" altLang="zh-CN" dirty="0"/>
              <a:t>m</a:t>
            </a:r>
            <a:r>
              <a:rPr lang="zh-CN" altLang="en-US" dirty="0"/>
              <a:t>中为真 </a:t>
            </a:r>
            <a:r>
              <a:rPr lang="en-US" altLang="zh-CN" dirty="0" err="1"/>
              <a:t>iff</a:t>
            </a:r>
            <a:r>
              <a:rPr lang="en-US" altLang="zh-CN" dirty="0"/>
              <a:t>  </a:t>
            </a:r>
            <a:r>
              <a:rPr lang="zh-CN" altLang="en-US" dirty="0"/>
              <a:t>存在</a:t>
            </a:r>
            <a:r>
              <a:rPr lang="en-US" altLang="zh-CN" dirty="0"/>
              <a:t>m</a:t>
            </a:r>
            <a:r>
              <a:rPr lang="zh-CN" altLang="en-US" dirty="0"/>
              <a:t>中的对象</a:t>
            </a:r>
            <a:r>
              <a:rPr lang="en-US" altLang="zh-CN" dirty="0" err="1"/>
              <a:t>d，</a:t>
            </a:r>
            <a:r>
              <a:rPr lang="en-US" altLang="zh-CN" i="1" dirty="0" err="1"/>
              <a:t>P</a:t>
            </a:r>
            <a:r>
              <a:rPr lang="en-US" altLang="zh-CN" i="1" dirty="0"/>
              <a:t>[d]</a:t>
            </a:r>
            <a:r>
              <a:rPr lang="zh-CN" altLang="en-US" dirty="0"/>
              <a:t>为真它等价</a:t>
            </a:r>
            <a:r>
              <a:rPr lang="en-US" altLang="zh-CN" dirty="0"/>
              <a:t>P</a:t>
            </a:r>
            <a:r>
              <a:rPr lang="zh-CN" altLang="en-US" dirty="0"/>
              <a:t>的实例的</a:t>
            </a:r>
            <a:r>
              <a:rPr lang="zh-CN" altLang="en-US" dirty="0">
                <a:solidFill>
                  <a:srgbClr val="FF0000"/>
                </a:solidFill>
              </a:rPr>
              <a:t>析取</a:t>
            </a:r>
            <a:r>
              <a:rPr lang="zh-CN" altLang="en-US" dirty="0"/>
              <a:t>：</a:t>
            </a:r>
          </a:p>
          <a:p>
            <a:pPr lvl="1">
              <a:lnSpc>
                <a:spcPct val="130000"/>
              </a:lnSpc>
            </a:pPr>
            <a:r>
              <a:rPr lang="en-US" altLang="zh-CN" dirty="0"/>
              <a:t>	      At(</a:t>
            </a:r>
            <a:r>
              <a:rPr lang="en-US" altLang="zh-CN" dirty="0" err="1"/>
              <a:t>KingJohn</a:t>
            </a:r>
            <a:r>
              <a:rPr lang="en-US" altLang="zh-CN" dirty="0"/>
              <a:t>,</a:t>
            </a:r>
            <a:r>
              <a:rPr lang="en-US" altLang="zh-CN" i="1" dirty="0">
                <a:solidFill>
                  <a:srgbClr val="003300"/>
                </a:solidFill>
              </a:rPr>
              <a:t> </a:t>
            </a:r>
            <a:r>
              <a:rPr lang="en-US" altLang="zh-CN" i="1" dirty="0">
                <a:solidFill>
                  <a:srgbClr val="FF0000"/>
                </a:solidFill>
              </a:rPr>
              <a:t>Stanford</a:t>
            </a:r>
            <a:r>
              <a:rPr lang="en-US" altLang="zh-CN" dirty="0"/>
              <a:t>) </a:t>
            </a:r>
            <a:r>
              <a:rPr lang="en-US" altLang="zh-CN" dirty="0">
                <a:sym typeface="Symbol" pitchFamily="18" charset="2"/>
              </a:rPr>
              <a:t></a:t>
            </a:r>
            <a:r>
              <a:rPr lang="en-US" altLang="zh-CN" dirty="0"/>
              <a:t> Smart(</a:t>
            </a:r>
            <a:r>
              <a:rPr lang="en-US" altLang="zh-CN" dirty="0" err="1"/>
              <a:t>KingJohn</a:t>
            </a:r>
            <a:r>
              <a:rPr lang="en-US" altLang="zh-CN" dirty="0"/>
              <a:t>)</a:t>
            </a:r>
          </a:p>
          <a:p>
            <a:pPr lvl="1">
              <a:lnSpc>
                <a:spcPct val="130000"/>
              </a:lnSpc>
            </a:pPr>
            <a:r>
              <a:rPr lang="en-US" altLang="zh-CN" dirty="0"/>
              <a:t>       </a:t>
            </a:r>
            <a:r>
              <a:rPr lang="en-US" altLang="zh-CN" dirty="0">
                <a:sym typeface="Symbol" pitchFamily="18" charset="2"/>
              </a:rPr>
              <a:t></a:t>
            </a:r>
            <a:r>
              <a:rPr lang="en-US" altLang="zh-CN" dirty="0"/>
              <a:t>  At(Richard,</a:t>
            </a:r>
            <a:r>
              <a:rPr lang="en-US" altLang="zh-CN" i="1" dirty="0">
                <a:solidFill>
                  <a:srgbClr val="003300"/>
                </a:solidFill>
              </a:rPr>
              <a:t> </a:t>
            </a:r>
            <a:r>
              <a:rPr lang="en-US" altLang="zh-CN" i="1" dirty="0">
                <a:solidFill>
                  <a:srgbClr val="FF0000"/>
                </a:solidFill>
              </a:rPr>
              <a:t>Stanford</a:t>
            </a:r>
            <a:r>
              <a:rPr lang="en-US" altLang="zh-CN" dirty="0"/>
              <a:t>) </a:t>
            </a:r>
            <a:r>
              <a:rPr lang="en-US" altLang="zh-CN" dirty="0">
                <a:sym typeface="Symbol" pitchFamily="18" charset="2"/>
              </a:rPr>
              <a:t> </a:t>
            </a:r>
            <a:r>
              <a:rPr lang="en-US" altLang="zh-CN" dirty="0"/>
              <a:t>Smart(Richard)</a:t>
            </a:r>
          </a:p>
          <a:p>
            <a:pPr lvl="1">
              <a:lnSpc>
                <a:spcPct val="130000"/>
              </a:lnSpc>
            </a:pPr>
            <a:r>
              <a:rPr lang="en-US" altLang="zh-CN" dirty="0"/>
              <a:t>       </a:t>
            </a:r>
            <a:r>
              <a:rPr lang="en-US" altLang="zh-CN" dirty="0">
                <a:sym typeface="Symbol" pitchFamily="18" charset="2"/>
              </a:rPr>
              <a:t></a:t>
            </a:r>
            <a:r>
              <a:rPr lang="en-US" altLang="zh-CN" dirty="0"/>
              <a:t>  At(</a:t>
            </a:r>
            <a:r>
              <a:rPr lang="en-US" altLang="zh-CN" i="1" dirty="0">
                <a:solidFill>
                  <a:srgbClr val="FF0000"/>
                </a:solidFill>
              </a:rPr>
              <a:t>Stanford</a:t>
            </a:r>
            <a:r>
              <a:rPr lang="en-US" altLang="zh-CN" dirty="0"/>
              <a:t>,</a:t>
            </a:r>
            <a:r>
              <a:rPr lang="en-US" altLang="zh-CN" i="1" dirty="0">
                <a:solidFill>
                  <a:srgbClr val="003300"/>
                </a:solidFill>
              </a:rPr>
              <a:t> </a:t>
            </a:r>
            <a:r>
              <a:rPr lang="en-US" altLang="zh-CN" i="1" dirty="0">
                <a:solidFill>
                  <a:srgbClr val="FF0000"/>
                </a:solidFill>
              </a:rPr>
              <a:t>Stanford</a:t>
            </a:r>
            <a:r>
              <a:rPr lang="en-US" altLang="zh-CN" dirty="0"/>
              <a:t>) </a:t>
            </a:r>
            <a:r>
              <a:rPr lang="en-US" altLang="zh-CN" dirty="0">
                <a:sym typeface="Symbol" pitchFamily="18" charset="2"/>
              </a:rPr>
              <a:t></a:t>
            </a:r>
            <a:r>
              <a:rPr lang="en-US" altLang="zh-CN" dirty="0"/>
              <a:t> Smart(</a:t>
            </a:r>
            <a:r>
              <a:rPr lang="en-US" altLang="zh-CN" i="1" dirty="0">
                <a:solidFill>
                  <a:srgbClr val="FF0000"/>
                </a:solidFill>
              </a:rPr>
              <a:t>Stanford</a:t>
            </a:r>
            <a:r>
              <a:rPr lang="en-US" altLang="zh-CN" dirty="0"/>
              <a:t>)</a:t>
            </a:r>
          </a:p>
          <a:p>
            <a:pPr lvl="1">
              <a:lnSpc>
                <a:spcPct val="130000"/>
              </a:lnSpc>
            </a:pPr>
            <a:r>
              <a:rPr lang="en-US" altLang="zh-CN" dirty="0"/>
              <a:t>       </a:t>
            </a:r>
            <a:r>
              <a:rPr lang="en-US" altLang="zh-CN" dirty="0">
                <a:sym typeface="Symbol" pitchFamily="18" charset="2"/>
              </a:rPr>
              <a:t></a:t>
            </a:r>
            <a:r>
              <a:rPr lang="en-US" altLang="zh-CN" dirty="0"/>
              <a:t>  ...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97914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48CE77-142D-9F01-B2F9-04F11B998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8.2 </a:t>
            </a:r>
            <a:r>
              <a:rPr lang="zh-CN" altLang="en-US" dirty="0"/>
              <a:t>一阶逻辑的语义和语法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ABBB99-2C83-F6B9-86FC-12E79874A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  <a:latin typeface="方正屏显雅宋简体" panose="02010600010101010101" pitchFamily="2" charset="-122"/>
              </a:rPr>
              <a:t>7.</a:t>
            </a:r>
            <a:r>
              <a:rPr lang="zh-CN" altLang="en-US" dirty="0">
                <a:solidFill>
                  <a:srgbClr val="FF0000"/>
                </a:solidFill>
                <a:latin typeface="方正屏显雅宋简体" panose="02010600010101010101" pitchFamily="2" charset="-122"/>
              </a:rPr>
              <a:t>存在量词</a:t>
            </a:r>
            <a:endParaRPr lang="en-US" altLang="zh-CN" dirty="0">
              <a:solidFill>
                <a:srgbClr val="FF0000"/>
              </a:solidFill>
              <a:latin typeface="方正屏显雅宋简体" panose="02010600010101010101" pitchFamily="2" charset="-122"/>
            </a:endParaRPr>
          </a:p>
          <a:p>
            <a:pPr lvl="1">
              <a:lnSpc>
                <a:spcPct val="150000"/>
              </a:lnSpc>
            </a:pPr>
            <a:r>
              <a:rPr lang="zh-CN" altLang="en-US" dirty="0">
                <a:solidFill>
                  <a:srgbClr val="0070C0"/>
                </a:solidFill>
              </a:rPr>
              <a:t>注意：使用存在量词应避免的常见错误</a:t>
            </a:r>
          </a:p>
          <a:p>
            <a:pPr lvl="1">
              <a:lnSpc>
                <a:spcPct val="150000"/>
              </a:lnSpc>
            </a:pPr>
            <a:r>
              <a:rPr lang="en-US" altLang="zh-CN" sz="2400" dirty="0"/>
              <a:t>1</a:t>
            </a:r>
            <a:r>
              <a:rPr lang="zh-CN" altLang="en-US" sz="2400" dirty="0"/>
              <a:t>）一般情况，</a:t>
            </a:r>
            <a:r>
              <a:rPr lang="zh-CN" altLang="en-US" sz="2400" dirty="0">
                <a:sym typeface="Symbol" pitchFamily="18" charset="2"/>
              </a:rPr>
              <a:t> </a:t>
            </a:r>
            <a:r>
              <a:rPr lang="zh-CN" altLang="en-US" sz="2400" dirty="0"/>
              <a:t>与 </a:t>
            </a:r>
            <a:r>
              <a:rPr lang="zh-CN" altLang="en-US" sz="2400" dirty="0">
                <a:sym typeface="Symbol" pitchFamily="18" charset="2"/>
              </a:rPr>
              <a:t>一起使用，自然连接词</a:t>
            </a:r>
            <a:endParaRPr lang="zh-CN" altLang="en-US" sz="2400" dirty="0"/>
          </a:p>
          <a:p>
            <a:pPr lvl="1">
              <a:lnSpc>
                <a:spcPct val="150000"/>
              </a:lnSpc>
            </a:pPr>
            <a:r>
              <a:rPr lang="en-US" altLang="zh-CN" sz="2400" dirty="0"/>
              <a:t>2</a:t>
            </a:r>
            <a:r>
              <a:rPr lang="zh-CN" altLang="en-US" sz="2400" dirty="0"/>
              <a:t>）常见错误： </a:t>
            </a:r>
            <a:r>
              <a:rPr lang="en-US" altLang="zh-CN" sz="2400" dirty="0">
                <a:sym typeface="Symbol" pitchFamily="18" charset="2"/>
              </a:rPr>
              <a:t></a:t>
            </a:r>
            <a:r>
              <a:rPr lang="zh-CN" altLang="en-US" sz="2400" dirty="0">
                <a:sym typeface="Symbol" pitchFamily="18" charset="2"/>
              </a:rPr>
              <a:t>与</a:t>
            </a:r>
            <a:r>
              <a:rPr lang="en-US" altLang="zh-CN" sz="2400" dirty="0">
                <a:sym typeface="Symbol" pitchFamily="18" charset="2"/>
              </a:rPr>
              <a:t></a:t>
            </a:r>
            <a:r>
              <a:rPr lang="zh-CN" altLang="en-US" sz="2400" dirty="0">
                <a:sym typeface="Symbol" pitchFamily="18" charset="2"/>
              </a:rPr>
              <a:t>一起使用</a:t>
            </a:r>
            <a:r>
              <a:rPr lang="zh-CN" altLang="en-US" sz="2400" dirty="0"/>
              <a:t>：</a:t>
            </a:r>
          </a:p>
          <a:p>
            <a:pPr lvl="1">
              <a:lnSpc>
                <a:spcPct val="150000"/>
              </a:lnSpc>
            </a:pPr>
            <a:r>
              <a:rPr lang="en-US" altLang="zh-CN" dirty="0">
                <a:sym typeface="Symbol" pitchFamily="18" charset="2"/>
              </a:rPr>
              <a:t>          </a:t>
            </a:r>
            <a:r>
              <a:rPr lang="en-US" altLang="zh-CN" i="1" dirty="0"/>
              <a:t>x</a:t>
            </a:r>
            <a:r>
              <a:rPr lang="en-US" altLang="zh-CN" dirty="0"/>
              <a:t> (At(x,</a:t>
            </a:r>
            <a:r>
              <a:rPr lang="en-US" altLang="zh-CN" i="1" dirty="0">
                <a:solidFill>
                  <a:srgbClr val="003300"/>
                </a:solidFill>
              </a:rPr>
              <a:t> </a:t>
            </a:r>
            <a:r>
              <a:rPr lang="en-US" altLang="zh-CN" i="1" dirty="0">
                <a:solidFill>
                  <a:srgbClr val="FF0000"/>
                </a:solidFill>
              </a:rPr>
              <a:t>Stanford</a:t>
            </a:r>
            <a:r>
              <a:rPr lang="en-US" altLang="zh-CN" dirty="0"/>
              <a:t>) </a:t>
            </a:r>
            <a:r>
              <a:rPr lang="en-US" altLang="zh-CN" dirty="0">
                <a:sym typeface="Symbol" pitchFamily="18" charset="2"/>
              </a:rPr>
              <a:t> </a:t>
            </a:r>
            <a:r>
              <a:rPr lang="en-US" altLang="zh-CN" dirty="0"/>
              <a:t>Smart(x))</a:t>
            </a:r>
          </a:p>
          <a:p>
            <a:pPr lvl="2">
              <a:lnSpc>
                <a:spcPct val="150000"/>
              </a:lnSpc>
            </a:pPr>
            <a:r>
              <a:rPr lang="en-US" altLang="zh-CN" dirty="0"/>
              <a:t>   </a:t>
            </a:r>
            <a:r>
              <a:rPr lang="zh-CN" altLang="en-US" dirty="0"/>
              <a:t>上式为真，含义：</a:t>
            </a:r>
            <a:r>
              <a:rPr lang="zh-CN" altLang="en-US" dirty="0">
                <a:solidFill>
                  <a:srgbClr val="C00000"/>
                </a:solidFill>
              </a:rPr>
              <a:t>存在某人在</a:t>
            </a:r>
            <a:r>
              <a:rPr lang="en-US" altLang="zh-CN" i="1" dirty="0">
                <a:solidFill>
                  <a:srgbClr val="C00000"/>
                </a:solidFill>
              </a:rPr>
              <a:t>Stanford </a:t>
            </a:r>
            <a:r>
              <a:rPr lang="zh-CN" altLang="en-US" i="1" dirty="0">
                <a:solidFill>
                  <a:srgbClr val="C00000"/>
                </a:solidFill>
              </a:rPr>
              <a:t>，蕴含</a:t>
            </a:r>
            <a:r>
              <a:rPr lang="zh-CN" altLang="en-US" dirty="0">
                <a:solidFill>
                  <a:srgbClr val="C00000"/>
                </a:solidFill>
              </a:rPr>
              <a:t>这个人是聪明的</a:t>
            </a:r>
            <a:endParaRPr lang="en-US" altLang="zh-CN" dirty="0">
              <a:solidFill>
                <a:srgbClr val="C00000"/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340155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48CE77-142D-9F01-B2F9-04F11B998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8.2 </a:t>
            </a:r>
            <a:r>
              <a:rPr lang="zh-CN" altLang="en-US" dirty="0"/>
              <a:t>一阶逻辑的语义和语法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BABBB99-2C83-F6B9-86FC-12E79874A0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8.</a:t>
                </a:r>
                <a:r>
                  <a:rPr lang="zh-CN" altLang="en-US" dirty="0"/>
                  <a:t>量词应用辨析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请表示：有的一班学生学过</a:t>
                </a:r>
                <a:r>
                  <a:rPr lang="en-US" altLang="zh-CN" dirty="0"/>
                  <a:t>《</a:t>
                </a:r>
                <a:r>
                  <a:rPr lang="zh-CN" altLang="en-US" dirty="0"/>
                  <a:t>离散数学</a:t>
                </a:r>
                <a:r>
                  <a:rPr lang="en-US" altLang="zh-CN" dirty="0"/>
                  <a:t>》</a:t>
                </a:r>
              </a:p>
              <a:p>
                <a:pPr lvl="2"/>
                <a:r>
                  <a:rPr lang="en-US" altLang="zh-CN" dirty="0"/>
                  <a:t>P</a:t>
                </a:r>
                <a:r>
                  <a:rPr lang="zh-CN" altLang="en-US" dirty="0"/>
                  <a:t>：</a:t>
                </a:r>
                <a:r>
                  <a:rPr lang="en-US" altLang="zh-CN" b="1" dirty="0"/>
                  <a:t>x</a:t>
                </a:r>
                <a:r>
                  <a:rPr lang="zh-CN" altLang="en-US" b="1" dirty="0"/>
                  <a:t>是一班的；</a:t>
                </a:r>
                <a:endParaRPr lang="en-US" altLang="zh-CN" b="1" dirty="0"/>
              </a:p>
              <a:p>
                <a:pPr lvl="2"/>
                <a:r>
                  <a:rPr lang="en-US" altLang="zh-CN" dirty="0"/>
                  <a:t>Q</a:t>
                </a:r>
                <a:r>
                  <a:rPr lang="zh-CN" altLang="en-US" dirty="0"/>
                  <a:t>：</a:t>
                </a:r>
                <a:r>
                  <a:rPr lang="en-US" altLang="zh-CN" b="1" dirty="0"/>
                  <a:t>x</a:t>
                </a:r>
                <a:r>
                  <a:rPr lang="zh-CN" altLang="en-US" b="1" dirty="0"/>
                  <a:t>学过离散数学</a:t>
                </a:r>
                <a:endParaRPr lang="en-US" altLang="zh-CN" b="1" dirty="0"/>
              </a:p>
              <a:p>
                <a:pPr lvl="2"/>
                <a:r>
                  <a:rPr lang="en-US" altLang="zh-CN" sz="2000" b="1" dirty="0">
                    <a:solidFill>
                      <a:srgbClr val="FF0000"/>
                    </a:solidFill>
                  </a:rPr>
                  <a:t>∃x(P(x)∧Q(x))</a:t>
                </a:r>
              </a:p>
              <a:p>
                <a:pPr lvl="2"/>
                <a:r>
                  <a:rPr lang="zh-CN" altLang="en-US" dirty="0"/>
                  <a:t>分四种情况讨论：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（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）只要有一个人是一班的，并且他学过</a:t>
                </a:r>
                <a:r>
                  <a:rPr lang="en-US" altLang="zh-CN" dirty="0"/>
                  <a:t>《</a:t>
                </a:r>
                <a:r>
                  <a:rPr lang="zh-CN" altLang="en-US" dirty="0"/>
                  <a:t>人工智能</a:t>
                </a:r>
                <a:r>
                  <a:rPr lang="en-US" altLang="zh-CN" dirty="0"/>
                  <a:t>》</a:t>
                </a:r>
              </a:p>
              <a:p>
                <a:pPr lvl="2"/>
                <a:r>
                  <a:rPr lang="zh-CN" altLang="en-US" dirty="0"/>
                  <a:t>（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）如果一班一个人都没有学过</a:t>
                </a:r>
                <a:r>
                  <a:rPr lang="en-US" altLang="zh-CN" dirty="0"/>
                  <a:t>《</a:t>
                </a:r>
                <a:r>
                  <a:rPr lang="zh-CN" altLang="en-US" dirty="0"/>
                  <a:t>人工智能</a:t>
                </a:r>
                <a:r>
                  <a:rPr lang="en-US" altLang="zh-CN" dirty="0"/>
                  <a:t>》</a:t>
                </a:r>
              </a:p>
              <a:p>
                <a:pPr lvl="2"/>
                <a:r>
                  <a:rPr lang="zh-CN" altLang="en-US" dirty="0"/>
                  <a:t>（</a:t>
                </a:r>
                <a:r>
                  <a:rPr lang="en-US" altLang="zh-CN" dirty="0"/>
                  <a:t>3</a:t>
                </a:r>
                <a:r>
                  <a:rPr lang="zh-CN" altLang="en-US" dirty="0"/>
                  <a:t>）如果一班没有人，但其他班有人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（</a:t>
                </a:r>
                <a:r>
                  <a:rPr lang="en-US" altLang="zh-CN" dirty="0"/>
                  <a:t>4</a:t>
                </a:r>
                <a:r>
                  <a:rPr lang="zh-CN" altLang="en-US" dirty="0"/>
                  <a:t>）如果存在一个</a:t>
                </a:r>
                <a:r>
                  <a:rPr lang="en-US" altLang="zh-CN" dirty="0"/>
                  <a:t>x</a:t>
                </a:r>
                <a:r>
                  <a:rPr lang="zh-CN" altLang="en-US" dirty="0"/>
                  <a:t>不是一班的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请思考：为什么不是</a:t>
                </a:r>
                <a:r>
                  <a:rPr lang="en-US" altLang="zh-CN" dirty="0">
                    <a:solidFill>
                      <a:srgbClr val="FF0000"/>
                    </a:solidFill>
                  </a:rPr>
                  <a:t>∃x(P(x)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altLang="zh-CN" dirty="0">
                    <a:solidFill>
                      <a:srgbClr val="FF0000"/>
                    </a:solidFill>
                  </a:rPr>
                  <a:t>Q(x))</a:t>
                </a:r>
                <a:r>
                  <a:rPr lang="zh-CN" altLang="en-US" dirty="0"/>
                  <a:t>？</a:t>
                </a:r>
                <a:endParaRPr lang="en-US" altLang="zh-CN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BABBB99-2C83-F6B9-86FC-12E79874A0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92057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48CE77-142D-9F01-B2F9-04F11B998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8.2 </a:t>
            </a:r>
            <a:r>
              <a:rPr lang="zh-CN" altLang="en-US" dirty="0"/>
              <a:t>一阶逻辑的语义和语法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BABBB99-2C83-F6B9-86FC-12E79874A0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8.</a:t>
                </a:r>
                <a:r>
                  <a:rPr lang="zh-CN" altLang="en-US" dirty="0"/>
                  <a:t>量词应用辨析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请表示：所有的人（</a:t>
                </a:r>
                <a:r>
                  <a:rPr lang="en-US" altLang="zh-CN" dirty="0"/>
                  <a:t>P</a:t>
                </a:r>
                <a:r>
                  <a:rPr lang="zh-CN" altLang="en-US" dirty="0"/>
                  <a:t>）都长着黑头发（</a:t>
                </a:r>
                <a:r>
                  <a:rPr lang="en-US" altLang="zh-CN" dirty="0"/>
                  <a:t>Q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lvl="2"/>
                <a:r>
                  <a:rPr lang="en-US" altLang="zh-CN" dirty="0"/>
                  <a:t>P</a:t>
                </a:r>
                <a:r>
                  <a:rPr lang="zh-CN" altLang="en-US" dirty="0"/>
                  <a:t>：</a:t>
                </a:r>
                <a:r>
                  <a:rPr lang="en-US" altLang="zh-CN" b="1" dirty="0"/>
                  <a:t>x</a:t>
                </a:r>
                <a:r>
                  <a:rPr lang="zh-CN" altLang="en-US" b="1" dirty="0"/>
                  <a:t>是人；</a:t>
                </a:r>
                <a:endParaRPr lang="en-US" altLang="zh-CN" b="1" dirty="0"/>
              </a:p>
              <a:p>
                <a:pPr lvl="2"/>
                <a:r>
                  <a:rPr lang="en-US" altLang="zh-CN" dirty="0"/>
                  <a:t>Q</a:t>
                </a:r>
                <a:r>
                  <a:rPr lang="zh-CN" altLang="en-US" dirty="0"/>
                  <a:t>：</a:t>
                </a:r>
                <a:r>
                  <a:rPr lang="en-US" altLang="zh-CN" b="1" dirty="0"/>
                  <a:t>x</a:t>
                </a:r>
                <a:r>
                  <a:rPr lang="zh-CN" altLang="en-US" b="1" dirty="0"/>
                  <a:t>长着黑头发</a:t>
                </a:r>
                <a:endParaRPr lang="en-US" altLang="zh-CN" b="1" dirty="0"/>
              </a:p>
              <a:p>
                <a:pPr lvl="2"/>
                <a:r>
                  <a:rPr lang="en-US" altLang="zh-CN" b="1" dirty="0"/>
                  <a:t>∀x(P(x)</a:t>
                </a:r>
                <a:r>
                  <a:rPr lang="en-US" altLang="zh-CN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</m:t>
                    </m:r>
                  </m:oMath>
                </a14:m>
                <a:r>
                  <a:rPr lang="en-US" altLang="zh-CN" b="1" dirty="0"/>
                  <a:t>Q(x))</a:t>
                </a:r>
              </a:p>
              <a:p>
                <a:pPr lvl="2"/>
                <a:endParaRPr lang="en-US" altLang="zh-CN" b="1" dirty="0"/>
              </a:p>
              <a:p>
                <a:pPr lvl="2"/>
                <a:r>
                  <a:rPr lang="zh-CN" altLang="en-US" b="1" dirty="0"/>
                  <a:t>请思考：</a:t>
                </a:r>
                <a:r>
                  <a:rPr lang="zh-CN" altLang="en-US" dirty="0"/>
                  <a:t>如果世界上没有人，∀</a:t>
                </a:r>
                <a:r>
                  <a:rPr lang="en-US" altLang="zh-CN" dirty="0"/>
                  <a:t>x(P(x)</a:t>
                </a:r>
                <a:r>
                  <a:rPr lang="en-US" altLang="zh-CN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</m:t>
                    </m:r>
                  </m:oMath>
                </a14:m>
                <a:r>
                  <a:rPr lang="en-US" altLang="zh-CN" dirty="0"/>
                  <a:t>Q(x))</a:t>
                </a:r>
                <a:r>
                  <a:rPr lang="zh-CN" altLang="en-US" dirty="0"/>
                  <a:t>还是对的吗？</a:t>
                </a:r>
                <a:endParaRPr lang="en-US" altLang="zh-CN" b="1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BABBB99-2C83-F6B9-86FC-12E79874A0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15010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48CE77-142D-9F01-B2F9-04F11B998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8.2 </a:t>
            </a:r>
            <a:r>
              <a:rPr lang="zh-CN" altLang="en-US" dirty="0"/>
              <a:t>一阶逻辑的语义和语法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ABBB99-2C83-F6B9-86FC-12E79874A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9.</a:t>
            </a:r>
            <a:r>
              <a:rPr lang="zh-CN" altLang="en-US" dirty="0"/>
              <a:t>量词特性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zh-CN" altLang="en-US" sz="2400" dirty="0">
                <a:sym typeface="Symbol" pitchFamily="18" charset="2"/>
              </a:rPr>
              <a:t>（</a:t>
            </a:r>
            <a:r>
              <a:rPr lang="en-US" altLang="zh-CN" sz="2400" dirty="0">
                <a:sym typeface="Symbol" pitchFamily="18" charset="2"/>
              </a:rPr>
              <a:t>1</a:t>
            </a:r>
            <a:r>
              <a:rPr lang="zh-CN" altLang="en-US" sz="2400" dirty="0">
                <a:sym typeface="Symbol" pitchFamily="18" charset="2"/>
              </a:rPr>
              <a:t>）</a:t>
            </a:r>
            <a:r>
              <a:rPr lang="en-US" altLang="zh-CN" sz="2400" dirty="0">
                <a:sym typeface="Symbol" pitchFamily="18" charset="2"/>
              </a:rPr>
              <a:t>x y</a:t>
            </a:r>
            <a:r>
              <a:rPr lang="en-US" altLang="zh-CN" sz="2400" dirty="0"/>
              <a:t>  </a:t>
            </a:r>
            <a:r>
              <a:rPr lang="en-US" altLang="zh-CN" sz="2400" dirty="0">
                <a:sym typeface="Symbol" pitchFamily="18" charset="2"/>
              </a:rPr>
              <a:t></a:t>
            </a:r>
            <a:r>
              <a:rPr lang="zh-CN" altLang="en-US" sz="2400" dirty="0"/>
              <a:t>  </a:t>
            </a:r>
            <a:r>
              <a:rPr lang="zh-CN" altLang="en-US" sz="2400" dirty="0">
                <a:sym typeface="Symbol" pitchFamily="18" charset="2"/>
              </a:rPr>
              <a:t></a:t>
            </a:r>
            <a:r>
              <a:rPr lang="en-US" altLang="zh-CN" sz="2400" dirty="0">
                <a:sym typeface="Symbol" pitchFamily="18" charset="2"/>
              </a:rPr>
              <a:t>y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itchFamily="18" charset="2"/>
              </a:rPr>
              <a:t>x</a:t>
            </a:r>
            <a:endParaRPr lang="en-US" altLang="zh-CN" sz="2400" dirty="0"/>
          </a:p>
          <a:p>
            <a:pPr lvl="1">
              <a:lnSpc>
                <a:spcPct val="130000"/>
              </a:lnSpc>
            </a:pPr>
            <a:r>
              <a:rPr lang="zh-CN" altLang="en-US" sz="2400" dirty="0">
                <a:sym typeface="Symbol" pitchFamily="18" charset="2"/>
              </a:rPr>
              <a:t>（</a:t>
            </a:r>
            <a:r>
              <a:rPr lang="en-US" altLang="zh-CN" sz="2400" dirty="0">
                <a:sym typeface="Symbol" pitchFamily="18" charset="2"/>
              </a:rPr>
              <a:t>2</a:t>
            </a:r>
            <a:r>
              <a:rPr lang="zh-CN" altLang="en-US" sz="2400" dirty="0">
                <a:sym typeface="Symbol" pitchFamily="18" charset="2"/>
              </a:rPr>
              <a:t>）</a:t>
            </a:r>
            <a:r>
              <a:rPr lang="en-US" altLang="zh-CN" sz="2400" dirty="0">
                <a:sym typeface="Symbol" pitchFamily="18" charset="2"/>
              </a:rPr>
              <a:t>x y</a:t>
            </a:r>
            <a:r>
              <a:rPr lang="en-US" altLang="zh-CN" sz="2400" dirty="0"/>
              <a:t>   </a:t>
            </a:r>
            <a:r>
              <a:rPr lang="en-US" altLang="zh-CN" sz="2400" dirty="0">
                <a:sym typeface="Symbol" pitchFamily="18" charset="2"/>
              </a:rPr>
              <a:t></a:t>
            </a:r>
            <a:r>
              <a:rPr lang="zh-CN" altLang="en-US" sz="2400" dirty="0"/>
              <a:t>  </a:t>
            </a:r>
            <a:r>
              <a:rPr lang="zh-CN" altLang="en-US" sz="2400" dirty="0">
                <a:sym typeface="Symbol" pitchFamily="18" charset="2"/>
              </a:rPr>
              <a:t></a:t>
            </a:r>
            <a:r>
              <a:rPr lang="en-US" altLang="zh-CN" sz="2400" dirty="0">
                <a:sym typeface="Symbol" pitchFamily="18" charset="2"/>
              </a:rPr>
              <a:t>y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itchFamily="18" charset="2"/>
              </a:rPr>
              <a:t>x</a:t>
            </a:r>
            <a:endParaRPr lang="en-US" altLang="zh-CN" sz="2400" dirty="0"/>
          </a:p>
          <a:p>
            <a:pPr lvl="1">
              <a:lnSpc>
                <a:spcPct val="130000"/>
              </a:lnSpc>
            </a:pPr>
            <a:r>
              <a:rPr lang="zh-CN" altLang="en-US" sz="2400" dirty="0">
                <a:sym typeface="Symbol" pitchFamily="18" charset="2"/>
              </a:rPr>
              <a:t>（</a:t>
            </a:r>
            <a:r>
              <a:rPr lang="en-US" altLang="zh-CN" sz="2400" dirty="0">
                <a:sym typeface="Symbol" pitchFamily="18" charset="2"/>
              </a:rPr>
              <a:t>3</a:t>
            </a:r>
            <a:r>
              <a:rPr lang="zh-CN" altLang="en-US" sz="2400" dirty="0">
                <a:sym typeface="Symbol" pitchFamily="18" charset="2"/>
              </a:rPr>
              <a:t>）</a:t>
            </a:r>
            <a:r>
              <a:rPr lang="en-US" altLang="zh-CN" sz="2400" dirty="0"/>
              <a:t>x </a:t>
            </a:r>
            <a:r>
              <a:rPr lang="en-US" altLang="zh-CN" sz="2400" dirty="0">
                <a:sym typeface="Symbol" pitchFamily="18" charset="2"/>
              </a:rPr>
              <a:t>y</a:t>
            </a:r>
            <a:r>
              <a:rPr lang="en-US" altLang="zh-CN" sz="2400" dirty="0"/>
              <a:t> </a:t>
            </a:r>
            <a:r>
              <a:rPr lang="zh-CN" altLang="en-US" sz="2400" dirty="0"/>
              <a:t>不等价 </a:t>
            </a:r>
            <a:r>
              <a:rPr lang="zh-CN" altLang="en-US" sz="2400" dirty="0">
                <a:sym typeface="Symbol" pitchFamily="18" charset="2"/>
              </a:rPr>
              <a:t></a:t>
            </a:r>
            <a:r>
              <a:rPr lang="en-US" altLang="zh-CN" sz="2400" dirty="0">
                <a:sym typeface="Symbol" pitchFamily="18" charset="2"/>
              </a:rPr>
              <a:t>y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itchFamily="18" charset="2"/>
              </a:rPr>
              <a:t>x </a:t>
            </a:r>
            <a:endParaRPr lang="en-US" altLang="zh-CN" sz="2400" dirty="0"/>
          </a:p>
          <a:p>
            <a:pPr lvl="1">
              <a:lnSpc>
                <a:spcPct val="130000"/>
              </a:lnSpc>
            </a:pPr>
            <a:r>
              <a:rPr lang="en-US" altLang="zh-CN" sz="2400" dirty="0">
                <a:sym typeface="Symbol" pitchFamily="18" charset="2"/>
              </a:rPr>
              <a:t>       </a:t>
            </a:r>
            <a:r>
              <a:rPr lang="en-US" altLang="zh-CN" sz="2400" dirty="0"/>
              <a:t>x </a:t>
            </a:r>
            <a:r>
              <a:rPr lang="en-US" altLang="zh-CN" sz="2400" dirty="0">
                <a:sym typeface="Symbol" pitchFamily="18" charset="2"/>
              </a:rPr>
              <a:t>y</a:t>
            </a:r>
            <a:r>
              <a:rPr lang="en-US" altLang="zh-CN" sz="2400" dirty="0"/>
              <a:t> Loves(x, y)</a:t>
            </a:r>
          </a:p>
          <a:p>
            <a:pPr lvl="3">
              <a:lnSpc>
                <a:spcPct val="130000"/>
              </a:lnSpc>
            </a:pPr>
            <a:r>
              <a:rPr lang="zh-CN" altLang="en-US" sz="2000" dirty="0"/>
              <a:t>－ “存在某个人爱世界上的所有人</a:t>
            </a:r>
            <a:r>
              <a:rPr lang="en-US" altLang="zh-CN" sz="2000" dirty="0"/>
              <a:t>”</a:t>
            </a:r>
          </a:p>
          <a:p>
            <a:pPr lvl="1">
              <a:lnSpc>
                <a:spcPct val="130000"/>
              </a:lnSpc>
            </a:pPr>
            <a:r>
              <a:rPr lang="en-US" altLang="zh-CN" dirty="0">
                <a:sym typeface="Symbol" pitchFamily="18" charset="2"/>
              </a:rPr>
              <a:t>       </a:t>
            </a:r>
            <a:r>
              <a:rPr lang="en-US" altLang="zh-CN" sz="2400" dirty="0">
                <a:sym typeface="Symbol" pitchFamily="18" charset="2"/>
              </a:rPr>
              <a:t>y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itchFamily="18" charset="2"/>
              </a:rPr>
              <a:t></a:t>
            </a:r>
            <a:r>
              <a:rPr lang="en-US" altLang="zh-CN" sz="2400" dirty="0"/>
              <a:t>x Loves(</a:t>
            </a:r>
            <a:r>
              <a:rPr lang="en-US" altLang="zh-CN" sz="2400" dirty="0" err="1"/>
              <a:t>x,y</a:t>
            </a:r>
            <a:r>
              <a:rPr lang="en-US" altLang="zh-CN" sz="2400" dirty="0"/>
              <a:t>)</a:t>
            </a:r>
          </a:p>
          <a:p>
            <a:pPr lvl="2">
              <a:lnSpc>
                <a:spcPct val="130000"/>
              </a:lnSpc>
            </a:pPr>
            <a:r>
              <a:rPr lang="en-US" altLang="zh-CN" sz="2000" dirty="0"/>
              <a:t>     </a:t>
            </a:r>
            <a:r>
              <a:rPr lang="zh-CN" altLang="en-US" sz="2000" dirty="0"/>
              <a:t>－ “世界上的每个人至少被一个人所爱</a:t>
            </a:r>
            <a:r>
              <a:rPr lang="en-US" altLang="zh-CN" sz="2000" dirty="0"/>
              <a:t>”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470730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D90016-D517-CB34-9852-6DE0B954E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8.2 </a:t>
            </a:r>
            <a:r>
              <a:rPr lang="zh-CN" altLang="en-US" dirty="0"/>
              <a:t>一阶逻辑的语义和语法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F565D00-99DD-380E-7D75-02D1D314B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9.</a:t>
            </a:r>
            <a:r>
              <a:rPr lang="zh-CN" altLang="en-US" dirty="0"/>
              <a:t>量词特性</a:t>
            </a:r>
            <a:endParaRPr lang="en-US" altLang="zh-CN" dirty="0"/>
          </a:p>
          <a:p>
            <a:pPr lvl="1"/>
            <a:r>
              <a:rPr lang="zh-CN" altLang="en-US" dirty="0"/>
              <a:t>（</a:t>
            </a:r>
            <a:r>
              <a:rPr lang="en-US" altLang="zh-CN" dirty="0"/>
              <a:t>4</a:t>
            </a:r>
            <a:r>
              <a:rPr lang="zh-CN" altLang="en-US" dirty="0"/>
              <a:t>）量词的</a:t>
            </a:r>
            <a:r>
              <a:rPr lang="zh-CN" altLang="en-US" dirty="0">
                <a:solidFill>
                  <a:srgbClr val="FF0000"/>
                </a:solidFill>
              </a:rPr>
              <a:t>对偶性</a:t>
            </a:r>
            <a:r>
              <a:rPr lang="en-US" altLang="zh-CN" dirty="0"/>
              <a:t>——</a:t>
            </a:r>
            <a:r>
              <a:rPr lang="zh-CN" altLang="en-US" dirty="0"/>
              <a:t>一个量词可以用另一个表达</a:t>
            </a:r>
            <a:endParaRPr lang="en-US" altLang="zh-CN" dirty="0"/>
          </a:p>
          <a:p>
            <a:pPr lvl="1" algn="ctr">
              <a:lnSpc>
                <a:spcPct val="150000"/>
              </a:lnSpc>
            </a:pPr>
            <a:r>
              <a:rPr lang="en-US" altLang="zh-CN" sz="2400" dirty="0">
                <a:solidFill>
                  <a:srgbClr val="FF0000"/>
                </a:solidFill>
                <a:sym typeface="Symbol" pitchFamily="18" charset="2"/>
              </a:rPr>
              <a:t>x</a:t>
            </a:r>
            <a:r>
              <a:rPr lang="en-US" altLang="zh-CN" sz="2400" dirty="0">
                <a:solidFill>
                  <a:srgbClr val="FF0000"/>
                </a:solidFill>
              </a:rPr>
              <a:t> P  </a:t>
            </a:r>
            <a:r>
              <a:rPr lang="en-US" altLang="zh-CN" sz="2400" dirty="0">
                <a:solidFill>
                  <a:srgbClr val="FF0000"/>
                </a:solidFill>
                <a:sym typeface="Symbol" pitchFamily="18" charset="2"/>
              </a:rPr>
              <a:t>  </a:t>
            </a:r>
            <a:r>
              <a:rPr lang="en-US" altLang="zh-CN" sz="2400" dirty="0">
                <a:solidFill>
                  <a:srgbClr val="FF0000"/>
                </a:solidFill>
              </a:rPr>
              <a:t>x </a:t>
            </a:r>
            <a:r>
              <a:rPr lang="en-US" altLang="zh-CN" sz="2400" dirty="0">
                <a:solidFill>
                  <a:srgbClr val="FF0000"/>
                </a:solidFill>
                <a:sym typeface="Symbol" pitchFamily="18" charset="2"/>
              </a:rPr>
              <a:t>P             </a:t>
            </a:r>
            <a:r>
              <a:rPr lang="en-US" altLang="zh-CN" sz="2400" dirty="0">
                <a:solidFill>
                  <a:srgbClr val="FF0000"/>
                </a:solidFill>
              </a:rPr>
              <a:t>x P   </a:t>
            </a:r>
            <a:r>
              <a:rPr lang="en-US" altLang="zh-CN" sz="2400" dirty="0">
                <a:solidFill>
                  <a:srgbClr val="FF0000"/>
                </a:solidFill>
                <a:sym typeface="Symbol" pitchFamily="18" charset="2"/>
              </a:rPr>
              <a:t></a:t>
            </a:r>
            <a:r>
              <a:rPr lang="en-US" altLang="zh-CN" sz="2400" dirty="0">
                <a:solidFill>
                  <a:srgbClr val="FF0000"/>
                </a:solidFill>
              </a:rPr>
              <a:t>  </a:t>
            </a:r>
            <a:r>
              <a:rPr lang="en-US" altLang="zh-CN" sz="2400" dirty="0">
                <a:solidFill>
                  <a:srgbClr val="FF0000"/>
                </a:solidFill>
                <a:sym typeface="Symbol" pitchFamily="18" charset="2"/>
              </a:rPr>
              <a:t>x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sym typeface="Symbol" pitchFamily="18" charset="2"/>
              </a:rPr>
              <a:t>P</a:t>
            </a:r>
          </a:p>
          <a:p>
            <a:pPr lvl="2" algn="ctr">
              <a:lnSpc>
                <a:spcPct val="150000"/>
              </a:lnSpc>
            </a:pPr>
            <a:endParaRPr lang="en-US" altLang="zh-CN" sz="2000" dirty="0">
              <a:sym typeface="Symbol" pitchFamily="18" charset="2"/>
            </a:endParaRPr>
          </a:p>
          <a:p>
            <a:pPr lvl="2" algn="ctr">
              <a:lnSpc>
                <a:spcPct val="150000"/>
              </a:lnSpc>
            </a:pPr>
            <a:r>
              <a:rPr lang="en-US" altLang="zh-CN" sz="2400" dirty="0">
                <a:sym typeface="Symbol" pitchFamily="18" charset="2"/>
              </a:rPr>
              <a:t>x</a:t>
            </a:r>
            <a:r>
              <a:rPr lang="en-US" altLang="zh-CN" sz="2400" dirty="0"/>
              <a:t> Likes(x, </a:t>
            </a:r>
            <a:r>
              <a:rPr lang="en-US" altLang="zh-CN" sz="2400" dirty="0" err="1"/>
              <a:t>IceCream</a:t>
            </a:r>
            <a:r>
              <a:rPr lang="en-US" altLang="zh-CN" sz="2400" dirty="0"/>
              <a:t>)  </a:t>
            </a:r>
            <a:r>
              <a:rPr lang="en-US" altLang="zh-CN" sz="2400" dirty="0">
                <a:sym typeface="Symbol" pitchFamily="18" charset="2"/>
              </a:rPr>
              <a:t>  </a:t>
            </a:r>
            <a:r>
              <a:rPr lang="en-US" altLang="zh-CN" sz="2400" dirty="0"/>
              <a:t>x </a:t>
            </a:r>
            <a:r>
              <a:rPr lang="en-US" altLang="zh-CN" sz="2400" dirty="0">
                <a:sym typeface="Symbol" pitchFamily="18" charset="2"/>
              </a:rPr>
              <a:t></a:t>
            </a:r>
            <a:r>
              <a:rPr lang="en-US" altLang="zh-CN" sz="2400" dirty="0"/>
              <a:t>Likes(x, </a:t>
            </a:r>
            <a:r>
              <a:rPr lang="en-US" altLang="zh-CN" sz="2400" dirty="0" err="1"/>
              <a:t>IceCream</a:t>
            </a:r>
            <a:r>
              <a:rPr lang="en-US" altLang="zh-CN" sz="2400" dirty="0"/>
              <a:t>)</a:t>
            </a:r>
          </a:p>
          <a:p>
            <a:pPr lvl="2">
              <a:lnSpc>
                <a:spcPct val="150000"/>
              </a:lnSpc>
            </a:pPr>
            <a:r>
              <a:rPr lang="en-US" altLang="zh-CN" sz="2400" dirty="0">
                <a:sym typeface="Symbol" pitchFamily="18" charset="2"/>
              </a:rPr>
              <a:t>                      </a:t>
            </a:r>
            <a:r>
              <a:rPr lang="en-US" altLang="zh-CN" sz="2400" dirty="0"/>
              <a:t>x Likes(x, Broccoli)   </a:t>
            </a:r>
            <a:r>
              <a:rPr lang="en-US" altLang="zh-CN" sz="2400" dirty="0">
                <a:sym typeface="Symbol" pitchFamily="18" charset="2"/>
              </a:rPr>
              <a:t></a:t>
            </a:r>
            <a:r>
              <a:rPr lang="en-US" altLang="zh-CN" sz="2400" dirty="0"/>
              <a:t>   </a:t>
            </a:r>
            <a:r>
              <a:rPr lang="en-US" altLang="zh-CN" sz="2400" dirty="0">
                <a:sym typeface="Symbol" pitchFamily="18" charset="2"/>
              </a:rPr>
              <a:t>x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itchFamily="18" charset="2"/>
              </a:rPr>
              <a:t></a:t>
            </a:r>
            <a:r>
              <a:rPr lang="en-US" altLang="zh-CN" sz="2400" dirty="0"/>
              <a:t>Likes(x, Broccoli)</a:t>
            </a:r>
            <a:endParaRPr lang="zh-CN" altLang="en-US" sz="24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20554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57E5E5-173F-1BA9-09D3-1D5E150D0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8.2 </a:t>
            </a:r>
            <a:r>
              <a:rPr lang="zh-CN" altLang="en-US" dirty="0"/>
              <a:t>一阶逻辑的语义和语法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A73094-1363-7F58-5D47-0FD03C814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10.</a:t>
            </a:r>
            <a:r>
              <a:rPr lang="zh-CN" altLang="en-US" dirty="0"/>
              <a:t>等词</a:t>
            </a:r>
            <a:endParaRPr lang="en-US" altLang="zh-CN" dirty="0"/>
          </a:p>
          <a:p>
            <a:pPr lvl="1">
              <a:lnSpc>
                <a:spcPct val="130000"/>
              </a:lnSpc>
            </a:pPr>
            <a:r>
              <a:rPr lang="zh-CN" altLang="en-US" dirty="0">
                <a:sym typeface="Symbol" pitchFamily="18" charset="2"/>
              </a:rPr>
              <a:t>（</a:t>
            </a:r>
            <a:r>
              <a:rPr lang="en-US" altLang="zh-CN" dirty="0">
                <a:sym typeface="Symbol" pitchFamily="18" charset="2"/>
              </a:rPr>
              <a:t>1</a:t>
            </a:r>
            <a:r>
              <a:rPr lang="zh-CN" altLang="en-US" dirty="0">
                <a:sym typeface="Symbol" pitchFamily="18" charset="2"/>
              </a:rPr>
              <a:t>）声明两个项指代同一个对象</a:t>
            </a:r>
            <a:endParaRPr lang="en-US" altLang="zh-CN" dirty="0">
              <a:sym typeface="Symbol" pitchFamily="18" charset="2"/>
            </a:endParaRPr>
          </a:p>
          <a:p>
            <a:pPr lvl="2">
              <a:lnSpc>
                <a:spcPct val="130000"/>
              </a:lnSpc>
            </a:pPr>
            <a:r>
              <a:rPr lang="en-US" altLang="zh-CN" dirty="0">
                <a:sym typeface="Symbol" pitchFamily="18" charset="2"/>
              </a:rPr>
              <a:t>	</a:t>
            </a:r>
            <a:r>
              <a:rPr lang="zh-CN" altLang="en-US" dirty="0">
                <a:sym typeface="Symbol" pitchFamily="18" charset="2"/>
              </a:rPr>
              <a:t>例如：</a:t>
            </a:r>
            <a:r>
              <a:rPr lang="en-US" altLang="zh-CN" dirty="0">
                <a:sym typeface="Symbol" pitchFamily="18" charset="2"/>
              </a:rPr>
              <a:t>Father</a:t>
            </a:r>
            <a:r>
              <a:rPr lang="zh-CN" altLang="en-US" dirty="0">
                <a:sym typeface="Symbol" pitchFamily="18" charset="2"/>
              </a:rPr>
              <a:t>（</a:t>
            </a:r>
            <a:r>
              <a:rPr lang="en-US" altLang="zh-CN" dirty="0">
                <a:sym typeface="Symbol" pitchFamily="18" charset="2"/>
              </a:rPr>
              <a:t>John</a:t>
            </a:r>
            <a:r>
              <a:rPr lang="zh-CN" altLang="en-US" dirty="0">
                <a:sym typeface="Symbol" pitchFamily="18" charset="2"/>
              </a:rPr>
              <a:t>）</a:t>
            </a:r>
            <a:r>
              <a:rPr lang="en-US" altLang="zh-CN" dirty="0">
                <a:sym typeface="Symbol" pitchFamily="18" charset="2"/>
              </a:rPr>
              <a:t>=Henry</a:t>
            </a:r>
          </a:p>
          <a:p>
            <a:pPr lvl="1">
              <a:lnSpc>
                <a:spcPct val="130000"/>
              </a:lnSpc>
            </a:pPr>
            <a:r>
              <a:rPr lang="zh-CN" altLang="en-US" dirty="0">
                <a:sym typeface="Symbol" pitchFamily="18" charset="2"/>
              </a:rPr>
              <a:t>（</a:t>
            </a:r>
            <a:r>
              <a:rPr lang="en-US" altLang="zh-CN" dirty="0">
                <a:sym typeface="Symbol" pitchFamily="18" charset="2"/>
              </a:rPr>
              <a:t>2</a:t>
            </a:r>
            <a:r>
              <a:rPr lang="zh-CN" altLang="en-US" dirty="0">
                <a:sym typeface="Symbol" pitchFamily="18" charset="2"/>
              </a:rPr>
              <a:t>）用来表述关于给定函数的事实</a:t>
            </a:r>
            <a:endParaRPr lang="en-US" altLang="zh-CN" dirty="0">
              <a:sym typeface="Symbol" pitchFamily="18" charset="2"/>
            </a:endParaRPr>
          </a:p>
          <a:p>
            <a:pPr lvl="2">
              <a:lnSpc>
                <a:spcPct val="130000"/>
              </a:lnSpc>
            </a:pPr>
            <a:r>
              <a:rPr lang="en-US" altLang="zh-CN" dirty="0">
                <a:sym typeface="Symbol" pitchFamily="18" charset="2"/>
              </a:rPr>
              <a:t>	</a:t>
            </a:r>
            <a:r>
              <a:rPr lang="zh-CN" altLang="en-US" dirty="0">
                <a:sym typeface="Symbol" pitchFamily="18" charset="2"/>
              </a:rPr>
              <a:t>例如 ，</a:t>
            </a:r>
            <a:r>
              <a:rPr lang="en-US" altLang="zh-CN" dirty="0">
                <a:sym typeface="Symbol" pitchFamily="18" charset="2"/>
              </a:rPr>
              <a:t>Richard</a:t>
            </a:r>
            <a:r>
              <a:rPr lang="zh-CN" altLang="en-US" dirty="0">
                <a:sym typeface="Symbol" pitchFamily="18" charset="2"/>
              </a:rPr>
              <a:t>至少有两个兄弟</a:t>
            </a:r>
            <a:endParaRPr lang="en-US" altLang="zh-CN" dirty="0">
              <a:sym typeface="Symbol" pitchFamily="18" charset="2"/>
            </a:endParaRPr>
          </a:p>
          <a:p>
            <a:pPr lvl="3">
              <a:lnSpc>
                <a:spcPct val="130000"/>
              </a:lnSpc>
            </a:pPr>
            <a:r>
              <a:rPr lang="en-US" altLang="zh-CN" sz="2000" dirty="0">
                <a:sym typeface="Symbol" pitchFamily="18" charset="2"/>
              </a:rPr>
              <a:t>x, y Brother(x, Richard)  Brother(y, Richard) </a:t>
            </a:r>
            <a:r>
              <a:rPr lang="en-US" altLang="zh-CN" sz="2000" dirty="0">
                <a:solidFill>
                  <a:srgbClr val="FF0000"/>
                </a:solidFill>
                <a:sym typeface="Symbol" pitchFamily="18" charset="2"/>
              </a:rPr>
              <a:t> (x=y)</a:t>
            </a:r>
            <a:endParaRPr lang="en-US" altLang="zh-CN" sz="2000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509241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9AE8D2-5A0A-ADB2-F06F-9CE834371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8.3 </a:t>
            </a:r>
            <a:r>
              <a:rPr lang="zh-CN" altLang="en-US" dirty="0"/>
              <a:t>一阶逻辑的应用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C13013-6C84-55EC-3F32-972CD55949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用一阶逻辑形式化表达</a:t>
            </a:r>
            <a:r>
              <a:rPr lang="en-US" altLang="zh-CN" dirty="0"/>
              <a:t>Wumpus</a:t>
            </a: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rgbClr val="C00000"/>
                </a:solidFill>
              </a:rPr>
              <a:t>环境对象</a:t>
            </a:r>
          </a:p>
          <a:p>
            <a:pPr>
              <a:lnSpc>
                <a:spcPct val="130000"/>
              </a:lnSpc>
            </a:pPr>
            <a:r>
              <a:rPr lang="zh-CN" altLang="en-US" sz="2400" dirty="0"/>
              <a:t>    方格</a:t>
            </a:r>
            <a:r>
              <a:rPr lang="en-US" altLang="zh-CN" sz="2400" dirty="0"/>
              <a:t>、</a:t>
            </a:r>
            <a:r>
              <a:rPr lang="zh-CN" altLang="en-US" sz="2400" dirty="0"/>
              <a:t>陷阱、</a:t>
            </a:r>
            <a:r>
              <a:rPr lang="en-US" altLang="zh-CN" sz="2400" dirty="0"/>
              <a:t>Wumpus</a:t>
            </a:r>
          </a:p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rgbClr val="C00000"/>
                </a:solidFill>
              </a:rPr>
              <a:t>对象描述</a:t>
            </a:r>
          </a:p>
          <a:p>
            <a:pPr>
              <a:lnSpc>
                <a:spcPct val="130000"/>
              </a:lnSpc>
            </a:pPr>
            <a:r>
              <a:rPr lang="zh-CN" altLang="en-US" sz="2400" dirty="0"/>
              <a:t>    方格－项</a:t>
            </a:r>
            <a:r>
              <a:rPr lang="en-US" altLang="zh-CN" sz="2400" dirty="0">
                <a:solidFill>
                  <a:srgbClr val="FF0000"/>
                </a:solidFill>
              </a:rPr>
              <a:t>s</a:t>
            </a:r>
            <a:r>
              <a:rPr lang="zh-CN" altLang="en-US" sz="2400" dirty="0"/>
              <a:t>，记为[</a:t>
            </a:r>
            <a:r>
              <a:rPr lang="en-US" altLang="zh-CN" sz="2400" dirty="0" err="1"/>
              <a:t>x,y</a:t>
            </a:r>
            <a:r>
              <a:rPr lang="en-US" altLang="zh-CN" sz="2400" dirty="0"/>
              <a:t>]</a:t>
            </a:r>
          </a:p>
          <a:p>
            <a:pPr>
              <a:lnSpc>
                <a:spcPct val="130000"/>
              </a:lnSpc>
            </a:pPr>
            <a:r>
              <a:rPr lang="en-US" altLang="zh-CN" sz="2400" dirty="0"/>
              <a:t>    </a:t>
            </a:r>
            <a:r>
              <a:rPr lang="zh-CN" altLang="en-US" sz="2400" dirty="0"/>
              <a:t>陷阱－属性</a:t>
            </a:r>
            <a:r>
              <a:rPr lang="en-US" altLang="zh-CN" sz="2400" dirty="0"/>
              <a:t>Pit(s)，</a:t>
            </a:r>
            <a:r>
              <a:rPr lang="zh-CN" altLang="en-US" sz="2400" dirty="0"/>
              <a:t>当方格</a:t>
            </a:r>
            <a:r>
              <a:rPr lang="en-US" altLang="zh-CN" sz="2400" dirty="0"/>
              <a:t>s</a:t>
            </a:r>
            <a:r>
              <a:rPr lang="zh-CN" altLang="en-US" sz="2400" dirty="0"/>
              <a:t>包含陷阱时为真</a:t>
            </a:r>
          </a:p>
          <a:p>
            <a:pPr>
              <a:lnSpc>
                <a:spcPct val="130000"/>
              </a:lnSpc>
            </a:pPr>
            <a:r>
              <a:rPr lang="zh-CN" altLang="en-US" sz="2400" dirty="0"/>
              <a:t>    </a:t>
            </a:r>
            <a:r>
              <a:rPr lang="en-US" altLang="zh-CN" sz="2400" dirty="0" err="1"/>
              <a:t>Wumpus－Home</a:t>
            </a:r>
            <a:r>
              <a:rPr lang="en-US" altLang="zh-CN" sz="2400" dirty="0"/>
              <a:t>(Wumpus)，</a:t>
            </a:r>
            <a:r>
              <a:rPr lang="zh-CN" altLang="en-US" sz="2400" dirty="0"/>
              <a:t>唯一性</a:t>
            </a:r>
          </a:p>
          <a:p>
            <a:pPr>
              <a:lnSpc>
                <a:spcPct val="130000"/>
              </a:lnSpc>
            </a:pPr>
            <a:r>
              <a:rPr lang="en-US" altLang="zh-CN" sz="2400" dirty="0">
                <a:solidFill>
                  <a:srgbClr val="C00000"/>
                </a:solidFill>
              </a:rPr>
              <a:t>Agent</a:t>
            </a:r>
            <a:r>
              <a:rPr lang="zh-CN" altLang="en-US" sz="2400" dirty="0">
                <a:solidFill>
                  <a:srgbClr val="C00000"/>
                </a:solidFill>
              </a:rPr>
              <a:t>的位置</a:t>
            </a:r>
          </a:p>
          <a:p>
            <a:pPr>
              <a:lnSpc>
                <a:spcPct val="130000"/>
              </a:lnSpc>
            </a:pPr>
            <a:r>
              <a:rPr lang="zh-CN" altLang="en-US" sz="2400" dirty="0"/>
              <a:t>    </a:t>
            </a:r>
            <a:r>
              <a:rPr lang="en-US" altLang="zh-CN" sz="2400" dirty="0"/>
              <a:t>At(Agent, s, t)－</a:t>
            </a:r>
            <a:r>
              <a:rPr lang="zh-CN" altLang="en-US" sz="2400" dirty="0"/>
              <a:t>时刻</a:t>
            </a:r>
            <a:r>
              <a:rPr lang="en-US" altLang="zh-CN" sz="2400" dirty="0" err="1"/>
              <a:t>t，Agent</a:t>
            </a:r>
            <a:r>
              <a:rPr lang="zh-CN" altLang="en-US" sz="2400" dirty="0"/>
              <a:t>在方格</a:t>
            </a:r>
            <a:r>
              <a:rPr lang="en-US" altLang="zh-CN" sz="2400" dirty="0"/>
              <a:t>s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D82101A-AAB1-99EA-0958-C3515D536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0540" y="136525"/>
            <a:ext cx="3648581" cy="363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9834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313870-83EB-BCBB-95DF-F78B654C9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8.3 </a:t>
            </a:r>
            <a:r>
              <a:rPr lang="zh-CN" altLang="en-US" dirty="0"/>
              <a:t>一阶逻辑的应用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F5612B-5CA5-6608-8EE0-A1FA88425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sz="2800" dirty="0"/>
              <a:t>（</a:t>
            </a:r>
            <a:r>
              <a:rPr lang="en-US" altLang="zh-CN" sz="2800" dirty="0"/>
              <a:t>1</a:t>
            </a:r>
            <a:r>
              <a:rPr lang="zh-CN" altLang="en-US" sz="2800" dirty="0"/>
              <a:t>）感知</a:t>
            </a:r>
            <a:endParaRPr lang="en-US" altLang="zh-CN" sz="2800" dirty="0"/>
          </a:p>
          <a:p>
            <a:pPr lvl="2">
              <a:lnSpc>
                <a:spcPct val="130000"/>
              </a:lnSpc>
            </a:pPr>
            <a:r>
              <a:rPr lang="en-US" altLang="zh-CN" sz="2400" dirty="0"/>
              <a:t>Percept([</a:t>
            </a:r>
            <a:r>
              <a:rPr lang="en-US" altLang="zh-CN" sz="2400" dirty="0" err="1"/>
              <a:t>Stench,Breeze,Glitter</a:t>
            </a:r>
            <a:r>
              <a:rPr lang="en-US" altLang="zh-CN" sz="2400" dirty="0"/>
              <a:t>, </a:t>
            </a:r>
            <a:r>
              <a:rPr lang="en-US" altLang="zh-CN" sz="2400" dirty="0" err="1"/>
              <a:t>None,None</a:t>
            </a:r>
            <a:r>
              <a:rPr lang="en-US" altLang="zh-CN" sz="2400" dirty="0"/>
              <a:t>], 5) </a:t>
            </a:r>
          </a:p>
          <a:p>
            <a:pPr>
              <a:lnSpc>
                <a:spcPct val="130000"/>
              </a:lnSpc>
            </a:pPr>
            <a:r>
              <a:rPr lang="zh-CN" altLang="en-US" sz="2800" dirty="0">
                <a:sym typeface="Symbol" pitchFamily="18" charset="2"/>
              </a:rPr>
              <a:t>（</a:t>
            </a:r>
            <a:r>
              <a:rPr lang="en-US" altLang="zh-CN" sz="2800" dirty="0">
                <a:sym typeface="Symbol" pitchFamily="18" charset="2"/>
              </a:rPr>
              <a:t>2</a:t>
            </a:r>
            <a:r>
              <a:rPr lang="zh-CN" altLang="en-US" sz="2800" dirty="0">
                <a:sym typeface="Symbol" pitchFamily="18" charset="2"/>
              </a:rPr>
              <a:t>）感知规则</a:t>
            </a:r>
            <a:endParaRPr lang="en-US" altLang="zh-CN" sz="2800" dirty="0">
              <a:sym typeface="Symbol" pitchFamily="18" charset="2"/>
            </a:endParaRPr>
          </a:p>
          <a:p>
            <a:pPr lvl="1">
              <a:lnSpc>
                <a:spcPct val="130000"/>
              </a:lnSpc>
            </a:pPr>
            <a:r>
              <a:rPr lang="en-US" altLang="zh-CN" sz="2400" dirty="0">
                <a:sym typeface="Symbol" pitchFamily="18" charset="2"/>
              </a:rPr>
              <a:t></a:t>
            </a:r>
            <a:r>
              <a:rPr lang="en-US" altLang="zh-CN" sz="2400" dirty="0" err="1"/>
              <a:t>t,s,b,m,c</a:t>
            </a:r>
            <a:r>
              <a:rPr lang="en-US" altLang="zh-CN" sz="2400" dirty="0"/>
              <a:t> Percept([s, b, Glitter, m, c ], t) </a:t>
            </a:r>
            <a:r>
              <a:rPr lang="en-US" altLang="zh-CN" sz="2400" dirty="0">
                <a:sym typeface="Symbol" pitchFamily="18" charset="2"/>
              </a:rPr>
              <a:t></a:t>
            </a:r>
            <a:r>
              <a:rPr lang="en-US" altLang="zh-CN" sz="2400" dirty="0"/>
              <a:t> Glitter(t)</a:t>
            </a:r>
          </a:p>
          <a:p>
            <a:pPr lvl="1">
              <a:lnSpc>
                <a:spcPct val="130000"/>
              </a:lnSpc>
            </a:pPr>
            <a:r>
              <a:rPr lang="en-US" altLang="zh-CN" sz="2400" dirty="0">
                <a:sym typeface="Symbol" pitchFamily="18" charset="2"/>
              </a:rPr>
              <a:t></a:t>
            </a:r>
            <a:r>
              <a:rPr lang="en-US" altLang="zh-CN" sz="2400" dirty="0" err="1">
                <a:sym typeface="Symbol" pitchFamily="18" charset="2"/>
              </a:rPr>
              <a:t>t,s,g,m,c</a:t>
            </a:r>
            <a:r>
              <a:rPr lang="en-US" altLang="zh-CN" sz="2400" dirty="0">
                <a:sym typeface="Symbol" pitchFamily="18" charset="2"/>
              </a:rPr>
              <a:t> Percept([s, Breeze, g, m, c ], t)  Breeze(t)</a:t>
            </a:r>
          </a:p>
          <a:p>
            <a:pPr>
              <a:lnSpc>
                <a:spcPct val="130000"/>
              </a:lnSpc>
            </a:pPr>
            <a:r>
              <a:rPr lang="zh-CN" altLang="en-US" sz="2800" dirty="0">
                <a:sym typeface="Symbol" pitchFamily="18" charset="2"/>
              </a:rPr>
              <a:t>（</a:t>
            </a:r>
            <a:r>
              <a:rPr lang="en-US" altLang="zh-CN" sz="2800" dirty="0">
                <a:sym typeface="Symbol" pitchFamily="18" charset="2"/>
              </a:rPr>
              <a:t>3</a:t>
            </a:r>
            <a:r>
              <a:rPr lang="zh-CN" altLang="en-US" sz="2800" dirty="0">
                <a:sym typeface="Symbol" pitchFamily="18" charset="2"/>
              </a:rPr>
              <a:t>）动作用逻辑表示</a:t>
            </a:r>
            <a:endParaRPr lang="en-US" altLang="zh-CN" sz="2800" dirty="0">
              <a:sym typeface="Symbol" pitchFamily="18" charset="2"/>
            </a:endParaRPr>
          </a:p>
          <a:p>
            <a:pPr lvl="1">
              <a:lnSpc>
                <a:spcPct val="130000"/>
              </a:lnSpc>
            </a:pPr>
            <a:r>
              <a:rPr lang="en-US" altLang="zh-CN" sz="2400" dirty="0">
                <a:sym typeface="Symbol" pitchFamily="18" charset="2"/>
              </a:rPr>
              <a:t>Turn(Right), Turn(Left), Forward, Shoot, Grab, Release</a:t>
            </a:r>
          </a:p>
          <a:p>
            <a:pPr>
              <a:lnSpc>
                <a:spcPct val="130000"/>
              </a:lnSpc>
            </a:pPr>
            <a:r>
              <a:rPr lang="zh-CN" altLang="en-US" sz="2800" dirty="0"/>
              <a:t>（</a:t>
            </a:r>
            <a:r>
              <a:rPr lang="en-US" altLang="zh-CN" sz="2800" dirty="0"/>
              <a:t>4</a:t>
            </a:r>
            <a:r>
              <a:rPr lang="zh-CN" altLang="en-US" sz="2800" dirty="0"/>
              <a:t>）反应规则</a:t>
            </a:r>
            <a:endParaRPr lang="en-US" altLang="zh-CN" sz="2800" dirty="0"/>
          </a:p>
          <a:p>
            <a:pPr lvl="1">
              <a:lnSpc>
                <a:spcPct val="130000"/>
              </a:lnSpc>
            </a:pPr>
            <a:r>
              <a:rPr lang="en-US" altLang="zh-CN" sz="2400" dirty="0">
                <a:sym typeface="Symbol" pitchFamily="18" charset="2"/>
              </a:rPr>
              <a:t>t Glitter(t)  </a:t>
            </a:r>
            <a:r>
              <a:rPr lang="en-US" altLang="zh-CN" sz="2400" dirty="0" err="1">
                <a:sym typeface="Symbol" pitchFamily="18" charset="2"/>
              </a:rPr>
              <a:t>BestAction</a:t>
            </a:r>
            <a:r>
              <a:rPr lang="en-US" altLang="zh-CN" sz="2400" dirty="0">
                <a:sym typeface="Symbol" pitchFamily="18" charset="2"/>
              </a:rPr>
              <a:t>(Grab, t)</a:t>
            </a:r>
            <a:endParaRPr lang="en-US" altLang="zh-CN" sz="24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466885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40CCF9-1513-AD9A-F53F-331892A2C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8.3 </a:t>
            </a:r>
            <a:r>
              <a:rPr lang="zh-CN" altLang="en-US" dirty="0"/>
              <a:t>一阶逻辑的应用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DB9C15-6173-5BE5-54E1-929F0B49B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（</a:t>
            </a:r>
            <a:r>
              <a:rPr lang="en-US" altLang="zh-CN" dirty="0"/>
              <a:t>5</a:t>
            </a:r>
            <a:r>
              <a:rPr lang="zh-CN" altLang="en-US" dirty="0"/>
              <a:t>）方格的相邻关系</a:t>
            </a:r>
            <a:endParaRPr lang="en-US" altLang="zh-CN" dirty="0"/>
          </a:p>
          <a:p>
            <a:pPr lvl="1"/>
            <a:r>
              <a:rPr lang="en-US" altLang="zh-CN" dirty="0">
                <a:sym typeface="Symbol" pitchFamily="18" charset="2"/>
              </a:rPr>
              <a:t></a:t>
            </a:r>
            <a:r>
              <a:rPr lang="en-US" altLang="zh-CN" dirty="0" err="1">
                <a:sym typeface="Symbol" pitchFamily="18" charset="2"/>
              </a:rPr>
              <a:t>x,y,a,b</a:t>
            </a:r>
            <a:r>
              <a:rPr lang="en-US" altLang="zh-CN" dirty="0">
                <a:sym typeface="Symbol" pitchFamily="18" charset="2"/>
              </a:rPr>
              <a:t>  Adjacent([</a:t>
            </a:r>
            <a:r>
              <a:rPr lang="en-US" altLang="zh-CN" dirty="0" err="1">
                <a:sym typeface="Symbol" pitchFamily="18" charset="2"/>
              </a:rPr>
              <a:t>x,y</a:t>
            </a:r>
            <a:r>
              <a:rPr lang="en-US" altLang="zh-CN" dirty="0">
                <a:sym typeface="Symbol" pitchFamily="18" charset="2"/>
              </a:rPr>
              <a:t>],[</a:t>
            </a:r>
            <a:r>
              <a:rPr lang="en-US" altLang="zh-CN" dirty="0" err="1">
                <a:sym typeface="Symbol" pitchFamily="18" charset="2"/>
              </a:rPr>
              <a:t>a,b</a:t>
            </a:r>
            <a:r>
              <a:rPr lang="en-US" altLang="zh-CN" dirty="0">
                <a:sym typeface="Symbol" pitchFamily="18" charset="2"/>
              </a:rPr>
              <a:t>]) </a:t>
            </a:r>
          </a:p>
          <a:p>
            <a:pPr lvl="1"/>
            <a:r>
              <a:rPr lang="zh-CN" altLang="en-US" dirty="0">
                <a:sym typeface="Symbol" pitchFamily="18" charset="2"/>
              </a:rPr>
              <a:t>[</a:t>
            </a:r>
            <a:r>
              <a:rPr lang="en-US" altLang="zh-CN" dirty="0" err="1">
                <a:sym typeface="Symbol" pitchFamily="18" charset="2"/>
              </a:rPr>
              <a:t>a,b</a:t>
            </a:r>
            <a:r>
              <a:rPr lang="en-US" altLang="zh-CN" dirty="0">
                <a:sym typeface="Symbol" pitchFamily="18" charset="2"/>
              </a:rPr>
              <a:t>]  {[x,y+1], [x,y-1], [x+1,y], [x-1,y]}</a:t>
            </a:r>
          </a:p>
          <a:p>
            <a:r>
              <a:rPr lang="zh-CN" altLang="en-US" dirty="0"/>
              <a:t>（</a:t>
            </a:r>
            <a:r>
              <a:rPr lang="en-US" altLang="zh-CN" dirty="0"/>
              <a:t>6</a:t>
            </a:r>
            <a:r>
              <a:rPr lang="zh-CN" altLang="en-US" dirty="0"/>
              <a:t>）从感知事实到方格属性的推理规则</a:t>
            </a:r>
            <a:endParaRPr lang="en-US" altLang="zh-CN" dirty="0"/>
          </a:p>
          <a:p>
            <a:pPr lvl="1"/>
            <a:r>
              <a:rPr lang="en-US" altLang="zh-CN" dirty="0">
                <a:sym typeface="Symbol" pitchFamily="18" charset="2"/>
              </a:rPr>
              <a:t></a:t>
            </a:r>
            <a:r>
              <a:rPr lang="en-US" altLang="zh-CN" dirty="0" err="1">
                <a:sym typeface="Symbol" pitchFamily="18" charset="2"/>
              </a:rPr>
              <a:t>s,t</a:t>
            </a:r>
            <a:r>
              <a:rPr lang="en-US" altLang="zh-CN" dirty="0">
                <a:sym typeface="Symbol" pitchFamily="18" charset="2"/>
              </a:rPr>
              <a:t>  At(</a:t>
            </a:r>
            <a:r>
              <a:rPr lang="en-US" altLang="zh-CN" dirty="0" err="1">
                <a:sym typeface="Symbol" pitchFamily="18" charset="2"/>
              </a:rPr>
              <a:t>Agent,s,t</a:t>
            </a:r>
            <a:r>
              <a:rPr lang="en-US" altLang="zh-CN" dirty="0">
                <a:sym typeface="Symbol" pitchFamily="18" charset="2"/>
              </a:rPr>
              <a:t>)Breeze(t)  Breezy(s)</a:t>
            </a:r>
          </a:p>
          <a:p>
            <a:r>
              <a:rPr lang="zh-CN" altLang="en-US" dirty="0">
                <a:sym typeface="Symbol" pitchFamily="18" charset="2"/>
              </a:rPr>
              <a:t>（</a:t>
            </a:r>
            <a:r>
              <a:rPr lang="en-US" altLang="zh-CN" dirty="0">
                <a:sym typeface="Symbol" pitchFamily="18" charset="2"/>
              </a:rPr>
              <a:t>7</a:t>
            </a:r>
            <a:r>
              <a:rPr lang="zh-CN" altLang="en-US" dirty="0">
                <a:sym typeface="Symbol" pitchFamily="18" charset="2"/>
              </a:rPr>
              <a:t>）诊断规则－</a:t>
            </a:r>
            <a:r>
              <a:rPr lang="zh-CN" altLang="en-US" dirty="0"/>
              <a:t>从结果推出原因</a:t>
            </a:r>
            <a:endParaRPr lang="en-US" altLang="zh-CN" dirty="0">
              <a:sym typeface="Symbol" pitchFamily="18" charset="2"/>
            </a:endParaRPr>
          </a:p>
          <a:p>
            <a:pPr lvl="1"/>
            <a:r>
              <a:rPr lang="en-US" altLang="zh-CN" dirty="0">
                <a:sym typeface="Symbol" pitchFamily="18" charset="2"/>
              </a:rPr>
              <a:t></a:t>
            </a:r>
            <a:r>
              <a:rPr lang="en-US" altLang="zh-CN" dirty="0"/>
              <a:t>s Breezy(s) </a:t>
            </a:r>
            <a:r>
              <a:rPr lang="en-US" altLang="zh-CN" dirty="0">
                <a:sym typeface="Symbol" pitchFamily="18" charset="2"/>
              </a:rPr>
              <a:t></a:t>
            </a:r>
            <a:r>
              <a:rPr lang="en-US" altLang="zh-CN" dirty="0"/>
              <a:t> </a:t>
            </a:r>
            <a:r>
              <a:rPr lang="en-US" altLang="zh-CN" dirty="0">
                <a:sym typeface="Symbol" pitchFamily="18" charset="2"/>
              </a:rPr>
              <a:t>r</a:t>
            </a:r>
            <a:r>
              <a:rPr lang="en-US" altLang="zh-CN" dirty="0"/>
              <a:t>  Adjacent(r, s) </a:t>
            </a:r>
            <a:r>
              <a:rPr lang="en-US" altLang="zh-CN" dirty="0">
                <a:sym typeface="Symbol" pitchFamily="18" charset="2"/>
              </a:rPr>
              <a:t> </a:t>
            </a:r>
            <a:r>
              <a:rPr lang="en-US" altLang="zh-CN" dirty="0"/>
              <a:t>Pit(r)</a:t>
            </a:r>
          </a:p>
          <a:p>
            <a:pPr lvl="1"/>
            <a:r>
              <a:rPr lang="en-US" altLang="zh-CN" dirty="0">
                <a:sym typeface="Symbol" pitchFamily="18" charset="2"/>
              </a:rPr>
              <a:t></a:t>
            </a:r>
            <a:r>
              <a:rPr lang="en-US" altLang="zh-CN" dirty="0"/>
              <a:t>s </a:t>
            </a:r>
            <a:r>
              <a:rPr lang="en-US" altLang="zh-CN" dirty="0">
                <a:sym typeface="Symbol" pitchFamily="18" charset="2"/>
              </a:rPr>
              <a:t></a:t>
            </a:r>
            <a:r>
              <a:rPr lang="en-US" altLang="zh-CN" dirty="0"/>
              <a:t>Breezy(s) </a:t>
            </a:r>
            <a:r>
              <a:rPr lang="en-US" altLang="zh-CN" dirty="0">
                <a:sym typeface="Symbol" pitchFamily="18" charset="2"/>
              </a:rPr>
              <a:t></a:t>
            </a:r>
            <a:r>
              <a:rPr lang="en-US" altLang="zh-CN" dirty="0"/>
              <a:t> </a:t>
            </a:r>
            <a:r>
              <a:rPr lang="en-US" altLang="zh-CN" dirty="0">
                <a:sym typeface="Symbol" pitchFamily="18" charset="2"/>
              </a:rPr>
              <a:t></a:t>
            </a:r>
            <a:r>
              <a:rPr lang="en-US" altLang="zh-CN" dirty="0"/>
              <a:t> </a:t>
            </a:r>
            <a:r>
              <a:rPr lang="en-US" altLang="zh-CN" dirty="0">
                <a:sym typeface="Symbol" pitchFamily="18" charset="2"/>
              </a:rPr>
              <a:t>r</a:t>
            </a:r>
            <a:r>
              <a:rPr lang="en-US" altLang="zh-CN" dirty="0"/>
              <a:t>  Adjacent(r, s) </a:t>
            </a:r>
            <a:r>
              <a:rPr lang="en-US" altLang="zh-CN" dirty="0">
                <a:sym typeface="Symbol" pitchFamily="18" charset="2"/>
              </a:rPr>
              <a:t> </a:t>
            </a:r>
            <a:r>
              <a:rPr lang="en-US" altLang="zh-CN" dirty="0"/>
              <a:t>Pit(r)</a:t>
            </a:r>
          </a:p>
          <a:p>
            <a:pPr lvl="1"/>
            <a:r>
              <a:rPr lang="en-US" altLang="zh-CN" dirty="0">
                <a:sym typeface="Symbol" pitchFamily="18" charset="2"/>
              </a:rPr>
              <a:t></a:t>
            </a:r>
            <a:r>
              <a:rPr lang="en-US" altLang="zh-CN" dirty="0"/>
              <a:t>s Breezy(s) </a:t>
            </a:r>
            <a:r>
              <a:rPr lang="en-US" altLang="zh-CN" dirty="0">
                <a:sym typeface="Symbol" pitchFamily="18" charset="2"/>
              </a:rPr>
              <a:t></a:t>
            </a:r>
            <a:r>
              <a:rPr lang="en-US" altLang="zh-CN" dirty="0"/>
              <a:t> </a:t>
            </a:r>
            <a:r>
              <a:rPr lang="en-US" altLang="zh-CN" dirty="0">
                <a:sym typeface="Symbol" pitchFamily="18" charset="2"/>
              </a:rPr>
              <a:t>r</a:t>
            </a:r>
            <a:r>
              <a:rPr lang="en-US" altLang="zh-CN" dirty="0"/>
              <a:t>  Adjacent(r, s) </a:t>
            </a:r>
            <a:r>
              <a:rPr lang="en-US" altLang="zh-CN" dirty="0">
                <a:sym typeface="Symbol" pitchFamily="18" charset="2"/>
              </a:rPr>
              <a:t> </a:t>
            </a:r>
            <a:r>
              <a:rPr lang="en-US" altLang="zh-CN" dirty="0"/>
              <a:t>Pit(r)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709466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40CCF9-1513-AD9A-F53F-331892A2C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8.3 </a:t>
            </a:r>
            <a:r>
              <a:rPr lang="zh-CN" altLang="en-US" dirty="0"/>
              <a:t>一阶逻辑的应用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DB9C15-6173-5BE5-54E1-929F0B49B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（</a:t>
            </a:r>
            <a:r>
              <a:rPr lang="en-US" altLang="zh-CN" dirty="0">
                <a:solidFill>
                  <a:srgbClr val="FF0000"/>
                </a:solidFill>
              </a:rPr>
              <a:t>8</a:t>
            </a:r>
            <a:r>
              <a:rPr lang="zh-CN" altLang="en-US" dirty="0">
                <a:solidFill>
                  <a:srgbClr val="FF0000"/>
                </a:solidFill>
              </a:rPr>
              <a:t>）因果规则---</a:t>
            </a:r>
            <a:r>
              <a:rPr lang="zh-CN" altLang="en-US" dirty="0"/>
              <a:t>从原因推出结果</a:t>
            </a:r>
            <a:endParaRPr lang="en-US" altLang="zh-CN" dirty="0"/>
          </a:p>
          <a:p>
            <a:pPr lvl="2"/>
            <a:r>
              <a:rPr lang="en-US" altLang="zh-CN" sz="2400" dirty="0">
                <a:sym typeface="Symbol" pitchFamily="18" charset="2"/>
              </a:rPr>
              <a:t></a:t>
            </a:r>
            <a:r>
              <a:rPr lang="en-US" altLang="zh-CN" sz="2400" dirty="0"/>
              <a:t>r Pit(r) </a:t>
            </a:r>
            <a:r>
              <a:rPr lang="en-US" altLang="zh-CN" sz="2400" dirty="0">
                <a:sym typeface="Symbol" pitchFamily="18" charset="2"/>
              </a:rPr>
              <a:t></a:t>
            </a:r>
            <a:r>
              <a:rPr lang="en-US" altLang="zh-CN" sz="2400" dirty="0"/>
              <a:t> [</a:t>
            </a:r>
            <a:r>
              <a:rPr lang="en-US" altLang="zh-CN" sz="2400" dirty="0">
                <a:sym typeface="Symbol" pitchFamily="18" charset="2"/>
              </a:rPr>
              <a:t></a:t>
            </a:r>
            <a:r>
              <a:rPr lang="en-US" altLang="zh-CN" sz="2400" dirty="0"/>
              <a:t>s Adjacent(r, s) </a:t>
            </a:r>
            <a:r>
              <a:rPr lang="en-US" altLang="zh-CN" sz="2400" dirty="0">
                <a:sym typeface="Symbol" pitchFamily="18" charset="2"/>
              </a:rPr>
              <a:t></a:t>
            </a:r>
            <a:r>
              <a:rPr lang="en-US" altLang="zh-CN" sz="2400" dirty="0"/>
              <a:t> Breezy(s)]</a:t>
            </a:r>
          </a:p>
          <a:p>
            <a:pPr lvl="2"/>
            <a:r>
              <a:rPr lang="en-US" altLang="zh-CN" sz="2400" dirty="0">
                <a:sym typeface="Symbol" pitchFamily="18" charset="2"/>
              </a:rPr>
              <a:t></a:t>
            </a:r>
            <a:r>
              <a:rPr lang="en-US" altLang="zh-CN" sz="2400" dirty="0"/>
              <a:t>s [</a:t>
            </a:r>
            <a:r>
              <a:rPr lang="en-US" altLang="zh-CN" sz="2400" dirty="0">
                <a:sym typeface="Symbol" pitchFamily="18" charset="2"/>
              </a:rPr>
              <a:t></a:t>
            </a:r>
            <a:r>
              <a:rPr lang="en-US" altLang="zh-CN" sz="2400" dirty="0"/>
              <a:t>r Adjacent(r, s) </a:t>
            </a:r>
            <a:r>
              <a:rPr lang="en-US" altLang="zh-CN" sz="2400" dirty="0">
                <a:sym typeface="Symbol" pitchFamily="18" charset="2"/>
              </a:rPr>
              <a:t>  </a:t>
            </a:r>
            <a:r>
              <a:rPr lang="en-US" altLang="zh-CN" sz="2400" dirty="0"/>
              <a:t>Pit(r) ] </a:t>
            </a:r>
            <a:r>
              <a:rPr lang="en-US" altLang="zh-CN" sz="2400" dirty="0">
                <a:sym typeface="Symbol" pitchFamily="18" charset="2"/>
              </a:rPr>
              <a:t>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itchFamily="18" charset="2"/>
              </a:rPr>
              <a:t></a:t>
            </a:r>
            <a:r>
              <a:rPr lang="en-US" altLang="zh-CN" sz="2400" dirty="0"/>
              <a:t> Breezy(s) </a:t>
            </a:r>
          </a:p>
          <a:p>
            <a:pPr lvl="2"/>
            <a:endParaRPr lang="en-US" altLang="zh-CN" sz="3600" dirty="0">
              <a:sym typeface="Symbol" pitchFamily="18" charset="2"/>
            </a:endParaRPr>
          </a:p>
          <a:p>
            <a:pPr lvl="2"/>
            <a:r>
              <a:rPr lang="zh-CN" altLang="en-US" sz="2400" dirty="0">
                <a:sym typeface="Symbol" pitchFamily="18" charset="2"/>
              </a:rPr>
              <a:t>可推导出</a:t>
            </a:r>
            <a:endParaRPr lang="en-US" altLang="zh-CN" sz="2400" dirty="0">
              <a:sym typeface="Symbol" pitchFamily="18" charset="2"/>
            </a:endParaRPr>
          </a:p>
          <a:p>
            <a:pPr lvl="2"/>
            <a:endParaRPr lang="en-US" altLang="zh-CN" sz="2400" dirty="0">
              <a:sym typeface="Symbol" pitchFamily="18" charset="2"/>
            </a:endParaRPr>
          </a:p>
          <a:p>
            <a:pPr lvl="2"/>
            <a:r>
              <a:rPr lang="en-US" altLang="zh-CN" sz="2400" dirty="0">
                <a:sym typeface="Symbol" pitchFamily="18" charset="2"/>
              </a:rPr>
              <a:t></a:t>
            </a:r>
            <a:r>
              <a:rPr lang="en-US" altLang="zh-CN" sz="2400" dirty="0"/>
              <a:t>s Breezy(s) </a:t>
            </a:r>
            <a:r>
              <a:rPr lang="en-US" altLang="zh-CN" sz="2400" dirty="0">
                <a:sym typeface="Symbol" pitchFamily="18" charset="2"/>
              </a:rPr>
              <a:t>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itchFamily="18" charset="2"/>
              </a:rPr>
              <a:t>r</a:t>
            </a:r>
            <a:r>
              <a:rPr lang="en-US" altLang="zh-CN" sz="2400" dirty="0"/>
              <a:t>  Adjacent(r, s) </a:t>
            </a:r>
            <a:r>
              <a:rPr lang="en-US" altLang="zh-CN" sz="2400" dirty="0">
                <a:sym typeface="Symbol" pitchFamily="18" charset="2"/>
              </a:rPr>
              <a:t> </a:t>
            </a:r>
            <a:r>
              <a:rPr lang="en-US" altLang="zh-CN" sz="2400" dirty="0"/>
              <a:t>Pit(r)</a:t>
            </a:r>
            <a:endParaRPr lang="zh-CN" altLang="en-US" sz="2400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225852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40CCF9-1513-AD9A-F53F-331892A2C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8.3 </a:t>
            </a:r>
            <a:r>
              <a:rPr lang="zh-CN" altLang="en-US" dirty="0"/>
              <a:t>一阶逻辑的应用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DB9C15-6173-5BE5-54E1-929F0B49B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请用一阶逻辑描述下列谓词</a:t>
            </a:r>
            <a:r>
              <a:rPr lang="en-US" altLang="zh-CN" dirty="0"/>
              <a:t>:</a:t>
            </a:r>
          </a:p>
          <a:p>
            <a:r>
              <a:rPr lang="en-US" altLang="zh-CN" dirty="0">
                <a:solidFill>
                  <a:srgbClr val="C00000"/>
                </a:solidFill>
              </a:rPr>
              <a:t>Grandchild</a:t>
            </a:r>
            <a:r>
              <a:rPr lang="en-US" altLang="zh-CN" dirty="0"/>
              <a:t>, </a:t>
            </a:r>
            <a:r>
              <a:rPr lang="en-US" altLang="zh-CN" dirty="0" err="1"/>
              <a:t>Greatgrandparent</a:t>
            </a:r>
            <a:r>
              <a:rPr lang="en-US" altLang="zh-CN" dirty="0"/>
              <a:t>, Brother, Sister, Daughter, Son, Aunt, and Uncle</a:t>
            </a:r>
          </a:p>
          <a:p>
            <a:endParaRPr lang="en-US" altLang="zh-CN" dirty="0"/>
          </a:p>
          <a:p>
            <a:r>
              <a:rPr lang="zh-CN" altLang="en-US" dirty="0"/>
              <a:t>定义基本关系：</a:t>
            </a:r>
            <a:r>
              <a:rPr lang="en-US" altLang="zh-CN" dirty="0">
                <a:solidFill>
                  <a:srgbClr val="FF0000"/>
                </a:solidFill>
              </a:rPr>
              <a:t> child()</a:t>
            </a:r>
            <a:r>
              <a:rPr lang="zh-CN" altLang="en-US" dirty="0">
                <a:solidFill>
                  <a:srgbClr val="FF0000"/>
                </a:solidFill>
              </a:rPr>
              <a:t>，</a:t>
            </a:r>
            <a:r>
              <a:rPr lang="en-US" altLang="zh-CN" dirty="0">
                <a:solidFill>
                  <a:srgbClr val="FF0000"/>
                </a:solidFill>
              </a:rPr>
              <a:t>male()</a:t>
            </a:r>
            <a:r>
              <a:rPr lang="zh-CN" altLang="en-US" dirty="0">
                <a:solidFill>
                  <a:srgbClr val="FF0000"/>
                </a:solidFill>
              </a:rPr>
              <a:t>，</a:t>
            </a:r>
            <a:r>
              <a:rPr lang="en-US" altLang="zh-CN" dirty="0">
                <a:solidFill>
                  <a:srgbClr val="FF0000"/>
                </a:solidFill>
              </a:rPr>
              <a:t>female()</a:t>
            </a:r>
            <a:r>
              <a:rPr lang="zh-CN" altLang="en-US" dirty="0">
                <a:solidFill>
                  <a:srgbClr val="FF0000"/>
                </a:solidFill>
              </a:rPr>
              <a:t>，</a:t>
            </a:r>
            <a:r>
              <a:rPr lang="en-US" altLang="zh-CN" dirty="0">
                <a:solidFill>
                  <a:srgbClr val="FF0000"/>
                </a:solidFill>
              </a:rPr>
              <a:t>sibling();</a:t>
            </a:r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338189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40CCF9-1513-AD9A-F53F-331892A2C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8.3 </a:t>
            </a:r>
            <a:r>
              <a:rPr lang="zh-CN" altLang="en-US" dirty="0"/>
              <a:t>一阶逻辑的应用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DB9C15-6173-5BE5-54E1-929F0B49B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请用一阶逻辑描述下列谓词</a:t>
            </a:r>
            <a:r>
              <a:rPr lang="en-US" altLang="zh-CN" dirty="0"/>
              <a:t>:</a:t>
            </a:r>
          </a:p>
          <a:p>
            <a:r>
              <a:rPr lang="en-US" altLang="zh-CN" dirty="0">
                <a:solidFill>
                  <a:srgbClr val="C00000"/>
                </a:solidFill>
              </a:rPr>
              <a:t>Grandchild</a:t>
            </a:r>
            <a:r>
              <a:rPr lang="en-US" altLang="zh-CN" dirty="0"/>
              <a:t>, </a:t>
            </a:r>
            <a:r>
              <a:rPr lang="en-US" altLang="zh-CN" dirty="0" err="1"/>
              <a:t>Greatgrandparent</a:t>
            </a:r>
            <a:r>
              <a:rPr lang="en-US" altLang="zh-CN" dirty="0"/>
              <a:t>, Brother, Sister, Daughter, Son, Aunt, and Uncle</a:t>
            </a:r>
          </a:p>
          <a:p>
            <a:endParaRPr lang="en-US" altLang="zh-CN" dirty="0"/>
          </a:p>
          <a:p>
            <a:r>
              <a:rPr lang="zh-CN" altLang="en-US" dirty="0"/>
              <a:t>定义基本关系：</a:t>
            </a:r>
            <a:r>
              <a:rPr lang="en-US" altLang="zh-CN" dirty="0">
                <a:solidFill>
                  <a:srgbClr val="FF0000"/>
                </a:solidFill>
              </a:rPr>
              <a:t> child()</a:t>
            </a:r>
            <a:r>
              <a:rPr lang="zh-CN" altLang="en-US" dirty="0">
                <a:solidFill>
                  <a:srgbClr val="FF0000"/>
                </a:solidFill>
              </a:rPr>
              <a:t>，</a:t>
            </a:r>
            <a:r>
              <a:rPr lang="en-US" altLang="zh-CN" dirty="0">
                <a:solidFill>
                  <a:srgbClr val="FF0000"/>
                </a:solidFill>
              </a:rPr>
              <a:t>male()</a:t>
            </a:r>
            <a:r>
              <a:rPr lang="zh-CN" altLang="en-US" dirty="0">
                <a:solidFill>
                  <a:srgbClr val="FF0000"/>
                </a:solidFill>
              </a:rPr>
              <a:t>，</a:t>
            </a:r>
            <a:r>
              <a:rPr lang="en-US" altLang="zh-CN" dirty="0">
                <a:solidFill>
                  <a:srgbClr val="FF0000"/>
                </a:solidFill>
              </a:rPr>
              <a:t>female()</a:t>
            </a:r>
            <a:r>
              <a:rPr lang="zh-CN" altLang="en-US" dirty="0">
                <a:solidFill>
                  <a:srgbClr val="FF0000"/>
                </a:solidFill>
              </a:rPr>
              <a:t>，</a:t>
            </a:r>
            <a:r>
              <a:rPr lang="en-US" altLang="zh-CN" dirty="0">
                <a:solidFill>
                  <a:srgbClr val="FF0000"/>
                </a:solidFill>
              </a:rPr>
              <a:t>sibling();</a:t>
            </a:r>
          </a:p>
          <a:p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>
                <a:solidFill>
                  <a:srgbClr val="FFFF00"/>
                </a:solidFill>
              </a:rPr>
              <a:t>Grandchild(c, a) &lt;=&gt; ∃b Child(c, b) ∧ Child(b, a)</a:t>
            </a:r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04635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40CCF9-1513-AD9A-F53F-331892A2C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8.3 </a:t>
            </a:r>
            <a:r>
              <a:rPr lang="zh-CN" altLang="en-US" dirty="0"/>
              <a:t>一阶逻辑的应用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DB9C15-6173-5BE5-54E1-929F0B49B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请用一阶逻辑描述下列谓词</a:t>
            </a:r>
            <a:r>
              <a:rPr lang="en-US" altLang="zh-CN" dirty="0"/>
              <a:t>:</a:t>
            </a:r>
          </a:p>
          <a:p>
            <a:r>
              <a:rPr lang="en-US" altLang="zh-CN" dirty="0">
                <a:solidFill>
                  <a:srgbClr val="C00000"/>
                </a:solidFill>
              </a:rPr>
              <a:t>Grandchild</a:t>
            </a:r>
            <a:r>
              <a:rPr lang="en-US" altLang="zh-CN" dirty="0"/>
              <a:t>, </a:t>
            </a:r>
            <a:r>
              <a:rPr lang="en-US" altLang="zh-CN" dirty="0" err="1"/>
              <a:t>Greatgrandparent</a:t>
            </a:r>
            <a:r>
              <a:rPr lang="en-US" altLang="zh-CN" dirty="0"/>
              <a:t>, Brother, Sister, Daughter, Son, Aunt, and Uncle</a:t>
            </a:r>
          </a:p>
          <a:p>
            <a:endParaRPr lang="en-US" altLang="zh-CN" dirty="0"/>
          </a:p>
          <a:p>
            <a:r>
              <a:rPr lang="zh-CN" altLang="en-US" dirty="0"/>
              <a:t>定义基本关系：</a:t>
            </a:r>
            <a:r>
              <a:rPr lang="en-US" altLang="zh-CN" dirty="0">
                <a:solidFill>
                  <a:srgbClr val="FF0000"/>
                </a:solidFill>
              </a:rPr>
              <a:t> child()</a:t>
            </a:r>
            <a:r>
              <a:rPr lang="zh-CN" altLang="en-US" dirty="0">
                <a:solidFill>
                  <a:srgbClr val="FF0000"/>
                </a:solidFill>
              </a:rPr>
              <a:t>，</a:t>
            </a:r>
            <a:r>
              <a:rPr lang="en-US" altLang="zh-CN" dirty="0">
                <a:solidFill>
                  <a:srgbClr val="FF0000"/>
                </a:solidFill>
              </a:rPr>
              <a:t>male()</a:t>
            </a:r>
            <a:r>
              <a:rPr lang="zh-CN" altLang="en-US" dirty="0">
                <a:solidFill>
                  <a:srgbClr val="FF0000"/>
                </a:solidFill>
              </a:rPr>
              <a:t>，</a:t>
            </a:r>
            <a:r>
              <a:rPr lang="en-US" altLang="zh-CN" dirty="0">
                <a:solidFill>
                  <a:srgbClr val="FF0000"/>
                </a:solidFill>
              </a:rPr>
              <a:t>female()</a:t>
            </a:r>
            <a:r>
              <a:rPr lang="zh-CN" altLang="en-US" dirty="0">
                <a:solidFill>
                  <a:srgbClr val="FF0000"/>
                </a:solidFill>
              </a:rPr>
              <a:t>，</a:t>
            </a:r>
            <a:r>
              <a:rPr lang="en-US" altLang="zh-CN" dirty="0">
                <a:solidFill>
                  <a:srgbClr val="FF0000"/>
                </a:solidFill>
              </a:rPr>
              <a:t>sibling();</a:t>
            </a:r>
          </a:p>
          <a:p>
            <a:endParaRPr lang="en-US" altLang="zh-CN" dirty="0">
              <a:solidFill>
                <a:srgbClr val="FF0000"/>
              </a:solidFill>
            </a:endParaRPr>
          </a:p>
          <a:p>
            <a:pPr lvl="2"/>
            <a:r>
              <a:rPr lang="en-US" altLang="zh-CN" sz="2800" dirty="0" err="1">
                <a:solidFill>
                  <a:srgbClr val="FFFF00"/>
                </a:solidFill>
              </a:rPr>
              <a:t>Greatgrandparent</a:t>
            </a:r>
            <a:r>
              <a:rPr lang="en-US" altLang="zh-CN" sz="2800" dirty="0">
                <a:solidFill>
                  <a:srgbClr val="FFFF00"/>
                </a:solidFill>
              </a:rPr>
              <a:t>(</a:t>
            </a:r>
            <a:r>
              <a:rPr lang="en-US" altLang="zh-CN" sz="2800" dirty="0" err="1">
                <a:solidFill>
                  <a:srgbClr val="FFFF00"/>
                </a:solidFill>
              </a:rPr>
              <a:t>a,d</a:t>
            </a:r>
            <a:r>
              <a:rPr lang="en-US" altLang="zh-CN" sz="2800" dirty="0">
                <a:solidFill>
                  <a:srgbClr val="FFFF00"/>
                </a:solidFill>
              </a:rPr>
              <a:t>) &lt;=&gt; ∃</a:t>
            </a:r>
            <a:r>
              <a:rPr lang="en-US" altLang="zh-CN" sz="2800" dirty="0" err="1">
                <a:solidFill>
                  <a:srgbClr val="FFFF00"/>
                </a:solidFill>
              </a:rPr>
              <a:t>b,c</a:t>
            </a:r>
            <a:r>
              <a:rPr lang="en-US" altLang="zh-CN" sz="2800" dirty="0">
                <a:solidFill>
                  <a:srgbClr val="FFFF00"/>
                </a:solidFill>
              </a:rPr>
              <a:t> Child(d,  c)∧Child(</a:t>
            </a:r>
            <a:r>
              <a:rPr lang="en-US" altLang="zh-CN" sz="2800" dirty="0" err="1">
                <a:solidFill>
                  <a:srgbClr val="FFFF00"/>
                </a:solidFill>
              </a:rPr>
              <a:t>c,b</a:t>
            </a:r>
            <a:r>
              <a:rPr lang="en-US" altLang="zh-CN" sz="2800" dirty="0">
                <a:solidFill>
                  <a:srgbClr val="FFFF00"/>
                </a:solidFill>
              </a:rPr>
              <a:t>)∧Child(b, a)</a:t>
            </a:r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777343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40CCF9-1513-AD9A-F53F-331892A2C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8.3 </a:t>
            </a:r>
            <a:r>
              <a:rPr lang="zh-CN" altLang="en-US" dirty="0"/>
              <a:t>一阶逻辑的应用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DB9C15-6173-5BE5-54E1-929F0B49B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请用一阶逻辑描述下列谓词</a:t>
            </a:r>
            <a:r>
              <a:rPr lang="en-US" altLang="zh-CN" dirty="0"/>
              <a:t>:</a:t>
            </a:r>
          </a:p>
          <a:p>
            <a:r>
              <a:rPr lang="en-US" altLang="zh-CN" dirty="0">
                <a:solidFill>
                  <a:srgbClr val="C00000"/>
                </a:solidFill>
              </a:rPr>
              <a:t>Grandchild</a:t>
            </a:r>
            <a:r>
              <a:rPr lang="en-US" altLang="zh-CN" dirty="0"/>
              <a:t>, </a:t>
            </a:r>
            <a:r>
              <a:rPr lang="en-US" altLang="zh-CN" dirty="0" err="1"/>
              <a:t>Greatgrandparent</a:t>
            </a:r>
            <a:r>
              <a:rPr lang="en-US" altLang="zh-CN" dirty="0"/>
              <a:t>, Brother, Sister, Daughter, Son, Aunt, and Uncle</a:t>
            </a:r>
          </a:p>
          <a:p>
            <a:endParaRPr lang="en-US" altLang="zh-CN" dirty="0"/>
          </a:p>
          <a:p>
            <a:r>
              <a:rPr lang="zh-CN" altLang="en-US" dirty="0"/>
              <a:t>定义基本关系：</a:t>
            </a:r>
            <a:r>
              <a:rPr lang="en-US" altLang="zh-CN" dirty="0">
                <a:solidFill>
                  <a:srgbClr val="FF0000"/>
                </a:solidFill>
              </a:rPr>
              <a:t> child()</a:t>
            </a:r>
            <a:r>
              <a:rPr lang="zh-CN" altLang="en-US" dirty="0">
                <a:solidFill>
                  <a:srgbClr val="FF0000"/>
                </a:solidFill>
              </a:rPr>
              <a:t>，</a:t>
            </a:r>
            <a:r>
              <a:rPr lang="en-US" altLang="zh-CN" dirty="0">
                <a:solidFill>
                  <a:srgbClr val="FF0000"/>
                </a:solidFill>
              </a:rPr>
              <a:t>male()</a:t>
            </a:r>
            <a:r>
              <a:rPr lang="zh-CN" altLang="en-US" dirty="0">
                <a:solidFill>
                  <a:srgbClr val="FF0000"/>
                </a:solidFill>
              </a:rPr>
              <a:t>，</a:t>
            </a:r>
            <a:r>
              <a:rPr lang="en-US" altLang="zh-CN" dirty="0">
                <a:solidFill>
                  <a:srgbClr val="FF0000"/>
                </a:solidFill>
              </a:rPr>
              <a:t>female()</a:t>
            </a:r>
            <a:r>
              <a:rPr lang="zh-CN" altLang="en-US" dirty="0">
                <a:solidFill>
                  <a:srgbClr val="FF0000"/>
                </a:solidFill>
              </a:rPr>
              <a:t>，</a:t>
            </a:r>
            <a:r>
              <a:rPr lang="en-US" altLang="zh-CN" dirty="0">
                <a:solidFill>
                  <a:srgbClr val="FF0000"/>
                </a:solidFill>
              </a:rPr>
              <a:t>sibling();</a:t>
            </a:r>
          </a:p>
          <a:p>
            <a:endParaRPr lang="en-US" altLang="zh-CN" dirty="0">
              <a:solidFill>
                <a:srgbClr val="FF0000"/>
              </a:solidFill>
            </a:endParaRPr>
          </a:p>
          <a:p>
            <a:pPr lvl="2"/>
            <a:r>
              <a:rPr lang="en-US" altLang="zh-CN" sz="2800" dirty="0">
                <a:solidFill>
                  <a:srgbClr val="FFFF00"/>
                </a:solidFill>
              </a:rPr>
              <a:t>Brother(x, y) &lt;=&gt; Male(x) ∧ Sibling(x, y)</a:t>
            </a:r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07513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40CCF9-1513-AD9A-F53F-331892A2C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8.3 </a:t>
            </a:r>
            <a:r>
              <a:rPr lang="zh-CN" altLang="en-US" dirty="0"/>
              <a:t>一阶逻辑的应用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DB9C15-6173-5BE5-54E1-929F0B49B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2.</a:t>
            </a:r>
            <a:r>
              <a:rPr lang="zh-CN" altLang="en-US" dirty="0"/>
              <a:t>请用一阶逻辑描述下列谓词</a:t>
            </a:r>
            <a:r>
              <a:rPr lang="en-US" altLang="zh-CN" dirty="0"/>
              <a:t>:</a:t>
            </a:r>
          </a:p>
          <a:p>
            <a:r>
              <a:rPr lang="en-US" altLang="zh-CN" dirty="0">
                <a:solidFill>
                  <a:srgbClr val="C00000"/>
                </a:solidFill>
              </a:rPr>
              <a:t>Grandchild</a:t>
            </a:r>
            <a:r>
              <a:rPr lang="en-US" altLang="zh-CN" dirty="0"/>
              <a:t>, </a:t>
            </a:r>
            <a:r>
              <a:rPr lang="en-US" altLang="zh-CN" dirty="0" err="1"/>
              <a:t>Greatgrandparent</a:t>
            </a:r>
            <a:r>
              <a:rPr lang="en-US" altLang="zh-CN" dirty="0"/>
              <a:t>, Brother, Sister, Daughter, Son, Aunt, and Uncle</a:t>
            </a:r>
          </a:p>
          <a:p>
            <a:endParaRPr lang="en-US" altLang="zh-CN" dirty="0"/>
          </a:p>
          <a:p>
            <a:r>
              <a:rPr lang="zh-CN" altLang="en-US" dirty="0"/>
              <a:t>定义基本关系：</a:t>
            </a:r>
            <a:r>
              <a:rPr lang="en-US" altLang="zh-CN" dirty="0">
                <a:solidFill>
                  <a:srgbClr val="FF0000"/>
                </a:solidFill>
              </a:rPr>
              <a:t> child()</a:t>
            </a:r>
            <a:r>
              <a:rPr lang="zh-CN" altLang="en-US" dirty="0">
                <a:solidFill>
                  <a:srgbClr val="FF0000"/>
                </a:solidFill>
              </a:rPr>
              <a:t>，</a:t>
            </a:r>
            <a:r>
              <a:rPr lang="en-US" altLang="zh-CN" dirty="0">
                <a:solidFill>
                  <a:srgbClr val="FF0000"/>
                </a:solidFill>
              </a:rPr>
              <a:t>male()</a:t>
            </a:r>
            <a:r>
              <a:rPr lang="zh-CN" altLang="en-US" dirty="0">
                <a:solidFill>
                  <a:srgbClr val="FF0000"/>
                </a:solidFill>
              </a:rPr>
              <a:t>，</a:t>
            </a:r>
            <a:r>
              <a:rPr lang="en-US" altLang="zh-CN" dirty="0">
                <a:solidFill>
                  <a:srgbClr val="FF0000"/>
                </a:solidFill>
              </a:rPr>
              <a:t>female()</a:t>
            </a:r>
            <a:r>
              <a:rPr lang="zh-CN" altLang="en-US" dirty="0">
                <a:solidFill>
                  <a:srgbClr val="FF0000"/>
                </a:solidFill>
              </a:rPr>
              <a:t>，</a:t>
            </a:r>
            <a:r>
              <a:rPr lang="en-US" altLang="zh-CN" dirty="0">
                <a:solidFill>
                  <a:srgbClr val="FF0000"/>
                </a:solidFill>
              </a:rPr>
              <a:t>sibling();</a:t>
            </a:r>
          </a:p>
          <a:p>
            <a:endParaRPr lang="en-US" altLang="zh-CN" dirty="0">
              <a:solidFill>
                <a:srgbClr val="FF0000"/>
              </a:solidFill>
            </a:endParaRPr>
          </a:p>
          <a:p>
            <a:pPr lvl="2"/>
            <a:r>
              <a:rPr lang="en-US" altLang="zh-CN" sz="2800" dirty="0">
                <a:solidFill>
                  <a:srgbClr val="FFFF00"/>
                </a:solidFill>
              </a:rPr>
              <a:t>Aunt(</a:t>
            </a:r>
            <a:r>
              <a:rPr lang="en-US" altLang="zh-CN" sz="2800" dirty="0" err="1">
                <a:solidFill>
                  <a:srgbClr val="FFFF00"/>
                </a:solidFill>
              </a:rPr>
              <a:t>a,c</a:t>
            </a:r>
            <a:r>
              <a:rPr lang="en-US" altLang="zh-CN" sz="2800" dirty="0">
                <a:solidFill>
                  <a:srgbClr val="FFFF00"/>
                </a:solidFill>
              </a:rPr>
              <a:t>)&lt;=&gt;Female(a) ∧ ∃p Child(</a:t>
            </a:r>
            <a:r>
              <a:rPr lang="en-US" altLang="zh-CN" sz="2800" dirty="0" err="1">
                <a:solidFill>
                  <a:srgbClr val="FFFF00"/>
                </a:solidFill>
              </a:rPr>
              <a:t>c,p</a:t>
            </a:r>
            <a:r>
              <a:rPr lang="en-US" altLang="zh-CN" sz="2800" dirty="0">
                <a:solidFill>
                  <a:srgbClr val="FFFF00"/>
                </a:solidFill>
              </a:rPr>
              <a:t>)∧Sibling(</a:t>
            </a:r>
            <a:r>
              <a:rPr lang="en-US" altLang="zh-CN" sz="2800" dirty="0" err="1">
                <a:solidFill>
                  <a:srgbClr val="FFFF00"/>
                </a:solidFill>
              </a:rPr>
              <a:t>a,p</a:t>
            </a:r>
            <a:r>
              <a:rPr lang="en-US" altLang="zh-CN" sz="2800" dirty="0">
                <a:solidFill>
                  <a:srgbClr val="FFFF00"/>
                </a:solidFill>
              </a:rPr>
              <a:t>)</a:t>
            </a:r>
          </a:p>
          <a:p>
            <a:endParaRPr lang="zh-CN" altLang="en-US" dirty="0"/>
          </a:p>
          <a:p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83146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40CCF9-1513-AD9A-F53F-331892A2C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8.3 </a:t>
            </a:r>
            <a:r>
              <a:rPr lang="zh-CN" altLang="en-US" dirty="0"/>
              <a:t>一阶逻辑的应用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DB9C15-6173-5BE5-54E1-929F0B49B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3.</a:t>
            </a:r>
            <a:r>
              <a:rPr lang="zh-CN" altLang="en-US" dirty="0"/>
              <a:t>农夫过河问题</a:t>
            </a:r>
            <a:endParaRPr lang="en-US" altLang="zh-CN" dirty="0"/>
          </a:p>
          <a:p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（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1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）状态：</a:t>
            </a:r>
          </a:p>
          <a:p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AT(x, y)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：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x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在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y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岸，</a:t>
            </a:r>
            <a:endParaRPr lang="en-US" altLang="zh-CN" dirty="0">
              <a:solidFill>
                <a:srgbClr val="FFCC99"/>
              </a:solidFill>
              <a:latin typeface="Aa花间辞楷书 (非商业使用)" panose="02010600010101010101" pitchFamily="2" charset="-122"/>
              <a:ea typeface="Aa花间辞楷书 (非商业使用)" panose="02010600010101010101" pitchFamily="2" charset="-122"/>
            </a:endParaRPr>
          </a:p>
          <a:p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其中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x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的个体域为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{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农夫，山羊，白菜，狼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}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，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y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的个体域为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{LEFT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，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RIGHT}</a:t>
            </a:r>
          </a:p>
          <a:p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（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2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）动作：</a:t>
            </a:r>
          </a:p>
          <a:p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GOTOWITH(x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，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y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，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z)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农夫带着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x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从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y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岸到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z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岸，其中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x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的个体域为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{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农夫，山羊，白菜，狼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}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，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y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和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z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的个体域为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{LEFT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，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RIGHT}</a:t>
            </a:r>
          </a:p>
          <a:p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GOTO(y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，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z)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，农夫独自从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y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岸到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z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岸，其中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y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和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z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的个体域为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{LEFT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，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RIGHT}</a:t>
            </a: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235DFE1-929B-A24A-80D8-45A7D2EFBC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1985" y="1"/>
            <a:ext cx="3430014" cy="1837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89742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40CCF9-1513-AD9A-F53F-331892A2C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8.3 </a:t>
            </a:r>
            <a:r>
              <a:rPr lang="zh-CN" altLang="en-US" dirty="0"/>
              <a:t>一阶逻辑的应用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DB9C15-6173-5BE5-54E1-929F0B49B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/>
              <a:t>3.</a:t>
            </a:r>
            <a:r>
              <a:rPr lang="zh-CN" altLang="en-US" dirty="0"/>
              <a:t>农夫过河问题</a:t>
            </a:r>
            <a:endParaRPr lang="en-US" altLang="zh-CN" dirty="0"/>
          </a:p>
          <a:p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（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3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）初始条件：</a:t>
            </a:r>
          </a:p>
          <a:p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AT(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农夫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, LEFT) ∧ AT(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山羊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, LEFT) ∧ AT(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白菜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, LEFT) ∧ AT(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狼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, LEFT)</a:t>
            </a:r>
          </a:p>
          <a:p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（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4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）终止条件：</a:t>
            </a:r>
          </a:p>
          <a:p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AT(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农夫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, RIGHT) ∧ AT(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山羊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, RIGHT) ∧ AT(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白菜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, RIGHT) ∧ AT(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狼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, RIGHT)</a:t>
            </a:r>
          </a:p>
          <a:p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（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5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）动作效果：</a:t>
            </a:r>
          </a:p>
          <a:p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GOTOWITH(x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，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y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，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z)</a:t>
            </a:r>
          </a:p>
          <a:p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操作：去掉状态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AT(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农夫，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y)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和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AT(x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，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y)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；增加状态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AT(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农夫，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y’)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和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AT(x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，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y’)</a:t>
            </a:r>
          </a:p>
          <a:p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GOTO (y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，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z)</a:t>
            </a:r>
          </a:p>
          <a:p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操作：去掉状态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AT(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农夫，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y)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；增加状态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AT(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农夫，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y’)</a:t>
            </a:r>
          </a:p>
          <a:p>
            <a:endParaRPr lang="en-US" altLang="zh-CN" dirty="0">
              <a:solidFill>
                <a:srgbClr val="FFCC99"/>
              </a:solidFill>
              <a:latin typeface="Aa花间辞楷书 (非商业使用)" panose="02010600010101010101" pitchFamily="2" charset="-122"/>
              <a:ea typeface="Aa花间辞楷书 (非商业使用)" panose="02010600010101010101" pitchFamily="2" charset="-122"/>
            </a:endParaRP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235DFE1-929B-A24A-80D8-45A7D2EFBC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5728" y="0"/>
            <a:ext cx="3446272" cy="1846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75014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40CCF9-1513-AD9A-F53F-331892A2C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8.3 </a:t>
            </a:r>
            <a:r>
              <a:rPr lang="zh-CN" altLang="en-US" dirty="0"/>
              <a:t>一阶逻辑的应用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DB9C15-6173-5BE5-54E1-929F0B49B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513" y="807719"/>
            <a:ext cx="11252719" cy="5913755"/>
          </a:xfrm>
        </p:spPr>
        <p:txBody>
          <a:bodyPr>
            <a:normAutofit fontScale="85000" lnSpcReduction="10000"/>
          </a:bodyPr>
          <a:lstStyle/>
          <a:p>
            <a:r>
              <a:rPr lang="en-US" altLang="zh-CN" dirty="0"/>
              <a:t>3.</a:t>
            </a:r>
            <a:r>
              <a:rPr lang="zh-CN" altLang="en-US" dirty="0"/>
              <a:t>农夫过河问题</a:t>
            </a:r>
            <a:endParaRPr lang="en-US" altLang="zh-CN" dirty="0"/>
          </a:p>
          <a:p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AT(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农夫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, LEFT)∧AT(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山羊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, LEFT)∧AT(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白菜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, LEFT)∧AT(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狼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, LEFT)</a:t>
            </a:r>
          </a:p>
          <a:p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                                           </a:t>
            </a:r>
            <a:r>
              <a:rPr lang="en-US" altLang="zh-CN" dirty="0">
                <a:solidFill>
                  <a:srgbClr val="FFFF00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GOTOWITH(</a:t>
            </a:r>
            <a:r>
              <a:rPr lang="zh-CN" altLang="en-US" dirty="0">
                <a:solidFill>
                  <a:srgbClr val="FFFF00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山羊，</a:t>
            </a:r>
            <a:r>
              <a:rPr lang="en-US" altLang="zh-CN" dirty="0">
                <a:solidFill>
                  <a:srgbClr val="FFFF00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LEFT</a:t>
            </a:r>
            <a:r>
              <a:rPr lang="zh-CN" altLang="en-US" dirty="0">
                <a:solidFill>
                  <a:srgbClr val="FFFF00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，</a:t>
            </a:r>
            <a:r>
              <a:rPr lang="en-US" altLang="zh-CN" dirty="0">
                <a:solidFill>
                  <a:srgbClr val="FFFF00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RIGHT)</a:t>
            </a:r>
          </a:p>
          <a:p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AT(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农夫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, RIGHT)∧AT(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山羊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, RIGHT)∧AT(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白菜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, LEFT)∧AT(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狼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, LEFT)</a:t>
            </a:r>
          </a:p>
          <a:p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                                           </a:t>
            </a:r>
            <a:r>
              <a:rPr lang="en-US" altLang="zh-CN" dirty="0">
                <a:solidFill>
                  <a:srgbClr val="FFFF00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GOTOWITH(</a:t>
            </a:r>
            <a:r>
              <a:rPr lang="zh-CN" altLang="en-US" dirty="0">
                <a:solidFill>
                  <a:srgbClr val="FFFF00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狼，</a:t>
            </a:r>
            <a:r>
              <a:rPr lang="en-US" altLang="zh-CN" dirty="0">
                <a:solidFill>
                  <a:srgbClr val="FFFF00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LEFT, RIGHT)</a:t>
            </a:r>
          </a:p>
          <a:p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AT(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农夫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, LEFT)∧AT(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山羊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, RIGHT)∧AT(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白菜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, LEFT)∧AT(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狼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, LEFT)</a:t>
            </a:r>
          </a:p>
          <a:p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                                           </a:t>
            </a:r>
            <a:r>
              <a:rPr lang="en-US" altLang="zh-CN" dirty="0">
                <a:solidFill>
                  <a:srgbClr val="FFFF00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GOTOWITH(</a:t>
            </a:r>
            <a:r>
              <a:rPr lang="zh-CN" altLang="en-US" dirty="0">
                <a:solidFill>
                  <a:srgbClr val="FFFF00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山羊，</a:t>
            </a:r>
            <a:r>
              <a:rPr lang="en-US" altLang="zh-CN" dirty="0">
                <a:solidFill>
                  <a:srgbClr val="FFFF00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RIGHT, LEFT)</a:t>
            </a:r>
          </a:p>
          <a:p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AT(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农夫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, RIGHT)∧AT(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山羊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, RIGHT)∧AT(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白菜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, LEFT)∧AT(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狼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, RIGHT)</a:t>
            </a:r>
          </a:p>
          <a:p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                                           </a:t>
            </a:r>
            <a:r>
              <a:rPr lang="en-US" altLang="zh-CN" dirty="0">
                <a:solidFill>
                  <a:srgbClr val="FFFF00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GOTO(RIGHT, LEFT)</a:t>
            </a:r>
          </a:p>
          <a:p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AT(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农夫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, LEFT)∧AT(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山羊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, LEFT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）∧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AT(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白菜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, RIGHT)∧AT(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狼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, RIGHT)</a:t>
            </a:r>
          </a:p>
          <a:p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                                           </a:t>
            </a:r>
            <a:r>
              <a:rPr lang="en-US" altLang="zh-CN" dirty="0">
                <a:solidFill>
                  <a:srgbClr val="FFFF00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GOTOWITH(</a:t>
            </a:r>
            <a:r>
              <a:rPr lang="zh-CN" altLang="en-US" dirty="0">
                <a:solidFill>
                  <a:srgbClr val="FFFF00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山羊，</a:t>
            </a:r>
            <a:r>
              <a:rPr lang="en-US" altLang="zh-CN" dirty="0">
                <a:solidFill>
                  <a:srgbClr val="FFFF00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LEFT, RIGHT)</a:t>
            </a:r>
          </a:p>
          <a:p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AT(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农夫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,RIGHT)∧AT(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山羊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, RIGHT)∧AT(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白菜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, RIGHT)∧AT(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狼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, RIGHT)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633335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C64621-93B9-5B84-9AC1-F4C64AEB3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8.4 </a:t>
            </a:r>
            <a:r>
              <a:rPr lang="zh-CN" altLang="en-US" dirty="0"/>
              <a:t>知识工程与本体论 </a:t>
            </a:r>
            <a:r>
              <a:rPr lang="en-US" altLang="zh-CN" dirty="0"/>
              <a:t>- </a:t>
            </a:r>
            <a:r>
              <a:rPr lang="zh-CN" altLang="en-US" dirty="0"/>
              <a:t>实例：航母舰载机调度</a:t>
            </a:r>
            <a:r>
              <a:rPr lang="en-US" altLang="zh-CN" dirty="0"/>
              <a:t>Agent</a:t>
            </a:r>
            <a:r>
              <a:rPr lang="zh-CN" altLang="en-US" dirty="0"/>
              <a:t>（简化）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563E7B-C75E-874C-85AB-5FB0396A3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1.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确定问题</a:t>
            </a:r>
            <a:endParaRPr lang="en-US" altLang="zh-CN" dirty="0">
              <a:solidFill>
                <a:srgbClr val="FFCC99"/>
              </a:solidFill>
              <a:latin typeface="Aa花间辞楷书 (非商业使用)" panose="02010600010101010101" pitchFamily="2" charset="-122"/>
              <a:ea typeface="Aa花间辞楷书 (非商业使用)" panose="02010600010101010101" pitchFamily="2" charset="-122"/>
            </a:endParaRPr>
          </a:p>
          <a:p>
            <a:pPr lvl="1"/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航母需要对多架舰载机进行：</a:t>
            </a:r>
            <a:endParaRPr lang="en-US" altLang="zh-CN" dirty="0">
              <a:solidFill>
                <a:srgbClr val="FFCC99"/>
              </a:solidFill>
              <a:latin typeface="Aa花间辞楷书 (非商业使用)" panose="02010600010101010101" pitchFamily="2" charset="-122"/>
              <a:ea typeface="Aa花间辞楷书 (非商业使用)" panose="02010600010101010101" pitchFamily="2" charset="-122"/>
            </a:endParaRPr>
          </a:p>
          <a:p>
            <a:pPr lvl="1"/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（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1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）起飞安排</a:t>
            </a:r>
            <a:endParaRPr lang="en-US" altLang="zh-CN" dirty="0">
              <a:solidFill>
                <a:srgbClr val="FFCC99"/>
              </a:solidFill>
              <a:latin typeface="Aa花间辞楷书 (非商业使用)" panose="02010600010101010101" pitchFamily="2" charset="-122"/>
              <a:ea typeface="Aa花间辞楷书 (非商业使用)" panose="02010600010101010101" pitchFamily="2" charset="-122"/>
            </a:endParaRPr>
          </a:p>
          <a:p>
            <a:pPr lvl="1"/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（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2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）着舰窗口控制</a:t>
            </a:r>
            <a:endParaRPr lang="en-US" altLang="zh-CN" dirty="0">
              <a:solidFill>
                <a:srgbClr val="FFCC99"/>
              </a:solidFill>
              <a:latin typeface="Aa花间辞楷书 (非商业使用)" panose="02010600010101010101" pitchFamily="2" charset="-122"/>
              <a:ea typeface="Aa花间辞楷书 (非商业使用)" panose="02010600010101010101" pitchFamily="2" charset="-122"/>
            </a:endParaRPr>
          </a:p>
          <a:p>
            <a:pPr lvl="1"/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（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3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）任务分配</a:t>
            </a:r>
            <a:endParaRPr lang="en-US" altLang="zh-CN" dirty="0">
              <a:solidFill>
                <a:srgbClr val="FFCC99"/>
              </a:solidFill>
              <a:latin typeface="Aa花间辞楷书 (非商业使用)" panose="02010600010101010101" pitchFamily="2" charset="-122"/>
              <a:ea typeface="Aa花间辞楷书 (非商业使用)" panose="02010600010101010101" pitchFamily="2" charset="-122"/>
            </a:endParaRPr>
          </a:p>
          <a:p>
            <a:pPr lvl="1"/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（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4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）甲板资源调度</a:t>
            </a:r>
          </a:p>
        </p:txBody>
      </p:sp>
    </p:spTree>
    <p:extLst>
      <p:ext uri="{BB962C8B-B14F-4D97-AF65-F5344CB8AC3E}">
        <p14:creationId xmlns:p14="http://schemas.microsoft.com/office/powerpoint/2010/main" val="10465923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C64621-93B9-5B84-9AC1-F4C64AEB3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8.4 </a:t>
            </a:r>
            <a:r>
              <a:rPr lang="zh-CN" altLang="en-US" dirty="0"/>
              <a:t>知识工程与本体论 </a:t>
            </a:r>
            <a:r>
              <a:rPr lang="en-US" altLang="zh-CN" dirty="0"/>
              <a:t>- </a:t>
            </a:r>
            <a:r>
              <a:rPr lang="zh-CN" altLang="en-US" dirty="0"/>
              <a:t>实例：航母舰载机调度</a:t>
            </a:r>
            <a:r>
              <a:rPr lang="en-US" altLang="zh-CN" dirty="0"/>
              <a:t>Agent</a:t>
            </a:r>
            <a:r>
              <a:rPr lang="zh-CN" altLang="en-US" dirty="0"/>
              <a:t>（简化）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563E7B-C75E-874C-85AB-5FB0396A3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2.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收集相关知识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/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知识获取</a:t>
            </a:r>
            <a:endParaRPr lang="en-US" altLang="zh-CN" dirty="0">
              <a:solidFill>
                <a:srgbClr val="FFCC99"/>
              </a:solidFill>
              <a:latin typeface="Aa花间辞楷书 (非商业使用)" panose="02010600010101010101" pitchFamily="2" charset="-122"/>
              <a:ea typeface="Aa花间辞楷书 (非商业使用)" panose="02010600010101010101" pitchFamily="2" charset="-122"/>
            </a:endParaRPr>
          </a:p>
          <a:p>
            <a:pPr lvl="1"/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相关资源、规则、范围等的非形式化表示</a:t>
            </a:r>
            <a:endParaRPr lang="en-US" altLang="zh-CN" dirty="0">
              <a:solidFill>
                <a:srgbClr val="FFCC99"/>
              </a:solidFill>
              <a:latin typeface="Aa花间辞楷书 (非商业使用)" panose="02010600010101010101" pitchFamily="2" charset="-122"/>
              <a:ea typeface="Aa花间辞楷书 (非商业使用)" panose="02010600010101010101" pitchFamily="2" charset="-122"/>
            </a:endParaRPr>
          </a:p>
          <a:p>
            <a:pPr lvl="1"/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航母甲板、舰载机、人员、装备、其他资源及其约束</a:t>
            </a:r>
          </a:p>
        </p:txBody>
      </p:sp>
    </p:spTree>
    <p:extLst>
      <p:ext uri="{BB962C8B-B14F-4D97-AF65-F5344CB8AC3E}">
        <p14:creationId xmlns:p14="http://schemas.microsoft.com/office/powerpoint/2010/main" val="32431452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C64621-93B9-5B84-9AC1-F4C64AEB3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8.4 </a:t>
            </a:r>
            <a:r>
              <a:rPr lang="zh-CN" altLang="en-US" dirty="0"/>
              <a:t>知识工程与本体论 </a:t>
            </a:r>
            <a:r>
              <a:rPr lang="en-US" altLang="zh-CN" dirty="0"/>
              <a:t>- </a:t>
            </a:r>
            <a:r>
              <a:rPr lang="zh-CN" altLang="en-US" dirty="0"/>
              <a:t>实例：航母舰载机调度</a:t>
            </a:r>
            <a:r>
              <a:rPr lang="en-US" altLang="zh-CN" dirty="0"/>
              <a:t>Agent</a:t>
            </a:r>
            <a:r>
              <a:rPr lang="zh-CN" altLang="en-US" dirty="0"/>
              <a:t>（简化）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563E7B-C75E-874C-85AB-5FB0396A3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3.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确定词汇表（谓词、函数、常量）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——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本体论</a:t>
            </a:r>
            <a:endParaRPr lang="en-US" altLang="zh-CN" dirty="0">
              <a:solidFill>
                <a:srgbClr val="FFCC99"/>
              </a:solidFill>
              <a:latin typeface="Aa花间辞楷书 (非商业使用)" panose="02010600010101010101" pitchFamily="2" charset="-122"/>
              <a:ea typeface="Aa花间辞楷书 (非商业使用)" panose="02010600010101010101" pitchFamily="2" charset="-122"/>
            </a:endParaRPr>
          </a:p>
          <a:p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（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1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）核心概念：</a:t>
            </a:r>
            <a:endParaRPr lang="en-US" altLang="zh-CN" dirty="0">
              <a:solidFill>
                <a:srgbClr val="FFCC99"/>
              </a:solidFill>
              <a:latin typeface="Aa花间辞楷书 (非商业使用)" panose="02010600010101010101" pitchFamily="2" charset="-122"/>
              <a:ea typeface="Aa花间辞楷书 (非商业使用)" panose="02010600010101010101" pitchFamily="2" charset="-122"/>
            </a:endParaRPr>
          </a:p>
          <a:p>
            <a:endParaRPr lang="en-US" altLang="zh-CN" dirty="0">
              <a:solidFill>
                <a:srgbClr val="FFCC99"/>
              </a:solidFill>
              <a:latin typeface="Aa花间辞楷书 (非商业使用)" panose="02010600010101010101" pitchFamily="2" charset="-122"/>
              <a:ea typeface="Aa花间辞楷书 (非商业使用)" panose="02010600010101010101" pitchFamily="2" charset="-122"/>
            </a:endParaRPr>
          </a:p>
          <a:p>
            <a:endParaRPr lang="en-US" altLang="zh-CN" dirty="0">
              <a:solidFill>
                <a:srgbClr val="FFCC99"/>
              </a:solidFill>
              <a:latin typeface="Aa花间辞楷书 (非商业使用)" panose="02010600010101010101" pitchFamily="2" charset="-122"/>
              <a:ea typeface="Aa花间辞楷书 (非商业使用)" panose="02010600010101010101" pitchFamily="2" charset="-122"/>
            </a:endParaRPr>
          </a:p>
          <a:p>
            <a:endParaRPr lang="en-US" altLang="zh-CN" dirty="0">
              <a:solidFill>
                <a:srgbClr val="FFCC99"/>
              </a:solidFill>
              <a:latin typeface="Aa花间辞楷书 (非商业使用)" panose="02010600010101010101" pitchFamily="2" charset="-122"/>
              <a:ea typeface="Aa花间辞楷书 (非商业使用)" panose="02010600010101010101" pitchFamily="2" charset="-122"/>
            </a:endParaRPr>
          </a:p>
          <a:p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（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2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）进一步细分：</a:t>
            </a:r>
            <a:endParaRPr lang="en-US" altLang="zh-CN" dirty="0">
              <a:solidFill>
                <a:srgbClr val="FFCC99"/>
              </a:solidFill>
              <a:latin typeface="Aa花间辞楷书 (非商业使用)" panose="02010600010101010101" pitchFamily="2" charset="-122"/>
              <a:ea typeface="Aa花间辞楷书 (非商业使用)" panose="02010600010101010101" pitchFamily="2" charset="-122"/>
            </a:endParaRPr>
          </a:p>
          <a:p>
            <a:endParaRPr lang="zh-CN" altLang="en-US" dirty="0">
              <a:solidFill>
                <a:srgbClr val="FFCC99"/>
              </a:solidFill>
              <a:latin typeface="Aa花间辞楷书 (非商业使用)" panose="02010600010101010101" pitchFamily="2" charset="-122"/>
              <a:ea typeface="Aa花间辞楷书 (非商业使用)" panose="0201060001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29E027E-B0E5-DC1A-67B4-83E486B10762}"/>
              </a:ext>
            </a:extLst>
          </p:cNvPr>
          <p:cNvSpPr txBox="1"/>
          <p:nvPr/>
        </p:nvSpPr>
        <p:spPr>
          <a:xfrm>
            <a:off x="3382022" y="1625823"/>
            <a:ext cx="822382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Aircraft(x)           —— </a:t>
            </a:r>
            <a:r>
              <a:rPr lang="zh-CN" altLang="en-US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舰载机</a:t>
            </a:r>
          </a:p>
          <a:p>
            <a:r>
              <a:rPr lang="en-US" altLang="zh-CN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Pilot(x)              —— </a:t>
            </a:r>
            <a:r>
              <a:rPr lang="zh-CN" altLang="en-US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飞行员</a:t>
            </a:r>
          </a:p>
          <a:p>
            <a:r>
              <a:rPr lang="en-US" altLang="zh-CN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Mission(x)            —— </a:t>
            </a:r>
            <a:r>
              <a:rPr lang="zh-CN" altLang="en-US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作战任务</a:t>
            </a:r>
          </a:p>
          <a:p>
            <a:r>
              <a:rPr lang="en-US" altLang="zh-CN" sz="2000" dirty="0" err="1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DeckSlot</a:t>
            </a:r>
            <a:r>
              <a:rPr lang="en-US" altLang="zh-CN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(x)           —— </a:t>
            </a:r>
            <a:r>
              <a:rPr lang="zh-CN" altLang="en-US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甲板时间槽（起飞或降落窗口）</a:t>
            </a:r>
          </a:p>
          <a:p>
            <a:r>
              <a:rPr lang="en-US" altLang="zh-CN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Resource(x)           —— </a:t>
            </a:r>
            <a:r>
              <a:rPr lang="zh-CN" altLang="en-US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舰载资源（如加油点、电缆、弹射器）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E12716E-E4C2-B725-323C-EC5B7E4B9F87}"/>
              </a:ext>
            </a:extLst>
          </p:cNvPr>
          <p:cNvSpPr txBox="1"/>
          <p:nvPr/>
        </p:nvSpPr>
        <p:spPr>
          <a:xfrm>
            <a:off x="3382022" y="4075142"/>
            <a:ext cx="609746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Fighter(x)            —— 歼击机（Aircraft）</a:t>
            </a:r>
          </a:p>
          <a:p>
            <a:r>
              <a:rPr lang="zh-CN" altLang="en-US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AWACS(x)              —— 预警机（Aircraft）</a:t>
            </a:r>
          </a:p>
          <a:p>
            <a:r>
              <a:rPr lang="zh-CN" altLang="en-US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Tanker(x)             —— 加油机（Aircraft）</a:t>
            </a:r>
          </a:p>
          <a:p>
            <a:r>
              <a:rPr lang="zh-CN" altLang="en-US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TakeoffSlot(x)        —— DeckSlot</a:t>
            </a:r>
          </a:p>
          <a:p>
            <a:r>
              <a:rPr lang="zh-CN" altLang="en-US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LandingSlot(x)        —— DeckSlot</a:t>
            </a:r>
          </a:p>
        </p:txBody>
      </p:sp>
    </p:spTree>
    <p:extLst>
      <p:ext uri="{BB962C8B-B14F-4D97-AF65-F5344CB8AC3E}">
        <p14:creationId xmlns:p14="http://schemas.microsoft.com/office/powerpoint/2010/main" val="18841463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C64621-93B9-5B84-9AC1-F4C64AEB3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8.4 </a:t>
            </a:r>
            <a:r>
              <a:rPr lang="zh-CN" altLang="en-US" dirty="0"/>
              <a:t>知识工程与本体论 </a:t>
            </a:r>
            <a:r>
              <a:rPr lang="en-US" altLang="zh-CN" dirty="0"/>
              <a:t>- </a:t>
            </a:r>
            <a:r>
              <a:rPr lang="zh-CN" altLang="en-US" dirty="0"/>
              <a:t>实例：航母舰载机调度</a:t>
            </a:r>
            <a:r>
              <a:rPr lang="en-US" altLang="zh-CN" dirty="0"/>
              <a:t>Agent</a:t>
            </a:r>
            <a:r>
              <a:rPr lang="zh-CN" altLang="en-US" dirty="0"/>
              <a:t>（简化）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563E7B-C75E-874C-85AB-5FB0396A3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实例：航母舰载机调度</a:t>
            </a:r>
            <a:r>
              <a:rPr lang="en-US" altLang="zh-CN" dirty="0"/>
              <a:t>Agent</a:t>
            </a:r>
            <a:r>
              <a:rPr lang="zh-CN" altLang="en-US" dirty="0"/>
              <a:t>（简化）</a:t>
            </a:r>
            <a:endParaRPr lang="en-US" altLang="zh-CN" dirty="0"/>
          </a:p>
          <a:p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3.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确定词汇表（谓词、函数、常量）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——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本体论</a:t>
            </a:r>
            <a:endParaRPr lang="en-US" altLang="zh-CN" dirty="0">
              <a:solidFill>
                <a:srgbClr val="FFCC99"/>
              </a:solidFill>
              <a:latin typeface="Aa花间辞楷书 (非商业使用)" panose="02010600010101010101" pitchFamily="2" charset="-122"/>
              <a:ea typeface="Aa花间辞楷书 (非商业使用)" panose="02010600010101010101" pitchFamily="2" charset="-122"/>
            </a:endParaRPr>
          </a:p>
          <a:p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（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1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）核心概念：</a:t>
            </a:r>
            <a:endParaRPr lang="en-US" altLang="zh-CN" dirty="0">
              <a:solidFill>
                <a:srgbClr val="FFCC99"/>
              </a:solidFill>
              <a:latin typeface="Aa花间辞楷书 (非商业使用)" panose="02010600010101010101" pitchFamily="2" charset="-122"/>
              <a:ea typeface="Aa花间辞楷书 (非商业使用)" panose="02010600010101010101" pitchFamily="2" charset="-122"/>
            </a:endParaRPr>
          </a:p>
          <a:p>
            <a:endParaRPr lang="en-US" altLang="zh-CN" dirty="0">
              <a:solidFill>
                <a:srgbClr val="FFCC99"/>
              </a:solidFill>
              <a:latin typeface="Aa花间辞楷书 (非商业使用)" panose="02010600010101010101" pitchFamily="2" charset="-122"/>
              <a:ea typeface="Aa花间辞楷书 (非商业使用)" panose="02010600010101010101" pitchFamily="2" charset="-122"/>
            </a:endParaRPr>
          </a:p>
          <a:p>
            <a:endParaRPr lang="en-US" altLang="zh-CN" dirty="0">
              <a:solidFill>
                <a:srgbClr val="FFCC99"/>
              </a:solidFill>
              <a:latin typeface="Aa花间辞楷书 (非商业使用)" panose="02010600010101010101" pitchFamily="2" charset="-122"/>
              <a:ea typeface="Aa花间辞楷书 (非商业使用)" panose="02010600010101010101" pitchFamily="2" charset="-122"/>
            </a:endParaRPr>
          </a:p>
          <a:p>
            <a:endParaRPr lang="en-US" altLang="zh-CN" dirty="0">
              <a:solidFill>
                <a:srgbClr val="FFCC99"/>
              </a:solidFill>
              <a:latin typeface="Aa花间辞楷书 (非商业使用)" panose="02010600010101010101" pitchFamily="2" charset="-122"/>
              <a:ea typeface="Aa花间辞楷书 (非商业使用)" panose="02010600010101010101" pitchFamily="2" charset="-122"/>
            </a:endParaRPr>
          </a:p>
          <a:p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（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2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）进一步细分：</a:t>
            </a:r>
            <a:endParaRPr lang="en-US" altLang="zh-CN" dirty="0">
              <a:solidFill>
                <a:srgbClr val="FFCC99"/>
              </a:solidFill>
              <a:latin typeface="Aa花间辞楷书 (非商业使用)" panose="02010600010101010101" pitchFamily="2" charset="-122"/>
              <a:ea typeface="Aa花间辞楷书 (非商业使用)" panose="02010600010101010101" pitchFamily="2" charset="-122"/>
            </a:endParaRPr>
          </a:p>
          <a:p>
            <a:endParaRPr lang="zh-CN" altLang="en-US" dirty="0">
              <a:solidFill>
                <a:srgbClr val="FFCC99"/>
              </a:solidFill>
              <a:latin typeface="Aa花间辞楷书 (非商业使用)" panose="02010600010101010101" pitchFamily="2" charset="-122"/>
              <a:ea typeface="Aa花间辞楷书 (非商业使用)" panose="0201060001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29E027E-B0E5-DC1A-67B4-83E486B10762}"/>
              </a:ext>
            </a:extLst>
          </p:cNvPr>
          <p:cNvSpPr txBox="1"/>
          <p:nvPr/>
        </p:nvSpPr>
        <p:spPr>
          <a:xfrm>
            <a:off x="3382022" y="2144569"/>
            <a:ext cx="822382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Aircraft(x)           —— </a:t>
            </a:r>
            <a:r>
              <a:rPr lang="zh-CN" altLang="en-US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舰载机</a:t>
            </a:r>
          </a:p>
          <a:p>
            <a:r>
              <a:rPr lang="en-US" altLang="zh-CN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Pilot(x)              —— </a:t>
            </a:r>
            <a:r>
              <a:rPr lang="zh-CN" altLang="en-US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飞行员</a:t>
            </a:r>
          </a:p>
          <a:p>
            <a:r>
              <a:rPr lang="en-US" altLang="zh-CN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Mission(x)            —— </a:t>
            </a:r>
            <a:r>
              <a:rPr lang="zh-CN" altLang="en-US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作战任务</a:t>
            </a:r>
          </a:p>
          <a:p>
            <a:r>
              <a:rPr lang="en-US" altLang="zh-CN" sz="2000" dirty="0" err="1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DeckSlot</a:t>
            </a:r>
            <a:r>
              <a:rPr lang="en-US" altLang="zh-CN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(x)           —— </a:t>
            </a:r>
            <a:r>
              <a:rPr lang="zh-CN" altLang="en-US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甲板时间槽（起飞或降落窗口）</a:t>
            </a:r>
          </a:p>
          <a:p>
            <a:r>
              <a:rPr lang="en-US" altLang="zh-CN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Resource(x)           —— </a:t>
            </a:r>
            <a:r>
              <a:rPr lang="zh-CN" altLang="en-US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舰载资源（如加油点、电缆、弹射器）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E12716E-E4C2-B725-323C-EC5B7E4B9F87}"/>
              </a:ext>
            </a:extLst>
          </p:cNvPr>
          <p:cNvSpPr txBox="1"/>
          <p:nvPr/>
        </p:nvSpPr>
        <p:spPr>
          <a:xfrm>
            <a:off x="3382022" y="4523506"/>
            <a:ext cx="6097464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Fighter(x)            —— 歼击机（Aircraft）</a:t>
            </a:r>
          </a:p>
          <a:p>
            <a:r>
              <a:rPr lang="zh-CN" altLang="en-US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AWACS(x)              —— 预警机（Aircraft）</a:t>
            </a:r>
          </a:p>
          <a:p>
            <a:r>
              <a:rPr lang="zh-CN" altLang="en-US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Tanker(x)             —— 加油机（Aircraft）</a:t>
            </a:r>
          </a:p>
          <a:p>
            <a:r>
              <a:rPr lang="zh-CN" altLang="en-US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TakeoffSlot(x)        —— DeckSlot</a:t>
            </a:r>
          </a:p>
          <a:p>
            <a:r>
              <a:rPr lang="zh-CN" altLang="en-US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LandingSlot(x)        —— DeckSlot</a:t>
            </a:r>
          </a:p>
        </p:txBody>
      </p:sp>
    </p:spTree>
    <p:extLst>
      <p:ext uri="{BB962C8B-B14F-4D97-AF65-F5344CB8AC3E}">
        <p14:creationId xmlns:p14="http://schemas.microsoft.com/office/powerpoint/2010/main" val="25607082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C64621-93B9-5B84-9AC1-F4C64AEB3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8.4 </a:t>
            </a:r>
            <a:r>
              <a:rPr lang="zh-CN" altLang="en-US" dirty="0"/>
              <a:t>知识工程与本体论 </a:t>
            </a:r>
            <a:r>
              <a:rPr lang="en-US" altLang="zh-CN" dirty="0"/>
              <a:t>- </a:t>
            </a:r>
            <a:r>
              <a:rPr lang="zh-CN" altLang="en-US" dirty="0"/>
              <a:t>实例：航母舰载机调度</a:t>
            </a:r>
            <a:r>
              <a:rPr lang="en-US" altLang="zh-CN" dirty="0"/>
              <a:t>Agent</a:t>
            </a:r>
            <a:r>
              <a:rPr lang="zh-CN" altLang="en-US" dirty="0"/>
              <a:t>（简化）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563E7B-C75E-874C-85AB-5FB0396A3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实例：航母舰载机调度</a:t>
            </a:r>
            <a:r>
              <a:rPr lang="en-US" altLang="zh-CN" dirty="0"/>
              <a:t>Agent</a:t>
            </a:r>
            <a:r>
              <a:rPr lang="zh-CN" altLang="en-US" dirty="0"/>
              <a:t>（简化）</a:t>
            </a:r>
            <a:endParaRPr lang="en-US" altLang="zh-CN" dirty="0"/>
          </a:p>
          <a:p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3.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确定词汇表（谓词、函数、常量）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——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本体论</a:t>
            </a:r>
            <a:endParaRPr lang="en-US" altLang="zh-CN" dirty="0">
              <a:solidFill>
                <a:srgbClr val="FFCC99"/>
              </a:solidFill>
              <a:latin typeface="Aa花间辞楷书 (非商业使用)" panose="02010600010101010101" pitchFamily="2" charset="-122"/>
              <a:ea typeface="Aa花间辞楷书 (非商业使用)" panose="02010600010101010101" pitchFamily="2" charset="-122"/>
            </a:endParaRPr>
          </a:p>
          <a:p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（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3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）基本规则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E12716E-E4C2-B725-323C-EC5B7E4B9F87}"/>
              </a:ext>
            </a:extLst>
          </p:cNvPr>
          <p:cNvSpPr txBox="1"/>
          <p:nvPr/>
        </p:nvSpPr>
        <p:spPr>
          <a:xfrm>
            <a:off x="3100139" y="2140790"/>
            <a:ext cx="824193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∀x (Fighter(x) =&gt; Aircraft(x))</a:t>
            </a:r>
          </a:p>
          <a:p>
            <a:r>
              <a:rPr lang="en-US" altLang="zh-CN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∀x (AWACS(x) =&gt; Aircraft(x))</a:t>
            </a:r>
          </a:p>
          <a:p>
            <a:r>
              <a:rPr lang="en-US" altLang="zh-CN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∀x (Tanker(x) =&gt; Aircraft(x))</a:t>
            </a:r>
          </a:p>
          <a:p>
            <a:r>
              <a:rPr lang="en-US" altLang="zh-CN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∀x (</a:t>
            </a:r>
            <a:r>
              <a:rPr lang="en-US" altLang="zh-CN" sz="2000" dirty="0" err="1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TakeoffSlot</a:t>
            </a:r>
            <a:r>
              <a:rPr lang="en-US" altLang="zh-CN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(x) =&gt; </a:t>
            </a:r>
            <a:r>
              <a:rPr lang="en-US" altLang="zh-CN" sz="2000" dirty="0" err="1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DeckSlot</a:t>
            </a:r>
            <a:r>
              <a:rPr lang="en-US" altLang="zh-CN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(x))</a:t>
            </a:r>
          </a:p>
          <a:p>
            <a:r>
              <a:rPr lang="en-US" altLang="zh-CN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∀x (</a:t>
            </a:r>
            <a:r>
              <a:rPr lang="en-US" altLang="zh-CN" sz="2000" dirty="0" err="1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LandingSlot</a:t>
            </a:r>
            <a:r>
              <a:rPr lang="en-US" altLang="zh-CN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(x) =&gt; </a:t>
            </a:r>
            <a:r>
              <a:rPr lang="en-US" altLang="zh-CN" sz="2000" dirty="0" err="1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DeckSlot</a:t>
            </a:r>
            <a:r>
              <a:rPr lang="en-US" altLang="zh-CN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(x))</a:t>
            </a:r>
          </a:p>
          <a:p>
            <a:endParaRPr lang="en-US" altLang="zh-CN" sz="2000" dirty="0">
              <a:solidFill>
                <a:srgbClr val="FEDD7E"/>
              </a:solidFill>
              <a:latin typeface="霞鹜文楷等宽 Medium" panose="02020609000000000000" pitchFamily="49" charset="-122"/>
              <a:ea typeface="霞鹜文楷等宽 Medium" panose="02020609000000000000" pitchFamily="49" charset="-122"/>
            </a:endParaRPr>
          </a:p>
          <a:p>
            <a:r>
              <a:rPr lang="en-US" altLang="zh-CN" sz="2000" dirty="0" err="1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assignedTo</a:t>
            </a:r>
            <a:r>
              <a:rPr lang="en-US" altLang="zh-CN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(a, m)       —— </a:t>
            </a:r>
            <a:r>
              <a:rPr lang="zh-CN" altLang="en-US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舰载机 </a:t>
            </a:r>
            <a:r>
              <a:rPr lang="en-US" altLang="zh-CN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a </a:t>
            </a:r>
            <a:r>
              <a:rPr lang="zh-CN" altLang="en-US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被分配到任务 </a:t>
            </a:r>
            <a:r>
              <a:rPr lang="en-US" altLang="zh-CN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m</a:t>
            </a:r>
          </a:p>
          <a:p>
            <a:r>
              <a:rPr lang="en-US" altLang="zh-CN" sz="2000" dirty="0" err="1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pilotOf</a:t>
            </a:r>
            <a:r>
              <a:rPr lang="en-US" altLang="zh-CN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(p, a)          —— p </a:t>
            </a:r>
            <a:r>
              <a:rPr lang="zh-CN" altLang="en-US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是 </a:t>
            </a:r>
            <a:r>
              <a:rPr lang="en-US" altLang="zh-CN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a </a:t>
            </a:r>
            <a:r>
              <a:rPr lang="zh-CN" altLang="en-US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的飞行员</a:t>
            </a:r>
          </a:p>
          <a:p>
            <a:r>
              <a:rPr lang="en-US" altLang="zh-CN" sz="2000" dirty="0" err="1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needsResource</a:t>
            </a:r>
            <a:r>
              <a:rPr lang="en-US" altLang="zh-CN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(a, r)    —— </a:t>
            </a:r>
            <a:r>
              <a:rPr lang="zh-CN" altLang="en-US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舰载机 </a:t>
            </a:r>
            <a:r>
              <a:rPr lang="en-US" altLang="zh-CN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a </a:t>
            </a:r>
            <a:r>
              <a:rPr lang="zh-CN" altLang="en-US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起飞前需要资源 </a:t>
            </a:r>
            <a:r>
              <a:rPr lang="en-US" altLang="zh-CN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r</a:t>
            </a:r>
          </a:p>
          <a:p>
            <a:r>
              <a:rPr lang="en-US" altLang="zh-CN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occupies(a, s)         —— </a:t>
            </a:r>
            <a:r>
              <a:rPr lang="zh-CN" altLang="en-US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舰载机 </a:t>
            </a:r>
            <a:r>
              <a:rPr lang="en-US" altLang="zh-CN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a </a:t>
            </a:r>
            <a:r>
              <a:rPr lang="zh-CN" altLang="en-US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占用甲板时间槽 </a:t>
            </a:r>
            <a:r>
              <a:rPr lang="en-US" altLang="zh-CN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s</a:t>
            </a:r>
          </a:p>
          <a:p>
            <a:r>
              <a:rPr lang="en-US" altLang="zh-CN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compatible(a, s)       —— </a:t>
            </a:r>
            <a:r>
              <a:rPr lang="zh-CN" altLang="en-US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舰载机 </a:t>
            </a:r>
            <a:r>
              <a:rPr lang="en-US" altLang="zh-CN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a </a:t>
            </a:r>
            <a:r>
              <a:rPr lang="zh-CN" altLang="en-US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与甲板槽 </a:t>
            </a:r>
            <a:r>
              <a:rPr lang="en-US" altLang="zh-CN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s </a:t>
            </a:r>
            <a:r>
              <a:rPr lang="zh-CN" altLang="en-US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兼容</a:t>
            </a:r>
          </a:p>
          <a:p>
            <a:r>
              <a:rPr lang="en-US" altLang="zh-CN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conflict(r1, r2)       —— </a:t>
            </a:r>
            <a:r>
              <a:rPr lang="zh-CN" altLang="en-US" sz="2000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资源冲突（不能同时使用）</a:t>
            </a:r>
          </a:p>
        </p:txBody>
      </p:sp>
    </p:spTree>
    <p:extLst>
      <p:ext uri="{BB962C8B-B14F-4D97-AF65-F5344CB8AC3E}">
        <p14:creationId xmlns:p14="http://schemas.microsoft.com/office/powerpoint/2010/main" val="29482298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C64621-93B9-5B84-9AC1-F4C64AEB3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8.4 </a:t>
            </a:r>
            <a:r>
              <a:rPr lang="zh-CN" altLang="en-US" dirty="0"/>
              <a:t>知识工程与本体论 </a:t>
            </a:r>
            <a:r>
              <a:rPr lang="en-US" altLang="zh-CN" dirty="0"/>
              <a:t>- </a:t>
            </a:r>
            <a:r>
              <a:rPr lang="zh-CN" altLang="en-US" dirty="0"/>
              <a:t>实例：航母舰载机调度</a:t>
            </a:r>
            <a:r>
              <a:rPr lang="en-US" altLang="zh-CN" dirty="0"/>
              <a:t>Agent</a:t>
            </a:r>
            <a:r>
              <a:rPr lang="zh-CN" altLang="en-US" dirty="0"/>
              <a:t>（简化）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563E7B-C75E-874C-85AB-5FB0396A3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4.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论域的通用知识编码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/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建立论域公理</a:t>
            </a:r>
            <a:endParaRPr lang="en-US" altLang="zh-CN" dirty="0">
              <a:solidFill>
                <a:srgbClr val="FFCC99"/>
              </a:solidFill>
              <a:latin typeface="Aa花间辞楷书 (非商业使用)" panose="02010600010101010101" pitchFamily="2" charset="-122"/>
              <a:ea typeface="Aa花间辞楷书 (非商业使用)" panose="02010600010101010101" pitchFamily="2" charset="-122"/>
            </a:endParaRPr>
          </a:p>
          <a:p>
            <a:pPr lvl="1"/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公理 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1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：每个任务必须至少分配一架飞机</a:t>
            </a:r>
            <a:endParaRPr lang="en-US" altLang="zh-CN" dirty="0">
              <a:solidFill>
                <a:srgbClr val="FFCC99"/>
              </a:solidFill>
              <a:latin typeface="Aa花间辞楷书 (非商业使用)" panose="02010600010101010101" pitchFamily="2" charset="-122"/>
              <a:ea typeface="Aa花间辞楷书 (非商业使用)" panose="02010600010101010101" pitchFamily="2" charset="-122"/>
            </a:endParaRPr>
          </a:p>
          <a:p>
            <a:pPr lvl="1"/>
            <a:endParaRPr lang="en-US" altLang="zh-CN" dirty="0">
              <a:solidFill>
                <a:srgbClr val="FFCC99"/>
              </a:solidFill>
              <a:latin typeface="Aa花间辞楷书 (非商业使用)" panose="02010600010101010101" pitchFamily="2" charset="-122"/>
              <a:ea typeface="Aa花间辞楷书 (非商业使用)" panose="02010600010101010101" pitchFamily="2" charset="-122"/>
            </a:endParaRPr>
          </a:p>
          <a:p>
            <a:pPr lvl="1"/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公理 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2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：飞机执行任务必须有飞行员</a:t>
            </a:r>
            <a:endParaRPr lang="en-US" altLang="zh-CN" dirty="0">
              <a:solidFill>
                <a:srgbClr val="FFCC99"/>
              </a:solidFill>
              <a:latin typeface="Aa花间辞楷书 (非商业使用)" panose="02010600010101010101" pitchFamily="2" charset="-122"/>
              <a:ea typeface="Aa花间辞楷书 (非商业使用)" panose="02010600010101010101" pitchFamily="2" charset="-122"/>
            </a:endParaRPr>
          </a:p>
          <a:p>
            <a:pPr lvl="1"/>
            <a:endParaRPr lang="en-US" altLang="zh-CN" dirty="0">
              <a:solidFill>
                <a:srgbClr val="FFCC99"/>
              </a:solidFill>
              <a:latin typeface="Aa花间辞楷书 (非商业使用)" panose="02010600010101010101" pitchFamily="2" charset="-122"/>
              <a:ea typeface="Aa花间辞楷书 (非商业使用)" panose="02010600010101010101" pitchFamily="2" charset="-122"/>
            </a:endParaRPr>
          </a:p>
          <a:p>
            <a:pPr lvl="1"/>
            <a:r>
              <a:rPr lang="zh-CN" altLang="en-US" dirty="0"/>
              <a:t>公理 </a:t>
            </a:r>
            <a:r>
              <a:rPr lang="en-US" altLang="zh-CN" dirty="0"/>
              <a:t>3</a:t>
            </a:r>
            <a:r>
              <a:rPr lang="zh-CN" altLang="en-US" dirty="0"/>
              <a:t>：飞机要占用一个时间槽才能起飞</a:t>
            </a:r>
            <a:r>
              <a:rPr lang="en-US" altLang="zh-CN" dirty="0"/>
              <a:t>/</a:t>
            </a:r>
            <a:r>
              <a:rPr lang="zh-CN" altLang="en-US" dirty="0"/>
              <a:t>降落</a:t>
            </a:r>
            <a:endParaRPr lang="en-US" altLang="zh-CN" dirty="0"/>
          </a:p>
          <a:p>
            <a:pPr lvl="1"/>
            <a:endParaRPr lang="en-US" altLang="zh-CN" dirty="0">
              <a:solidFill>
                <a:srgbClr val="FFCC99"/>
              </a:solidFill>
              <a:latin typeface="Aa花间辞楷书 (非商业使用)" panose="02010600010101010101" pitchFamily="2" charset="-122"/>
              <a:ea typeface="Aa花间辞楷书 (非商业使用)" panose="02010600010101010101" pitchFamily="2" charset="-122"/>
            </a:endParaRPr>
          </a:p>
          <a:p>
            <a:pPr lvl="1"/>
            <a:r>
              <a:rPr lang="zh-CN" altLang="en-US" dirty="0"/>
              <a:t>公理 </a:t>
            </a:r>
            <a:r>
              <a:rPr lang="en-US" altLang="zh-CN" dirty="0"/>
              <a:t>4</a:t>
            </a:r>
            <a:r>
              <a:rPr lang="zh-CN" altLang="en-US" dirty="0"/>
              <a:t>：资源冲突约束（不能同时使用）</a:t>
            </a:r>
            <a:endParaRPr lang="zh-CN" altLang="en-US" dirty="0">
              <a:solidFill>
                <a:srgbClr val="FFCC99"/>
              </a:solidFill>
              <a:latin typeface="Aa花间辞楷书 (非商业使用)" panose="02010600010101010101" pitchFamily="2" charset="-122"/>
              <a:ea typeface="Aa花间辞楷书 (非商业使用)" panose="0201060001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34B4E1-7544-0ED2-E41F-CC50D49EA4EA}"/>
              </a:ext>
            </a:extLst>
          </p:cNvPr>
          <p:cNvSpPr txBox="1"/>
          <p:nvPr/>
        </p:nvSpPr>
        <p:spPr>
          <a:xfrm>
            <a:off x="2956415" y="1900416"/>
            <a:ext cx="79020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∀m (Mission(m) </a:t>
            </a:r>
            <a:r>
              <a:rPr lang="en-US" altLang="zh-CN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=&gt;</a:t>
            </a:r>
            <a:r>
              <a:rPr lang="zh-CN" altLang="en-US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 ∃a (Aircraft(a) ∧ assignedTo(a, m)))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C5E6684-14F2-5197-7D90-1A3D3515E2A7}"/>
              </a:ext>
            </a:extLst>
          </p:cNvPr>
          <p:cNvSpPr txBox="1"/>
          <p:nvPr/>
        </p:nvSpPr>
        <p:spPr>
          <a:xfrm>
            <a:off x="2956415" y="2776248"/>
            <a:ext cx="61590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∀</a:t>
            </a:r>
            <a:r>
              <a:rPr lang="en-US" altLang="zh-CN" dirty="0" err="1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a∀m</a:t>
            </a:r>
            <a:r>
              <a:rPr lang="en-US" altLang="zh-CN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 (</a:t>
            </a:r>
            <a:r>
              <a:rPr lang="en-US" altLang="zh-CN" dirty="0" err="1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assignedTo</a:t>
            </a:r>
            <a:r>
              <a:rPr lang="en-US" altLang="zh-CN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(a, m) =&gt; ∃p </a:t>
            </a:r>
            <a:r>
              <a:rPr lang="en-US" altLang="zh-CN" dirty="0" err="1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pilotOf</a:t>
            </a:r>
            <a:r>
              <a:rPr lang="en-US" altLang="zh-CN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(p, a))</a:t>
            </a:r>
            <a:endParaRPr lang="zh-CN" altLang="en-US" dirty="0">
              <a:solidFill>
                <a:srgbClr val="FEDD7E"/>
              </a:solidFill>
              <a:latin typeface="霞鹜文楷等宽 Medium" panose="02020609000000000000" pitchFamily="49" charset="-122"/>
              <a:ea typeface="霞鹜文楷等宽 Medium" panose="02020609000000000000" pitchFamily="49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4155470-65AA-26C9-041C-677423BAB740}"/>
              </a:ext>
            </a:extLst>
          </p:cNvPr>
          <p:cNvSpPr txBox="1"/>
          <p:nvPr/>
        </p:nvSpPr>
        <p:spPr>
          <a:xfrm>
            <a:off x="2956415" y="3712421"/>
            <a:ext cx="77921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∀a∀m (assignedTo(a, m) </a:t>
            </a:r>
            <a:r>
              <a:rPr lang="en-US" altLang="zh-CN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=&gt;</a:t>
            </a:r>
            <a:r>
              <a:rPr lang="zh-CN" altLang="en-US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 ∃s (DeckSlot(s) ∧ occupies(a, s)))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94BDF4D-C14D-47A6-3CF4-B343073958A5}"/>
              </a:ext>
            </a:extLst>
          </p:cNvPr>
          <p:cNvSpPr txBox="1"/>
          <p:nvPr/>
        </p:nvSpPr>
        <p:spPr>
          <a:xfrm>
            <a:off x="2986090" y="4648594"/>
            <a:ext cx="74119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∀a1∀a2∀r1∀r2∀s </a:t>
            </a:r>
            <a:endParaRPr lang="en-US" altLang="zh-CN" dirty="0">
              <a:solidFill>
                <a:srgbClr val="FEDD7E"/>
              </a:solidFill>
              <a:latin typeface="霞鹜文楷等宽 Medium" panose="02020609000000000000" pitchFamily="49" charset="-122"/>
              <a:ea typeface="霞鹜文楷等宽 Medium" panose="02020609000000000000" pitchFamily="49" charset="-122"/>
            </a:endParaRPr>
          </a:p>
          <a:p>
            <a:r>
              <a:rPr lang="zh-CN" altLang="en-US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(needsResource(a1, r1) ∧ needsResource(a2, r2) </a:t>
            </a:r>
            <a:endParaRPr lang="en-US" altLang="zh-CN" dirty="0">
              <a:solidFill>
                <a:srgbClr val="FEDD7E"/>
              </a:solidFill>
              <a:latin typeface="霞鹜文楷等宽 Medium" panose="02020609000000000000" pitchFamily="49" charset="-122"/>
              <a:ea typeface="霞鹜文楷等宽 Medium" panose="02020609000000000000" pitchFamily="49" charset="-122"/>
            </a:endParaRPr>
          </a:p>
          <a:p>
            <a:r>
              <a:rPr lang="zh-CN" altLang="en-US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∧ conflict(r1, r2) ∧ occupies(a1, s) ∧ occupies(a2, s))</a:t>
            </a:r>
          </a:p>
          <a:p>
            <a:r>
              <a:rPr lang="zh-CN" altLang="en-US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  </a:t>
            </a:r>
            <a:r>
              <a:rPr lang="en-US" altLang="zh-CN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=&gt;</a:t>
            </a:r>
            <a:r>
              <a:rPr lang="zh-CN" altLang="en-US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 conflictInSchedule(a1, a2)</a:t>
            </a:r>
          </a:p>
        </p:txBody>
      </p:sp>
    </p:spTree>
    <p:extLst>
      <p:ext uri="{BB962C8B-B14F-4D97-AF65-F5344CB8AC3E}">
        <p14:creationId xmlns:p14="http://schemas.microsoft.com/office/powerpoint/2010/main" val="714368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C64621-93B9-5B84-9AC1-F4C64AEB3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8.4 </a:t>
            </a:r>
            <a:r>
              <a:rPr lang="zh-CN" altLang="en-US" dirty="0"/>
              <a:t>知识工程与本体论 </a:t>
            </a:r>
            <a:r>
              <a:rPr lang="en-US" altLang="zh-CN" dirty="0"/>
              <a:t>- </a:t>
            </a:r>
            <a:r>
              <a:rPr lang="zh-CN" altLang="en-US" dirty="0"/>
              <a:t>实例：航母舰载机调度</a:t>
            </a:r>
            <a:r>
              <a:rPr lang="en-US" altLang="zh-CN" dirty="0"/>
              <a:t>Agent</a:t>
            </a:r>
            <a:r>
              <a:rPr lang="zh-CN" altLang="en-US" dirty="0"/>
              <a:t>（简化）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563E7B-C75E-874C-85AB-5FB0396A3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5.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问题实例化描述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/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编码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BE8A48C-8E45-3609-36B1-E26AF719E465}"/>
              </a:ext>
            </a:extLst>
          </p:cNvPr>
          <p:cNvSpPr txBox="1"/>
          <p:nvPr/>
        </p:nvSpPr>
        <p:spPr>
          <a:xfrm>
            <a:off x="522513" y="1485185"/>
            <a:ext cx="609746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Fighter(F01)</a:t>
            </a:r>
          </a:p>
          <a:p>
            <a:r>
              <a:rPr lang="en-US" altLang="zh-CN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Fighter(F02)</a:t>
            </a:r>
          </a:p>
          <a:p>
            <a:r>
              <a:rPr lang="en-US" altLang="zh-CN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AWACS(AW01)</a:t>
            </a:r>
          </a:p>
          <a:p>
            <a:endParaRPr lang="en-US" altLang="zh-CN" dirty="0">
              <a:solidFill>
                <a:srgbClr val="FEDD7E"/>
              </a:solidFill>
              <a:latin typeface="霞鹜文楷等宽 Medium" panose="02020609000000000000" pitchFamily="49" charset="-122"/>
              <a:ea typeface="霞鹜文楷等宽 Medium" panose="02020609000000000000" pitchFamily="49" charset="-122"/>
            </a:endParaRPr>
          </a:p>
          <a:p>
            <a:r>
              <a:rPr lang="en-US" altLang="zh-CN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Pilot(P001)</a:t>
            </a:r>
          </a:p>
          <a:p>
            <a:r>
              <a:rPr lang="en-US" altLang="zh-CN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Pilot(P002)</a:t>
            </a:r>
          </a:p>
          <a:p>
            <a:r>
              <a:rPr lang="en-US" altLang="zh-CN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Pilot(P003)</a:t>
            </a:r>
          </a:p>
          <a:p>
            <a:endParaRPr lang="en-US" altLang="zh-CN" dirty="0">
              <a:solidFill>
                <a:srgbClr val="FEDD7E"/>
              </a:solidFill>
              <a:latin typeface="霞鹜文楷等宽 Medium" panose="02020609000000000000" pitchFamily="49" charset="-122"/>
              <a:ea typeface="霞鹜文楷等宽 Medium" panose="02020609000000000000" pitchFamily="49" charset="-122"/>
            </a:endParaRPr>
          </a:p>
          <a:p>
            <a:r>
              <a:rPr lang="en-US" altLang="zh-CN" dirty="0" err="1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pilotOf</a:t>
            </a:r>
            <a:r>
              <a:rPr lang="en-US" altLang="zh-CN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(P001, F01)</a:t>
            </a:r>
          </a:p>
          <a:p>
            <a:r>
              <a:rPr lang="en-US" altLang="zh-CN" dirty="0" err="1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pilotOf</a:t>
            </a:r>
            <a:r>
              <a:rPr lang="en-US" altLang="zh-CN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(P002, F02)</a:t>
            </a:r>
          </a:p>
          <a:p>
            <a:r>
              <a:rPr lang="en-US" altLang="zh-CN" dirty="0" err="1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pilotOf</a:t>
            </a:r>
            <a:r>
              <a:rPr lang="en-US" altLang="zh-CN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(P003, AW01)</a:t>
            </a:r>
          </a:p>
          <a:p>
            <a:endParaRPr lang="en-US" altLang="zh-CN" dirty="0">
              <a:solidFill>
                <a:srgbClr val="FEDD7E"/>
              </a:solidFill>
              <a:latin typeface="霞鹜文楷等宽 Medium" panose="02020609000000000000" pitchFamily="49" charset="-122"/>
              <a:ea typeface="霞鹜文楷等宽 Medium" panose="02020609000000000000" pitchFamily="49" charset="-122"/>
            </a:endParaRPr>
          </a:p>
          <a:p>
            <a:r>
              <a:rPr lang="en-US" altLang="zh-CN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Mission(</a:t>
            </a:r>
            <a:r>
              <a:rPr lang="en-US" altLang="zh-CN" dirty="0" err="1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M_recon</a:t>
            </a:r>
            <a:r>
              <a:rPr lang="en-US" altLang="zh-CN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)</a:t>
            </a:r>
          </a:p>
          <a:p>
            <a:r>
              <a:rPr lang="en-US" altLang="zh-CN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Mission(</a:t>
            </a:r>
            <a:r>
              <a:rPr lang="en-US" altLang="zh-CN" dirty="0" err="1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M_airdef</a:t>
            </a:r>
            <a:r>
              <a:rPr lang="en-US" altLang="zh-CN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)</a:t>
            </a:r>
          </a:p>
          <a:p>
            <a:endParaRPr lang="en-US" altLang="zh-CN" dirty="0">
              <a:solidFill>
                <a:srgbClr val="FEDD7E"/>
              </a:solidFill>
              <a:latin typeface="霞鹜文楷等宽 Medium" panose="02020609000000000000" pitchFamily="49" charset="-122"/>
              <a:ea typeface="霞鹜文楷等宽 Medium" panose="02020609000000000000" pitchFamily="49" charset="-122"/>
            </a:endParaRPr>
          </a:p>
          <a:p>
            <a:r>
              <a:rPr lang="en-US" altLang="zh-CN" dirty="0" err="1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assignedTo</a:t>
            </a:r>
            <a:r>
              <a:rPr lang="en-US" altLang="zh-CN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(F01, </a:t>
            </a:r>
            <a:r>
              <a:rPr lang="en-US" altLang="zh-CN" dirty="0" err="1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M_recon</a:t>
            </a:r>
            <a:r>
              <a:rPr lang="en-US" altLang="zh-CN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)</a:t>
            </a:r>
          </a:p>
          <a:p>
            <a:r>
              <a:rPr lang="en-US" altLang="zh-CN" dirty="0" err="1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assignedTo</a:t>
            </a:r>
            <a:r>
              <a:rPr lang="en-US" altLang="zh-CN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(AW01, </a:t>
            </a:r>
            <a:r>
              <a:rPr lang="en-US" altLang="zh-CN" dirty="0" err="1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M_airdef</a:t>
            </a:r>
            <a:r>
              <a:rPr lang="en-US" altLang="zh-CN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)</a:t>
            </a:r>
            <a:endParaRPr lang="zh-CN" altLang="en-US" dirty="0">
              <a:solidFill>
                <a:srgbClr val="FEDD7E"/>
              </a:solidFill>
              <a:latin typeface="霞鹜文楷等宽 Medium" panose="02020609000000000000" pitchFamily="49" charset="-122"/>
              <a:ea typeface="霞鹜文楷等宽 Medium" panose="02020609000000000000" pitchFamily="49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78289DE-08E8-BA58-86D4-37F103C7A83C}"/>
              </a:ext>
            </a:extLst>
          </p:cNvPr>
          <p:cNvSpPr txBox="1"/>
          <p:nvPr/>
        </p:nvSpPr>
        <p:spPr>
          <a:xfrm>
            <a:off x="4624889" y="1485185"/>
            <a:ext cx="715034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TakeoffSlot(T1)</a:t>
            </a:r>
          </a:p>
          <a:p>
            <a:r>
              <a:rPr lang="zh-CN" altLang="en-US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TakeoffSlot(T2)</a:t>
            </a:r>
          </a:p>
          <a:p>
            <a:r>
              <a:rPr lang="zh-CN" altLang="en-US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LandingSlot(L1)</a:t>
            </a:r>
            <a:endParaRPr lang="en-US" altLang="zh-CN" dirty="0">
              <a:solidFill>
                <a:srgbClr val="FEDD7E"/>
              </a:solidFill>
              <a:latin typeface="霞鹜文楷等宽 Medium" panose="02020609000000000000" pitchFamily="49" charset="-122"/>
              <a:ea typeface="霞鹜文楷等宽 Medium" panose="02020609000000000000" pitchFamily="49" charset="-122"/>
            </a:endParaRPr>
          </a:p>
          <a:p>
            <a:endParaRPr lang="en-US" altLang="zh-CN" dirty="0">
              <a:solidFill>
                <a:srgbClr val="FEDD7E"/>
              </a:solidFill>
              <a:latin typeface="霞鹜文楷等宽 Medium" panose="02020609000000000000" pitchFamily="49" charset="-122"/>
              <a:ea typeface="霞鹜文楷等宽 Medium" panose="02020609000000000000" pitchFamily="49" charset="-122"/>
            </a:endParaRPr>
          </a:p>
          <a:p>
            <a:r>
              <a:rPr lang="en-US" altLang="zh-CN" dirty="0" err="1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needsResource</a:t>
            </a:r>
            <a:r>
              <a:rPr lang="en-US" altLang="zh-CN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(F01, catapult)      —— </a:t>
            </a:r>
            <a:r>
              <a:rPr lang="zh-CN" altLang="en-US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弹射器</a:t>
            </a:r>
          </a:p>
          <a:p>
            <a:r>
              <a:rPr lang="en-US" altLang="zh-CN" dirty="0" err="1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needsResource</a:t>
            </a:r>
            <a:r>
              <a:rPr lang="en-US" altLang="zh-CN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(F02, catapult)      </a:t>
            </a:r>
          </a:p>
          <a:p>
            <a:r>
              <a:rPr lang="en-US" altLang="zh-CN" dirty="0" err="1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needsResource</a:t>
            </a:r>
            <a:r>
              <a:rPr lang="en-US" altLang="zh-CN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(AW01, elevator)     —— </a:t>
            </a:r>
            <a:r>
              <a:rPr lang="zh-CN" altLang="en-US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升降机</a:t>
            </a:r>
            <a:endParaRPr lang="en-US" altLang="zh-CN" dirty="0">
              <a:solidFill>
                <a:srgbClr val="FEDD7E"/>
              </a:solidFill>
              <a:latin typeface="霞鹜文楷等宽 Medium" panose="02020609000000000000" pitchFamily="49" charset="-122"/>
              <a:ea typeface="霞鹜文楷等宽 Medium" panose="02020609000000000000" pitchFamily="49" charset="-122"/>
            </a:endParaRPr>
          </a:p>
          <a:p>
            <a:endParaRPr lang="en-US" altLang="zh-CN" dirty="0">
              <a:solidFill>
                <a:srgbClr val="FEDD7E"/>
              </a:solidFill>
              <a:latin typeface="霞鹜文楷等宽 Medium" panose="02020609000000000000" pitchFamily="49" charset="-122"/>
              <a:ea typeface="霞鹜文楷等宽 Medium" panose="02020609000000000000" pitchFamily="49" charset="-122"/>
            </a:endParaRPr>
          </a:p>
          <a:p>
            <a:r>
              <a:rPr lang="en-US" altLang="zh-CN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conflict(catapult, elevator)      —— </a:t>
            </a:r>
            <a:r>
              <a:rPr lang="zh-CN" altLang="en-US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假设不可同时操作</a:t>
            </a:r>
          </a:p>
          <a:p>
            <a:r>
              <a:rPr lang="en-US" altLang="zh-CN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conflict(catapult, catapult)      —— </a:t>
            </a:r>
            <a:r>
              <a:rPr lang="zh-CN" altLang="en-US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同类资源不可并发</a:t>
            </a:r>
            <a:endParaRPr lang="en-US" altLang="zh-CN" dirty="0">
              <a:solidFill>
                <a:srgbClr val="FEDD7E"/>
              </a:solidFill>
              <a:latin typeface="霞鹜文楷等宽 Medium" panose="02020609000000000000" pitchFamily="49" charset="-122"/>
              <a:ea typeface="霞鹜文楷等宽 Medium" panose="02020609000000000000" pitchFamily="49" charset="-122"/>
            </a:endParaRPr>
          </a:p>
          <a:p>
            <a:endParaRPr lang="en-US" altLang="zh-CN" dirty="0">
              <a:solidFill>
                <a:srgbClr val="FEDD7E"/>
              </a:solidFill>
              <a:latin typeface="霞鹜文楷等宽 Medium" panose="02020609000000000000" pitchFamily="49" charset="-122"/>
              <a:ea typeface="霞鹜文楷等宽 Medium" panose="02020609000000000000" pitchFamily="49" charset="-122"/>
            </a:endParaRPr>
          </a:p>
          <a:p>
            <a:r>
              <a:rPr lang="fr-FR" altLang="zh-CN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compatible(F01, T1)</a:t>
            </a:r>
          </a:p>
          <a:p>
            <a:r>
              <a:rPr lang="fr-FR" altLang="zh-CN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compatible(F02, T2)</a:t>
            </a:r>
          </a:p>
          <a:p>
            <a:r>
              <a:rPr lang="fr-FR" altLang="zh-CN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compatible(AW01, T1)</a:t>
            </a:r>
          </a:p>
          <a:p>
            <a:r>
              <a:rPr lang="fr-FR" altLang="zh-CN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compatible(AW01, T2)</a:t>
            </a:r>
            <a:endParaRPr lang="zh-CN" altLang="en-US" dirty="0">
              <a:solidFill>
                <a:srgbClr val="FEDD7E"/>
              </a:solidFill>
              <a:latin typeface="霞鹜文楷等宽 Medium" panose="02020609000000000000" pitchFamily="49" charset="-122"/>
              <a:ea typeface="霞鹜文楷等宽 Medium" panose="02020609000000000000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396146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C64621-93B9-5B84-9AC1-F4C64AEB3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8.4 </a:t>
            </a:r>
            <a:r>
              <a:rPr lang="zh-CN" altLang="en-US" dirty="0"/>
              <a:t>知识工程与本体论 </a:t>
            </a:r>
            <a:r>
              <a:rPr lang="en-US" altLang="zh-CN" dirty="0"/>
              <a:t>- </a:t>
            </a:r>
            <a:r>
              <a:rPr lang="zh-CN" altLang="en-US" dirty="0"/>
              <a:t>实例：航母舰载机调度</a:t>
            </a:r>
            <a:r>
              <a:rPr lang="en-US" altLang="zh-CN" dirty="0"/>
              <a:t>Agent</a:t>
            </a:r>
            <a:r>
              <a:rPr lang="zh-CN" altLang="en-US" dirty="0"/>
              <a:t>（简化）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563E7B-C75E-874C-85AB-5FB0396A3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6.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推断查询    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7.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持续调试并优化知识库</a:t>
            </a:r>
            <a:endParaRPr lang="en-US" altLang="zh-CN" dirty="0">
              <a:solidFill>
                <a:srgbClr val="FFCC99"/>
              </a:solidFill>
              <a:latin typeface="Aa花间辞楷书 (非商业使用)" panose="02010600010101010101" pitchFamily="2" charset="-122"/>
              <a:ea typeface="Aa花间辞楷书 (非商业使用)" panose="02010600010101010101" pitchFamily="2" charset="-122"/>
            </a:endParaRPr>
          </a:p>
          <a:p>
            <a:pPr lvl="1"/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推理 </a:t>
            </a:r>
            <a:r>
              <a:rPr lang="en-US" altLang="zh-CN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1</a:t>
            </a:r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：每个任务必须有飞机</a:t>
            </a:r>
            <a:endParaRPr lang="en-US" altLang="zh-CN" dirty="0">
              <a:solidFill>
                <a:srgbClr val="FFCC99"/>
              </a:solidFill>
              <a:latin typeface="Aa花间辞楷书 (非商业使用)" panose="02010600010101010101" pitchFamily="2" charset="-122"/>
              <a:ea typeface="Aa花间辞楷书 (非商业使用)" panose="02010600010101010101" pitchFamily="2" charset="-122"/>
            </a:endParaRPr>
          </a:p>
          <a:p>
            <a:pPr lvl="1"/>
            <a:endParaRPr lang="en-US" altLang="zh-CN" dirty="0"/>
          </a:p>
          <a:p>
            <a:pPr lvl="1"/>
            <a:endParaRPr lang="en-US" altLang="zh-CN" dirty="0">
              <a:solidFill>
                <a:srgbClr val="FFCC99"/>
              </a:solidFill>
              <a:latin typeface="Aa花间辞楷书 (非商业使用)" panose="02010600010101010101" pitchFamily="2" charset="-122"/>
              <a:ea typeface="Aa花间辞楷书 (非商业使用)" panose="02010600010101010101" pitchFamily="2" charset="-122"/>
            </a:endParaRPr>
          </a:p>
          <a:p>
            <a:pPr lvl="1"/>
            <a:r>
              <a:rPr lang="zh-CN" altLang="en-US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推理</a:t>
            </a:r>
            <a:r>
              <a:rPr lang="en-US" altLang="zh-CN" dirty="0"/>
              <a:t>2</a:t>
            </a:r>
            <a:r>
              <a:rPr lang="zh-CN" altLang="en-US" dirty="0"/>
              <a:t>：飞机执行任务必须有飞行员</a:t>
            </a:r>
            <a:endParaRPr lang="en-US" altLang="zh-CN" dirty="0"/>
          </a:p>
          <a:p>
            <a:pPr lvl="1"/>
            <a:endParaRPr lang="en-US" altLang="zh-CN" dirty="0">
              <a:solidFill>
                <a:srgbClr val="FFCC99"/>
              </a:solidFill>
              <a:latin typeface="Aa花间辞楷书 (非商业使用)" panose="02010600010101010101" pitchFamily="2" charset="-122"/>
              <a:ea typeface="Aa花间辞楷书 (非商业使用)" panose="02010600010101010101" pitchFamily="2" charset="-122"/>
            </a:endParaRP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pPr lvl="1"/>
            <a:r>
              <a:rPr lang="zh-CN" altLang="en-US" dirty="0"/>
              <a:t>推理</a:t>
            </a:r>
            <a:r>
              <a:rPr lang="en-US" altLang="zh-CN" dirty="0"/>
              <a:t>3</a:t>
            </a:r>
            <a:r>
              <a:rPr lang="zh-CN" altLang="en-US" dirty="0"/>
              <a:t>：必须占用时间槽</a:t>
            </a:r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2532C44-51C4-449A-BE85-25F267022D82}"/>
              </a:ext>
            </a:extLst>
          </p:cNvPr>
          <p:cNvSpPr txBox="1"/>
          <p:nvPr/>
        </p:nvSpPr>
        <p:spPr>
          <a:xfrm>
            <a:off x="3100140" y="1838525"/>
            <a:ext cx="60974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assignedTo(F01, M_recon)</a:t>
            </a:r>
          </a:p>
          <a:p>
            <a:r>
              <a:rPr lang="zh-CN" altLang="en-US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assignedTo(AW01, M_airdef)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DF19C5D-C850-40DF-5F3A-A6DF26A6DF7D}"/>
              </a:ext>
            </a:extLst>
          </p:cNvPr>
          <p:cNvSpPr txBox="1"/>
          <p:nvPr/>
        </p:nvSpPr>
        <p:spPr>
          <a:xfrm>
            <a:off x="3047268" y="3105834"/>
            <a:ext cx="60974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assignedTo(F01, M_recon) </a:t>
            </a:r>
            <a:r>
              <a:rPr lang="en-US" altLang="zh-CN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=&gt;</a:t>
            </a:r>
            <a:r>
              <a:rPr lang="zh-CN" altLang="en-US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 ∃p pilotOf(p, F01)</a:t>
            </a:r>
          </a:p>
          <a:p>
            <a:r>
              <a:rPr lang="zh-CN" altLang="en-US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已有 P001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9F5B4F0-69CD-7DFF-AB53-928ABAB040C8}"/>
              </a:ext>
            </a:extLst>
          </p:cNvPr>
          <p:cNvSpPr txBox="1"/>
          <p:nvPr/>
        </p:nvSpPr>
        <p:spPr>
          <a:xfrm>
            <a:off x="3047268" y="3781823"/>
            <a:ext cx="60974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assignedTo</a:t>
            </a:r>
            <a:r>
              <a:rPr lang="en-US" altLang="zh-CN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(AW01, </a:t>
            </a:r>
            <a:r>
              <a:rPr lang="en-US" altLang="zh-CN" dirty="0" err="1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M_airdef</a:t>
            </a:r>
            <a:r>
              <a:rPr lang="en-US" altLang="zh-CN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) =&gt; ∃p </a:t>
            </a:r>
            <a:r>
              <a:rPr lang="en-US" altLang="zh-CN" dirty="0" err="1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pilotOf</a:t>
            </a:r>
            <a:r>
              <a:rPr lang="en-US" altLang="zh-CN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(p, AW01)</a:t>
            </a:r>
          </a:p>
          <a:p>
            <a:r>
              <a:rPr lang="zh-CN" altLang="en-US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已有 </a:t>
            </a:r>
            <a:r>
              <a:rPr lang="en-US" altLang="zh-CN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P003</a:t>
            </a:r>
            <a:endParaRPr lang="zh-CN" altLang="en-US" dirty="0">
              <a:solidFill>
                <a:srgbClr val="FEDD7E"/>
              </a:solidFill>
              <a:latin typeface="霞鹜文楷等宽 Medium" panose="02020609000000000000" pitchFamily="49" charset="-122"/>
              <a:ea typeface="霞鹜文楷等宽 Medium" panose="02020609000000000000" pitchFamily="49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CDD651F-F26F-4968-67B3-864794E1EF1D}"/>
              </a:ext>
            </a:extLst>
          </p:cNvPr>
          <p:cNvSpPr txBox="1"/>
          <p:nvPr/>
        </p:nvSpPr>
        <p:spPr>
          <a:xfrm>
            <a:off x="3020890" y="5049132"/>
            <a:ext cx="61238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assignedTo(F01, M_recon) </a:t>
            </a:r>
            <a:r>
              <a:rPr lang="en-US" altLang="zh-CN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=&gt;</a:t>
            </a:r>
            <a:r>
              <a:rPr lang="zh-CN" altLang="en-US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 ∃s occupies(F01, s)</a:t>
            </a:r>
          </a:p>
          <a:p>
            <a:r>
              <a:rPr lang="zh-CN" altLang="en-US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assignedTo(AW01, M_airdef) </a:t>
            </a:r>
            <a:r>
              <a:rPr lang="en-US" altLang="zh-CN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=&gt;</a:t>
            </a:r>
            <a:r>
              <a:rPr lang="zh-CN" altLang="en-US" dirty="0">
                <a:solidFill>
                  <a:srgbClr val="FEDD7E"/>
                </a:solidFill>
                <a:latin typeface="霞鹜文楷等宽 Medium" panose="02020609000000000000" pitchFamily="49" charset="-122"/>
                <a:ea typeface="霞鹜文楷等宽 Medium" panose="02020609000000000000" pitchFamily="49" charset="-122"/>
              </a:rPr>
              <a:t> ∃s occupies(AW01, s)</a:t>
            </a:r>
          </a:p>
        </p:txBody>
      </p:sp>
    </p:spTree>
    <p:extLst>
      <p:ext uri="{BB962C8B-B14F-4D97-AF65-F5344CB8AC3E}">
        <p14:creationId xmlns:p14="http://schemas.microsoft.com/office/powerpoint/2010/main" val="207473491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40CCF9-1513-AD9A-F53F-331892A2C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一阶逻辑小结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0348C72-D48C-853F-59EA-153BBBA30FBE}"/>
              </a:ext>
            </a:extLst>
          </p:cNvPr>
          <p:cNvSpPr/>
          <p:nvPr/>
        </p:nvSpPr>
        <p:spPr>
          <a:xfrm>
            <a:off x="522513" y="2817220"/>
            <a:ext cx="2374474" cy="1073693"/>
          </a:xfrm>
          <a:prstGeom prst="rect">
            <a:avLst/>
          </a:prstGeom>
          <a:noFill/>
          <a:ln w="19050" cap="rnd">
            <a:solidFill>
              <a:schemeClr val="accent5">
                <a:lumMod val="50000"/>
              </a:schemeClr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对象、关系、函数</a:t>
            </a:r>
            <a:endParaRPr lang="el-GR" altLang="zh-CN" sz="2000" dirty="0">
              <a:solidFill>
                <a:srgbClr val="FFCC99"/>
              </a:solidFill>
              <a:latin typeface="霞鹜文楷等宽 屏幕阅读版" panose="02020509000000000000" pitchFamily="49" charset="-122"/>
              <a:ea typeface="Aa花间辞楷书 (非商业使用)" panose="0201060001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18E4E73-A08A-1A5B-0E02-99C2BDF84CBA}"/>
              </a:ext>
            </a:extLst>
          </p:cNvPr>
          <p:cNvSpPr/>
          <p:nvPr/>
        </p:nvSpPr>
        <p:spPr>
          <a:xfrm>
            <a:off x="521416" y="4810206"/>
            <a:ext cx="2427198" cy="791633"/>
          </a:xfrm>
          <a:prstGeom prst="rect">
            <a:avLst/>
          </a:prstGeom>
          <a:noFill/>
          <a:ln w="19050" cap="rnd">
            <a:solidFill>
              <a:schemeClr val="accent5">
                <a:lumMod val="50000"/>
              </a:schemeClr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一阶逻辑</a:t>
            </a:r>
            <a:endParaRPr lang="el-GR" altLang="zh-CN" sz="2000" dirty="0">
              <a:solidFill>
                <a:srgbClr val="FFCC99"/>
              </a:solidFill>
              <a:latin typeface="霞鹜文楷等宽 屏幕阅读版" panose="02020509000000000000" pitchFamily="49" charset="-122"/>
              <a:ea typeface="Aa花间辞楷书 (非商业使用)" panose="0201060001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37E29FA-B6E3-4DA1-0D06-290B5A8ADB51}"/>
              </a:ext>
            </a:extLst>
          </p:cNvPr>
          <p:cNvSpPr/>
          <p:nvPr/>
        </p:nvSpPr>
        <p:spPr>
          <a:xfrm>
            <a:off x="4007944" y="1118511"/>
            <a:ext cx="6321727" cy="1507503"/>
          </a:xfrm>
          <a:prstGeom prst="rect">
            <a:avLst/>
          </a:prstGeom>
          <a:noFill/>
          <a:ln w="19050" cap="rnd">
            <a:solidFill>
              <a:schemeClr val="accent5">
                <a:lumMod val="50000"/>
              </a:schemeClr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2000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在命题逻辑中，命题是最基本的单位，对简单命题不再进行分解，并且不考虑命题之间的内在联系和数量关系；因而命题逻辑具有局限性，甚至无法判断一些简单而常见的推理</a:t>
            </a:r>
            <a:endParaRPr lang="el-GR" altLang="zh-CN" sz="2000" dirty="0">
              <a:solidFill>
                <a:srgbClr val="FFCC99"/>
              </a:solidFill>
              <a:latin typeface="霞鹜文楷等宽 屏幕阅读版" panose="02020509000000000000" pitchFamily="49" charset="-122"/>
              <a:ea typeface="Aa花间辞楷书 (非商业使用)" panose="02010600010101010101" pitchFamily="2" charset="-122"/>
            </a:endParaRPr>
          </a:p>
        </p:txBody>
      </p:sp>
      <p:sp>
        <p:nvSpPr>
          <p:cNvPr id="7" name="箭头: 下 6">
            <a:extLst>
              <a:ext uri="{FF2B5EF4-FFF2-40B4-BE49-F238E27FC236}">
                <a16:creationId xmlns:a16="http://schemas.microsoft.com/office/drawing/2014/main" id="{16E64797-3CAF-C63C-CD5B-7B6149E72508}"/>
              </a:ext>
            </a:extLst>
          </p:cNvPr>
          <p:cNvSpPr/>
          <p:nvPr/>
        </p:nvSpPr>
        <p:spPr>
          <a:xfrm rot="16200000">
            <a:off x="3146589" y="1449873"/>
            <a:ext cx="313409" cy="625136"/>
          </a:xfrm>
          <a:prstGeom prst="downArrow">
            <a:avLst>
              <a:gd name="adj1" fmla="val 50000"/>
              <a:gd name="adj2" fmla="val 1257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>
              <a:solidFill>
                <a:srgbClr val="FFCC99"/>
              </a:solidFill>
              <a:latin typeface="Aa花间辞楷书 (非商业使用)" panose="02010600010101010101" pitchFamily="2" charset="-122"/>
              <a:ea typeface="Aa花间辞楷书 (非商业使用)" panose="02010600010101010101" pitchFamily="2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266E3FD-2112-1857-2506-C5E1AAD6CFF1}"/>
              </a:ext>
            </a:extLst>
          </p:cNvPr>
          <p:cNvSpPr/>
          <p:nvPr/>
        </p:nvSpPr>
        <p:spPr>
          <a:xfrm>
            <a:off x="4007944" y="3026166"/>
            <a:ext cx="5161072" cy="655799"/>
          </a:xfrm>
          <a:prstGeom prst="rect">
            <a:avLst/>
          </a:prstGeom>
          <a:noFill/>
          <a:ln w="19050" cap="rnd">
            <a:solidFill>
              <a:schemeClr val="accent5">
                <a:lumMod val="50000"/>
              </a:schemeClr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2000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量词，谓词，函数，等词，变量，常量</a:t>
            </a:r>
            <a:endParaRPr lang="el-GR" altLang="zh-CN" sz="2000" dirty="0">
              <a:solidFill>
                <a:srgbClr val="FFCC99"/>
              </a:solidFill>
              <a:latin typeface="霞鹜文楷等宽 屏幕阅读版" panose="02020509000000000000" pitchFamily="49" charset="-122"/>
              <a:ea typeface="Aa花间辞楷书 (非商业使用)" panose="02010600010101010101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DAAD8E9-065B-EF17-50EE-37CC7A035411}"/>
              </a:ext>
            </a:extLst>
          </p:cNvPr>
          <p:cNvSpPr/>
          <p:nvPr/>
        </p:nvSpPr>
        <p:spPr>
          <a:xfrm>
            <a:off x="521415" y="1297172"/>
            <a:ext cx="2374474" cy="726752"/>
          </a:xfrm>
          <a:prstGeom prst="rect">
            <a:avLst/>
          </a:prstGeom>
          <a:noFill/>
          <a:ln w="19050" cap="rnd">
            <a:solidFill>
              <a:schemeClr val="accent5">
                <a:lumMod val="50000"/>
              </a:schemeClr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命题逻辑的缺点</a:t>
            </a:r>
            <a:endParaRPr lang="el-GR" altLang="zh-CN" sz="2000" dirty="0">
              <a:solidFill>
                <a:srgbClr val="FFCC99"/>
              </a:solidFill>
              <a:latin typeface="霞鹜文楷等宽 屏幕阅读版" panose="02020509000000000000" pitchFamily="49" charset="-122"/>
              <a:ea typeface="Aa花间辞楷书 (非商业使用)" panose="02010600010101010101" pitchFamily="2" charset="-122"/>
            </a:endParaRPr>
          </a:p>
        </p:txBody>
      </p:sp>
      <p:sp>
        <p:nvSpPr>
          <p:cNvPr id="10" name="箭头: 下 9">
            <a:extLst>
              <a:ext uri="{FF2B5EF4-FFF2-40B4-BE49-F238E27FC236}">
                <a16:creationId xmlns:a16="http://schemas.microsoft.com/office/drawing/2014/main" id="{264D311B-C024-A40B-FD88-5260453D449C}"/>
              </a:ext>
            </a:extLst>
          </p:cNvPr>
          <p:cNvSpPr/>
          <p:nvPr/>
        </p:nvSpPr>
        <p:spPr>
          <a:xfrm rot="16200000">
            <a:off x="3104477" y="3078393"/>
            <a:ext cx="313409" cy="625136"/>
          </a:xfrm>
          <a:prstGeom prst="downArrow">
            <a:avLst>
              <a:gd name="adj1" fmla="val 50000"/>
              <a:gd name="adj2" fmla="val 1257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>
              <a:solidFill>
                <a:srgbClr val="FFCC99"/>
              </a:solidFill>
              <a:latin typeface="Aa花间辞楷书 (非商业使用)" panose="02010600010101010101" pitchFamily="2" charset="-122"/>
              <a:ea typeface="Aa花间辞楷书 (非商业使用)" panose="02010600010101010101" pitchFamily="2" charset="-122"/>
            </a:endParaRPr>
          </a:p>
        </p:txBody>
      </p:sp>
      <p:sp>
        <p:nvSpPr>
          <p:cNvPr id="11" name="箭头: 下 10">
            <a:extLst>
              <a:ext uri="{FF2B5EF4-FFF2-40B4-BE49-F238E27FC236}">
                <a16:creationId xmlns:a16="http://schemas.microsoft.com/office/drawing/2014/main" id="{5BCC669D-C9D4-2DDA-6322-FC03A9608EE5}"/>
              </a:ext>
            </a:extLst>
          </p:cNvPr>
          <p:cNvSpPr/>
          <p:nvPr/>
        </p:nvSpPr>
        <p:spPr>
          <a:xfrm>
            <a:off x="2126545" y="4059073"/>
            <a:ext cx="313409" cy="625136"/>
          </a:xfrm>
          <a:prstGeom prst="downArrow">
            <a:avLst>
              <a:gd name="adj1" fmla="val 50000"/>
              <a:gd name="adj2" fmla="val 1257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>
              <a:solidFill>
                <a:srgbClr val="FFCC99"/>
              </a:solidFill>
              <a:latin typeface="Aa花间辞楷书 (非商业使用)" panose="02010600010101010101" pitchFamily="2" charset="-122"/>
              <a:ea typeface="Aa花间辞楷书 (非商业使用)" panose="0201060001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E8AADB8-ABDC-62E0-8057-407AC92B8660}"/>
              </a:ext>
            </a:extLst>
          </p:cNvPr>
          <p:cNvSpPr/>
          <p:nvPr/>
        </p:nvSpPr>
        <p:spPr>
          <a:xfrm>
            <a:off x="4007944" y="4227453"/>
            <a:ext cx="5045673" cy="1507503"/>
          </a:xfrm>
          <a:prstGeom prst="rect">
            <a:avLst/>
          </a:prstGeom>
          <a:noFill/>
          <a:ln w="19050" cap="rnd">
            <a:solidFill>
              <a:schemeClr val="accent5">
                <a:lumMod val="50000"/>
              </a:schemeClr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en-US" sz="2000" dirty="0">
                <a:solidFill>
                  <a:srgbClr val="FFCC99"/>
                </a:solidFill>
                <a:latin typeface="Aa花间辞楷书 (非商业使用)" panose="02010600010101010101" pitchFamily="2" charset="-122"/>
                <a:ea typeface="Aa花间辞楷书 (非商业使用)" panose="02010600010101010101" pitchFamily="2" charset="-122"/>
              </a:rPr>
              <a:t>命题逻辑只是对事物的存在进行限定，而一阶逻辑对于对象和关系的存在进行限定，因而获得更强的表达能力</a:t>
            </a:r>
            <a:endParaRPr lang="el-GR" altLang="zh-CN" sz="2000" dirty="0">
              <a:solidFill>
                <a:srgbClr val="FFCC99"/>
              </a:solidFill>
              <a:latin typeface="霞鹜文楷等宽 屏幕阅读版" panose="02020509000000000000" pitchFamily="49" charset="-122"/>
              <a:ea typeface="Aa花间辞楷书 (非商业使用)" panose="02010600010101010101" pitchFamily="2" charset="-122"/>
            </a:endParaRPr>
          </a:p>
        </p:txBody>
      </p:sp>
      <p:sp>
        <p:nvSpPr>
          <p:cNvPr id="13" name="箭头: 下 12">
            <a:extLst>
              <a:ext uri="{FF2B5EF4-FFF2-40B4-BE49-F238E27FC236}">
                <a16:creationId xmlns:a16="http://schemas.microsoft.com/office/drawing/2014/main" id="{C91AEC64-08E3-2F33-755A-27548DC845CB}"/>
              </a:ext>
            </a:extLst>
          </p:cNvPr>
          <p:cNvSpPr/>
          <p:nvPr/>
        </p:nvSpPr>
        <p:spPr>
          <a:xfrm rot="16200000">
            <a:off x="3321574" y="4825342"/>
            <a:ext cx="313409" cy="625136"/>
          </a:xfrm>
          <a:prstGeom prst="downArrow">
            <a:avLst>
              <a:gd name="adj1" fmla="val 50000"/>
              <a:gd name="adj2" fmla="val 1257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>
              <a:solidFill>
                <a:srgbClr val="FFCC99"/>
              </a:solidFill>
              <a:latin typeface="Aa花间辞楷书 (非商业使用)" panose="02010600010101010101" pitchFamily="2" charset="-122"/>
              <a:ea typeface="Aa花间辞楷书 (非商业使用)" panose="02010600010101010101" pitchFamily="2" charset="-122"/>
            </a:endParaRPr>
          </a:p>
        </p:txBody>
      </p:sp>
      <p:sp>
        <p:nvSpPr>
          <p:cNvPr id="14" name="箭头: 下 13">
            <a:extLst>
              <a:ext uri="{FF2B5EF4-FFF2-40B4-BE49-F238E27FC236}">
                <a16:creationId xmlns:a16="http://schemas.microsoft.com/office/drawing/2014/main" id="{6A3F05D8-94F9-7FE1-BCFD-931C2B6C98C9}"/>
              </a:ext>
            </a:extLst>
          </p:cNvPr>
          <p:cNvSpPr/>
          <p:nvPr/>
        </p:nvSpPr>
        <p:spPr>
          <a:xfrm>
            <a:off x="2145805" y="2192084"/>
            <a:ext cx="313409" cy="625136"/>
          </a:xfrm>
          <a:prstGeom prst="downArrow">
            <a:avLst>
              <a:gd name="adj1" fmla="val 50000"/>
              <a:gd name="adj2" fmla="val 12573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>
              <a:solidFill>
                <a:srgbClr val="FFCC99"/>
              </a:solidFill>
              <a:latin typeface="Aa花间辞楷书 (非商业使用)" panose="02010600010101010101" pitchFamily="2" charset="-122"/>
              <a:ea typeface="Aa花间辞楷书 (非商业使用)" panose="0201060001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78268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40CCF9-1513-AD9A-F53F-331892A2C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一阶逻辑小结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08F9BFEE-231A-FABC-A968-D11979972B1E}"/>
              </a:ext>
            </a:extLst>
          </p:cNvPr>
          <p:cNvSpPr/>
          <p:nvPr/>
        </p:nvSpPr>
        <p:spPr>
          <a:xfrm>
            <a:off x="4487461" y="2205108"/>
            <a:ext cx="2823583" cy="50852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B890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3153"/>
                </a:solidFill>
                <a:latin typeface="霞鹜文楷等宽 屏幕阅读版" panose="02020509000000000000" pitchFamily="49" charset="-122"/>
                <a:ea typeface="霞鹜文楷等宽 屏幕阅读版" panose="02020509000000000000" pitchFamily="49" charset="-122"/>
              </a:rPr>
              <a:t>用蕴涵实现了</a:t>
            </a:r>
            <a:r>
              <a:rPr lang="en-US" altLang="zh-CN" dirty="0">
                <a:solidFill>
                  <a:srgbClr val="003153"/>
                </a:solidFill>
                <a:latin typeface="霞鹜文楷等宽 屏幕阅读版" panose="02020509000000000000" pitchFamily="49" charset="-122"/>
                <a:ea typeface="霞鹜文楷等宽 屏幕阅读版" panose="02020509000000000000" pitchFamily="49" charset="-122"/>
              </a:rPr>
              <a:t>Agent</a:t>
            </a:r>
            <a:r>
              <a:rPr lang="zh-CN" altLang="en-US" dirty="0">
                <a:solidFill>
                  <a:srgbClr val="003153"/>
                </a:solidFill>
                <a:latin typeface="霞鹜文楷等宽 屏幕阅读版" panose="02020509000000000000" pitchFamily="49" charset="-122"/>
                <a:ea typeface="霞鹜文楷等宽 屏幕阅读版" panose="02020509000000000000" pitchFamily="49" charset="-122"/>
              </a:rPr>
              <a:t>推理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653BC3-DF04-8C0E-E18A-F93D005FFAD4}"/>
              </a:ext>
            </a:extLst>
          </p:cNvPr>
          <p:cNvSpPr/>
          <p:nvPr/>
        </p:nvSpPr>
        <p:spPr>
          <a:xfrm>
            <a:off x="7758843" y="2258756"/>
            <a:ext cx="2924397" cy="508529"/>
          </a:xfrm>
          <a:prstGeom prst="rect">
            <a:avLst/>
          </a:prstGeom>
          <a:noFill/>
          <a:ln w="19050" cap="rnd">
            <a:solidFill>
              <a:srgbClr val="B89076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l-GR" altLang="zh-CN" dirty="0">
                <a:solidFill>
                  <a:srgbClr val="FFCC99"/>
                </a:solidFill>
                <a:latin typeface="霞鹜文楷等宽 屏幕阅读版" panose="02020509000000000000" pitchFamily="49" charset="-122"/>
                <a:ea typeface="霞鹜文楷等宽 屏幕阅读版" panose="02020509000000000000" pitchFamily="49" charset="-122"/>
              </a:rPr>
              <a:t>α  ⊨ β</a:t>
            </a:r>
            <a:r>
              <a:rPr lang="zh-CN" altLang="en-US" dirty="0">
                <a:solidFill>
                  <a:srgbClr val="FFCC99"/>
                </a:solidFill>
                <a:latin typeface="霞鹜文楷等宽 屏幕阅读版" panose="02020509000000000000" pitchFamily="49" charset="-122"/>
                <a:ea typeface="霞鹜文楷等宽 屏幕阅读版" panose="02020509000000000000" pitchFamily="49" charset="-122"/>
              </a:rPr>
              <a:t>等价于</a:t>
            </a:r>
            <a:r>
              <a:rPr lang="en-US" altLang="zh-CN" dirty="0">
                <a:solidFill>
                  <a:srgbClr val="FFCC99"/>
                </a:solidFill>
                <a:latin typeface="霞鹜文楷等宽 屏幕阅读版" panose="02020509000000000000" pitchFamily="49" charset="-122"/>
                <a:ea typeface="霞鹜文楷等宽 屏幕阅读版" panose="02020509000000000000" pitchFamily="49" charset="-122"/>
              </a:rPr>
              <a:t>M(</a:t>
            </a:r>
            <a:r>
              <a:rPr lang="el-GR" altLang="zh-CN" dirty="0">
                <a:solidFill>
                  <a:srgbClr val="FFCC99"/>
                </a:solidFill>
                <a:latin typeface="霞鹜文楷等宽 屏幕阅读版" panose="02020509000000000000" pitchFamily="49" charset="-122"/>
                <a:ea typeface="霞鹜文楷等宽 屏幕阅读版" panose="02020509000000000000" pitchFamily="49" charset="-122"/>
              </a:rPr>
              <a:t>α) ⊆ </a:t>
            </a:r>
            <a:r>
              <a:rPr lang="en-US" altLang="zh-CN" dirty="0">
                <a:solidFill>
                  <a:srgbClr val="FFCC99"/>
                </a:solidFill>
                <a:latin typeface="霞鹜文楷等宽 屏幕阅读版" panose="02020509000000000000" pitchFamily="49" charset="-122"/>
                <a:ea typeface="霞鹜文楷等宽 屏幕阅读版" panose="02020509000000000000" pitchFamily="49" charset="-122"/>
              </a:rPr>
              <a:t>M(</a:t>
            </a:r>
            <a:r>
              <a:rPr lang="el-GR" altLang="zh-CN" dirty="0">
                <a:solidFill>
                  <a:srgbClr val="FFCC99"/>
                </a:solidFill>
                <a:latin typeface="霞鹜文楷等宽 屏幕阅读版" panose="02020509000000000000" pitchFamily="49" charset="-122"/>
                <a:ea typeface="霞鹜文楷等宽 屏幕阅读版" panose="02020509000000000000" pitchFamily="49" charset="-122"/>
              </a:rPr>
              <a:t>β)</a:t>
            </a:r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0691B72B-9B55-A314-6342-B640DD3A0A79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7193334" y="4004445"/>
            <a:ext cx="755044" cy="319481"/>
          </a:xfrm>
          <a:prstGeom prst="straightConnector1">
            <a:avLst/>
          </a:prstGeom>
          <a:ln w="38100">
            <a:solidFill>
              <a:srgbClr val="B89076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936F997-D5CB-2418-EDCD-891E9BB85A9B}"/>
              </a:ext>
            </a:extLst>
          </p:cNvPr>
          <p:cNvSpPr/>
          <p:nvPr/>
        </p:nvSpPr>
        <p:spPr>
          <a:xfrm>
            <a:off x="4487464" y="3736417"/>
            <a:ext cx="2666156" cy="55098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B890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3153"/>
                </a:solidFill>
                <a:latin typeface="霞鹜文楷等宽 屏幕阅读版" panose="02020509000000000000" pitchFamily="49" charset="-122"/>
                <a:ea typeface="霞鹜文楷等宽 屏幕阅读版" panose="02020509000000000000" pitchFamily="49" charset="-122"/>
              </a:rPr>
              <a:t>命题逻辑与蕴涵的</a:t>
            </a:r>
            <a:endParaRPr lang="en-US" altLang="zh-CN" dirty="0">
              <a:solidFill>
                <a:srgbClr val="003153"/>
              </a:solidFill>
              <a:latin typeface="霞鹜文楷等宽 屏幕阅读版" panose="02020509000000000000" pitchFamily="49" charset="-122"/>
              <a:ea typeface="霞鹜文楷等宽 屏幕阅读版" panose="02020509000000000000" pitchFamily="49" charset="-122"/>
            </a:endParaRPr>
          </a:p>
          <a:p>
            <a:pPr algn="ctr"/>
            <a:r>
              <a:rPr lang="zh-CN" altLang="en-US" dirty="0">
                <a:solidFill>
                  <a:srgbClr val="003153"/>
                </a:solidFill>
                <a:latin typeface="霞鹜文楷等宽 屏幕阅读版" panose="02020509000000000000" pitchFamily="49" charset="-122"/>
                <a:ea typeface="霞鹜文楷等宽 屏幕阅读版" panose="02020509000000000000" pitchFamily="49" charset="-122"/>
              </a:rPr>
              <a:t>逻辑等价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0E2E785-6C6B-C8C1-6E92-335ED4146CEB}"/>
              </a:ext>
            </a:extLst>
          </p:cNvPr>
          <p:cNvSpPr/>
          <p:nvPr/>
        </p:nvSpPr>
        <p:spPr>
          <a:xfrm>
            <a:off x="6057614" y="2931100"/>
            <a:ext cx="1186756" cy="508529"/>
          </a:xfrm>
          <a:prstGeom prst="rect">
            <a:avLst/>
          </a:prstGeom>
          <a:noFill/>
          <a:ln w="19050" cap="rnd">
            <a:solidFill>
              <a:srgbClr val="B89076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CC99"/>
                </a:solidFill>
                <a:latin typeface="霞鹜文楷等宽 屏幕阅读版" panose="02020509000000000000" pitchFamily="49" charset="-122"/>
                <a:ea typeface="霞鹜文楷等宽 屏幕阅读版" panose="02020509000000000000" pitchFamily="49" charset="-122"/>
              </a:rPr>
              <a:t>演绎定理</a:t>
            </a:r>
            <a:endParaRPr lang="el-GR" altLang="zh-CN" dirty="0">
              <a:solidFill>
                <a:srgbClr val="FFCC99"/>
              </a:solidFill>
              <a:latin typeface="霞鹜文楷等宽 屏幕阅读版" panose="02020509000000000000" pitchFamily="49" charset="-122"/>
              <a:ea typeface="霞鹜文楷等宽 屏幕阅读版" panose="02020509000000000000" pitchFamily="49" charset="-122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78875D87-687D-8CC3-DC41-65D3A9F6EE73}"/>
              </a:ext>
            </a:extLst>
          </p:cNvPr>
          <p:cNvCxnSpPr>
            <a:cxnSpLocks/>
          </p:cNvCxnSpPr>
          <p:nvPr/>
        </p:nvCxnSpPr>
        <p:spPr>
          <a:xfrm flipH="1">
            <a:off x="7333365" y="2489872"/>
            <a:ext cx="403156" cy="590"/>
          </a:xfrm>
          <a:prstGeom prst="straightConnector1">
            <a:avLst/>
          </a:prstGeom>
          <a:ln w="38100">
            <a:solidFill>
              <a:srgbClr val="B89076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F4AE9BD-9341-F996-F5C0-B3B6211DF2AA}"/>
              </a:ext>
            </a:extLst>
          </p:cNvPr>
          <p:cNvSpPr/>
          <p:nvPr/>
        </p:nvSpPr>
        <p:spPr>
          <a:xfrm>
            <a:off x="4487462" y="5408553"/>
            <a:ext cx="2666156" cy="50852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B890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3153"/>
                </a:solidFill>
                <a:latin typeface="霞鹜文楷等宽 屏幕阅读版" panose="02020509000000000000" pitchFamily="49" charset="-122"/>
                <a:ea typeface="霞鹜文楷等宽 屏幕阅读版" panose="02020509000000000000" pitchFamily="49" charset="-122"/>
              </a:rPr>
              <a:t>一阶逻辑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73479E7-DBB0-026A-3111-D9DF41C3CF2A}"/>
              </a:ext>
            </a:extLst>
          </p:cNvPr>
          <p:cNvSpPr/>
          <p:nvPr/>
        </p:nvSpPr>
        <p:spPr>
          <a:xfrm>
            <a:off x="2562891" y="3010918"/>
            <a:ext cx="1186756" cy="508529"/>
          </a:xfrm>
          <a:prstGeom prst="rect">
            <a:avLst/>
          </a:prstGeom>
          <a:noFill/>
          <a:ln w="19050" cap="rnd">
            <a:solidFill>
              <a:srgbClr val="B89076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CC99"/>
                </a:solidFill>
                <a:latin typeface="霞鹜文楷等宽 屏幕阅读版" panose="02020509000000000000" pitchFamily="49" charset="-122"/>
                <a:ea typeface="霞鹜文楷等宽 屏幕阅读版" panose="02020509000000000000" pitchFamily="49" charset="-122"/>
              </a:rPr>
              <a:t>归结</a:t>
            </a:r>
            <a:endParaRPr lang="el-GR" altLang="zh-CN" dirty="0">
              <a:solidFill>
                <a:srgbClr val="FFCC99"/>
              </a:solidFill>
              <a:latin typeface="霞鹜文楷等宽 屏幕阅读版" panose="02020509000000000000" pitchFamily="49" charset="-122"/>
              <a:ea typeface="霞鹜文楷等宽 屏幕阅读版" panose="02020509000000000000" pitchFamily="49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E8BA0D6-75E8-D849-8397-25B91AB9C444}"/>
              </a:ext>
            </a:extLst>
          </p:cNvPr>
          <p:cNvSpPr/>
          <p:nvPr/>
        </p:nvSpPr>
        <p:spPr>
          <a:xfrm>
            <a:off x="2562891" y="3778873"/>
            <a:ext cx="1186756" cy="508529"/>
          </a:xfrm>
          <a:prstGeom prst="rect">
            <a:avLst/>
          </a:prstGeom>
          <a:noFill/>
          <a:ln w="19050" cap="rnd">
            <a:solidFill>
              <a:srgbClr val="B89076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CC99"/>
                </a:solidFill>
                <a:latin typeface="霞鹜文楷等宽 屏幕阅读版" panose="02020509000000000000" pitchFamily="49" charset="-122"/>
                <a:ea typeface="霞鹜文楷等宽 屏幕阅读版" panose="02020509000000000000" pitchFamily="49" charset="-122"/>
              </a:rPr>
              <a:t>前向链</a:t>
            </a:r>
            <a:endParaRPr lang="el-GR" altLang="zh-CN" dirty="0">
              <a:solidFill>
                <a:srgbClr val="FFCC99"/>
              </a:solidFill>
              <a:latin typeface="霞鹜文楷等宽 屏幕阅读版" panose="02020509000000000000" pitchFamily="49" charset="-122"/>
              <a:ea typeface="霞鹜文楷等宽 屏幕阅读版" panose="02020509000000000000" pitchFamily="49" charset="-122"/>
            </a:endParaRPr>
          </a:p>
        </p:txBody>
      </p:sp>
      <p:sp>
        <p:nvSpPr>
          <p:cNvPr id="13" name="箭头: 下 12">
            <a:extLst>
              <a:ext uri="{FF2B5EF4-FFF2-40B4-BE49-F238E27FC236}">
                <a16:creationId xmlns:a16="http://schemas.microsoft.com/office/drawing/2014/main" id="{9C759D98-8435-5607-9C16-FD0B315DDB96}"/>
              </a:ext>
            </a:extLst>
          </p:cNvPr>
          <p:cNvSpPr/>
          <p:nvPr/>
        </p:nvSpPr>
        <p:spPr>
          <a:xfrm>
            <a:off x="5620125" y="2813687"/>
            <a:ext cx="400833" cy="718875"/>
          </a:xfrm>
          <a:prstGeom prst="downArrow">
            <a:avLst>
              <a:gd name="adj1" fmla="val 50000"/>
              <a:gd name="adj2" fmla="val 88611"/>
            </a:avLst>
          </a:prstGeom>
          <a:solidFill>
            <a:srgbClr val="FF0000"/>
          </a:solidFill>
          <a:ln>
            <a:solidFill>
              <a:srgbClr val="B890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FFCC99"/>
              </a:solidFill>
              <a:latin typeface="霞鹜文楷等宽 屏幕阅读版" panose="02020509000000000000" pitchFamily="49" charset="-122"/>
              <a:ea typeface="霞鹜文楷等宽 屏幕阅读版" panose="02020509000000000000" pitchFamily="49" charset="-122"/>
            </a:endParaRPr>
          </a:p>
        </p:txBody>
      </p:sp>
      <p:sp>
        <p:nvSpPr>
          <p:cNvPr id="14" name="箭头: 下 13">
            <a:extLst>
              <a:ext uri="{FF2B5EF4-FFF2-40B4-BE49-F238E27FC236}">
                <a16:creationId xmlns:a16="http://schemas.microsoft.com/office/drawing/2014/main" id="{E98E804E-DC42-8822-2177-3ABE5BB549C2}"/>
              </a:ext>
            </a:extLst>
          </p:cNvPr>
          <p:cNvSpPr/>
          <p:nvPr/>
        </p:nvSpPr>
        <p:spPr>
          <a:xfrm>
            <a:off x="5620124" y="4576201"/>
            <a:ext cx="400833" cy="718875"/>
          </a:xfrm>
          <a:prstGeom prst="downArrow">
            <a:avLst>
              <a:gd name="adj1" fmla="val 50000"/>
              <a:gd name="adj2" fmla="val 88611"/>
            </a:avLst>
          </a:prstGeom>
          <a:solidFill>
            <a:srgbClr val="FF0000"/>
          </a:solidFill>
          <a:ln>
            <a:solidFill>
              <a:srgbClr val="B890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FFCC99"/>
              </a:solidFill>
              <a:latin typeface="霞鹜文楷等宽 屏幕阅读版" panose="02020509000000000000" pitchFamily="49" charset="-122"/>
              <a:ea typeface="霞鹜文楷等宽 屏幕阅读版" panose="02020509000000000000" pitchFamily="49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BE2CC08-D5BE-01BA-1109-671C8F9BCA19}"/>
              </a:ext>
            </a:extLst>
          </p:cNvPr>
          <p:cNvSpPr/>
          <p:nvPr/>
        </p:nvSpPr>
        <p:spPr>
          <a:xfrm>
            <a:off x="4487462" y="718360"/>
            <a:ext cx="2666156" cy="508529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rgbClr val="B890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003153"/>
                </a:solidFill>
                <a:latin typeface="霞鹜文楷等宽 屏幕阅读版" panose="02020509000000000000" pitchFamily="49" charset="-122"/>
                <a:ea typeface="霞鹜文楷等宽 屏幕阅读版" panose="02020509000000000000" pitchFamily="49" charset="-122"/>
              </a:rPr>
              <a:t>基于人类思维的推理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B7019E3-6938-758B-0005-18203248F135}"/>
              </a:ext>
            </a:extLst>
          </p:cNvPr>
          <p:cNvSpPr/>
          <p:nvPr/>
        </p:nvSpPr>
        <p:spPr>
          <a:xfrm>
            <a:off x="2556865" y="4580304"/>
            <a:ext cx="1186756" cy="508529"/>
          </a:xfrm>
          <a:prstGeom prst="rect">
            <a:avLst/>
          </a:prstGeom>
          <a:noFill/>
          <a:ln w="19050" cap="rnd">
            <a:solidFill>
              <a:srgbClr val="B89076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CC99"/>
                </a:solidFill>
                <a:latin typeface="霞鹜文楷等宽 屏幕阅读版" panose="02020509000000000000" pitchFamily="49" charset="-122"/>
                <a:ea typeface="霞鹜文楷等宽 屏幕阅读版" panose="02020509000000000000" pitchFamily="49" charset="-122"/>
              </a:rPr>
              <a:t>反向链</a:t>
            </a:r>
            <a:endParaRPr lang="el-GR" altLang="zh-CN" dirty="0">
              <a:solidFill>
                <a:srgbClr val="FFCC99"/>
              </a:solidFill>
              <a:latin typeface="霞鹜文楷等宽 屏幕阅读版" panose="02020509000000000000" pitchFamily="49" charset="-122"/>
              <a:ea typeface="霞鹜文楷等宽 屏幕阅读版" panose="02020509000000000000" pitchFamily="49" charset="-122"/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AA371FA1-0D3F-9198-315C-AC1CA369C4E6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3743621" y="3265182"/>
            <a:ext cx="743843" cy="746728"/>
          </a:xfrm>
          <a:prstGeom prst="straightConnector1">
            <a:avLst/>
          </a:prstGeom>
          <a:ln w="38100">
            <a:solidFill>
              <a:srgbClr val="B89076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9ADDACCB-48DE-1A03-9E98-553EA9726A51}"/>
              </a:ext>
            </a:extLst>
          </p:cNvPr>
          <p:cNvCxnSpPr>
            <a:cxnSpLocks/>
          </p:cNvCxnSpPr>
          <p:nvPr/>
        </p:nvCxnSpPr>
        <p:spPr>
          <a:xfrm>
            <a:off x="3743621" y="4004445"/>
            <a:ext cx="698037" cy="0"/>
          </a:xfrm>
          <a:prstGeom prst="straightConnector1">
            <a:avLst/>
          </a:prstGeom>
          <a:ln w="38100">
            <a:solidFill>
              <a:srgbClr val="B89076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6EAF5300-0E98-804B-0EB0-2CBBDDCC80A9}"/>
              </a:ext>
            </a:extLst>
          </p:cNvPr>
          <p:cNvCxnSpPr>
            <a:cxnSpLocks/>
            <a:stCxn id="16" idx="3"/>
            <a:endCxn id="7" idx="1"/>
          </p:cNvCxnSpPr>
          <p:nvPr/>
        </p:nvCxnSpPr>
        <p:spPr>
          <a:xfrm flipV="1">
            <a:off x="3743621" y="4011910"/>
            <a:ext cx="743843" cy="822659"/>
          </a:xfrm>
          <a:prstGeom prst="straightConnector1">
            <a:avLst/>
          </a:prstGeom>
          <a:ln w="38100">
            <a:solidFill>
              <a:srgbClr val="B89076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矩形 19">
            <a:extLst>
              <a:ext uri="{FF2B5EF4-FFF2-40B4-BE49-F238E27FC236}">
                <a16:creationId xmlns:a16="http://schemas.microsoft.com/office/drawing/2014/main" id="{32D4DBA2-49E7-D218-AF8C-C058F381E5B2}"/>
              </a:ext>
            </a:extLst>
          </p:cNvPr>
          <p:cNvSpPr/>
          <p:nvPr/>
        </p:nvSpPr>
        <p:spPr>
          <a:xfrm>
            <a:off x="6057614" y="4678108"/>
            <a:ext cx="2300198" cy="508529"/>
          </a:xfrm>
          <a:prstGeom prst="rect">
            <a:avLst/>
          </a:prstGeom>
          <a:noFill/>
          <a:ln w="19050" cap="rnd">
            <a:solidFill>
              <a:srgbClr val="B89076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CC99"/>
                </a:solidFill>
                <a:latin typeface="霞鹜文楷等宽 屏幕阅读版" panose="02020509000000000000" pitchFamily="49" charset="-122"/>
                <a:ea typeface="霞鹜文楷等宽 屏幕阅读版" panose="02020509000000000000" pitchFamily="49" charset="-122"/>
              </a:rPr>
              <a:t>引入对象、关系、函数</a:t>
            </a:r>
            <a:endParaRPr lang="el-GR" altLang="zh-CN" dirty="0">
              <a:solidFill>
                <a:srgbClr val="FFCC99"/>
              </a:solidFill>
              <a:latin typeface="霞鹜文楷等宽 屏幕阅读版" panose="02020509000000000000" pitchFamily="49" charset="-122"/>
              <a:ea typeface="霞鹜文楷等宽 屏幕阅读版" panose="02020509000000000000" pitchFamily="49" charset="-122"/>
            </a:endParaRPr>
          </a:p>
        </p:txBody>
      </p:sp>
      <p:sp>
        <p:nvSpPr>
          <p:cNvPr id="21" name="箭头: 下 20">
            <a:extLst>
              <a:ext uri="{FF2B5EF4-FFF2-40B4-BE49-F238E27FC236}">
                <a16:creationId xmlns:a16="http://schemas.microsoft.com/office/drawing/2014/main" id="{70205347-338B-624F-F886-BAE6E3026879}"/>
              </a:ext>
            </a:extLst>
          </p:cNvPr>
          <p:cNvSpPr/>
          <p:nvPr/>
        </p:nvSpPr>
        <p:spPr>
          <a:xfrm>
            <a:off x="5608221" y="1326939"/>
            <a:ext cx="400833" cy="718875"/>
          </a:xfrm>
          <a:prstGeom prst="downArrow">
            <a:avLst>
              <a:gd name="adj1" fmla="val 50000"/>
              <a:gd name="adj2" fmla="val 88611"/>
            </a:avLst>
          </a:prstGeom>
          <a:solidFill>
            <a:srgbClr val="FF0000"/>
          </a:solidFill>
          <a:ln>
            <a:solidFill>
              <a:srgbClr val="B8907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FFCC99"/>
              </a:solidFill>
              <a:latin typeface="霞鹜文楷等宽 屏幕阅读版" panose="02020509000000000000" pitchFamily="49" charset="-122"/>
              <a:ea typeface="霞鹜文楷等宽 屏幕阅读版" panose="02020509000000000000" pitchFamily="49" charset="-122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3B3C412-8EBB-15D1-A818-C7322F465181}"/>
              </a:ext>
            </a:extLst>
          </p:cNvPr>
          <p:cNvSpPr/>
          <p:nvPr/>
        </p:nvSpPr>
        <p:spPr>
          <a:xfrm>
            <a:off x="2556865" y="1914430"/>
            <a:ext cx="1186756" cy="853989"/>
          </a:xfrm>
          <a:prstGeom prst="rect">
            <a:avLst/>
          </a:prstGeom>
          <a:noFill/>
          <a:ln w="19050" cap="rnd">
            <a:solidFill>
              <a:srgbClr val="B89076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CC99"/>
                </a:solidFill>
                <a:latin typeface="霞鹜文楷等宽 屏幕阅读版" panose="02020509000000000000" pitchFamily="49" charset="-122"/>
                <a:ea typeface="霞鹜文楷等宽 屏幕阅读版" panose="02020509000000000000" pitchFamily="49" charset="-122"/>
              </a:rPr>
              <a:t>模型检验</a:t>
            </a:r>
            <a:endParaRPr lang="en-US" altLang="zh-CN" dirty="0">
              <a:solidFill>
                <a:srgbClr val="FFCC99"/>
              </a:solidFill>
              <a:latin typeface="霞鹜文楷等宽 屏幕阅读版" panose="02020509000000000000" pitchFamily="49" charset="-122"/>
              <a:ea typeface="霞鹜文楷等宽 屏幕阅读版" panose="02020509000000000000" pitchFamily="49" charset="-122"/>
            </a:endParaRPr>
          </a:p>
          <a:p>
            <a:pPr algn="ctr"/>
            <a:r>
              <a:rPr lang="zh-CN" altLang="en-US" dirty="0">
                <a:solidFill>
                  <a:srgbClr val="FFCC99"/>
                </a:solidFill>
                <a:latin typeface="霞鹜文楷等宽 屏幕阅读版" panose="02020509000000000000" pitchFamily="49" charset="-122"/>
                <a:ea typeface="霞鹜文楷等宽 屏幕阅读版" panose="02020509000000000000" pitchFamily="49" charset="-122"/>
              </a:rPr>
              <a:t>集合包含</a:t>
            </a:r>
            <a:endParaRPr lang="el-GR" altLang="zh-CN" dirty="0">
              <a:solidFill>
                <a:srgbClr val="FFCC99"/>
              </a:solidFill>
              <a:latin typeface="霞鹜文楷等宽 屏幕阅读版" panose="02020509000000000000" pitchFamily="49" charset="-122"/>
              <a:ea typeface="霞鹜文楷等宽 屏幕阅读版" panose="02020509000000000000" pitchFamily="49" charset="-122"/>
            </a:endParaRPr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F6BE036A-1960-39C9-EC69-582499215618}"/>
              </a:ext>
            </a:extLst>
          </p:cNvPr>
          <p:cNvCxnSpPr>
            <a:cxnSpLocks/>
          </p:cNvCxnSpPr>
          <p:nvPr/>
        </p:nvCxnSpPr>
        <p:spPr>
          <a:xfrm flipH="1">
            <a:off x="3715134" y="2423443"/>
            <a:ext cx="726524" cy="0"/>
          </a:xfrm>
          <a:prstGeom prst="straightConnector1">
            <a:avLst/>
          </a:prstGeom>
          <a:ln w="38100">
            <a:solidFill>
              <a:srgbClr val="B89076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A6768DC5-B121-1F52-4791-F2AD436543D3}"/>
              </a:ext>
            </a:extLst>
          </p:cNvPr>
          <p:cNvCxnSpPr>
            <a:cxnSpLocks/>
          </p:cNvCxnSpPr>
          <p:nvPr/>
        </p:nvCxnSpPr>
        <p:spPr>
          <a:xfrm>
            <a:off x="3789425" y="5648188"/>
            <a:ext cx="698037" cy="0"/>
          </a:xfrm>
          <a:prstGeom prst="straightConnector1">
            <a:avLst/>
          </a:prstGeom>
          <a:ln w="38100">
            <a:solidFill>
              <a:srgbClr val="B89076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5" name="矩形 24">
            <a:extLst>
              <a:ext uri="{FF2B5EF4-FFF2-40B4-BE49-F238E27FC236}">
                <a16:creationId xmlns:a16="http://schemas.microsoft.com/office/drawing/2014/main" id="{3815A72B-3DFC-4F4B-861C-F8F53BE42577}"/>
              </a:ext>
            </a:extLst>
          </p:cNvPr>
          <p:cNvSpPr/>
          <p:nvPr/>
        </p:nvSpPr>
        <p:spPr>
          <a:xfrm>
            <a:off x="2011679" y="5351399"/>
            <a:ext cx="1798393" cy="938279"/>
          </a:xfrm>
          <a:prstGeom prst="rect">
            <a:avLst/>
          </a:prstGeom>
          <a:noFill/>
          <a:ln w="19050" cap="rnd">
            <a:solidFill>
              <a:srgbClr val="B89076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rgbClr val="FFCC99"/>
                </a:solidFill>
                <a:latin typeface="霞鹜文楷等宽 屏幕阅读版" panose="02020509000000000000" pitchFamily="49" charset="-122"/>
                <a:ea typeface="霞鹜文楷等宽 屏幕阅读版" panose="02020509000000000000" pitchFamily="49" charset="-122"/>
              </a:rPr>
              <a:t>一阶逻辑的推理</a:t>
            </a:r>
            <a:endParaRPr lang="el-GR" altLang="zh-CN" sz="2400" dirty="0">
              <a:solidFill>
                <a:srgbClr val="FFCC99"/>
              </a:solidFill>
              <a:latin typeface="霞鹜文楷等宽 屏幕阅读版" panose="02020509000000000000" pitchFamily="49" charset="-122"/>
              <a:ea typeface="霞鹜文楷等宽 屏幕阅读版" panose="02020509000000000000" pitchFamily="49" charset="-122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E02945B-A295-B951-584E-9675EB8B3613}"/>
              </a:ext>
            </a:extLst>
          </p:cNvPr>
          <p:cNvSpPr/>
          <p:nvPr/>
        </p:nvSpPr>
        <p:spPr>
          <a:xfrm>
            <a:off x="7931086" y="3354648"/>
            <a:ext cx="1186756" cy="508529"/>
          </a:xfrm>
          <a:prstGeom prst="rect">
            <a:avLst/>
          </a:prstGeom>
          <a:noFill/>
          <a:ln w="19050" cap="rnd">
            <a:solidFill>
              <a:srgbClr val="B89076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CC99"/>
                </a:solidFill>
                <a:latin typeface="霞鹜文楷等宽 屏幕阅读版" panose="02020509000000000000" pitchFamily="49" charset="-122"/>
                <a:ea typeface="霞鹜文楷等宽 屏幕阅读版" panose="02020509000000000000" pitchFamily="49" charset="-122"/>
              </a:rPr>
              <a:t>真值枚举</a:t>
            </a:r>
            <a:endParaRPr lang="en-US" altLang="zh-CN" dirty="0">
              <a:solidFill>
                <a:srgbClr val="FFCC99"/>
              </a:solidFill>
              <a:latin typeface="霞鹜文楷等宽 屏幕阅读版" panose="02020509000000000000" pitchFamily="49" charset="-122"/>
              <a:ea typeface="霞鹜文楷等宽 屏幕阅读版" panose="02020509000000000000" pitchFamily="49" charset="-122"/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16BEEB4B-4ECD-83A6-615B-6E69AD5DC8C9}"/>
              </a:ext>
            </a:extLst>
          </p:cNvPr>
          <p:cNvCxnSpPr>
            <a:cxnSpLocks/>
            <a:stCxn id="26" idx="1"/>
            <a:endCxn id="7" idx="3"/>
          </p:cNvCxnSpPr>
          <p:nvPr/>
        </p:nvCxnSpPr>
        <p:spPr>
          <a:xfrm flipH="1">
            <a:off x="7153620" y="3608913"/>
            <a:ext cx="777466" cy="402997"/>
          </a:xfrm>
          <a:prstGeom prst="straightConnector1">
            <a:avLst/>
          </a:prstGeom>
          <a:ln w="38100">
            <a:solidFill>
              <a:srgbClr val="B89076"/>
            </a:solidFill>
            <a:headEnd type="triangle"/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1FFA8298-9EFD-A17B-FF07-180D7D8F1AD1}"/>
              </a:ext>
            </a:extLst>
          </p:cNvPr>
          <p:cNvSpPr/>
          <p:nvPr/>
        </p:nvSpPr>
        <p:spPr>
          <a:xfrm>
            <a:off x="7948378" y="4069661"/>
            <a:ext cx="1186756" cy="508529"/>
          </a:xfrm>
          <a:prstGeom prst="rect">
            <a:avLst/>
          </a:prstGeom>
          <a:noFill/>
          <a:ln w="19050" cap="rnd">
            <a:solidFill>
              <a:srgbClr val="B89076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CC99"/>
                </a:solidFill>
                <a:latin typeface="霞鹜文楷等宽 屏幕阅读版" panose="02020509000000000000" pitchFamily="49" charset="-122"/>
                <a:ea typeface="霞鹜文楷等宽 屏幕阅读版" panose="02020509000000000000" pitchFamily="49" charset="-122"/>
              </a:rPr>
              <a:t>推理规则</a:t>
            </a:r>
            <a:endParaRPr lang="en-US" altLang="zh-CN" dirty="0">
              <a:solidFill>
                <a:srgbClr val="FFCC99"/>
              </a:solidFill>
              <a:latin typeface="霞鹜文楷等宽 屏幕阅读版" panose="02020509000000000000" pitchFamily="49" charset="-122"/>
              <a:ea typeface="霞鹜文楷等宽 屏幕阅读版" panose="02020509000000000000" pitchFamily="49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330E337-E639-E2D0-8AF7-F2CD60AA43CE}"/>
              </a:ext>
            </a:extLst>
          </p:cNvPr>
          <p:cNvSpPr/>
          <p:nvPr/>
        </p:nvSpPr>
        <p:spPr>
          <a:xfrm>
            <a:off x="6124289" y="1418226"/>
            <a:ext cx="1186756" cy="508529"/>
          </a:xfrm>
          <a:prstGeom prst="rect">
            <a:avLst/>
          </a:prstGeom>
          <a:noFill/>
          <a:ln w="19050" cap="rnd">
            <a:solidFill>
              <a:srgbClr val="B89076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CC99"/>
                </a:solidFill>
                <a:latin typeface="霞鹜文楷等宽 屏幕阅读版" panose="02020509000000000000" pitchFamily="49" charset="-122"/>
                <a:ea typeface="霞鹜文楷等宽 屏幕阅读版" panose="02020509000000000000" pitchFamily="49" charset="-122"/>
              </a:rPr>
              <a:t>模型</a:t>
            </a:r>
            <a:endParaRPr lang="en-US" altLang="zh-CN" dirty="0">
              <a:solidFill>
                <a:srgbClr val="FFCC99"/>
              </a:solidFill>
              <a:latin typeface="霞鹜文楷等宽 屏幕阅读版" panose="02020509000000000000" pitchFamily="49" charset="-122"/>
              <a:ea typeface="霞鹜文楷等宽 屏幕阅读版" panose="02020509000000000000" pitchFamily="49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7C3014D-55DC-1245-DAEB-6DEFCA57C521}"/>
              </a:ext>
            </a:extLst>
          </p:cNvPr>
          <p:cNvSpPr/>
          <p:nvPr/>
        </p:nvSpPr>
        <p:spPr>
          <a:xfrm>
            <a:off x="4209276" y="2971171"/>
            <a:ext cx="1186756" cy="508529"/>
          </a:xfrm>
          <a:prstGeom prst="rect">
            <a:avLst/>
          </a:prstGeom>
          <a:noFill/>
          <a:ln w="19050" cap="rnd">
            <a:solidFill>
              <a:srgbClr val="B89076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rgbClr val="FFCC99"/>
                </a:solidFill>
                <a:latin typeface="霞鹜文楷等宽 屏幕阅读版" panose="02020509000000000000" pitchFamily="49" charset="-122"/>
                <a:ea typeface="霞鹜文楷等宽 屏幕阅读版" panose="02020509000000000000" pitchFamily="49" charset="-122"/>
              </a:rPr>
              <a:t>区别？</a:t>
            </a:r>
            <a:endParaRPr lang="en-US" altLang="zh-CN" dirty="0">
              <a:solidFill>
                <a:srgbClr val="FFCC99"/>
              </a:solidFill>
              <a:latin typeface="霞鹜文楷等宽 屏幕阅读版" panose="02020509000000000000" pitchFamily="49" charset="-122"/>
              <a:ea typeface="霞鹜文楷等宽 屏幕阅读版" panose="02020509000000000000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77373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0" grpId="0" animBg="1"/>
      <p:bldP spid="21" grpId="0" animBg="1"/>
      <p:bldP spid="22" grpId="0" animBg="1"/>
      <p:bldP spid="25" grpId="0" animBg="1"/>
      <p:bldP spid="26" grpId="0" animBg="1"/>
      <p:bldP spid="28" grpId="0" animBg="1"/>
      <p:bldP spid="29" grpId="0" animBg="1"/>
      <p:bldP spid="30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1A252E-8B02-39A5-C27C-72DB5E5ED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5400" b="1" dirty="0">
                <a:latin typeface="方正小标宋简体" panose="02010601030101010101" pitchFamily="2" charset="-122"/>
                <a:ea typeface="方正小标宋简体" panose="02010601030101010101" pitchFamily="2" charset="-122"/>
              </a:rPr>
              <a:t>授课完毕，谢谢</a:t>
            </a: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C97ED21F-F411-BAEF-F40B-C999905ACD1C}"/>
              </a:ext>
            </a:extLst>
          </p:cNvPr>
          <p:cNvSpPr/>
          <p:nvPr/>
        </p:nvSpPr>
        <p:spPr>
          <a:xfrm>
            <a:off x="-1" y="0"/>
            <a:ext cx="6528392" cy="728071"/>
          </a:xfrm>
          <a:prstGeom prst="homePlate">
            <a:avLst/>
          </a:prstGeom>
          <a:solidFill>
            <a:srgbClr val="B890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dirty="0">
                <a:solidFill>
                  <a:srgbClr val="00324D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研究生课程</a:t>
            </a:r>
            <a:r>
              <a:rPr lang="en-US" altLang="zh-CN" sz="3600" dirty="0">
                <a:solidFill>
                  <a:srgbClr val="00324D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《</a:t>
            </a:r>
            <a:r>
              <a:rPr lang="zh-CN" altLang="en-US" sz="3600" dirty="0">
                <a:solidFill>
                  <a:srgbClr val="00324D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人工智能</a:t>
            </a:r>
            <a:r>
              <a:rPr lang="en-US" altLang="zh-CN" sz="3600" dirty="0">
                <a:solidFill>
                  <a:srgbClr val="00324D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》</a:t>
            </a:r>
            <a:endParaRPr lang="zh-CN" altLang="en-US" sz="3600" dirty="0">
              <a:solidFill>
                <a:srgbClr val="00324D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00243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49550</TotalTime>
  <Words>4354</Words>
  <Application>Microsoft Office PowerPoint</Application>
  <PresentationFormat>宽屏</PresentationFormat>
  <Paragraphs>434</Paragraphs>
  <Slides>43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58" baseType="lpstr">
      <vt:lpstr>Aa花间辞楷书 (非商业使用)</vt:lpstr>
      <vt:lpstr>等线</vt:lpstr>
      <vt:lpstr>方正粗黑宋简体</vt:lpstr>
      <vt:lpstr>方正屏显雅宋简体</vt:lpstr>
      <vt:lpstr>方正小标宋简体</vt:lpstr>
      <vt:lpstr>楷体</vt:lpstr>
      <vt:lpstr>隶书</vt:lpstr>
      <vt:lpstr>霞鹜文楷等宽 Medium</vt:lpstr>
      <vt:lpstr>霞鹜文楷等宽 屏幕阅读版</vt:lpstr>
      <vt:lpstr>香萃等粗宋</vt:lpstr>
      <vt:lpstr>Arial</vt:lpstr>
      <vt:lpstr>Cambria Math</vt:lpstr>
      <vt:lpstr>Symbol</vt:lpstr>
      <vt:lpstr>Times New Roman</vt:lpstr>
      <vt:lpstr>Office 主题​​</vt:lpstr>
      <vt:lpstr>第8章 一阶逻辑</vt:lpstr>
      <vt:lpstr>引子</vt:lpstr>
      <vt:lpstr>引子</vt:lpstr>
      <vt:lpstr>主要内容</vt:lpstr>
      <vt:lpstr>8.1 为什么引入一阶逻辑？</vt:lpstr>
      <vt:lpstr>8.1 为什么引入一阶逻辑？</vt:lpstr>
      <vt:lpstr>8.2 一阶逻辑的语义和语法</vt:lpstr>
      <vt:lpstr>8.2 一阶逻辑的语义和语法</vt:lpstr>
      <vt:lpstr>8.2 一阶逻辑的语义和语法</vt:lpstr>
      <vt:lpstr>8.2 一阶逻辑的语义和语法</vt:lpstr>
      <vt:lpstr>8.2 一阶逻辑的语义和语法</vt:lpstr>
      <vt:lpstr>8.2 一阶逻辑的语义和语法</vt:lpstr>
      <vt:lpstr>8.2 一阶逻辑的语义和语法</vt:lpstr>
      <vt:lpstr>8.2 一阶逻辑的语义和语法</vt:lpstr>
      <vt:lpstr>8.2 一阶逻辑的语义和语法</vt:lpstr>
      <vt:lpstr>8.2 一阶逻辑的语义和语法</vt:lpstr>
      <vt:lpstr>8.2 一阶逻辑的语义和语法</vt:lpstr>
      <vt:lpstr>8.2 一阶逻辑的语义和语法</vt:lpstr>
      <vt:lpstr>8.2 一阶逻辑的语义和语法</vt:lpstr>
      <vt:lpstr>8.2 一阶逻辑的语义和语法</vt:lpstr>
      <vt:lpstr>8.3 一阶逻辑的应用</vt:lpstr>
      <vt:lpstr>8.3 一阶逻辑的应用</vt:lpstr>
      <vt:lpstr>8.3 一阶逻辑的应用</vt:lpstr>
      <vt:lpstr>8.3 一阶逻辑的应用</vt:lpstr>
      <vt:lpstr>8.3 一阶逻辑的应用</vt:lpstr>
      <vt:lpstr>8.3 一阶逻辑的应用</vt:lpstr>
      <vt:lpstr>8.3 一阶逻辑的应用</vt:lpstr>
      <vt:lpstr>8.3 一阶逻辑的应用</vt:lpstr>
      <vt:lpstr>8.3 一阶逻辑的应用</vt:lpstr>
      <vt:lpstr>8.3 一阶逻辑的应用</vt:lpstr>
      <vt:lpstr>8.3 一阶逻辑的应用</vt:lpstr>
      <vt:lpstr>8.3 一阶逻辑的应用</vt:lpstr>
      <vt:lpstr>8.4 知识工程与本体论 - 实例：航母舰载机调度Agent（简化）</vt:lpstr>
      <vt:lpstr>8.4 知识工程与本体论 - 实例：航母舰载机调度Agent（简化）</vt:lpstr>
      <vt:lpstr>8.4 知识工程与本体论 - 实例：航母舰载机调度Agent（简化）</vt:lpstr>
      <vt:lpstr>8.4 知识工程与本体论 - 实例：航母舰载机调度Agent（简化）</vt:lpstr>
      <vt:lpstr>8.4 知识工程与本体论 - 实例：航母舰载机调度Agent（简化）</vt:lpstr>
      <vt:lpstr>8.4 知识工程与本体论 - 实例：航母舰载机调度Agent（简化）</vt:lpstr>
      <vt:lpstr>8.4 知识工程与本体论 - 实例：航母舰载机调度Agent（简化）</vt:lpstr>
      <vt:lpstr>8.4 知识工程与本体论 - 实例：航母舰载机调度Agent（简化）</vt:lpstr>
      <vt:lpstr>一阶逻辑小结</vt:lpstr>
      <vt:lpstr>一阶逻辑小结</vt:lpstr>
      <vt:lpstr>授课完毕，谢谢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ppmoon0916@outlook.com</dc:creator>
  <cp:lastModifiedBy>Donkey_Punch</cp:lastModifiedBy>
  <cp:revision>372</cp:revision>
  <dcterms:created xsi:type="dcterms:W3CDTF">2024-04-10T12:13:52Z</dcterms:created>
  <dcterms:modified xsi:type="dcterms:W3CDTF">2025-11-26T12:16:19Z</dcterms:modified>
</cp:coreProperties>
</file>