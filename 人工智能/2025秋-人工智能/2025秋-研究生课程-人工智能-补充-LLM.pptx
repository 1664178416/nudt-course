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1" r:id="rId1"/>
  </p:sldMasterIdLst>
  <p:notesMasterIdLst>
    <p:notesMasterId r:id="rId6"/>
  </p:notesMasterIdLst>
  <p:sldIdLst>
    <p:sldId id="509" r:id="rId2"/>
    <p:sldId id="511" r:id="rId3"/>
    <p:sldId id="510" r:id="rId4"/>
    <p:sldId id="361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E6E6"/>
    <a:srgbClr val="3B7552"/>
    <a:srgbClr val="69B3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319" autoAdjust="0"/>
    <p:restoredTop sz="84253" autoAdjust="0"/>
  </p:normalViewPr>
  <p:slideViewPr>
    <p:cSldViewPr snapToGrid="0">
      <p:cViewPr varScale="1">
        <p:scale>
          <a:sx n="93" d="100"/>
          <a:sy n="93" d="100"/>
        </p:scale>
        <p:origin x="1716" y="8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68" d="100"/>
          <a:sy n="68" d="100"/>
        </p:scale>
        <p:origin x="2491" y="35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B77E8A-A707-4AB2-A6C6-7403BA539394}" type="datetimeFigureOut">
              <a:rPr lang="zh-CN" altLang="en-US" smtClean="0"/>
              <a:t>2026/1/10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0C158-2C89-4985-B649-E7349DF127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43344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C0C158-2C89-4985-B649-E7349DF127C6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19847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EED4288C-4258-4C22-A66E-FA16DCF9D2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8108"/>
            <a:ext cx="8319735" cy="3441302"/>
          </a:xfrm>
          <a:custGeom>
            <a:avLst/>
            <a:gdLst>
              <a:gd name="connsiteX0" fmla="*/ 0 w 8413003"/>
              <a:gd name="connsiteY0" fmla="*/ 0 h 3441302"/>
              <a:gd name="connsiteX1" fmla="*/ 7839441 w 8413003"/>
              <a:gd name="connsiteY1" fmla="*/ 0 h 3441302"/>
              <a:gd name="connsiteX2" fmla="*/ 8413003 w 8413003"/>
              <a:gd name="connsiteY2" fmla="*/ 573562 h 3441302"/>
              <a:gd name="connsiteX3" fmla="*/ 8413003 w 8413003"/>
              <a:gd name="connsiteY3" fmla="*/ 2867740 h 3441302"/>
              <a:gd name="connsiteX4" fmla="*/ 7839441 w 8413003"/>
              <a:gd name="connsiteY4" fmla="*/ 3441302 h 3441302"/>
              <a:gd name="connsiteX5" fmla="*/ 0 w 8413003"/>
              <a:gd name="connsiteY5" fmla="*/ 3441302 h 3441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413003" h="3441302">
                <a:moveTo>
                  <a:pt x="0" y="0"/>
                </a:moveTo>
                <a:lnTo>
                  <a:pt x="7839441" y="0"/>
                </a:lnTo>
                <a:cubicBezTo>
                  <a:pt x="8156211" y="0"/>
                  <a:pt x="8413003" y="256792"/>
                  <a:pt x="8413003" y="573562"/>
                </a:cubicBezTo>
                <a:lnTo>
                  <a:pt x="8413003" y="2867740"/>
                </a:lnTo>
                <a:cubicBezTo>
                  <a:pt x="8413003" y="3184510"/>
                  <a:pt x="8156211" y="3441302"/>
                  <a:pt x="7839441" y="3441302"/>
                </a:cubicBezTo>
                <a:lnTo>
                  <a:pt x="0" y="3441302"/>
                </a:lnTo>
                <a:close/>
              </a:path>
            </a:pathLst>
          </a:custGeom>
          <a:ln w="19050"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4315760"/>
            <a:ext cx="6858000" cy="827775"/>
          </a:xfrm>
          <a:solidFill>
            <a:schemeClr val="bg2"/>
          </a:solidFill>
        </p:spPr>
        <p:txBody>
          <a:bodyPr anchor="b">
            <a:noAutofit/>
          </a:bodyPr>
          <a:lstStyle>
            <a:lvl1pPr algn="ctr">
              <a:defRPr sz="4000">
                <a:latin typeface="方正屏显雅宋简体" panose="02010600010101010101" pitchFamily="2" charset="-122"/>
                <a:ea typeface="方正屏显雅宋简体" panose="02010600010101010101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5176484"/>
            <a:ext cx="6858000" cy="1113971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zh-CN" altLang="en-US" dirty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FE596-35CF-4558-A980-483C7A980144}" type="datetimeFigureOut">
              <a:rPr lang="zh-CN" altLang="en-US" smtClean="0"/>
              <a:t>2026/1/10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1FEC4-1FA1-480B-A396-F3B074CB2BD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箭头: 五边形 7">
            <a:extLst>
              <a:ext uri="{FF2B5EF4-FFF2-40B4-BE49-F238E27FC236}">
                <a16:creationId xmlns:a16="http://schemas.microsoft.com/office/drawing/2014/main" id="{1DBA254F-78C6-4465-9AB1-0965A644493F}"/>
              </a:ext>
            </a:extLst>
          </p:cNvPr>
          <p:cNvSpPr/>
          <p:nvPr userDrawn="1"/>
        </p:nvSpPr>
        <p:spPr>
          <a:xfrm>
            <a:off x="1" y="361757"/>
            <a:ext cx="8182465" cy="623344"/>
          </a:xfrm>
          <a:prstGeom prst="homePlate">
            <a:avLst/>
          </a:prstGeom>
          <a:solidFill>
            <a:srgbClr val="C00000"/>
          </a:solidFill>
        </p:spPr>
        <p:txBody>
          <a:bodyPr wrap="square" lIns="144000" rIns="180000" anchor="ctr">
            <a:noAutofit/>
          </a:bodyPr>
          <a:lstStyle/>
          <a:p>
            <a:pPr marL="0" marR="0" lvl="0" indent="0" algn="di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粗黑宋简体" panose="02000000000000000000" pitchFamily="2" charset="-122"/>
                <a:ea typeface="方正粗黑宋简体" panose="02000000000000000000" pitchFamily="2" charset="-122"/>
                <a:cs typeface="+mn-cs"/>
              </a:rPr>
              <a:t>2023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粗黑宋简体" panose="02000000000000000000" pitchFamily="2" charset="-122"/>
                <a:ea typeface="方正粗黑宋简体" panose="02000000000000000000" pitchFamily="2" charset="-122"/>
                <a:cs typeface="+mn-cs"/>
              </a:rPr>
              <a:t>年秋季学期研究生课程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粗黑宋简体" panose="02000000000000000000" pitchFamily="2" charset="-122"/>
                <a:ea typeface="方正粗黑宋简体" panose="02000000000000000000" pitchFamily="2" charset="-122"/>
                <a:cs typeface="+mn-cs"/>
              </a:rPr>
              <a:t>——Artificial Intelligence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方正粗黑宋简体" panose="02000000000000000000" pitchFamily="2" charset="-122"/>
              <a:ea typeface="方正粗黑宋简体" panose="02000000000000000000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484670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图片 49">
            <a:extLst>
              <a:ext uri="{FF2B5EF4-FFF2-40B4-BE49-F238E27FC236}">
                <a16:creationId xmlns:a16="http://schemas.microsoft.com/office/drawing/2014/main" id="{6D75C877-5836-4709-A27D-84E803215F2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16" t="60" r="11775"/>
          <a:stretch/>
        </p:blipFill>
        <p:spPr>
          <a:xfrm>
            <a:off x="0" y="-6291"/>
            <a:ext cx="6115957" cy="6874682"/>
          </a:xfrm>
          <a:custGeom>
            <a:avLst/>
            <a:gdLst>
              <a:gd name="connsiteX0" fmla="*/ 6115957 w 6115957"/>
              <a:gd name="connsiteY0" fmla="*/ 0 h 6874682"/>
              <a:gd name="connsiteX1" fmla="*/ 6087443 w 6115957"/>
              <a:gd name="connsiteY1" fmla="*/ 148850 h 6874682"/>
              <a:gd name="connsiteX2" fmla="*/ 4298524 w 6115957"/>
              <a:gd name="connsiteY2" fmla="*/ 6866216 h 6874682"/>
              <a:gd name="connsiteX3" fmla="*/ 0 w 6115957"/>
              <a:gd name="connsiteY3" fmla="*/ 6874682 h 6874682"/>
              <a:gd name="connsiteX4" fmla="*/ 0 w 6115957"/>
              <a:gd name="connsiteY4" fmla="*/ 8312 h 6874682"/>
              <a:gd name="connsiteX5" fmla="*/ 7263 w 6115957"/>
              <a:gd name="connsiteY5" fmla="*/ 8282 h 68746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15957" h="6874682">
                <a:moveTo>
                  <a:pt x="6115957" y="0"/>
                </a:moveTo>
                <a:lnTo>
                  <a:pt x="6087443" y="148850"/>
                </a:lnTo>
                <a:lnTo>
                  <a:pt x="4298524" y="6866216"/>
                </a:lnTo>
                <a:lnTo>
                  <a:pt x="0" y="6874682"/>
                </a:lnTo>
                <a:lnTo>
                  <a:pt x="0" y="8312"/>
                </a:lnTo>
                <a:lnTo>
                  <a:pt x="7263" y="8282"/>
                </a:lnTo>
                <a:close/>
              </a:path>
            </a:pathLst>
          </a:custGeom>
        </p:spPr>
      </p:pic>
      <p:grpSp>
        <p:nvGrpSpPr>
          <p:cNvPr id="21" name="组合 20"/>
          <p:cNvGrpSpPr/>
          <p:nvPr userDrawn="1"/>
        </p:nvGrpSpPr>
        <p:grpSpPr bwMode="auto">
          <a:xfrm>
            <a:off x="6660225" y="405468"/>
            <a:ext cx="1994921" cy="1650921"/>
            <a:chOff x="6444208" y="260648"/>
            <a:chExt cx="2440498" cy="2019854"/>
          </a:xfrm>
        </p:grpSpPr>
        <p:sp>
          <p:nvSpPr>
            <p:cNvPr id="22" name="Freeform 5"/>
            <p:cNvSpPr/>
            <p:nvPr/>
          </p:nvSpPr>
          <p:spPr bwMode="auto">
            <a:xfrm>
              <a:off x="6444208" y="260648"/>
              <a:ext cx="2212496" cy="1960914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 w="15875">
              <a:gradFill flip="none" rotWithShape="1">
                <a:gsLst>
                  <a:gs pos="0">
                    <a:schemeClr val="bg1">
                      <a:lumMod val="65000"/>
                    </a:schemeClr>
                  </a:gs>
                  <a:gs pos="100000">
                    <a:schemeClr val="bg1"/>
                  </a:gs>
                </a:gsLst>
                <a:lin ang="2700000" scaled="1"/>
                <a:tileRect/>
              </a:gradFill>
            </a:ln>
            <a:effectLst>
              <a:innerShdw blurRad="114300">
                <a:prstClr val="black"/>
              </a:innerShdw>
            </a:effectLst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5A9E"/>
                </a:solidFill>
                <a:effectLst/>
                <a:uLnTx/>
                <a:uFillTx/>
                <a:latin typeface="Calibri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23" name="Freeform 5"/>
            <p:cNvSpPr/>
            <p:nvPr/>
          </p:nvSpPr>
          <p:spPr bwMode="auto">
            <a:xfrm>
              <a:off x="6672207" y="319587"/>
              <a:ext cx="2212499" cy="1960915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gradFill flip="none" rotWithShape="1">
              <a:gsLst>
                <a:gs pos="100000">
                  <a:schemeClr val="bg1">
                    <a:lumMod val="61000"/>
                    <a:lumOff val="39000"/>
                  </a:schemeClr>
                </a:gs>
                <a:gs pos="0">
                  <a:schemeClr val="bg1">
                    <a:lumMod val="85000"/>
                  </a:schemeClr>
                </a:gs>
              </a:gsLst>
              <a:lin ang="2700000" scaled="1"/>
              <a:tileRect/>
            </a:gra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>
              <a:outerShdw blurRad="266700" dist="203200" dir="6780000" algn="tl" rotWithShape="0">
                <a:prstClr val="black">
                  <a:alpha val="40000"/>
                </a:prstClr>
              </a:outerShdw>
            </a:effectLst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5A9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24" name="矩形 23"/>
            <p:cNvSpPr>
              <a:spLocks noChangeArrowheads="1"/>
            </p:cNvSpPr>
            <p:nvPr/>
          </p:nvSpPr>
          <p:spPr bwMode="auto">
            <a:xfrm>
              <a:off x="6926338" y="744675"/>
              <a:ext cx="1638756" cy="7905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18" tIns="45709" rIns="91418" bIns="45709">
              <a:spAutoFit/>
            </a:bodyPr>
            <a:lstStyle>
              <a:lvl1pPr defTabSz="9334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marL="742950" indent="-285750" defTabSz="9334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2pPr>
              <a:lvl3pPr marL="1143000" indent="-228600" defTabSz="9334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3pPr>
              <a:lvl4pPr marL="1600200" indent="-228600" defTabSz="9334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4pPr>
              <a:lvl5pPr marL="2057400" indent="-228600" defTabSz="9334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5pPr>
              <a:lvl6pPr marL="2514600" indent="-228600" defTabSz="93345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6pPr>
              <a:lvl7pPr marL="2971800" indent="-228600" defTabSz="93345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7pPr>
              <a:lvl8pPr marL="3429000" indent="-228600" defTabSz="93345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8pPr>
              <a:lvl9pPr marL="3886200" indent="-228600" defTabSz="93345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ctr" defTabSz="93326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3599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方正粗宋简体" panose="03000509000000000000" pitchFamily="65" charset="-122"/>
                  <a:ea typeface="方正粗宋简体" panose="03000509000000000000" pitchFamily="65" charset="-122"/>
                  <a:cs typeface="+mn-cs"/>
                  <a:sym typeface="+mn-lt"/>
                </a:rPr>
                <a:t>内 容</a:t>
              </a:r>
            </a:p>
          </p:txBody>
        </p:sp>
        <p:sp>
          <p:nvSpPr>
            <p:cNvPr id="25" name="Rectangle 4"/>
            <p:cNvSpPr txBox="1">
              <a:spLocks noChangeArrowheads="1"/>
            </p:cNvSpPr>
            <p:nvPr/>
          </p:nvSpPr>
          <p:spPr bwMode="auto">
            <a:xfrm>
              <a:off x="7005690" y="1497582"/>
              <a:ext cx="1480053" cy="3809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54" tIns="34277" rIns="68554" bIns="34277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ctr" defTabSz="9142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lt"/>
                </a:rPr>
                <a:t>CONTENTS</a:t>
              </a: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</p:grpSp>
      <p:sp>
        <p:nvSpPr>
          <p:cNvPr id="51" name="矩形 45">
            <a:extLst>
              <a:ext uri="{FF2B5EF4-FFF2-40B4-BE49-F238E27FC236}">
                <a16:creationId xmlns:a16="http://schemas.microsoft.com/office/drawing/2014/main" id="{C775D4D4-0C49-42E5-B836-3210DB61DD2D}"/>
              </a:ext>
            </a:extLst>
          </p:cNvPr>
          <p:cNvSpPr/>
          <p:nvPr userDrawn="1"/>
        </p:nvSpPr>
        <p:spPr>
          <a:xfrm>
            <a:off x="19437" y="-8370"/>
            <a:ext cx="6106696" cy="6866370"/>
          </a:xfrm>
          <a:custGeom>
            <a:avLst/>
            <a:gdLst>
              <a:gd name="connsiteX0" fmla="*/ 0 w 5684440"/>
              <a:gd name="connsiteY0" fmla="*/ 0 h 6866370"/>
              <a:gd name="connsiteX1" fmla="*/ 5684440 w 5684440"/>
              <a:gd name="connsiteY1" fmla="*/ 0 h 6866370"/>
              <a:gd name="connsiteX2" fmla="*/ 5684440 w 5684440"/>
              <a:gd name="connsiteY2" fmla="*/ 6866370 h 6866370"/>
              <a:gd name="connsiteX3" fmla="*/ 0 w 5684440"/>
              <a:gd name="connsiteY3" fmla="*/ 6866370 h 6866370"/>
              <a:gd name="connsiteX4" fmla="*/ 0 w 5684440"/>
              <a:gd name="connsiteY4" fmla="*/ 0 h 6866370"/>
              <a:gd name="connsiteX0" fmla="*/ 0 w 6962906"/>
              <a:gd name="connsiteY0" fmla="*/ 25400 h 6891770"/>
              <a:gd name="connsiteX1" fmla="*/ 6962906 w 6962906"/>
              <a:gd name="connsiteY1" fmla="*/ 0 h 6891770"/>
              <a:gd name="connsiteX2" fmla="*/ 5684440 w 6962906"/>
              <a:gd name="connsiteY2" fmla="*/ 6891770 h 6891770"/>
              <a:gd name="connsiteX3" fmla="*/ 0 w 6962906"/>
              <a:gd name="connsiteY3" fmla="*/ 6891770 h 6891770"/>
              <a:gd name="connsiteX4" fmla="*/ 0 w 6962906"/>
              <a:gd name="connsiteY4" fmla="*/ 25400 h 6891770"/>
              <a:gd name="connsiteX0" fmla="*/ 0 w 6962906"/>
              <a:gd name="connsiteY0" fmla="*/ 25400 h 6891770"/>
              <a:gd name="connsiteX1" fmla="*/ 6962906 w 6962906"/>
              <a:gd name="connsiteY1" fmla="*/ 0 h 6891770"/>
              <a:gd name="connsiteX2" fmla="*/ 3982640 w 6962906"/>
              <a:gd name="connsiteY2" fmla="*/ 6883304 h 6891770"/>
              <a:gd name="connsiteX3" fmla="*/ 0 w 6962906"/>
              <a:gd name="connsiteY3" fmla="*/ 6891770 h 6891770"/>
              <a:gd name="connsiteX4" fmla="*/ 0 w 6962906"/>
              <a:gd name="connsiteY4" fmla="*/ 25400 h 6891770"/>
              <a:gd name="connsiteX0" fmla="*/ 0 w 6962906"/>
              <a:gd name="connsiteY0" fmla="*/ 25400 h 6891770"/>
              <a:gd name="connsiteX1" fmla="*/ 6962906 w 6962906"/>
              <a:gd name="connsiteY1" fmla="*/ 0 h 6891770"/>
              <a:gd name="connsiteX2" fmla="*/ 4273585 w 6962906"/>
              <a:gd name="connsiteY2" fmla="*/ 6883304 h 6891770"/>
              <a:gd name="connsiteX3" fmla="*/ 0 w 6962906"/>
              <a:gd name="connsiteY3" fmla="*/ 6891770 h 6891770"/>
              <a:gd name="connsiteX4" fmla="*/ 0 w 6962906"/>
              <a:gd name="connsiteY4" fmla="*/ 25400 h 6891770"/>
              <a:gd name="connsiteX0" fmla="*/ 0 w 6106696"/>
              <a:gd name="connsiteY0" fmla="*/ 0 h 6866370"/>
              <a:gd name="connsiteX1" fmla="*/ 6106696 w 6106696"/>
              <a:gd name="connsiteY1" fmla="*/ 7851 h 6866370"/>
              <a:gd name="connsiteX2" fmla="*/ 4273585 w 6106696"/>
              <a:gd name="connsiteY2" fmla="*/ 6857904 h 6866370"/>
              <a:gd name="connsiteX3" fmla="*/ 0 w 6106696"/>
              <a:gd name="connsiteY3" fmla="*/ 6866370 h 6866370"/>
              <a:gd name="connsiteX4" fmla="*/ 0 w 6106696"/>
              <a:gd name="connsiteY4" fmla="*/ 0 h 68663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06696" h="6866370">
                <a:moveTo>
                  <a:pt x="0" y="0"/>
                </a:moveTo>
                <a:lnTo>
                  <a:pt x="6106696" y="7851"/>
                </a:lnTo>
                <a:lnTo>
                  <a:pt x="4273585" y="6857904"/>
                </a:lnTo>
                <a:lnTo>
                  <a:pt x="0" y="686637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64086">
                  <a:alpha val="80000"/>
                </a:srgbClr>
              </a:gs>
              <a:gs pos="100000">
                <a:srgbClr val="164086">
                  <a:alpha val="1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284235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FE596-35CF-4558-A980-483C7A980144}" type="datetimeFigureOut">
              <a:rPr lang="zh-CN" altLang="en-US" smtClean="0"/>
              <a:t>2026/1/10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1FEC4-1FA1-480B-A396-F3B074CB2BD4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4DE2EB2E-52A7-4EA9-A125-F8AD42337C76}"/>
              </a:ext>
            </a:extLst>
          </p:cNvPr>
          <p:cNvGrpSpPr/>
          <p:nvPr userDrawn="1"/>
        </p:nvGrpSpPr>
        <p:grpSpPr>
          <a:xfrm>
            <a:off x="0" y="-41988"/>
            <a:ext cx="9144000" cy="746449"/>
            <a:chOff x="0" y="-41988"/>
            <a:chExt cx="9139836" cy="746449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C0B2B738-AC10-4241-AC1E-D4AA39AA80C9}"/>
                </a:ext>
              </a:extLst>
            </p:cNvPr>
            <p:cNvGrpSpPr/>
            <p:nvPr userDrawn="1"/>
          </p:nvGrpSpPr>
          <p:grpSpPr>
            <a:xfrm>
              <a:off x="0" y="0"/>
              <a:ext cx="9139836" cy="681134"/>
              <a:chOff x="4164" y="0"/>
              <a:chExt cx="9139836" cy="681134"/>
            </a:xfrm>
          </p:grpSpPr>
          <p:pic>
            <p:nvPicPr>
              <p:cNvPr id="10" name="图片 9">
                <a:extLst>
                  <a:ext uri="{FF2B5EF4-FFF2-40B4-BE49-F238E27FC236}">
                    <a16:creationId xmlns:a16="http://schemas.microsoft.com/office/drawing/2014/main" id="{50D81F6F-1D64-4362-A548-005ED5295A4B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4752" b="76328"/>
              <a:stretch/>
            </p:blipFill>
            <p:spPr>
              <a:xfrm>
                <a:off x="1942791" y="0"/>
                <a:ext cx="7201209" cy="681134"/>
              </a:xfrm>
              <a:prstGeom prst="rect">
                <a:avLst/>
              </a:prstGeom>
            </p:spPr>
          </p:pic>
          <p:sp>
            <p:nvSpPr>
              <p:cNvPr id="11" name="矩形: 圆角 6">
                <a:extLst>
                  <a:ext uri="{FF2B5EF4-FFF2-40B4-BE49-F238E27FC236}">
                    <a16:creationId xmlns:a16="http://schemas.microsoft.com/office/drawing/2014/main" id="{E0835100-8438-4487-82E0-EDDAEDB93862}"/>
                  </a:ext>
                </a:extLst>
              </p:cNvPr>
              <p:cNvSpPr/>
              <p:nvPr userDrawn="1"/>
            </p:nvSpPr>
            <p:spPr>
              <a:xfrm>
                <a:off x="4164" y="0"/>
                <a:ext cx="9139835" cy="681134"/>
              </a:xfrm>
              <a:prstGeom prst="rect">
                <a:avLst/>
              </a:prstGeom>
              <a:gradFill>
                <a:gsLst>
                  <a:gs pos="23000">
                    <a:srgbClr val="050A2D"/>
                  </a:gs>
                  <a:gs pos="0">
                    <a:srgbClr val="030424"/>
                  </a:gs>
                  <a:gs pos="100000">
                    <a:srgbClr val="164086">
                      <a:alpha val="10000"/>
                    </a:srgbClr>
                  </a:gs>
                </a:gsLst>
                <a:lin ang="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21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98CD5"/>
                    </a:solidFill>
                    <a:effectLst/>
                    <a:uLnTx/>
                    <a:uFillTx/>
                    <a:latin typeface="Calibri"/>
                    <a:ea typeface="微软雅黑"/>
                    <a:cs typeface="+mn-cs"/>
                  </a:rPr>
                  <a:t> </a:t>
                </a:r>
                <a:endPara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98CD5"/>
                  </a:solidFill>
                  <a:effectLst/>
                  <a:uLnTx/>
                  <a:uFillTx/>
                  <a:latin typeface="Calibri"/>
                  <a:ea typeface="微软雅黑"/>
                  <a:cs typeface="+mn-cs"/>
                </a:endParaRPr>
              </a:p>
            </p:txBody>
          </p:sp>
        </p:grpSp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B32F8DEC-7571-4BD5-863E-7B880DF926B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309" y="-41988"/>
              <a:ext cx="720410" cy="746449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1028" y="43539"/>
            <a:ext cx="7886700" cy="570367"/>
          </a:xfrm>
        </p:spPr>
        <p:txBody>
          <a:bodyPr/>
          <a:lstStyle>
            <a:lvl1pPr algn="ctr">
              <a:defRPr b="1" i="0" spc="300" baseline="0">
                <a:solidFill>
                  <a:schemeClr val="bg1"/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13" name="内容占位符 12">
            <a:extLst>
              <a:ext uri="{FF2B5EF4-FFF2-40B4-BE49-F238E27FC236}">
                <a16:creationId xmlns:a16="http://schemas.microsoft.com/office/drawing/2014/main" id="{B37B92F1-0919-438C-A34D-A0CC12B100A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38113" y="798513"/>
            <a:ext cx="8875712" cy="5467350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3200" b="1" i="0" spc="300" baseline="0">
                <a:solidFill>
                  <a:schemeClr val="tx1"/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</a:defRPr>
            </a:lvl1pPr>
            <a:lvl2pPr marL="342900" indent="0">
              <a:lnSpc>
                <a:spcPct val="120000"/>
              </a:lnSpc>
              <a:buNone/>
              <a:defRPr sz="2800" b="0" i="0" spc="100" baseline="0">
                <a:solidFill>
                  <a:schemeClr val="tx1"/>
                </a:solidFill>
                <a:latin typeface="方正屏显雅宋简体" panose="02010600010101010101" pitchFamily="2" charset="-122"/>
                <a:ea typeface="方正屏显雅宋简体" panose="02010600010101010101" pitchFamily="2" charset="-122"/>
              </a:defRPr>
            </a:lvl2pPr>
            <a:lvl3pPr marL="685800" indent="0">
              <a:lnSpc>
                <a:spcPct val="120000"/>
              </a:lnSpc>
              <a:buNone/>
              <a:defRPr sz="2400" b="0" i="0" spc="100" baseline="0">
                <a:solidFill>
                  <a:schemeClr val="tx1"/>
                </a:solidFill>
                <a:latin typeface="方正屏显雅宋简体" panose="02010600010101010101" pitchFamily="2" charset="-122"/>
                <a:ea typeface="方正屏显雅宋简体" panose="02010600010101010101" pitchFamily="2" charset="-122"/>
              </a:defRPr>
            </a:lvl3pPr>
            <a:lvl4pPr marL="1028700" indent="0">
              <a:lnSpc>
                <a:spcPct val="120000"/>
              </a:lnSpc>
              <a:buNone/>
              <a:defRPr sz="2000" b="0" i="0" spc="100" baseline="0">
                <a:solidFill>
                  <a:schemeClr val="tx1"/>
                </a:solidFill>
                <a:latin typeface="方正屏显雅宋简体" panose="02010600010101010101" pitchFamily="2" charset="-122"/>
                <a:ea typeface="方正屏显雅宋简体" panose="02010600010101010101" pitchFamily="2" charset="-122"/>
              </a:defRPr>
            </a:lvl4pPr>
            <a:lvl5pPr marL="1371600" indent="0">
              <a:lnSpc>
                <a:spcPct val="120000"/>
              </a:lnSpc>
              <a:buNone/>
              <a:defRPr sz="2000" b="0" i="0" spc="100" baseline="0">
                <a:solidFill>
                  <a:schemeClr val="tx1"/>
                </a:solidFill>
                <a:latin typeface="方正屏显雅宋简体" panose="02010600010101010101" pitchFamily="2" charset="-122"/>
                <a:ea typeface="方正屏显雅宋简体" panose="02010600010101010101" pitchFamily="2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346991218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23888" y="1712423"/>
            <a:ext cx="7886700" cy="2851208"/>
          </a:xfrm>
        </p:spPr>
        <p:txBody>
          <a:bodyPr anchor="b">
            <a:normAutofit/>
          </a:bodyPr>
          <a:lstStyle>
            <a:lvl1pPr>
              <a:defRPr sz="4500" b="1" i="0" baseline="0">
                <a:solidFill>
                  <a:srgbClr val="002060"/>
                </a:solidFill>
                <a:latin typeface="Cambria" panose="02040503050406030204" pitchFamily="18" charset="0"/>
                <a:ea typeface="方正屏显雅宋简体" panose="02010600010101010101" pitchFamily="2" charset="-122"/>
              </a:defRPr>
            </a:lvl1pPr>
          </a:lstStyle>
          <a:p>
            <a:r>
              <a:rPr lang="zh-CN" altLang="en-US" dirty="0"/>
              <a:t>谢谢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52634"/>
            <a:ext cx="78867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18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FE596-35CF-4558-A980-483C7A980144}" type="datetimeFigureOut">
              <a:rPr lang="zh-CN" altLang="en-US" smtClean="0"/>
              <a:t>2026/1/10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1FEC4-1FA1-480B-A396-F3B074CB2B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8803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方正屏显雅宋简体" panose="02010600010101010101" pitchFamily="2" charset="-122"/>
                <a:ea typeface="方正屏显雅宋简体" panose="02010600010101010101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3845" y="1828801"/>
            <a:ext cx="3886200" cy="4351337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8801"/>
            <a:ext cx="3886200" cy="4351337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FE596-35CF-4558-A980-483C7A980144}" type="datetimeFigureOut">
              <a:rPr lang="zh-CN" altLang="en-US" smtClean="0"/>
              <a:t>2026/1/10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1FEC4-1FA1-480B-A396-F3B074CB2B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62290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3845" y="1681851"/>
            <a:ext cx="386715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45" y="2507551"/>
            <a:ext cx="3867150" cy="368052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851"/>
            <a:ext cx="38862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7551"/>
            <a:ext cx="3886201" cy="368052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FE596-35CF-4558-A980-483C7A980144}" type="datetimeFigureOut">
              <a:rPr lang="zh-CN" altLang="en-US" smtClean="0"/>
              <a:t>2026/1/10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1FEC4-1FA1-480B-A396-F3B074CB2BD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601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FE596-35CF-4558-A980-483C7A980144}" type="datetimeFigureOut">
              <a:rPr lang="zh-CN" altLang="en-US" smtClean="0"/>
              <a:t>2026/1/10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1FEC4-1FA1-480B-A396-F3B074CB2BD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方正屏显雅宋简体" panose="02010600010101010101" pitchFamily="2" charset="-122"/>
                <a:ea typeface="方正屏显雅宋简体" panose="02010600010101010101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882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FE596-35CF-4558-A980-483C7A980144}" type="datetimeFigureOut">
              <a:rPr lang="zh-CN" altLang="en-US" smtClean="0"/>
              <a:t>2026/1/10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1FEC4-1FA1-480B-A396-F3B074CB2B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91956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1"/>
            <a:ext cx="2948940" cy="1600197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990600"/>
            <a:ext cx="4629150" cy="48768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57399"/>
            <a:ext cx="294894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FE596-35CF-4558-A980-483C7A980144}" type="datetimeFigureOut">
              <a:rPr lang="zh-CN" altLang="en-US" smtClean="0"/>
              <a:t>2026/1/10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1FEC4-1FA1-480B-A396-F3B074CB2B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52614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0"/>
            <a:ext cx="2948940" cy="1600200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6200" y="990600"/>
            <a:ext cx="4629150" cy="4876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57400"/>
            <a:ext cx="294894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FE596-35CF-4558-A980-483C7A980144}" type="datetimeFigureOut">
              <a:rPr lang="zh-CN" altLang="en-US" smtClean="0"/>
              <a:t>2026/1/10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1FEC4-1FA1-480B-A396-F3B074CB2B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5093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FE596-35CF-4558-A980-483C7A980144}" type="datetimeFigureOut">
              <a:rPr lang="zh-CN" altLang="en-US" smtClean="0"/>
              <a:t>2026/1/10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1FEC4-1FA1-480B-A396-F3B074CB2B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15636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0362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0363"/>
            <a:ext cx="5800725" cy="5811837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FE596-35CF-4558-A980-483C7A980144}" type="datetimeFigureOut">
              <a:rPr lang="zh-CN" altLang="en-US" smtClean="0"/>
              <a:t>2026/1/10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1FEC4-1FA1-480B-A396-F3B074CB2B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69204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796583"/>
            <a:ext cx="7886700" cy="7860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3845" y="1828801"/>
            <a:ext cx="7886700" cy="44576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F17FE596-35CF-4558-A980-483C7A980144}" type="datetimeFigureOut">
              <a:rPr lang="zh-CN" altLang="en-US" smtClean="0"/>
              <a:t>2026/1/10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63145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E1FEC4-1FA1-480B-A396-F3B074CB2B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086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2" r:id="rId1"/>
    <p:sldLayoutId id="2147483803" r:id="rId2"/>
    <p:sldLayoutId id="2147483793" r:id="rId3"/>
    <p:sldLayoutId id="2147483794" r:id="rId4"/>
    <p:sldLayoutId id="2147483795" r:id="rId5"/>
    <p:sldLayoutId id="2147483796" r:id="rId6"/>
    <p:sldLayoutId id="2147483797" r:id="rId7"/>
    <p:sldLayoutId id="2147483798" r:id="rId8"/>
    <p:sldLayoutId id="2147483799" r:id="rId9"/>
    <p:sldLayoutId id="2147483800" r:id="rId10"/>
    <p:sldLayoutId id="2147483801" r:id="rId11"/>
    <p:sldLayoutId id="2147483802" r:id="rId12"/>
  </p:sldLayoutIdLst>
  <p:txStyles>
    <p:titleStyle>
      <a:lvl1pPr algn="ctr" defTabSz="685800" rtl="0" eaLnBrk="1" latinLnBrk="0" hangingPunct="1">
        <a:lnSpc>
          <a:spcPct val="90000"/>
        </a:lnSpc>
        <a:spcBef>
          <a:spcPct val="0"/>
        </a:spcBef>
        <a:buNone/>
        <a:defRPr sz="3300" b="1" kern="1200">
          <a:solidFill>
            <a:schemeClr val="tx1"/>
          </a:solidFill>
          <a:latin typeface="方正屏显雅宋简体" panose="02010600010101010101" pitchFamily="2" charset="-122"/>
          <a:ea typeface="方正屏显雅宋简体" panose="02010600010101010101" pitchFamily="2" charset="-122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Wingdings 2" pitchFamily="18" charset="2"/>
        <a:buChar char=""/>
        <a:defRPr sz="2100" b="1" kern="1200" baseline="0">
          <a:solidFill>
            <a:schemeClr val="tx1"/>
          </a:solidFill>
          <a:latin typeface="Courier New" panose="02070309020205020404" pitchFamily="49" charset="0"/>
          <a:ea typeface="方正屏显雅宋简体" panose="02010600010101010101" pitchFamily="2" charset="-122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800" b="1" kern="1200" baseline="0">
          <a:solidFill>
            <a:schemeClr val="tx1"/>
          </a:solidFill>
          <a:latin typeface="Courier New" panose="02070309020205020404" pitchFamily="49" charset="0"/>
          <a:ea typeface="方正屏显雅宋简体" panose="02010600010101010101" pitchFamily="2" charset="-122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500" b="1" kern="1200" baseline="0">
          <a:solidFill>
            <a:schemeClr val="tx1"/>
          </a:solidFill>
          <a:latin typeface="Courier New" panose="02070309020205020404" pitchFamily="49" charset="0"/>
          <a:ea typeface="方正屏显雅宋简体" panose="02010600010101010101" pitchFamily="2" charset="-122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350" b="1" kern="1200" baseline="0">
          <a:solidFill>
            <a:schemeClr val="tx1"/>
          </a:solidFill>
          <a:latin typeface="Courier New" panose="02070309020205020404" pitchFamily="49" charset="0"/>
          <a:ea typeface="方正屏显雅宋简体" panose="02010600010101010101" pitchFamily="2" charset="-122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350" b="1" kern="1200" baseline="0">
          <a:solidFill>
            <a:schemeClr val="tx1"/>
          </a:solidFill>
          <a:latin typeface="Courier New" panose="02070309020205020404" pitchFamily="49" charset="0"/>
          <a:ea typeface="方正屏显雅宋简体" panose="02010600010101010101" pitchFamily="2" charset="-122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4245998"/>
            <a:ext cx="6858000" cy="1311006"/>
          </a:xfrm>
          <a:noFill/>
        </p:spPr>
        <p:txBody>
          <a:bodyPr/>
          <a:lstStyle/>
          <a:p>
            <a:r>
              <a:rPr lang="zh-CN" altLang="en-US" spc="600" dirty="0">
                <a:latin typeface="方正粗宋简体" panose="03000509000000000000" pitchFamily="65" charset="-122"/>
                <a:ea typeface="方正粗宋简体" panose="03000509000000000000" pitchFamily="65" charset="-122"/>
              </a:rPr>
              <a:t>人工智能</a:t>
            </a:r>
            <a:r>
              <a:rPr lang="en-US" altLang="zh-CN" spc="600" dirty="0">
                <a:latin typeface="方正粗宋简体" panose="03000509000000000000" pitchFamily="65" charset="-122"/>
                <a:ea typeface="方正粗宋简体" panose="03000509000000000000" pitchFamily="65" charset="-122"/>
              </a:rPr>
              <a:t>——</a:t>
            </a:r>
            <a:r>
              <a:rPr lang="zh-CN" altLang="en-US" spc="600" dirty="0">
                <a:latin typeface="方正粗宋简体" panose="03000509000000000000" pitchFamily="65" charset="-122"/>
                <a:ea typeface="方正粗宋简体" panose="03000509000000000000" pitchFamily="65" charset="-122"/>
              </a:rPr>
              <a:t>前沿研讨（二）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5557004"/>
            <a:ext cx="6858000" cy="1113971"/>
          </a:xfrm>
        </p:spPr>
        <p:txBody>
          <a:bodyPr>
            <a:normAutofit/>
          </a:bodyPr>
          <a:lstStyle/>
          <a:p>
            <a:endParaRPr lang="en-US" altLang="zh-CN" sz="2000" dirty="0">
              <a:solidFill>
                <a:schemeClr val="accent5">
                  <a:lumMod val="50000"/>
                </a:schemeClr>
              </a:solidFill>
            </a:endParaRPr>
          </a:p>
          <a:p>
            <a:r>
              <a:rPr lang="zh-CN" altLang="en-US" sz="2000" dirty="0">
                <a:solidFill>
                  <a:schemeClr val="accent5">
                    <a:lumMod val="50000"/>
                  </a:schemeClr>
                </a:solidFill>
              </a:rPr>
              <a:t>智能科学学院</a:t>
            </a:r>
          </a:p>
        </p:txBody>
      </p:sp>
    </p:spTree>
    <p:extLst>
      <p:ext uri="{BB962C8B-B14F-4D97-AF65-F5344CB8AC3E}">
        <p14:creationId xmlns:p14="http://schemas.microsoft.com/office/powerpoint/2010/main" val="3412990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EA6FB67-0010-F7F0-8E96-BBEC5A5D0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1FEC4-1FA1-480B-A396-F3B074CB2BD4}" type="slidenum">
              <a:rPr lang="zh-CN" altLang="en-US" smtClean="0"/>
              <a:t>2</a:t>
            </a:fld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8C81CF9D-B6C9-212B-85BE-2B1665746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前沿研讨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32C7129-8CAC-E783-FA95-608DFAC40BA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34144" y="1254126"/>
            <a:ext cx="8875712" cy="5467350"/>
          </a:xfrm>
        </p:spPr>
        <p:txBody>
          <a:bodyPr>
            <a:normAutofit/>
          </a:bodyPr>
          <a:lstStyle/>
          <a:p>
            <a:pPr algn="ctr">
              <a:lnSpc>
                <a:spcPts val="2880"/>
              </a:lnSpc>
            </a:pPr>
            <a:r>
              <a:rPr lang="zh-CN" altLang="en-US" sz="2400" dirty="0"/>
              <a:t>汇报顺序</a:t>
            </a:r>
            <a:endParaRPr lang="en-US" altLang="zh-CN" sz="2400" dirty="0"/>
          </a:p>
          <a:p>
            <a:pPr>
              <a:lnSpc>
                <a:spcPts val="2880"/>
              </a:lnSpc>
            </a:pPr>
            <a:r>
              <a:rPr lang="zh-CN" altLang="en-US" sz="2400" dirty="0"/>
              <a:t>（</a:t>
            </a:r>
            <a:r>
              <a:rPr lang="en-US" altLang="zh-CN" sz="2400" dirty="0"/>
              <a:t>1</a:t>
            </a:r>
            <a:r>
              <a:rPr lang="zh-CN" altLang="en-US" sz="2400" dirty="0"/>
              <a:t>）朱俊颐	案例分析：</a:t>
            </a:r>
            <a:r>
              <a:rPr lang="en-US" altLang="zh-CN" sz="2400" dirty="0"/>
              <a:t>AI for Science</a:t>
            </a:r>
            <a:r>
              <a:rPr lang="zh-CN" altLang="en-US" sz="2400" dirty="0"/>
              <a:t>新范式</a:t>
            </a:r>
            <a:endParaRPr lang="en-US" altLang="zh-CN" sz="2400" dirty="0"/>
          </a:p>
          <a:p>
            <a:pPr>
              <a:lnSpc>
                <a:spcPts val="2880"/>
              </a:lnSpc>
            </a:pPr>
            <a:r>
              <a:rPr lang="zh-CN" altLang="en-US" sz="2400" dirty="0"/>
              <a:t>（</a:t>
            </a:r>
            <a:r>
              <a:rPr lang="en-US" altLang="zh-CN" sz="2400" dirty="0"/>
              <a:t>2</a:t>
            </a:r>
            <a:r>
              <a:rPr lang="zh-CN" altLang="en-US" sz="2400" dirty="0"/>
              <a:t>）曾咪	</a:t>
            </a:r>
            <a:r>
              <a:rPr lang="en-US" altLang="zh-CN" sz="2400" dirty="0"/>
              <a:t>LLM</a:t>
            </a:r>
            <a:r>
              <a:rPr lang="zh-CN" altLang="en-US" sz="2400" dirty="0"/>
              <a:t>在医疗领域的应用	</a:t>
            </a:r>
            <a:endParaRPr lang="en-US" altLang="zh-CN" sz="2400" dirty="0"/>
          </a:p>
          <a:p>
            <a:pPr>
              <a:lnSpc>
                <a:spcPts val="2880"/>
              </a:lnSpc>
            </a:pPr>
            <a:r>
              <a:rPr lang="zh-CN" altLang="en-US" sz="2400" dirty="0"/>
              <a:t>（</a:t>
            </a:r>
            <a:r>
              <a:rPr lang="en-US" altLang="zh-CN" sz="2400" dirty="0"/>
              <a:t>3</a:t>
            </a:r>
            <a:r>
              <a:rPr lang="zh-CN" altLang="en-US" sz="2400" dirty="0"/>
              <a:t>）王茜格	</a:t>
            </a:r>
            <a:r>
              <a:rPr lang="en-US" altLang="zh-CN" sz="2400" dirty="0"/>
              <a:t>LLM</a:t>
            </a:r>
            <a:r>
              <a:rPr lang="zh-CN" altLang="en-US" sz="2400" dirty="0"/>
              <a:t>中的预训练技术概述	</a:t>
            </a:r>
            <a:endParaRPr lang="en-US" altLang="zh-CN" sz="2400" dirty="0"/>
          </a:p>
          <a:p>
            <a:pPr>
              <a:lnSpc>
                <a:spcPts val="2880"/>
              </a:lnSpc>
            </a:pPr>
            <a:r>
              <a:rPr lang="zh-CN" altLang="en-US" sz="2400" dirty="0"/>
              <a:t>（</a:t>
            </a:r>
            <a:r>
              <a:rPr lang="en-US" altLang="zh-CN" sz="2400" dirty="0"/>
              <a:t>4</a:t>
            </a:r>
            <a:r>
              <a:rPr lang="zh-CN" altLang="en-US" sz="2400" dirty="0"/>
              <a:t>）袁健钞	基于行为树的无人车自主行为规划技术	</a:t>
            </a:r>
            <a:endParaRPr lang="en-US" altLang="zh-CN" sz="2400" dirty="0"/>
          </a:p>
          <a:p>
            <a:pPr>
              <a:lnSpc>
                <a:spcPts val="2880"/>
              </a:lnSpc>
            </a:pPr>
            <a:r>
              <a:rPr lang="zh-CN" altLang="en-US" sz="2400" dirty="0"/>
              <a:t>（</a:t>
            </a:r>
            <a:r>
              <a:rPr lang="en-US" altLang="zh-CN" sz="2400" dirty="0"/>
              <a:t>5</a:t>
            </a:r>
            <a:r>
              <a:rPr lang="zh-CN" altLang="en-US" sz="2400" dirty="0"/>
              <a:t>）旷文青	自动驾驶场景下的激光雷达点云感知技	</a:t>
            </a:r>
            <a:endParaRPr lang="en-US" altLang="zh-CN" sz="2400" dirty="0"/>
          </a:p>
          <a:p>
            <a:pPr>
              <a:lnSpc>
                <a:spcPts val="2880"/>
              </a:lnSpc>
            </a:pPr>
            <a:r>
              <a:rPr lang="zh-CN" altLang="en-US" sz="2400" dirty="0"/>
              <a:t>（</a:t>
            </a:r>
            <a:r>
              <a:rPr lang="en-US" altLang="zh-CN" sz="2400" dirty="0"/>
              <a:t>6</a:t>
            </a:r>
            <a:r>
              <a:rPr lang="zh-CN" altLang="en-US" sz="2400" dirty="0"/>
              <a:t>）王昭茜	深度强化学习在多智能体系统中的应用	</a:t>
            </a:r>
            <a:endParaRPr lang="en-US" altLang="zh-CN" sz="2400" dirty="0"/>
          </a:p>
          <a:p>
            <a:pPr>
              <a:lnSpc>
                <a:spcPts val="2880"/>
              </a:lnSpc>
            </a:pPr>
            <a:r>
              <a:rPr lang="zh-CN" altLang="en-US" sz="2400" dirty="0"/>
              <a:t>（</a:t>
            </a:r>
            <a:r>
              <a:rPr lang="en-US" altLang="zh-CN" sz="2400" dirty="0"/>
              <a:t>7</a:t>
            </a:r>
            <a:r>
              <a:rPr lang="zh-CN" altLang="en-US" sz="2400" dirty="0"/>
              <a:t>）孙培然	永磁同步直线电机无传感器控制的智能策略（</a:t>
            </a:r>
            <a:r>
              <a:rPr lang="en-US" altLang="zh-CN" sz="2400" dirty="0"/>
              <a:t>8</a:t>
            </a:r>
            <a:r>
              <a:rPr lang="zh-CN" altLang="en-US" sz="2400" dirty="0"/>
              <a:t>）林峰玉	类</a:t>
            </a:r>
            <a:r>
              <a:rPr lang="en-US" altLang="zh-CN" sz="2400" dirty="0"/>
              <a:t>GPT</a:t>
            </a:r>
            <a:r>
              <a:rPr lang="zh-CN" altLang="en-US" sz="2400" dirty="0"/>
              <a:t>大模型的过去现在和未来</a:t>
            </a:r>
          </a:p>
        </p:txBody>
      </p:sp>
    </p:spTree>
    <p:extLst>
      <p:ext uri="{BB962C8B-B14F-4D97-AF65-F5344CB8AC3E}">
        <p14:creationId xmlns:p14="http://schemas.microsoft.com/office/powerpoint/2010/main" val="27570330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DBA775A-567A-A2EE-0FE8-DD8D099CE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1FEC4-1FA1-480B-A396-F3B074CB2BD4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40377A9F-ED76-5E1F-C285-E460C09CA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补充内容：</a:t>
            </a:r>
            <a:r>
              <a:rPr lang="en-US" altLang="zh-CN" dirty="0"/>
              <a:t>LLM</a:t>
            </a:r>
            <a:r>
              <a:rPr lang="zh-CN" altLang="en-US" dirty="0"/>
              <a:t>浅析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197E3EAC-618B-B011-518F-733E59D98061}"/>
              </a:ext>
            </a:extLst>
          </p:cNvPr>
          <p:cNvSpPr/>
          <p:nvPr/>
        </p:nvSpPr>
        <p:spPr>
          <a:xfrm>
            <a:off x="6585065" y="1036320"/>
            <a:ext cx="1813560" cy="640080"/>
          </a:xfrm>
          <a:prstGeom prst="round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C00000"/>
                </a:solidFill>
                <a:latin typeface="方正屏显雅宋简体" panose="02010600010101010101" pitchFamily="2" charset="-122"/>
                <a:ea typeface="方正屏显雅宋简体" panose="02010600010101010101" pitchFamily="2" charset="-122"/>
              </a:rPr>
              <a:t>计算语言学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81FC55B-7BA0-7EE5-E60F-930DE4273096}"/>
              </a:ext>
            </a:extLst>
          </p:cNvPr>
          <p:cNvSpPr/>
          <p:nvPr/>
        </p:nvSpPr>
        <p:spPr>
          <a:xfrm>
            <a:off x="281940" y="784860"/>
            <a:ext cx="8641080" cy="58680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3E339B8E-F251-8612-87B7-FB435DE00B97}"/>
              </a:ext>
            </a:extLst>
          </p:cNvPr>
          <p:cNvSpPr/>
          <p:nvPr/>
        </p:nvSpPr>
        <p:spPr>
          <a:xfrm>
            <a:off x="3695700" y="1036320"/>
            <a:ext cx="1813560" cy="640080"/>
          </a:xfrm>
          <a:prstGeom prst="round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C00000"/>
                </a:solidFill>
                <a:latin typeface="方正屏显雅宋简体" panose="02010600010101010101" pitchFamily="2" charset="-122"/>
                <a:ea typeface="方正屏显雅宋简体" panose="02010600010101010101" pitchFamily="2" charset="-122"/>
              </a:rPr>
              <a:t>自然语言处理</a:t>
            </a:r>
            <a:r>
              <a:rPr lang="en-US" altLang="zh-CN" dirty="0">
                <a:solidFill>
                  <a:srgbClr val="C00000"/>
                </a:solidFill>
                <a:latin typeface="方正屏显雅宋简体" panose="02010600010101010101" pitchFamily="2" charset="-122"/>
                <a:ea typeface="方正屏显雅宋简体" panose="02010600010101010101" pitchFamily="2" charset="-122"/>
              </a:rPr>
              <a:t>NLP</a:t>
            </a:r>
            <a:endParaRPr lang="zh-CN" altLang="en-US" dirty="0">
              <a:solidFill>
                <a:srgbClr val="C00000"/>
              </a:solidFill>
              <a:latin typeface="方正屏显雅宋简体" panose="02010600010101010101" pitchFamily="2" charset="-122"/>
              <a:ea typeface="方正屏显雅宋简体" panose="02010600010101010101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7E024A3E-5031-3F28-C6EA-5FB8FB11619B}"/>
              </a:ext>
            </a:extLst>
          </p:cNvPr>
          <p:cNvSpPr/>
          <p:nvPr/>
        </p:nvSpPr>
        <p:spPr>
          <a:xfrm>
            <a:off x="470028" y="3398838"/>
            <a:ext cx="1813560" cy="640080"/>
          </a:xfrm>
          <a:prstGeom prst="round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C00000"/>
                </a:solidFill>
                <a:latin typeface="方正屏显雅宋简体" panose="02010600010101010101" pitchFamily="2" charset="-122"/>
                <a:ea typeface="方正屏显雅宋简体" panose="02010600010101010101" pitchFamily="2" charset="-122"/>
              </a:rPr>
              <a:t>机器理解语言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B0847DD8-CCCB-DFB3-0D85-5C2B754D5E17}"/>
              </a:ext>
            </a:extLst>
          </p:cNvPr>
          <p:cNvSpPr/>
          <p:nvPr/>
        </p:nvSpPr>
        <p:spPr>
          <a:xfrm>
            <a:off x="2758440" y="2255838"/>
            <a:ext cx="5295900" cy="640080"/>
          </a:xfrm>
          <a:prstGeom prst="round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C00000"/>
                </a:solidFill>
                <a:latin typeface="方正屏显雅宋简体" panose="02010600010101010101" pitchFamily="2" charset="-122"/>
                <a:ea typeface="方正屏显雅宋简体" panose="02010600010101010101" pitchFamily="2" charset="-122"/>
              </a:rPr>
              <a:t>第一阶段：基于语法规则理解语言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FD3D2E11-3EAE-CEC7-2EDC-77E4D4F26EF5}"/>
              </a:ext>
            </a:extLst>
          </p:cNvPr>
          <p:cNvSpPr/>
          <p:nvPr/>
        </p:nvSpPr>
        <p:spPr>
          <a:xfrm>
            <a:off x="2758440" y="3429000"/>
            <a:ext cx="5295900" cy="640080"/>
          </a:xfrm>
          <a:prstGeom prst="round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C00000"/>
                </a:solidFill>
                <a:latin typeface="方正屏显雅宋简体" panose="02010600010101010101" pitchFamily="2" charset="-122"/>
                <a:ea typeface="方正屏显雅宋简体" panose="02010600010101010101" pitchFamily="2" charset="-122"/>
              </a:rPr>
              <a:t>第二阶段：基于数学模型和统计的方法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0EDC9D46-6900-58A4-AE38-CF7AD499DB0C}"/>
              </a:ext>
            </a:extLst>
          </p:cNvPr>
          <p:cNvSpPr/>
          <p:nvPr/>
        </p:nvSpPr>
        <p:spPr>
          <a:xfrm>
            <a:off x="2758440" y="4653777"/>
            <a:ext cx="5295900" cy="640080"/>
          </a:xfrm>
          <a:prstGeom prst="round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C00000"/>
                </a:solidFill>
                <a:latin typeface="方正屏显雅宋简体" panose="02010600010101010101" pitchFamily="2" charset="-122"/>
                <a:ea typeface="方正屏显雅宋简体" panose="02010600010101010101" pitchFamily="2" charset="-122"/>
              </a:rPr>
              <a:t>第二</a:t>
            </a:r>
            <a:r>
              <a:rPr lang="zh-CN" altLang="en-US">
                <a:solidFill>
                  <a:srgbClr val="C00000"/>
                </a:solidFill>
                <a:latin typeface="方正屏显雅宋简体" panose="02010600010101010101" pitchFamily="2" charset="-122"/>
                <a:ea typeface="方正屏显雅宋简体" panose="02010600010101010101" pitchFamily="2" charset="-122"/>
              </a:rPr>
              <a:t>阶段：神经网络的兴起</a:t>
            </a:r>
            <a:endParaRPr lang="zh-CN" altLang="en-US" dirty="0">
              <a:solidFill>
                <a:srgbClr val="C00000"/>
              </a:solidFill>
              <a:latin typeface="方正屏显雅宋简体" panose="02010600010101010101" pitchFamily="2" charset="-122"/>
              <a:ea typeface="方正屏显雅宋简体" panose="0201060001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140771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CDA307-22B5-41DD-9EFA-B741F3C2E7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noFill/>
        </p:spPr>
        <p:txBody>
          <a:bodyPr/>
          <a:lstStyle/>
          <a:p>
            <a:pPr algn="l"/>
            <a:r>
              <a:rPr lang="zh-CN" altLang="en-US" sz="4800" dirty="0">
                <a:solidFill>
                  <a:srgbClr val="002060"/>
                </a:solidFill>
              </a:rPr>
              <a:t>授课完毕，谢谢</a:t>
            </a:r>
          </a:p>
        </p:txBody>
      </p:sp>
    </p:spTree>
    <p:extLst>
      <p:ext uri="{BB962C8B-B14F-4D97-AF65-F5344CB8AC3E}">
        <p14:creationId xmlns:p14="http://schemas.microsoft.com/office/powerpoint/2010/main" val="153845318"/>
      </p:ext>
    </p:extLst>
  </p:cSld>
  <p:clrMapOvr>
    <a:masterClrMapping/>
  </p:clrMapOvr>
</p:sld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TM02900688[[fn=平面]]</Template>
  <TotalTime>43730</TotalTime>
  <Words>177</Words>
  <Application>Microsoft Office PowerPoint</Application>
  <PresentationFormat>全屏显示(4:3)</PresentationFormat>
  <Paragraphs>23</Paragraphs>
  <Slides>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6" baseType="lpstr">
      <vt:lpstr>等线</vt:lpstr>
      <vt:lpstr>方正粗黑宋简体</vt:lpstr>
      <vt:lpstr>方正粗宋简体</vt:lpstr>
      <vt:lpstr>方正屏显雅宋简体</vt:lpstr>
      <vt:lpstr>楷体</vt:lpstr>
      <vt:lpstr>微软雅黑</vt:lpstr>
      <vt:lpstr>Arial</vt:lpstr>
      <vt:lpstr>Calibri</vt:lpstr>
      <vt:lpstr>Cambria</vt:lpstr>
      <vt:lpstr>Courier New</vt:lpstr>
      <vt:lpstr>Wingdings 2</vt:lpstr>
      <vt:lpstr>HDOfficeLightV0</vt:lpstr>
      <vt:lpstr>人工智能——前沿研讨（二）</vt:lpstr>
      <vt:lpstr>前沿研讨</vt:lpstr>
      <vt:lpstr>补充内容：LLM浅析</vt:lpstr>
      <vt:lpstr>授课完毕，谢谢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第一讲</dc:title>
  <dc:creator>DONGYE ZHUANG</dc:creator>
  <cp:lastModifiedBy>Donkey_Punch</cp:lastModifiedBy>
  <cp:revision>1378</cp:revision>
  <dcterms:created xsi:type="dcterms:W3CDTF">2018-02-24T10:48:33Z</dcterms:created>
  <dcterms:modified xsi:type="dcterms:W3CDTF">2026-01-10T04:03:46Z</dcterms:modified>
</cp:coreProperties>
</file>