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281" r:id="rId2"/>
    <p:sldId id="283" r:id="rId3"/>
    <p:sldId id="282" r:id="rId4"/>
    <p:sldId id="284" r:id="rId5"/>
    <p:sldId id="285" r:id="rId6"/>
    <p:sldId id="286" r:id="rId7"/>
    <p:sldId id="288" r:id="rId8"/>
    <p:sldId id="289" r:id="rId9"/>
    <p:sldId id="287" r:id="rId10"/>
    <p:sldId id="291" r:id="rId11"/>
    <p:sldId id="293" r:id="rId12"/>
    <p:sldId id="290" r:id="rId13"/>
    <p:sldId id="295" r:id="rId14"/>
    <p:sldId id="292" r:id="rId15"/>
    <p:sldId id="305" r:id="rId16"/>
    <p:sldId id="296" r:id="rId17"/>
    <p:sldId id="301" r:id="rId18"/>
    <p:sldId id="306" r:id="rId19"/>
    <p:sldId id="297" r:id="rId20"/>
    <p:sldId id="307" r:id="rId21"/>
    <p:sldId id="298" r:id="rId22"/>
    <p:sldId id="299" r:id="rId23"/>
    <p:sldId id="300" r:id="rId24"/>
    <p:sldId id="308" r:id="rId25"/>
    <p:sldId id="309" r:id="rId26"/>
    <p:sldId id="310" r:id="rId27"/>
    <p:sldId id="311" r:id="rId28"/>
    <p:sldId id="312" r:id="rId29"/>
    <p:sldId id="313" r:id="rId30"/>
    <p:sldId id="314" r:id="rId31"/>
    <p:sldId id="315" r:id="rId32"/>
    <p:sldId id="316" r:id="rId33"/>
    <p:sldId id="318" r:id="rId34"/>
    <p:sldId id="319" r:id="rId35"/>
    <p:sldId id="320" r:id="rId36"/>
    <p:sldId id="321" r:id="rId37"/>
    <p:sldId id="322" r:id="rId38"/>
    <p:sldId id="323" r:id="rId39"/>
    <p:sldId id="324" r:id="rId40"/>
    <p:sldId id="325" r:id="rId41"/>
    <p:sldId id="326" r:id="rId42"/>
    <p:sldId id="327" r:id="rId43"/>
    <p:sldId id="328" r:id="rId44"/>
    <p:sldId id="329" r:id="rId45"/>
    <p:sldId id="330" r:id="rId46"/>
    <p:sldId id="331" r:id="rId47"/>
    <p:sldId id="332" r:id="rId48"/>
    <p:sldId id="333" r:id="rId49"/>
    <p:sldId id="334" r:id="rId50"/>
    <p:sldId id="335" r:id="rId51"/>
    <p:sldId id="336" r:id="rId52"/>
    <p:sldId id="337" r:id="rId53"/>
    <p:sldId id="338" r:id="rId54"/>
    <p:sldId id="339" r:id="rId55"/>
    <p:sldId id="260" r:id="rId5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99"/>
    <a:srgbClr val="003153"/>
    <a:srgbClr val="FEDD7E"/>
    <a:srgbClr val="E5DDD7"/>
    <a:srgbClr val="B89076"/>
    <a:srgbClr val="00324D"/>
    <a:srgbClr val="778B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713" autoAdjust="0"/>
  </p:normalViewPr>
  <p:slideViewPr>
    <p:cSldViewPr snapToGrid="0">
      <p:cViewPr varScale="1">
        <p:scale>
          <a:sx n="110" d="100"/>
          <a:sy n="110" d="100"/>
        </p:scale>
        <p:origin x="630" y="10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BB9ACA-2278-4D0B-918D-4C6C0ECC0AB1}" type="datetimeFigureOut">
              <a:rPr lang="zh-CN" altLang="en-US" smtClean="0"/>
              <a:t>2025/12/1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8F5B74-5D12-419B-81D4-E75E56A2C51A}" type="slidenum">
              <a:rPr lang="zh-CN" altLang="en-US" smtClean="0"/>
              <a:t>‹#›</a:t>
            </a:fld>
            <a:endParaRPr lang="zh-CN" altLang="en-US"/>
          </a:p>
        </p:txBody>
      </p:sp>
    </p:spTree>
    <p:extLst>
      <p:ext uri="{BB962C8B-B14F-4D97-AF65-F5344CB8AC3E}">
        <p14:creationId xmlns:p14="http://schemas.microsoft.com/office/powerpoint/2010/main" val="10340164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98F5B74-5D12-419B-81D4-E75E56A2C51A}" type="slidenum">
              <a:rPr lang="zh-CN" altLang="en-US" smtClean="0"/>
              <a:t>1</a:t>
            </a:fld>
            <a:endParaRPr lang="zh-CN" altLang="en-US"/>
          </a:p>
        </p:txBody>
      </p:sp>
    </p:spTree>
    <p:extLst>
      <p:ext uri="{BB962C8B-B14F-4D97-AF65-F5344CB8AC3E}">
        <p14:creationId xmlns:p14="http://schemas.microsoft.com/office/powerpoint/2010/main" val="2787716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00324D"/>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64A71-7401-9212-2599-1D9A943A692D}"/>
              </a:ext>
            </a:extLst>
          </p:cNvPr>
          <p:cNvSpPr>
            <a:spLocks noGrp="1"/>
          </p:cNvSpPr>
          <p:nvPr>
            <p:ph type="ctrTitle"/>
          </p:nvPr>
        </p:nvSpPr>
        <p:spPr>
          <a:xfrm>
            <a:off x="1524000" y="1122363"/>
            <a:ext cx="9144000" cy="2387600"/>
          </a:xfrm>
        </p:spPr>
        <p:txBody>
          <a:bodyPr anchor="b">
            <a:normAutofit/>
          </a:bodyPr>
          <a:lstStyle>
            <a:lvl1pPr algn="ctr">
              <a:defRPr sz="4800">
                <a:solidFill>
                  <a:schemeClr val="bg1"/>
                </a:solidFill>
                <a:latin typeface="方正小标宋简体" panose="02000000000000000000" pitchFamily="2" charset="-122"/>
                <a:ea typeface="方正小标宋简体" panose="02000000000000000000" pitchFamily="2" charset="-122"/>
              </a:defRPr>
            </a:lvl1pPr>
          </a:lstStyle>
          <a:p>
            <a:r>
              <a:rPr lang="zh-CN" altLang="en-US" dirty="0"/>
              <a:t>单击此处编辑母版标题样式</a:t>
            </a:r>
          </a:p>
        </p:txBody>
      </p:sp>
      <p:sp>
        <p:nvSpPr>
          <p:cNvPr id="3" name="副标题 2">
            <a:extLst>
              <a:ext uri="{FF2B5EF4-FFF2-40B4-BE49-F238E27FC236}">
                <a16:creationId xmlns:a16="http://schemas.microsoft.com/office/drawing/2014/main" id="{3D50A2D1-51B3-56A4-DBD5-5AEBD5EA04C7}"/>
              </a:ext>
            </a:extLst>
          </p:cNvPr>
          <p:cNvSpPr>
            <a:spLocks noGrp="1"/>
          </p:cNvSpPr>
          <p:nvPr>
            <p:ph type="subTitle" idx="1"/>
          </p:nvPr>
        </p:nvSpPr>
        <p:spPr>
          <a:xfrm>
            <a:off x="1524000" y="4216012"/>
            <a:ext cx="9144000" cy="1041788"/>
          </a:xfrm>
        </p:spPr>
        <p:txBody>
          <a:bodyPr/>
          <a:lstStyle>
            <a:lvl1pPr marL="0" indent="0" algn="ctr">
              <a:buNone/>
              <a:defRPr sz="2400">
                <a:solidFill>
                  <a:schemeClr val="bg1"/>
                </a:solidFill>
                <a:latin typeface="楷体" panose="02010609060101010101" pitchFamily="49" charset="-122"/>
                <a:ea typeface="楷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a:extLst>
              <a:ext uri="{FF2B5EF4-FFF2-40B4-BE49-F238E27FC236}">
                <a16:creationId xmlns:a16="http://schemas.microsoft.com/office/drawing/2014/main" id="{49327616-1DBB-86E1-AEC7-A53F993D1A9D}"/>
              </a:ext>
            </a:extLst>
          </p:cNvPr>
          <p:cNvSpPr>
            <a:spLocks noGrp="1"/>
          </p:cNvSpPr>
          <p:nvPr>
            <p:ph type="dt" sz="half" idx="10"/>
          </p:nvPr>
        </p:nvSpPr>
        <p:spPr>
          <a:xfrm>
            <a:off x="838200" y="6356350"/>
            <a:ext cx="2743200" cy="365125"/>
          </a:xfrm>
          <a:prstGeom prst="rect">
            <a:avLst/>
          </a:prstGeom>
        </p:spPr>
        <p:txBody>
          <a:bodyPr/>
          <a:lstStyle>
            <a:lvl1pPr>
              <a:defRPr>
                <a:solidFill>
                  <a:schemeClr val="bg1"/>
                </a:solidFill>
              </a:defRPr>
            </a:lvl1pPr>
          </a:lstStyle>
          <a:p>
            <a:fld id="{1A020B4B-9F71-4A7D-B2B3-B930E817569B}" type="datetimeFigureOut">
              <a:rPr lang="zh-CN" altLang="en-US" smtClean="0"/>
              <a:pPr/>
              <a:t>2025/12/1</a:t>
            </a:fld>
            <a:endParaRPr lang="zh-CN" altLang="en-US"/>
          </a:p>
        </p:txBody>
      </p:sp>
      <p:sp>
        <p:nvSpPr>
          <p:cNvPr id="5" name="页脚占位符 4">
            <a:extLst>
              <a:ext uri="{FF2B5EF4-FFF2-40B4-BE49-F238E27FC236}">
                <a16:creationId xmlns:a16="http://schemas.microsoft.com/office/drawing/2014/main" id="{F29771D2-14A5-C068-4A2B-0A2AB90D3E57}"/>
              </a:ext>
            </a:extLst>
          </p:cNvPr>
          <p:cNvSpPr>
            <a:spLocks noGrp="1"/>
          </p:cNvSpPr>
          <p:nvPr>
            <p:ph type="ftr" sz="quarter" idx="11"/>
          </p:nvPr>
        </p:nvSpPr>
        <p:spPr>
          <a:xfrm>
            <a:off x="4038600" y="6356350"/>
            <a:ext cx="4114800" cy="365125"/>
          </a:xfrm>
          <a:prstGeom prst="rect">
            <a:avLst/>
          </a:prstGeom>
        </p:spPr>
        <p:txBody>
          <a:bodyPr/>
          <a:lstStyle>
            <a:lvl1pPr>
              <a:defRPr>
                <a:solidFill>
                  <a:schemeClr val="bg1"/>
                </a:solidFill>
              </a:defRPr>
            </a:lvl1pPr>
          </a:lstStyle>
          <a:p>
            <a:endParaRPr lang="zh-CN" altLang="en-US"/>
          </a:p>
        </p:txBody>
      </p:sp>
      <p:sp>
        <p:nvSpPr>
          <p:cNvPr id="6" name="灯片编号占位符 5">
            <a:extLst>
              <a:ext uri="{FF2B5EF4-FFF2-40B4-BE49-F238E27FC236}">
                <a16:creationId xmlns:a16="http://schemas.microsoft.com/office/drawing/2014/main" id="{A99A0480-5121-45EE-AF78-E97704E4038A}"/>
              </a:ext>
            </a:extLst>
          </p:cNvPr>
          <p:cNvSpPr>
            <a:spLocks noGrp="1"/>
          </p:cNvSpPr>
          <p:nvPr>
            <p:ph type="sldNum" sz="quarter" idx="12"/>
          </p:nvPr>
        </p:nvSpPr>
        <p:spPr/>
        <p:txBody>
          <a:bodyPr/>
          <a:lstStyle>
            <a:lvl1pPr>
              <a:defRPr>
                <a:solidFill>
                  <a:schemeClr val="bg1"/>
                </a:solidFill>
              </a:defRPr>
            </a:lvl1pPr>
          </a:lstStyle>
          <a:p>
            <a:fld id="{8BB2EA2D-A50E-44FB-B88E-CBE7D8AFAE30}" type="slidenum">
              <a:rPr lang="zh-CN" altLang="en-US" smtClean="0"/>
              <a:pPr/>
              <a:t>‹#›</a:t>
            </a:fld>
            <a:endParaRPr lang="zh-CN" altLang="en-US"/>
          </a:p>
        </p:txBody>
      </p:sp>
    </p:spTree>
    <p:extLst>
      <p:ext uri="{BB962C8B-B14F-4D97-AF65-F5344CB8AC3E}">
        <p14:creationId xmlns:p14="http://schemas.microsoft.com/office/powerpoint/2010/main" val="264874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00324D"/>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D0AC1-EDFF-AA60-E64B-5A50D8ED0371}"/>
              </a:ext>
            </a:extLst>
          </p:cNvPr>
          <p:cNvSpPr>
            <a:spLocks noGrp="1"/>
          </p:cNvSpPr>
          <p:nvPr>
            <p:ph type="title"/>
          </p:nvPr>
        </p:nvSpPr>
        <p:spPr>
          <a:xfrm>
            <a:off x="522513" y="136525"/>
            <a:ext cx="11252719" cy="581835"/>
          </a:xfrm>
        </p:spPr>
        <p:txBody>
          <a:bodyPr>
            <a:normAutofit/>
          </a:bodyPr>
          <a:lstStyle>
            <a:lvl1pPr>
              <a:lnSpc>
                <a:spcPct val="110000"/>
              </a:lnSpc>
              <a:defRPr sz="2800">
                <a:solidFill>
                  <a:schemeClr val="bg1"/>
                </a:solidFill>
                <a:latin typeface="方正小标宋简体" panose="02010601030101010101" pitchFamily="2" charset="-122"/>
                <a:ea typeface="方正小标宋简体" panose="02010601030101010101" pitchFamily="2" charset="-122"/>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49533667-01AD-99BF-2EAF-E3A9809BC79C}"/>
              </a:ext>
            </a:extLst>
          </p:cNvPr>
          <p:cNvSpPr>
            <a:spLocks noGrp="1"/>
          </p:cNvSpPr>
          <p:nvPr>
            <p:ph idx="1"/>
          </p:nvPr>
        </p:nvSpPr>
        <p:spPr>
          <a:xfrm>
            <a:off x="522513" y="807720"/>
            <a:ext cx="11252719" cy="5478779"/>
          </a:xfrm>
        </p:spPr>
        <p:txBody>
          <a:bodyPr/>
          <a:lstStyle>
            <a:lvl1pPr marL="0" indent="0">
              <a:lnSpc>
                <a:spcPct val="130000"/>
              </a:lnSpc>
              <a:buNone/>
              <a:defRPr sz="2400">
                <a:solidFill>
                  <a:schemeClr val="bg1"/>
                </a:solidFill>
                <a:latin typeface="方正小标宋简体" panose="02010601030101010101" pitchFamily="2" charset="-122"/>
                <a:ea typeface="方正小标宋简体" panose="02010601030101010101" pitchFamily="2" charset="-122"/>
              </a:defRPr>
            </a:lvl1pPr>
            <a:lvl2pPr marL="457200" indent="0">
              <a:lnSpc>
                <a:spcPct val="130000"/>
              </a:lnSpc>
              <a:buNone/>
              <a:defRPr sz="2000">
                <a:solidFill>
                  <a:schemeClr val="bg1"/>
                </a:solidFill>
                <a:latin typeface="方正小标宋简体" panose="02010601030101010101" pitchFamily="2" charset="-122"/>
                <a:ea typeface="方正小标宋简体" panose="02010601030101010101" pitchFamily="2" charset="-122"/>
              </a:defRPr>
            </a:lvl2pPr>
            <a:lvl3pPr marL="914400" indent="0">
              <a:lnSpc>
                <a:spcPct val="130000"/>
              </a:lnSpc>
              <a:buNone/>
              <a:defRPr sz="1800">
                <a:solidFill>
                  <a:schemeClr val="bg1"/>
                </a:solidFill>
                <a:latin typeface="方正小标宋简体" panose="02010601030101010101" pitchFamily="2" charset="-122"/>
                <a:ea typeface="方正小标宋简体" panose="02010601030101010101" pitchFamily="2" charset="-122"/>
              </a:defRPr>
            </a:lvl3pPr>
            <a:lvl4pPr marL="1371600" indent="0">
              <a:lnSpc>
                <a:spcPct val="130000"/>
              </a:lnSpc>
              <a:buNone/>
              <a:defRPr sz="1600">
                <a:solidFill>
                  <a:schemeClr val="bg1"/>
                </a:solidFill>
                <a:latin typeface="方正小标宋简体" panose="02010601030101010101" pitchFamily="2" charset="-122"/>
                <a:ea typeface="方正小标宋简体" panose="02010601030101010101" pitchFamily="2" charset="-122"/>
              </a:defRPr>
            </a:lvl4pPr>
            <a:lvl5pPr marL="1828800" indent="0">
              <a:lnSpc>
                <a:spcPct val="130000"/>
              </a:lnSpc>
              <a:buNone/>
              <a:defRPr sz="1600">
                <a:solidFill>
                  <a:schemeClr val="bg1"/>
                </a:solidFill>
                <a:latin typeface="方正小标宋简体" panose="02010601030101010101" pitchFamily="2" charset="-122"/>
                <a:ea typeface="方正小标宋简体" panose="02010601030101010101" pitchFamily="2"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0647511F-EB6C-ECE7-A1F7-1254E439749A}"/>
              </a:ext>
            </a:extLst>
          </p:cNvPr>
          <p:cNvSpPr>
            <a:spLocks noGrp="1"/>
          </p:cNvSpPr>
          <p:nvPr>
            <p:ph type="dt" sz="half" idx="10"/>
          </p:nvPr>
        </p:nvSpPr>
        <p:spPr>
          <a:xfrm>
            <a:off x="838200" y="6356350"/>
            <a:ext cx="2743200" cy="365125"/>
          </a:xfrm>
          <a:prstGeom prst="rect">
            <a:avLst/>
          </a:prstGeom>
        </p:spPr>
        <p:txBody>
          <a:bodyPr/>
          <a:lstStyle>
            <a:lvl1pPr>
              <a:defRPr>
                <a:solidFill>
                  <a:schemeClr val="bg1"/>
                </a:solidFill>
              </a:defRPr>
            </a:lvl1pPr>
          </a:lstStyle>
          <a:p>
            <a:fld id="{1A020B4B-9F71-4A7D-B2B3-B930E817569B}" type="datetimeFigureOut">
              <a:rPr lang="zh-CN" altLang="en-US" smtClean="0"/>
              <a:pPr/>
              <a:t>2025/12/1</a:t>
            </a:fld>
            <a:endParaRPr lang="zh-CN" altLang="en-US"/>
          </a:p>
        </p:txBody>
      </p:sp>
      <p:sp>
        <p:nvSpPr>
          <p:cNvPr id="5" name="页脚占位符 4">
            <a:extLst>
              <a:ext uri="{FF2B5EF4-FFF2-40B4-BE49-F238E27FC236}">
                <a16:creationId xmlns:a16="http://schemas.microsoft.com/office/drawing/2014/main" id="{20654D3C-AEE8-48A9-D289-7191854E3B2D}"/>
              </a:ext>
            </a:extLst>
          </p:cNvPr>
          <p:cNvSpPr>
            <a:spLocks noGrp="1"/>
          </p:cNvSpPr>
          <p:nvPr>
            <p:ph type="ftr" sz="quarter" idx="11"/>
          </p:nvPr>
        </p:nvSpPr>
        <p:spPr>
          <a:xfrm>
            <a:off x="4038600" y="6356350"/>
            <a:ext cx="4114800" cy="365125"/>
          </a:xfrm>
          <a:prstGeom prst="rect">
            <a:avLst/>
          </a:prstGeom>
        </p:spPr>
        <p:txBody>
          <a:bodyPr/>
          <a:lstStyle>
            <a:lvl1pPr>
              <a:defRPr>
                <a:solidFill>
                  <a:schemeClr val="bg1"/>
                </a:solidFill>
              </a:defRPr>
            </a:lvl1pPr>
          </a:lstStyle>
          <a:p>
            <a:endParaRPr lang="zh-CN" altLang="en-US"/>
          </a:p>
        </p:txBody>
      </p:sp>
      <p:sp>
        <p:nvSpPr>
          <p:cNvPr id="6" name="灯片编号占位符 5">
            <a:extLst>
              <a:ext uri="{FF2B5EF4-FFF2-40B4-BE49-F238E27FC236}">
                <a16:creationId xmlns:a16="http://schemas.microsoft.com/office/drawing/2014/main" id="{79C28D73-1FDE-16E0-79C5-A56FB8C13677}"/>
              </a:ext>
            </a:extLst>
          </p:cNvPr>
          <p:cNvSpPr>
            <a:spLocks noGrp="1"/>
          </p:cNvSpPr>
          <p:nvPr>
            <p:ph type="sldNum" sz="quarter" idx="12"/>
          </p:nvPr>
        </p:nvSpPr>
        <p:spPr/>
        <p:txBody>
          <a:bodyPr/>
          <a:lstStyle>
            <a:lvl1pPr>
              <a:defRPr>
                <a:solidFill>
                  <a:schemeClr val="bg1"/>
                </a:solidFill>
              </a:defRPr>
            </a:lvl1pPr>
          </a:lstStyle>
          <a:p>
            <a:fld id="{8BB2EA2D-A50E-44FB-B88E-CBE7D8AFAE30}" type="slidenum">
              <a:rPr lang="zh-CN" altLang="en-US" smtClean="0"/>
              <a:pPr/>
              <a:t>‹#›</a:t>
            </a:fld>
            <a:endParaRPr lang="zh-CN" altLang="en-US"/>
          </a:p>
        </p:txBody>
      </p:sp>
    </p:spTree>
    <p:extLst>
      <p:ext uri="{BB962C8B-B14F-4D97-AF65-F5344CB8AC3E}">
        <p14:creationId xmlns:p14="http://schemas.microsoft.com/office/powerpoint/2010/main" val="2255647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003153"/>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149C6F-6E87-4941-F7ED-112B5F1244DC}"/>
              </a:ext>
            </a:extLst>
          </p:cNvPr>
          <p:cNvSpPr>
            <a:spLocks noGrp="1"/>
          </p:cNvSpPr>
          <p:nvPr>
            <p:ph type="title"/>
          </p:nvPr>
        </p:nvSpPr>
        <p:spPr>
          <a:xfrm>
            <a:off x="831850" y="1709738"/>
            <a:ext cx="10515600" cy="2852737"/>
          </a:xfrm>
        </p:spPr>
        <p:txBody>
          <a:bodyPr anchor="b"/>
          <a:lstStyle>
            <a:lvl1pPr>
              <a:defRPr sz="6000">
                <a:solidFill>
                  <a:schemeClr val="bg1"/>
                </a:solidFill>
              </a:defRPr>
            </a:lvl1pPr>
          </a:lstStyle>
          <a:p>
            <a:r>
              <a:rPr lang="zh-CN" altLang="en-US" dirty="0"/>
              <a:t>单击此处编辑母版标题样式</a:t>
            </a:r>
          </a:p>
        </p:txBody>
      </p:sp>
      <p:sp>
        <p:nvSpPr>
          <p:cNvPr id="3" name="文本占位符 2">
            <a:extLst>
              <a:ext uri="{FF2B5EF4-FFF2-40B4-BE49-F238E27FC236}">
                <a16:creationId xmlns:a16="http://schemas.microsoft.com/office/drawing/2014/main" id="{0F935FBC-00D6-CE13-3D40-723C23487B00}"/>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6106CCC-0FE8-835A-A852-6EE687D44A36}"/>
              </a:ext>
            </a:extLst>
          </p:cNvPr>
          <p:cNvSpPr>
            <a:spLocks noGrp="1"/>
          </p:cNvSpPr>
          <p:nvPr>
            <p:ph type="dt" sz="half" idx="10"/>
          </p:nvPr>
        </p:nvSpPr>
        <p:spPr>
          <a:xfrm>
            <a:off x="838200" y="6356350"/>
            <a:ext cx="2743200" cy="365125"/>
          </a:xfrm>
          <a:prstGeom prst="rect">
            <a:avLst/>
          </a:prstGeom>
        </p:spPr>
        <p:txBody>
          <a:bodyPr/>
          <a:lstStyle>
            <a:lvl1pPr>
              <a:defRPr>
                <a:solidFill>
                  <a:schemeClr val="bg1"/>
                </a:solidFill>
              </a:defRPr>
            </a:lvl1pPr>
          </a:lstStyle>
          <a:p>
            <a:fld id="{1A020B4B-9F71-4A7D-B2B3-B930E817569B}" type="datetimeFigureOut">
              <a:rPr lang="zh-CN" altLang="en-US" smtClean="0"/>
              <a:pPr/>
              <a:t>2025/12/1</a:t>
            </a:fld>
            <a:endParaRPr lang="zh-CN" altLang="en-US"/>
          </a:p>
        </p:txBody>
      </p:sp>
      <p:sp>
        <p:nvSpPr>
          <p:cNvPr id="5" name="页脚占位符 4">
            <a:extLst>
              <a:ext uri="{FF2B5EF4-FFF2-40B4-BE49-F238E27FC236}">
                <a16:creationId xmlns:a16="http://schemas.microsoft.com/office/drawing/2014/main" id="{9C40B616-3F61-16B3-69D5-1E95EF06F44B}"/>
              </a:ext>
            </a:extLst>
          </p:cNvPr>
          <p:cNvSpPr>
            <a:spLocks noGrp="1"/>
          </p:cNvSpPr>
          <p:nvPr>
            <p:ph type="ftr" sz="quarter" idx="11"/>
          </p:nvPr>
        </p:nvSpPr>
        <p:spPr>
          <a:xfrm>
            <a:off x="4038600" y="6356350"/>
            <a:ext cx="4114800" cy="365125"/>
          </a:xfrm>
          <a:prstGeom prst="rect">
            <a:avLst/>
          </a:prstGeom>
        </p:spPr>
        <p:txBody>
          <a:bodyPr/>
          <a:lstStyle>
            <a:lvl1pPr>
              <a:defRPr>
                <a:solidFill>
                  <a:schemeClr val="bg1"/>
                </a:solidFill>
              </a:defRPr>
            </a:lvl1pPr>
          </a:lstStyle>
          <a:p>
            <a:endParaRPr lang="zh-CN" altLang="en-US"/>
          </a:p>
        </p:txBody>
      </p:sp>
      <p:sp>
        <p:nvSpPr>
          <p:cNvPr id="6" name="灯片编号占位符 5">
            <a:extLst>
              <a:ext uri="{FF2B5EF4-FFF2-40B4-BE49-F238E27FC236}">
                <a16:creationId xmlns:a16="http://schemas.microsoft.com/office/drawing/2014/main" id="{350DF95E-9AED-F509-70D3-CC9F048BBAA1}"/>
              </a:ext>
            </a:extLst>
          </p:cNvPr>
          <p:cNvSpPr>
            <a:spLocks noGrp="1"/>
          </p:cNvSpPr>
          <p:nvPr>
            <p:ph type="sldNum" sz="quarter" idx="12"/>
          </p:nvPr>
        </p:nvSpPr>
        <p:spPr/>
        <p:txBody>
          <a:bodyPr/>
          <a:lstStyle>
            <a:lvl1pPr>
              <a:defRPr>
                <a:solidFill>
                  <a:schemeClr val="bg1"/>
                </a:solidFill>
              </a:defRPr>
            </a:lvl1pPr>
          </a:lstStyle>
          <a:p>
            <a:fld id="{8BB2EA2D-A50E-44FB-B88E-CBE7D8AFAE30}" type="slidenum">
              <a:rPr lang="zh-CN" altLang="en-US" smtClean="0"/>
              <a:pPr/>
              <a:t>‹#›</a:t>
            </a:fld>
            <a:endParaRPr lang="zh-CN" altLang="en-US"/>
          </a:p>
        </p:txBody>
      </p:sp>
    </p:spTree>
    <p:extLst>
      <p:ext uri="{BB962C8B-B14F-4D97-AF65-F5344CB8AC3E}">
        <p14:creationId xmlns:p14="http://schemas.microsoft.com/office/powerpoint/2010/main" val="2369138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00324D"/>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6602EB-EB8A-49A6-AD05-22521418A556}"/>
              </a:ext>
            </a:extLst>
          </p:cNvPr>
          <p:cNvSpPr>
            <a:spLocks noGrp="1"/>
          </p:cNvSpPr>
          <p:nvPr>
            <p:ph type="title"/>
          </p:nvPr>
        </p:nvSpPr>
        <p:spPr/>
        <p:txBody>
          <a:bodyPr/>
          <a:lstStyle>
            <a:lvl1pPr>
              <a:defRPr>
                <a:latin typeface="方正粗黑宋简体" panose="02000000000000000000" pitchFamily="2" charset="-122"/>
                <a:ea typeface="方正粗黑宋简体" panose="02000000000000000000" pitchFamily="2" charset="-122"/>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B511982C-760C-1C32-66E4-BD1CA94895F2}"/>
              </a:ext>
            </a:extLst>
          </p:cNvPr>
          <p:cNvSpPr>
            <a:spLocks noGrp="1"/>
          </p:cNvSpPr>
          <p:nvPr>
            <p:ph sz="half" idx="1"/>
          </p:nvPr>
        </p:nvSpPr>
        <p:spPr>
          <a:xfrm>
            <a:off x="838200" y="1825625"/>
            <a:ext cx="5181600" cy="4351338"/>
          </a:xfrm>
        </p:spPr>
        <p:txBody>
          <a:bodyPr/>
          <a:lstStyle>
            <a:lvl1pPr>
              <a:defRPr>
                <a:latin typeface="方正屏显雅宋简体" panose="02010600010101010101" pitchFamily="2" charset="-122"/>
                <a:ea typeface="方正屏显雅宋简体" panose="02010600010101010101" pitchFamily="2" charset="-122"/>
              </a:defRPr>
            </a:lvl1pPr>
            <a:lvl2pPr>
              <a:defRPr>
                <a:latin typeface="方正屏显雅宋简体" panose="02010600010101010101" pitchFamily="2" charset="-122"/>
                <a:ea typeface="方正屏显雅宋简体" panose="02010600010101010101" pitchFamily="2" charset="-122"/>
              </a:defRPr>
            </a:lvl2pPr>
            <a:lvl3pPr>
              <a:defRPr>
                <a:latin typeface="方正屏显雅宋简体" panose="02010600010101010101" pitchFamily="2" charset="-122"/>
                <a:ea typeface="方正屏显雅宋简体" panose="02010600010101010101" pitchFamily="2" charset="-122"/>
              </a:defRPr>
            </a:lvl3pPr>
            <a:lvl4pPr>
              <a:defRPr>
                <a:latin typeface="方正屏显雅宋简体" panose="02010600010101010101" pitchFamily="2" charset="-122"/>
                <a:ea typeface="方正屏显雅宋简体" panose="02010600010101010101" pitchFamily="2" charset="-122"/>
              </a:defRPr>
            </a:lvl4pPr>
            <a:lvl5pPr>
              <a:defRPr>
                <a:latin typeface="方正屏显雅宋简体" panose="02010600010101010101" pitchFamily="2" charset="-122"/>
                <a:ea typeface="方正屏显雅宋简体" panose="02010600010101010101" pitchFamily="2"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内容占位符 3">
            <a:extLst>
              <a:ext uri="{FF2B5EF4-FFF2-40B4-BE49-F238E27FC236}">
                <a16:creationId xmlns:a16="http://schemas.microsoft.com/office/drawing/2014/main" id="{92057263-C51E-F1DF-58D8-69E2B022A082}"/>
              </a:ext>
            </a:extLst>
          </p:cNvPr>
          <p:cNvSpPr>
            <a:spLocks noGrp="1"/>
          </p:cNvSpPr>
          <p:nvPr>
            <p:ph sz="half" idx="2"/>
          </p:nvPr>
        </p:nvSpPr>
        <p:spPr>
          <a:xfrm>
            <a:off x="6172200" y="1825625"/>
            <a:ext cx="5181600" cy="4351338"/>
          </a:xfrm>
        </p:spPr>
        <p:txBody>
          <a:bodyPr/>
          <a:lstStyle>
            <a:lvl1pPr>
              <a:defRPr>
                <a:latin typeface="方正屏显雅宋简体" panose="02010600010101010101" pitchFamily="2" charset="-122"/>
                <a:ea typeface="方正屏显雅宋简体" panose="02010600010101010101" pitchFamily="2" charset="-122"/>
              </a:defRPr>
            </a:lvl1pPr>
            <a:lvl2pPr>
              <a:defRPr>
                <a:latin typeface="方正屏显雅宋简体" panose="02010600010101010101" pitchFamily="2" charset="-122"/>
                <a:ea typeface="方正屏显雅宋简体" panose="02010600010101010101" pitchFamily="2" charset="-122"/>
              </a:defRPr>
            </a:lvl2pPr>
            <a:lvl3pPr>
              <a:defRPr>
                <a:latin typeface="方正屏显雅宋简体" panose="02010600010101010101" pitchFamily="2" charset="-122"/>
                <a:ea typeface="方正屏显雅宋简体" panose="02010600010101010101" pitchFamily="2" charset="-122"/>
              </a:defRPr>
            </a:lvl3pPr>
            <a:lvl4pPr>
              <a:defRPr>
                <a:latin typeface="方正屏显雅宋简体" panose="02010600010101010101" pitchFamily="2" charset="-122"/>
                <a:ea typeface="方正屏显雅宋简体" panose="02010600010101010101" pitchFamily="2" charset="-122"/>
              </a:defRPr>
            </a:lvl4pPr>
            <a:lvl5pPr>
              <a:defRPr>
                <a:latin typeface="方正屏显雅宋简体" panose="02010600010101010101" pitchFamily="2" charset="-122"/>
                <a:ea typeface="方正屏显雅宋简体" panose="02010600010101010101" pitchFamily="2"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日期占位符 4">
            <a:extLst>
              <a:ext uri="{FF2B5EF4-FFF2-40B4-BE49-F238E27FC236}">
                <a16:creationId xmlns:a16="http://schemas.microsoft.com/office/drawing/2014/main" id="{76BFD33E-244A-BDB6-7EB7-0F6100360BE3}"/>
              </a:ext>
            </a:extLst>
          </p:cNvPr>
          <p:cNvSpPr>
            <a:spLocks noGrp="1"/>
          </p:cNvSpPr>
          <p:nvPr>
            <p:ph type="dt" sz="half" idx="10"/>
          </p:nvPr>
        </p:nvSpPr>
        <p:spPr>
          <a:xfrm>
            <a:off x="838200" y="6356350"/>
            <a:ext cx="2743200" cy="365125"/>
          </a:xfrm>
          <a:prstGeom prst="rect">
            <a:avLst/>
          </a:prstGeom>
        </p:spPr>
        <p:txBody>
          <a:bodyPr/>
          <a:lstStyle/>
          <a:p>
            <a:fld id="{1A020B4B-9F71-4A7D-B2B3-B930E817569B}" type="datetimeFigureOut">
              <a:rPr lang="zh-CN" altLang="en-US" smtClean="0"/>
              <a:t>2025/12/1</a:t>
            </a:fld>
            <a:endParaRPr lang="zh-CN" altLang="en-US"/>
          </a:p>
        </p:txBody>
      </p:sp>
      <p:sp>
        <p:nvSpPr>
          <p:cNvPr id="6" name="页脚占位符 5">
            <a:extLst>
              <a:ext uri="{FF2B5EF4-FFF2-40B4-BE49-F238E27FC236}">
                <a16:creationId xmlns:a16="http://schemas.microsoft.com/office/drawing/2014/main" id="{1D98EA0E-4CD1-18C1-845C-DAB2F605BDB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23B80800-75DF-65FF-07AC-2451A4D77099}"/>
              </a:ext>
            </a:extLst>
          </p:cNvPr>
          <p:cNvSpPr>
            <a:spLocks noGrp="1"/>
          </p:cNvSpPr>
          <p:nvPr>
            <p:ph type="sldNum" sz="quarter" idx="12"/>
          </p:nvPr>
        </p:nvSpPr>
        <p:spPr/>
        <p:txBody>
          <a:bodyPr/>
          <a:lstStyle/>
          <a:p>
            <a:fld id="{8BB2EA2D-A50E-44FB-B88E-CBE7D8AFAE30}" type="slidenum">
              <a:rPr lang="zh-CN" altLang="en-US" smtClean="0"/>
              <a:t>‹#›</a:t>
            </a:fld>
            <a:endParaRPr lang="zh-CN" altLang="en-US"/>
          </a:p>
        </p:txBody>
      </p:sp>
    </p:spTree>
    <p:extLst>
      <p:ext uri="{BB962C8B-B14F-4D97-AF65-F5344CB8AC3E}">
        <p14:creationId xmlns:p14="http://schemas.microsoft.com/office/powerpoint/2010/main" val="3768871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00324D"/>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E8E749-B46E-0C41-5765-C81C2C6C0ADD}"/>
              </a:ext>
            </a:extLst>
          </p:cNvPr>
          <p:cNvSpPr>
            <a:spLocks noGrp="1"/>
          </p:cNvSpPr>
          <p:nvPr>
            <p:ph type="title"/>
          </p:nvPr>
        </p:nvSpPr>
        <p:spPr>
          <a:xfrm>
            <a:off x="838200" y="136525"/>
            <a:ext cx="10515600" cy="947144"/>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DEEBF1C-A15C-4BD3-7E09-0D55B9A6A7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8804972-AB11-F737-55CA-E75627B039A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EDF1FCB-D115-053B-9AFB-41467CA785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3548D2-2539-768B-693C-3EB74E02CF4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8C23B9C-FE79-DD87-6F06-D4145BDFDD9C}"/>
              </a:ext>
            </a:extLst>
          </p:cNvPr>
          <p:cNvSpPr>
            <a:spLocks noGrp="1"/>
          </p:cNvSpPr>
          <p:nvPr>
            <p:ph type="dt" sz="half" idx="10"/>
          </p:nvPr>
        </p:nvSpPr>
        <p:spPr>
          <a:xfrm>
            <a:off x="838200" y="6356350"/>
            <a:ext cx="2743200" cy="365125"/>
          </a:xfrm>
          <a:prstGeom prst="rect">
            <a:avLst/>
          </a:prstGeom>
        </p:spPr>
        <p:txBody>
          <a:bodyPr/>
          <a:lstStyle/>
          <a:p>
            <a:fld id="{1A020B4B-9F71-4A7D-B2B3-B930E817569B}" type="datetimeFigureOut">
              <a:rPr lang="zh-CN" altLang="en-US" smtClean="0"/>
              <a:t>2025/12/1</a:t>
            </a:fld>
            <a:endParaRPr lang="zh-CN" altLang="en-US"/>
          </a:p>
        </p:txBody>
      </p:sp>
      <p:sp>
        <p:nvSpPr>
          <p:cNvPr id="8" name="页脚占位符 7">
            <a:extLst>
              <a:ext uri="{FF2B5EF4-FFF2-40B4-BE49-F238E27FC236}">
                <a16:creationId xmlns:a16="http://schemas.microsoft.com/office/drawing/2014/main" id="{983BAA2C-8C06-D26D-01C1-9CC822C7AD87}"/>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67D5BB11-7A56-C4C4-F364-31FC6255E667}"/>
              </a:ext>
            </a:extLst>
          </p:cNvPr>
          <p:cNvSpPr>
            <a:spLocks noGrp="1"/>
          </p:cNvSpPr>
          <p:nvPr>
            <p:ph type="sldNum" sz="quarter" idx="12"/>
          </p:nvPr>
        </p:nvSpPr>
        <p:spPr/>
        <p:txBody>
          <a:bodyPr/>
          <a:lstStyle/>
          <a:p>
            <a:fld id="{8BB2EA2D-A50E-44FB-B88E-CBE7D8AFAE30}" type="slidenum">
              <a:rPr lang="zh-CN" altLang="en-US" smtClean="0"/>
              <a:t>‹#›</a:t>
            </a:fld>
            <a:endParaRPr lang="zh-CN" altLang="en-US"/>
          </a:p>
        </p:txBody>
      </p:sp>
    </p:spTree>
    <p:extLst>
      <p:ext uri="{BB962C8B-B14F-4D97-AF65-F5344CB8AC3E}">
        <p14:creationId xmlns:p14="http://schemas.microsoft.com/office/powerpoint/2010/main" val="228652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00324D"/>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467A8-9E95-47EB-30F8-05CFD2B5CEF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B150B11-ED7F-D480-95C5-BEDB4CE67F72}"/>
              </a:ext>
            </a:extLst>
          </p:cNvPr>
          <p:cNvSpPr>
            <a:spLocks noGrp="1"/>
          </p:cNvSpPr>
          <p:nvPr>
            <p:ph type="dt" sz="half" idx="10"/>
          </p:nvPr>
        </p:nvSpPr>
        <p:spPr>
          <a:xfrm>
            <a:off x="838200" y="6356350"/>
            <a:ext cx="2743200" cy="365125"/>
          </a:xfrm>
          <a:prstGeom prst="rect">
            <a:avLst/>
          </a:prstGeom>
        </p:spPr>
        <p:txBody>
          <a:bodyPr/>
          <a:lstStyle/>
          <a:p>
            <a:fld id="{1A020B4B-9F71-4A7D-B2B3-B930E817569B}" type="datetimeFigureOut">
              <a:rPr lang="zh-CN" altLang="en-US" smtClean="0"/>
              <a:t>2025/12/1</a:t>
            </a:fld>
            <a:endParaRPr lang="zh-CN" altLang="en-US"/>
          </a:p>
        </p:txBody>
      </p:sp>
      <p:sp>
        <p:nvSpPr>
          <p:cNvPr id="4" name="页脚占位符 3">
            <a:extLst>
              <a:ext uri="{FF2B5EF4-FFF2-40B4-BE49-F238E27FC236}">
                <a16:creationId xmlns:a16="http://schemas.microsoft.com/office/drawing/2014/main" id="{5B252EF7-72F9-ED4A-FAF4-472B4CD8D27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C079716-0DDC-9633-EE3E-5C72A6DD8BA9}"/>
              </a:ext>
            </a:extLst>
          </p:cNvPr>
          <p:cNvSpPr>
            <a:spLocks noGrp="1"/>
          </p:cNvSpPr>
          <p:nvPr>
            <p:ph type="sldNum" sz="quarter" idx="12"/>
          </p:nvPr>
        </p:nvSpPr>
        <p:spPr/>
        <p:txBody>
          <a:bodyPr/>
          <a:lstStyle/>
          <a:p>
            <a:fld id="{8BB2EA2D-A50E-44FB-B88E-CBE7D8AFAE30}" type="slidenum">
              <a:rPr lang="zh-CN" altLang="en-US" smtClean="0"/>
              <a:t>‹#›</a:t>
            </a:fld>
            <a:endParaRPr lang="zh-CN" altLang="en-US"/>
          </a:p>
        </p:txBody>
      </p:sp>
    </p:spTree>
    <p:extLst>
      <p:ext uri="{BB962C8B-B14F-4D97-AF65-F5344CB8AC3E}">
        <p14:creationId xmlns:p14="http://schemas.microsoft.com/office/powerpoint/2010/main" val="3327450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00324D"/>
        </a:solidFill>
        <a:effectLst/>
      </p:bgPr>
    </p:bg>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B9E4FED-0E06-855F-6854-86D5B7CF656B}"/>
              </a:ext>
            </a:extLst>
          </p:cNvPr>
          <p:cNvSpPr>
            <a:spLocks noGrp="1"/>
          </p:cNvSpPr>
          <p:nvPr>
            <p:ph type="dt" sz="half" idx="10"/>
          </p:nvPr>
        </p:nvSpPr>
        <p:spPr>
          <a:xfrm>
            <a:off x="838200" y="6356350"/>
            <a:ext cx="2743200" cy="365125"/>
          </a:xfrm>
          <a:prstGeom prst="rect">
            <a:avLst/>
          </a:prstGeom>
        </p:spPr>
        <p:txBody>
          <a:bodyPr/>
          <a:lstStyle/>
          <a:p>
            <a:fld id="{1A020B4B-9F71-4A7D-B2B3-B930E817569B}" type="datetimeFigureOut">
              <a:rPr lang="zh-CN" altLang="en-US" smtClean="0"/>
              <a:t>2025/12/1</a:t>
            </a:fld>
            <a:endParaRPr lang="zh-CN" altLang="en-US"/>
          </a:p>
        </p:txBody>
      </p:sp>
      <p:sp>
        <p:nvSpPr>
          <p:cNvPr id="3" name="页脚占位符 2">
            <a:extLst>
              <a:ext uri="{FF2B5EF4-FFF2-40B4-BE49-F238E27FC236}">
                <a16:creationId xmlns:a16="http://schemas.microsoft.com/office/drawing/2014/main" id="{49AA87B6-A943-BE8B-8214-342C7822186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EC98ED05-FCEF-503F-682F-1CF455380638}"/>
              </a:ext>
            </a:extLst>
          </p:cNvPr>
          <p:cNvSpPr>
            <a:spLocks noGrp="1"/>
          </p:cNvSpPr>
          <p:nvPr>
            <p:ph type="sldNum" sz="quarter" idx="12"/>
          </p:nvPr>
        </p:nvSpPr>
        <p:spPr/>
        <p:txBody>
          <a:bodyPr/>
          <a:lstStyle/>
          <a:p>
            <a:fld id="{8BB2EA2D-A50E-44FB-B88E-CBE7D8AFAE30}" type="slidenum">
              <a:rPr lang="zh-CN" altLang="en-US" smtClean="0"/>
              <a:t>‹#›</a:t>
            </a:fld>
            <a:endParaRPr lang="zh-CN" altLang="en-US"/>
          </a:p>
        </p:txBody>
      </p:sp>
    </p:spTree>
    <p:extLst>
      <p:ext uri="{BB962C8B-B14F-4D97-AF65-F5344CB8AC3E}">
        <p14:creationId xmlns:p14="http://schemas.microsoft.com/office/powerpoint/2010/main" val="2219554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rgbClr val="00324D"/>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3B0044-67F5-3C8E-CA2D-610A33F1394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5C5BC19-00AF-3A64-05EA-392E067EFA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B195FF0-4CF1-FBBF-4575-0919D22E74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FA61DDF-9D8B-38C7-E9B5-D4C9537C0BB8}"/>
              </a:ext>
            </a:extLst>
          </p:cNvPr>
          <p:cNvSpPr>
            <a:spLocks noGrp="1"/>
          </p:cNvSpPr>
          <p:nvPr>
            <p:ph type="dt" sz="half" idx="10"/>
          </p:nvPr>
        </p:nvSpPr>
        <p:spPr>
          <a:xfrm>
            <a:off x="838200" y="6356350"/>
            <a:ext cx="2743200" cy="365125"/>
          </a:xfrm>
          <a:prstGeom prst="rect">
            <a:avLst/>
          </a:prstGeom>
        </p:spPr>
        <p:txBody>
          <a:bodyPr/>
          <a:lstStyle/>
          <a:p>
            <a:fld id="{1A020B4B-9F71-4A7D-B2B3-B930E817569B}" type="datetimeFigureOut">
              <a:rPr lang="zh-CN" altLang="en-US" smtClean="0"/>
              <a:t>2025/12/1</a:t>
            </a:fld>
            <a:endParaRPr lang="zh-CN" altLang="en-US"/>
          </a:p>
        </p:txBody>
      </p:sp>
      <p:sp>
        <p:nvSpPr>
          <p:cNvPr id="6" name="页脚占位符 5">
            <a:extLst>
              <a:ext uri="{FF2B5EF4-FFF2-40B4-BE49-F238E27FC236}">
                <a16:creationId xmlns:a16="http://schemas.microsoft.com/office/drawing/2014/main" id="{003B1C2D-9989-8298-C7A6-DCA762D93C69}"/>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B401DF21-45AC-037B-F23F-E8C7F04477BD}"/>
              </a:ext>
            </a:extLst>
          </p:cNvPr>
          <p:cNvSpPr>
            <a:spLocks noGrp="1"/>
          </p:cNvSpPr>
          <p:nvPr>
            <p:ph type="sldNum" sz="quarter" idx="12"/>
          </p:nvPr>
        </p:nvSpPr>
        <p:spPr/>
        <p:txBody>
          <a:bodyPr/>
          <a:lstStyle/>
          <a:p>
            <a:fld id="{8BB2EA2D-A50E-44FB-B88E-CBE7D8AFAE30}" type="slidenum">
              <a:rPr lang="zh-CN" altLang="en-US" smtClean="0"/>
              <a:t>‹#›</a:t>
            </a:fld>
            <a:endParaRPr lang="zh-CN" altLang="en-US"/>
          </a:p>
        </p:txBody>
      </p:sp>
    </p:spTree>
    <p:extLst>
      <p:ext uri="{BB962C8B-B14F-4D97-AF65-F5344CB8AC3E}">
        <p14:creationId xmlns:p14="http://schemas.microsoft.com/office/powerpoint/2010/main" val="1710688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rgbClr val="00324D"/>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DAD4DE-2472-79D9-0925-53F3AF304D8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9153EFD-D361-AF9A-B651-F124820F72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8CA45F4-519C-047B-9AD5-AEA5FC8B2D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F57627F-F3C8-1D2D-C07C-6359C55AE6F9}"/>
              </a:ext>
            </a:extLst>
          </p:cNvPr>
          <p:cNvSpPr>
            <a:spLocks noGrp="1"/>
          </p:cNvSpPr>
          <p:nvPr>
            <p:ph type="dt" sz="half" idx="10"/>
          </p:nvPr>
        </p:nvSpPr>
        <p:spPr>
          <a:xfrm>
            <a:off x="838200" y="6356350"/>
            <a:ext cx="2743200" cy="365125"/>
          </a:xfrm>
          <a:prstGeom prst="rect">
            <a:avLst/>
          </a:prstGeom>
        </p:spPr>
        <p:txBody>
          <a:bodyPr/>
          <a:lstStyle/>
          <a:p>
            <a:fld id="{1A020B4B-9F71-4A7D-B2B3-B930E817569B}" type="datetimeFigureOut">
              <a:rPr lang="zh-CN" altLang="en-US" smtClean="0"/>
              <a:t>2025/12/1</a:t>
            </a:fld>
            <a:endParaRPr lang="zh-CN" altLang="en-US"/>
          </a:p>
        </p:txBody>
      </p:sp>
      <p:sp>
        <p:nvSpPr>
          <p:cNvPr id="6" name="页脚占位符 5">
            <a:extLst>
              <a:ext uri="{FF2B5EF4-FFF2-40B4-BE49-F238E27FC236}">
                <a16:creationId xmlns:a16="http://schemas.microsoft.com/office/drawing/2014/main" id="{22FD985F-DA64-B306-9873-70744B11CAC9}"/>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3CB77194-C6FC-F225-58B7-E804870FC365}"/>
              </a:ext>
            </a:extLst>
          </p:cNvPr>
          <p:cNvSpPr>
            <a:spLocks noGrp="1"/>
          </p:cNvSpPr>
          <p:nvPr>
            <p:ph type="sldNum" sz="quarter" idx="12"/>
          </p:nvPr>
        </p:nvSpPr>
        <p:spPr/>
        <p:txBody>
          <a:bodyPr/>
          <a:lstStyle/>
          <a:p>
            <a:fld id="{8BB2EA2D-A50E-44FB-B88E-CBE7D8AFAE30}" type="slidenum">
              <a:rPr lang="zh-CN" altLang="en-US" smtClean="0"/>
              <a:t>‹#›</a:t>
            </a:fld>
            <a:endParaRPr lang="zh-CN" altLang="en-US"/>
          </a:p>
        </p:txBody>
      </p:sp>
    </p:spTree>
    <p:extLst>
      <p:ext uri="{BB962C8B-B14F-4D97-AF65-F5344CB8AC3E}">
        <p14:creationId xmlns:p14="http://schemas.microsoft.com/office/powerpoint/2010/main" val="3342324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rgbClr val="00324D"/>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66816E-1A09-CA6A-B590-38B686AE0B3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9894DEF-5238-F11A-F990-D9493146A848}"/>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9FA23C0-BD99-9635-9441-C3C809882D97}"/>
              </a:ext>
            </a:extLst>
          </p:cNvPr>
          <p:cNvSpPr>
            <a:spLocks noGrp="1"/>
          </p:cNvSpPr>
          <p:nvPr>
            <p:ph type="dt" sz="half" idx="10"/>
          </p:nvPr>
        </p:nvSpPr>
        <p:spPr>
          <a:xfrm>
            <a:off x="838200" y="6356350"/>
            <a:ext cx="2743200" cy="365125"/>
          </a:xfrm>
          <a:prstGeom prst="rect">
            <a:avLst/>
          </a:prstGeom>
        </p:spPr>
        <p:txBody>
          <a:bodyPr/>
          <a:lstStyle/>
          <a:p>
            <a:fld id="{1A020B4B-9F71-4A7D-B2B3-B930E817569B}" type="datetimeFigureOut">
              <a:rPr lang="zh-CN" altLang="en-US" smtClean="0"/>
              <a:t>2025/12/1</a:t>
            </a:fld>
            <a:endParaRPr lang="zh-CN" altLang="en-US"/>
          </a:p>
        </p:txBody>
      </p:sp>
      <p:sp>
        <p:nvSpPr>
          <p:cNvPr id="5" name="页脚占位符 4">
            <a:extLst>
              <a:ext uri="{FF2B5EF4-FFF2-40B4-BE49-F238E27FC236}">
                <a16:creationId xmlns:a16="http://schemas.microsoft.com/office/drawing/2014/main" id="{3098B8DC-105F-4706-760C-ED87C5215F93}"/>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3F6C4EE8-812E-6AF3-414B-9138FF193666}"/>
              </a:ext>
            </a:extLst>
          </p:cNvPr>
          <p:cNvSpPr>
            <a:spLocks noGrp="1"/>
          </p:cNvSpPr>
          <p:nvPr>
            <p:ph type="sldNum" sz="quarter" idx="12"/>
          </p:nvPr>
        </p:nvSpPr>
        <p:spPr/>
        <p:txBody>
          <a:bodyPr/>
          <a:lstStyle/>
          <a:p>
            <a:fld id="{8BB2EA2D-A50E-44FB-B88E-CBE7D8AFAE30}" type="slidenum">
              <a:rPr lang="zh-CN" altLang="en-US" smtClean="0"/>
              <a:t>‹#›</a:t>
            </a:fld>
            <a:endParaRPr lang="zh-CN" altLang="en-US"/>
          </a:p>
        </p:txBody>
      </p:sp>
    </p:spTree>
    <p:extLst>
      <p:ext uri="{BB962C8B-B14F-4D97-AF65-F5344CB8AC3E}">
        <p14:creationId xmlns:p14="http://schemas.microsoft.com/office/powerpoint/2010/main" val="28987515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00324D"/>
        </a:solidFill>
        <a:effectLst/>
      </p:bgPr>
    </p:bg>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0DF08A6-AEEC-5D19-6058-E0AAEC0956B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27D1CDC-C7FF-C3E5-6DB5-8A700633AB7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191FA3E-7ACF-6752-2ACE-81ECC8159864}"/>
              </a:ext>
            </a:extLst>
          </p:cNvPr>
          <p:cNvSpPr>
            <a:spLocks noGrp="1"/>
          </p:cNvSpPr>
          <p:nvPr>
            <p:ph type="dt" sz="half" idx="10"/>
          </p:nvPr>
        </p:nvSpPr>
        <p:spPr>
          <a:xfrm>
            <a:off x="838200" y="6356350"/>
            <a:ext cx="2743200" cy="365125"/>
          </a:xfrm>
          <a:prstGeom prst="rect">
            <a:avLst/>
          </a:prstGeom>
        </p:spPr>
        <p:txBody>
          <a:bodyPr/>
          <a:lstStyle/>
          <a:p>
            <a:fld id="{1A020B4B-9F71-4A7D-B2B3-B930E817569B}" type="datetimeFigureOut">
              <a:rPr lang="zh-CN" altLang="en-US" smtClean="0"/>
              <a:t>2025/12/1</a:t>
            </a:fld>
            <a:endParaRPr lang="zh-CN" altLang="en-US"/>
          </a:p>
        </p:txBody>
      </p:sp>
      <p:sp>
        <p:nvSpPr>
          <p:cNvPr id="5" name="页脚占位符 4">
            <a:extLst>
              <a:ext uri="{FF2B5EF4-FFF2-40B4-BE49-F238E27FC236}">
                <a16:creationId xmlns:a16="http://schemas.microsoft.com/office/drawing/2014/main" id="{52F58582-0246-EC22-719F-182B0A133B9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DBB2C423-EA3F-693C-F48C-D312BF360C33}"/>
              </a:ext>
            </a:extLst>
          </p:cNvPr>
          <p:cNvSpPr>
            <a:spLocks noGrp="1"/>
          </p:cNvSpPr>
          <p:nvPr>
            <p:ph type="sldNum" sz="quarter" idx="12"/>
          </p:nvPr>
        </p:nvSpPr>
        <p:spPr/>
        <p:txBody>
          <a:bodyPr/>
          <a:lstStyle/>
          <a:p>
            <a:fld id="{8BB2EA2D-A50E-44FB-B88E-CBE7D8AFAE30}" type="slidenum">
              <a:rPr lang="zh-CN" altLang="en-US" smtClean="0"/>
              <a:t>‹#›</a:t>
            </a:fld>
            <a:endParaRPr lang="zh-CN" altLang="en-US"/>
          </a:p>
        </p:txBody>
      </p:sp>
    </p:spTree>
    <p:extLst>
      <p:ext uri="{BB962C8B-B14F-4D97-AF65-F5344CB8AC3E}">
        <p14:creationId xmlns:p14="http://schemas.microsoft.com/office/powerpoint/2010/main" val="15842508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324D"/>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5576ACB-FE79-1491-BC66-08BAD0C591B6}"/>
              </a:ext>
            </a:extLst>
          </p:cNvPr>
          <p:cNvSpPr>
            <a:spLocks noGrp="1"/>
          </p:cNvSpPr>
          <p:nvPr>
            <p:ph type="title"/>
          </p:nvPr>
        </p:nvSpPr>
        <p:spPr>
          <a:xfrm>
            <a:off x="478171" y="136525"/>
            <a:ext cx="11316749" cy="62862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D3D4A27B-95A6-BFED-6519-751B95613D0D}"/>
              </a:ext>
            </a:extLst>
          </p:cNvPr>
          <p:cNvSpPr>
            <a:spLocks noGrp="1"/>
          </p:cNvSpPr>
          <p:nvPr>
            <p:ph type="body" idx="1"/>
          </p:nvPr>
        </p:nvSpPr>
        <p:spPr>
          <a:xfrm>
            <a:off x="478171" y="922020"/>
            <a:ext cx="11316749" cy="535686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6" name="灯片编号占位符 5">
            <a:extLst>
              <a:ext uri="{FF2B5EF4-FFF2-40B4-BE49-F238E27FC236}">
                <a16:creationId xmlns:a16="http://schemas.microsoft.com/office/drawing/2014/main" id="{CAA284D6-C559-13D4-B1CA-9C05421872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8BB2EA2D-A50E-44FB-B88E-CBE7D8AFAE30}" type="slidenum">
              <a:rPr lang="zh-CN" altLang="en-US" smtClean="0"/>
              <a:pPr/>
              <a:t>‹#›</a:t>
            </a:fld>
            <a:endParaRPr lang="zh-CN" altLang="en-US"/>
          </a:p>
        </p:txBody>
      </p:sp>
      <p:pic>
        <p:nvPicPr>
          <p:cNvPr id="11" name="图形 10">
            <a:extLst>
              <a:ext uri="{FF2B5EF4-FFF2-40B4-BE49-F238E27FC236}">
                <a16:creationId xmlns:a16="http://schemas.microsoft.com/office/drawing/2014/main" id="{C86258C2-45F2-E69A-DBB9-C272546A73AE}"/>
              </a:ext>
            </a:extLst>
          </p:cNvPr>
          <p:cNvPicPr>
            <a:picLocks noChangeAspect="1"/>
          </p:cNvPicPr>
          <p:nvPr userDrawn="1"/>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0" y="6353334"/>
            <a:ext cx="1610686" cy="504666"/>
          </a:xfrm>
          <a:prstGeom prst="rect">
            <a:avLst/>
          </a:prstGeom>
        </p:spPr>
      </p:pic>
    </p:spTree>
    <p:extLst>
      <p:ext uri="{BB962C8B-B14F-4D97-AF65-F5344CB8AC3E}">
        <p14:creationId xmlns:p14="http://schemas.microsoft.com/office/powerpoint/2010/main" val="2764645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2800" b="1" kern="1200">
          <a:solidFill>
            <a:schemeClr val="bg1"/>
          </a:solidFill>
          <a:latin typeface="方正小标宋简体" panose="02010601030101010101" pitchFamily="2" charset="-122"/>
          <a:ea typeface="方正小标宋简体" panose="02010601030101010101" pitchFamily="2" charset="-122"/>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bg1"/>
          </a:solidFill>
          <a:latin typeface="方正小标宋简体" panose="02010601030101010101" pitchFamily="2" charset="-122"/>
          <a:ea typeface="方正小标宋简体" panose="0201060103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1"/>
          </a:solidFill>
          <a:latin typeface="方正小标宋简体" panose="02010601030101010101" pitchFamily="2" charset="-122"/>
          <a:ea typeface="方正小标宋简体" panose="02010601030101010101" pitchFamily="2" charset="-122"/>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方正小标宋简体" panose="02010601030101010101" pitchFamily="2" charset="-122"/>
          <a:ea typeface="方正小标宋简体" panose="02010601030101010101" pitchFamily="2" charset="-122"/>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方正小标宋简体" panose="02010601030101010101" pitchFamily="2" charset="-122"/>
          <a:ea typeface="方正小标宋简体" panose="02010601030101010101" pitchFamily="2" charset="-122"/>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方正小标宋简体" panose="02010601030101010101" pitchFamily="2" charset="-122"/>
          <a:ea typeface="方正小标宋简体" panose="02010601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BD6877-EC60-33A0-0A8A-38AC4D04D225}"/>
              </a:ext>
            </a:extLst>
          </p:cNvPr>
          <p:cNvSpPr>
            <a:spLocks noGrp="1"/>
          </p:cNvSpPr>
          <p:nvPr>
            <p:ph type="ctrTitle"/>
          </p:nvPr>
        </p:nvSpPr>
        <p:spPr>
          <a:xfrm>
            <a:off x="1524000" y="1448188"/>
            <a:ext cx="9144000" cy="2387600"/>
          </a:xfrm>
        </p:spPr>
        <p:txBody>
          <a:bodyPr>
            <a:normAutofit/>
          </a:bodyPr>
          <a:lstStyle/>
          <a:p>
            <a:pPr>
              <a:lnSpc>
                <a:spcPct val="150000"/>
              </a:lnSpc>
            </a:pPr>
            <a:r>
              <a:rPr lang="zh-CN" altLang="en-US" dirty="0">
                <a:solidFill>
                  <a:schemeClr val="bg1">
                    <a:lumMod val="85000"/>
                  </a:schemeClr>
                </a:solidFill>
                <a:latin typeface="方正小标宋简体" panose="02010601030101010101" pitchFamily="2" charset="-122"/>
                <a:ea typeface="方正小标宋简体" panose="02010601030101010101" pitchFamily="2" charset="-122"/>
              </a:rPr>
              <a:t>第</a:t>
            </a:r>
            <a:r>
              <a:rPr lang="en-US" altLang="zh-CN" dirty="0">
                <a:solidFill>
                  <a:schemeClr val="bg1">
                    <a:lumMod val="85000"/>
                  </a:schemeClr>
                </a:solidFill>
                <a:latin typeface="方正小标宋简体" panose="02010601030101010101" pitchFamily="2" charset="-122"/>
                <a:ea typeface="方正小标宋简体" panose="02010601030101010101" pitchFamily="2" charset="-122"/>
              </a:rPr>
              <a:t>9</a:t>
            </a:r>
            <a:r>
              <a:rPr lang="zh-CN" altLang="en-US">
                <a:solidFill>
                  <a:schemeClr val="bg1">
                    <a:lumMod val="85000"/>
                  </a:schemeClr>
                </a:solidFill>
                <a:latin typeface="方正小标宋简体" panose="02010601030101010101" pitchFamily="2" charset="-122"/>
                <a:ea typeface="方正小标宋简体" panose="02010601030101010101" pitchFamily="2" charset="-122"/>
              </a:rPr>
              <a:t>章 一阶逻辑的推理</a:t>
            </a:r>
            <a:endParaRPr lang="zh-CN" altLang="en-US" sz="4800" b="1" dirty="0">
              <a:solidFill>
                <a:schemeClr val="bg1">
                  <a:lumMod val="85000"/>
                </a:schemeClr>
              </a:solidFill>
              <a:latin typeface="方正小标宋简体" panose="02010601030101010101" pitchFamily="2" charset="-122"/>
              <a:ea typeface="方正小标宋简体" panose="02010601030101010101" pitchFamily="2" charset="-122"/>
            </a:endParaRPr>
          </a:p>
        </p:txBody>
      </p:sp>
      <p:sp>
        <p:nvSpPr>
          <p:cNvPr id="3" name="副标题 2">
            <a:extLst>
              <a:ext uri="{FF2B5EF4-FFF2-40B4-BE49-F238E27FC236}">
                <a16:creationId xmlns:a16="http://schemas.microsoft.com/office/drawing/2014/main" id="{670FC282-555E-F47D-B591-7787A0206B48}"/>
              </a:ext>
            </a:extLst>
          </p:cNvPr>
          <p:cNvSpPr>
            <a:spLocks noGrp="1"/>
          </p:cNvSpPr>
          <p:nvPr>
            <p:ph type="subTitle" idx="1"/>
          </p:nvPr>
        </p:nvSpPr>
        <p:spPr/>
        <p:txBody>
          <a:bodyPr/>
          <a:lstStyle/>
          <a:p>
            <a:r>
              <a:rPr lang="zh-CN" altLang="en-US">
                <a:solidFill>
                  <a:schemeClr val="bg1">
                    <a:lumMod val="85000"/>
                  </a:schemeClr>
                </a:solidFill>
              </a:rPr>
              <a:t>教员</a:t>
            </a:r>
            <a:r>
              <a:rPr lang="zh-CN" altLang="en-US" dirty="0">
                <a:solidFill>
                  <a:schemeClr val="bg1">
                    <a:lumMod val="85000"/>
                  </a:schemeClr>
                </a:solidFill>
              </a:rPr>
              <a:t>：庄东晔 副教授</a:t>
            </a:r>
            <a:endParaRPr lang="en-US" altLang="zh-CN" dirty="0">
              <a:solidFill>
                <a:schemeClr val="bg1">
                  <a:lumMod val="85000"/>
                </a:schemeClr>
              </a:solidFill>
            </a:endParaRPr>
          </a:p>
          <a:p>
            <a:r>
              <a:rPr lang="zh-CN" altLang="en-US" dirty="0">
                <a:solidFill>
                  <a:schemeClr val="bg1">
                    <a:lumMod val="85000"/>
                  </a:schemeClr>
                </a:solidFill>
              </a:rPr>
              <a:t>智能科学学院</a:t>
            </a:r>
          </a:p>
        </p:txBody>
      </p:sp>
      <p:sp>
        <p:nvSpPr>
          <p:cNvPr id="5" name="箭头: 五边形 4">
            <a:extLst>
              <a:ext uri="{FF2B5EF4-FFF2-40B4-BE49-F238E27FC236}">
                <a16:creationId xmlns:a16="http://schemas.microsoft.com/office/drawing/2014/main" id="{C6D74270-5819-9935-1293-08DD1F2E0DCF}"/>
              </a:ext>
            </a:extLst>
          </p:cNvPr>
          <p:cNvSpPr/>
          <p:nvPr/>
        </p:nvSpPr>
        <p:spPr>
          <a:xfrm>
            <a:off x="-2" y="0"/>
            <a:ext cx="9580419" cy="728071"/>
          </a:xfrm>
          <a:prstGeom prst="homePlate">
            <a:avLst/>
          </a:prstGeom>
          <a:solidFill>
            <a:srgbClr val="B890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rgbClr val="00324D"/>
                </a:solidFill>
                <a:latin typeface="隶书" panose="02010509060101010101" pitchFamily="49" charset="-122"/>
                <a:ea typeface="隶书" panose="02010509060101010101" pitchFamily="49" charset="-122"/>
              </a:rPr>
              <a:t>2025</a:t>
            </a:r>
            <a:r>
              <a:rPr lang="zh-CN" altLang="en-US" sz="3600" b="1" dirty="0">
                <a:solidFill>
                  <a:srgbClr val="00324D"/>
                </a:solidFill>
                <a:latin typeface="隶书" panose="02010509060101010101" pitchFamily="49" charset="-122"/>
                <a:ea typeface="隶书" panose="02010509060101010101" pitchFamily="49" charset="-122"/>
              </a:rPr>
              <a:t>年秋季学期研究生课程</a:t>
            </a:r>
            <a:r>
              <a:rPr lang="en-US" altLang="zh-CN" sz="3600" b="1" dirty="0">
                <a:solidFill>
                  <a:srgbClr val="00324D"/>
                </a:solidFill>
                <a:latin typeface="隶书" panose="02010509060101010101" pitchFamily="49" charset="-122"/>
                <a:ea typeface="隶书" panose="02010509060101010101" pitchFamily="49" charset="-122"/>
              </a:rPr>
              <a:t>《</a:t>
            </a:r>
            <a:r>
              <a:rPr lang="zh-CN" altLang="en-US" sz="3600" b="1" dirty="0">
                <a:solidFill>
                  <a:srgbClr val="00324D"/>
                </a:solidFill>
                <a:latin typeface="隶书" panose="02010509060101010101" pitchFamily="49" charset="-122"/>
                <a:ea typeface="隶书" panose="02010509060101010101" pitchFamily="49" charset="-122"/>
              </a:rPr>
              <a:t>人工智能</a:t>
            </a:r>
            <a:r>
              <a:rPr lang="en-US" altLang="zh-CN" sz="3600" b="1" dirty="0">
                <a:solidFill>
                  <a:srgbClr val="00324D"/>
                </a:solidFill>
                <a:latin typeface="隶书" panose="02010509060101010101" pitchFamily="49" charset="-122"/>
                <a:ea typeface="隶书" panose="02010509060101010101" pitchFamily="49" charset="-122"/>
              </a:rPr>
              <a:t>》</a:t>
            </a:r>
            <a:endParaRPr lang="zh-CN" altLang="en-US" sz="3600" b="1" dirty="0">
              <a:solidFill>
                <a:srgbClr val="00324D"/>
              </a:solidFill>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15083396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3D4BEF-1350-B28E-B288-068462669775}"/>
              </a:ext>
            </a:extLst>
          </p:cNvPr>
          <p:cNvSpPr>
            <a:spLocks noGrp="1"/>
          </p:cNvSpPr>
          <p:nvPr>
            <p:ph type="title"/>
          </p:nvPr>
        </p:nvSpPr>
        <p:spPr/>
        <p:txBody>
          <a:bodyPr/>
          <a:lstStyle/>
          <a:p>
            <a:r>
              <a:rPr lang="zh-CN" altLang="en-US" dirty="0"/>
              <a:t>引子</a:t>
            </a:r>
          </a:p>
        </p:txBody>
      </p:sp>
      <p:sp>
        <p:nvSpPr>
          <p:cNvPr id="4" name="矩形: 圆角 3">
            <a:extLst>
              <a:ext uri="{FF2B5EF4-FFF2-40B4-BE49-F238E27FC236}">
                <a16:creationId xmlns:a16="http://schemas.microsoft.com/office/drawing/2014/main" id="{98BA9870-5A8E-2CC1-9026-52460E0504AD}"/>
              </a:ext>
            </a:extLst>
          </p:cNvPr>
          <p:cNvSpPr/>
          <p:nvPr/>
        </p:nvSpPr>
        <p:spPr>
          <a:xfrm>
            <a:off x="4468863" y="2205108"/>
            <a:ext cx="2823583" cy="508529"/>
          </a:xfrm>
          <a:prstGeom prst="roundRect">
            <a:avLst/>
          </a:prstGeom>
          <a:solidFill>
            <a:schemeClr val="accent2">
              <a:lumMod val="20000"/>
              <a:lumOff val="80000"/>
            </a:schemeClr>
          </a:solid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3153"/>
                </a:solidFill>
                <a:latin typeface="Aa花间辞楷书 (非商业使用)" panose="02010600010101010101" pitchFamily="2" charset="-122"/>
                <a:ea typeface="Aa花间辞楷书 (非商业使用)" panose="02010600010101010101" pitchFamily="2" charset="-122"/>
              </a:rPr>
              <a:t>用蕴涵实现了</a:t>
            </a:r>
            <a:r>
              <a:rPr lang="en-US" altLang="zh-CN" dirty="0">
                <a:solidFill>
                  <a:srgbClr val="003153"/>
                </a:solidFill>
                <a:latin typeface="Aa花间辞楷书 (非商业使用)" panose="02010600010101010101" pitchFamily="2" charset="-122"/>
                <a:ea typeface="Aa花间辞楷书 (非商业使用)" panose="02010600010101010101" pitchFamily="2" charset="-122"/>
              </a:rPr>
              <a:t>Agent</a:t>
            </a:r>
            <a:r>
              <a:rPr lang="zh-CN" altLang="en-US" dirty="0">
                <a:solidFill>
                  <a:srgbClr val="003153"/>
                </a:solidFill>
                <a:latin typeface="Aa花间辞楷书 (非商业使用)" panose="02010600010101010101" pitchFamily="2" charset="-122"/>
                <a:ea typeface="Aa花间辞楷书 (非商业使用)" panose="02010600010101010101" pitchFamily="2" charset="-122"/>
              </a:rPr>
              <a:t>推理</a:t>
            </a:r>
          </a:p>
        </p:txBody>
      </p:sp>
      <p:sp>
        <p:nvSpPr>
          <p:cNvPr id="5" name="矩形 4">
            <a:extLst>
              <a:ext uri="{FF2B5EF4-FFF2-40B4-BE49-F238E27FC236}">
                <a16:creationId xmlns:a16="http://schemas.microsoft.com/office/drawing/2014/main" id="{694F4E32-B160-FADF-8E00-2F7685163852}"/>
              </a:ext>
            </a:extLst>
          </p:cNvPr>
          <p:cNvSpPr/>
          <p:nvPr/>
        </p:nvSpPr>
        <p:spPr>
          <a:xfrm>
            <a:off x="7846925" y="2266555"/>
            <a:ext cx="3156872" cy="508529"/>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el-GR" altLang="zh-CN" dirty="0">
                <a:solidFill>
                  <a:srgbClr val="FFCC99"/>
                </a:solidFill>
                <a:latin typeface="微软雅黑" panose="020B0503020204020204" pitchFamily="34" charset="-122"/>
                <a:ea typeface="Aa花间辞楷书 (非商业使用)" panose="02010600010101010101" pitchFamily="2" charset="-122"/>
              </a:rPr>
              <a:t>α  ⊨ β</a:t>
            </a: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等价于</a:t>
            </a: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M(</a:t>
            </a:r>
            <a:r>
              <a:rPr lang="el-GR" altLang="zh-CN" dirty="0">
                <a:solidFill>
                  <a:srgbClr val="FFCC99"/>
                </a:solidFill>
                <a:latin typeface="微软雅黑" panose="020B0503020204020204" pitchFamily="34" charset="-122"/>
                <a:ea typeface="Aa花间辞楷书 (非商业使用)" panose="02010600010101010101" pitchFamily="2" charset="-122"/>
              </a:rPr>
              <a:t>α) ⊆ </a:t>
            </a: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M(</a:t>
            </a:r>
            <a:r>
              <a:rPr lang="el-GR" altLang="zh-CN" dirty="0">
                <a:solidFill>
                  <a:srgbClr val="FFCC99"/>
                </a:solidFill>
                <a:latin typeface="微软雅黑" panose="020B0503020204020204" pitchFamily="34" charset="-122"/>
                <a:ea typeface="Aa花间辞楷书 (非商业使用)" panose="02010600010101010101" pitchFamily="2" charset="-122"/>
              </a:rPr>
              <a:t>β)</a:t>
            </a:r>
          </a:p>
        </p:txBody>
      </p:sp>
      <p:cxnSp>
        <p:nvCxnSpPr>
          <p:cNvPr id="6" name="直接箭头连接符 5">
            <a:extLst>
              <a:ext uri="{FF2B5EF4-FFF2-40B4-BE49-F238E27FC236}">
                <a16:creationId xmlns:a16="http://schemas.microsoft.com/office/drawing/2014/main" id="{69BCE040-9ABD-6EC8-7F21-267D898B4678}"/>
              </a:ext>
            </a:extLst>
          </p:cNvPr>
          <p:cNvCxnSpPr>
            <a:cxnSpLocks/>
            <a:endCxn id="28" idx="1"/>
          </p:cNvCxnSpPr>
          <p:nvPr/>
        </p:nvCxnSpPr>
        <p:spPr>
          <a:xfrm>
            <a:off x="7174736" y="4004445"/>
            <a:ext cx="755044" cy="319481"/>
          </a:xfrm>
          <a:prstGeom prst="straightConnector1">
            <a:avLst/>
          </a:prstGeom>
          <a:ln w="38100">
            <a:solidFill>
              <a:srgbClr val="FFCC99"/>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7" name="矩形: 圆角 6">
            <a:extLst>
              <a:ext uri="{FF2B5EF4-FFF2-40B4-BE49-F238E27FC236}">
                <a16:creationId xmlns:a16="http://schemas.microsoft.com/office/drawing/2014/main" id="{58225F16-0433-62D1-1451-8E8CB839618A}"/>
              </a:ext>
            </a:extLst>
          </p:cNvPr>
          <p:cNvSpPr/>
          <p:nvPr/>
        </p:nvSpPr>
        <p:spPr>
          <a:xfrm>
            <a:off x="4468866" y="3736417"/>
            <a:ext cx="2666156" cy="550985"/>
          </a:xfrm>
          <a:prstGeom prst="roundRect">
            <a:avLst/>
          </a:prstGeom>
          <a:solidFill>
            <a:schemeClr val="accent2">
              <a:lumMod val="20000"/>
              <a:lumOff val="80000"/>
            </a:schemeClr>
          </a:solid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3153"/>
                </a:solidFill>
                <a:latin typeface="Aa花间辞楷书 (非商业使用)" panose="02010600010101010101" pitchFamily="2" charset="-122"/>
                <a:ea typeface="Aa花间辞楷书 (非商业使用)" panose="02010600010101010101" pitchFamily="2" charset="-122"/>
              </a:rPr>
              <a:t>命题逻辑与蕴涵的</a:t>
            </a:r>
            <a:endParaRPr lang="en-US" altLang="zh-CN" dirty="0">
              <a:solidFill>
                <a:srgbClr val="003153"/>
              </a:solidFill>
              <a:latin typeface="Aa花间辞楷书 (非商业使用)" panose="02010600010101010101" pitchFamily="2" charset="-122"/>
              <a:ea typeface="Aa花间辞楷书 (非商业使用)" panose="02010600010101010101" pitchFamily="2" charset="-122"/>
            </a:endParaRPr>
          </a:p>
          <a:p>
            <a:pPr algn="ctr"/>
            <a:r>
              <a:rPr lang="zh-CN" altLang="en-US" dirty="0">
                <a:solidFill>
                  <a:srgbClr val="003153"/>
                </a:solidFill>
                <a:latin typeface="Aa花间辞楷书 (非商业使用)" panose="02010600010101010101" pitchFamily="2" charset="-122"/>
                <a:ea typeface="Aa花间辞楷书 (非商业使用)" panose="02010600010101010101" pitchFamily="2" charset="-122"/>
              </a:rPr>
              <a:t>逻辑等价</a:t>
            </a:r>
          </a:p>
        </p:txBody>
      </p:sp>
      <p:sp>
        <p:nvSpPr>
          <p:cNvPr id="8" name="矩形 7">
            <a:extLst>
              <a:ext uri="{FF2B5EF4-FFF2-40B4-BE49-F238E27FC236}">
                <a16:creationId xmlns:a16="http://schemas.microsoft.com/office/drawing/2014/main" id="{70FA6D7C-1D50-2246-AC7A-385CEBFB1DA1}"/>
              </a:ext>
            </a:extLst>
          </p:cNvPr>
          <p:cNvSpPr/>
          <p:nvPr/>
        </p:nvSpPr>
        <p:spPr>
          <a:xfrm>
            <a:off x="6039016" y="2931100"/>
            <a:ext cx="1186756" cy="508529"/>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演绎定理</a:t>
            </a:r>
            <a:endParaRPr lang="el-GR" altLang="zh-CN" dirty="0">
              <a:solidFill>
                <a:srgbClr val="FFCC99"/>
              </a:solidFill>
              <a:latin typeface="微软雅黑" panose="020B0503020204020204" pitchFamily="34" charset="-122"/>
              <a:ea typeface="Aa花间辞楷书 (非商业使用)" panose="02010600010101010101" pitchFamily="2" charset="-122"/>
            </a:endParaRPr>
          </a:p>
        </p:txBody>
      </p:sp>
      <p:cxnSp>
        <p:nvCxnSpPr>
          <p:cNvPr id="9" name="直接箭头连接符 8">
            <a:extLst>
              <a:ext uri="{FF2B5EF4-FFF2-40B4-BE49-F238E27FC236}">
                <a16:creationId xmlns:a16="http://schemas.microsoft.com/office/drawing/2014/main" id="{780A056B-34F5-DCC8-542E-731B0E8E109B}"/>
              </a:ext>
            </a:extLst>
          </p:cNvPr>
          <p:cNvCxnSpPr>
            <a:cxnSpLocks/>
          </p:cNvCxnSpPr>
          <p:nvPr/>
        </p:nvCxnSpPr>
        <p:spPr>
          <a:xfrm flipH="1">
            <a:off x="7399472" y="2484889"/>
            <a:ext cx="403156" cy="590"/>
          </a:xfrm>
          <a:prstGeom prst="straightConnector1">
            <a:avLst/>
          </a:prstGeom>
          <a:ln w="38100">
            <a:solidFill>
              <a:srgbClr val="FFCC99"/>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10" name="矩形: 圆角 9">
            <a:extLst>
              <a:ext uri="{FF2B5EF4-FFF2-40B4-BE49-F238E27FC236}">
                <a16:creationId xmlns:a16="http://schemas.microsoft.com/office/drawing/2014/main" id="{FDBF5A07-17D4-EF19-7754-DDF209A27272}"/>
              </a:ext>
            </a:extLst>
          </p:cNvPr>
          <p:cNvSpPr/>
          <p:nvPr/>
        </p:nvSpPr>
        <p:spPr>
          <a:xfrm>
            <a:off x="4468864" y="5408553"/>
            <a:ext cx="2666156" cy="508529"/>
          </a:xfrm>
          <a:prstGeom prst="roundRect">
            <a:avLst/>
          </a:prstGeom>
          <a:solidFill>
            <a:schemeClr val="accent2">
              <a:lumMod val="20000"/>
              <a:lumOff val="80000"/>
            </a:schemeClr>
          </a:solid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3153"/>
                </a:solidFill>
                <a:latin typeface="Aa花间辞楷书 (非商业使用)" panose="02010600010101010101" pitchFamily="2" charset="-122"/>
                <a:ea typeface="Aa花间辞楷书 (非商业使用)" panose="02010600010101010101" pitchFamily="2" charset="-122"/>
              </a:rPr>
              <a:t>一阶逻辑</a:t>
            </a:r>
          </a:p>
        </p:txBody>
      </p:sp>
      <p:sp>
        <p:nvSpPr>
          <p:cNvPr id="11" name="矩形 10">
            <a:extLst>
              <a:ext uri="{FF2B5EF4-FFF2-40B4-BE49-F238E27FC236}">
                <a16:creationId xmlns:a16="http://schemas.microsoft.com/office/drawing/2014/main" id="{421CFD27-C15C-A610-BA57-9411E117FDE6}"/>
              </a:ext>
            </a:extLst>
          </p:cNvPr>
          <p:cNvSpPr/>
          <p:nvPr/>
        </p:nvSpPr>
        <p:spPr>
          <a:xfrm>
            <a:off x="2544293" y="3010918"/>
            <a:ext cx="1186756" cy="508529"/>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归结</a:t>
            </a:r>
            <a:endParaRPr lang="el-GR" altLang="zh-CN" dirty="0">
              <a:solidFill>
                <a:srgbClr val="FFCC99"/>
              </a:solidFill>
              <a:latin typeface="微软雅黑" panose="020B0503020204020204" pitchFamily="34" charset="-122"/>
              <a:ea typeface="Aa花间辞楷书 (非商业使用)" panose="02010600010101010101" pitchFamily="2" charset="-122"/>
            </a:endParaRPr>
          </a:p>
        </p:txBody>
      </p:sp>
      <p:sp>
        <p:nvSpPr>
          <p:cNvPr id="12" name="矩形 11">
            <a:extLst>
              <a:ext uri="{FF2B5EF4-FFF2-40B4-BE49-F238E27FC236}">
                <a16:creationId xmlns:a16="http://schemas.microsoft.com/office/drawing/2014/main" id="{1D1E5994-061C-C2AF-980E-518CA64D19CB}"/>
              </a:ext>
            </a:extLst>
          </p:cNvPr>
          <p:cNvSpPr/>
          <p:nvPr/>
        </p:nvSpPr>
        <p:spPr>
          <a:xfrm>
            <a:off x="2544293" y="3778873"/>
            <a:ext cx="1186756" cy="508529"/>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前向链</a:t>
            </a:r>
            <a:endParaRPr lang="el-GR" altLang="zh-CN" dirty="0">
              <a:solidFill>
                <a:srgbClr val="FFCC99"/>
              </a:solidFill>
              <a:latin typeface="微软雅黑" panose="020B0503020204020204" pitchFamily="34" charset="-122"/>
              <a:ea typeface="Aa花间辞楷书 (非商业使用)" panose="02010600010101010101" pitchFamily="2" charset="-122"/>
            </a:endParaRPr>
          </a:p>
        </p:txBody>
      </p:sp>
      <p:sp>
        <p:nvSpPr>
          <p:cNvPr id="13" name="箭头: 下 12">
            <a:extLst>
              <a:ext uri="{FF2B5EF4-FFF2-40B4-BE49-F238E27FC236}">
                <a16:creationId xmlns:a16="http://schemas.microsoft.com/office/drawing/2014/main" id="{F557FD4E-7B10-08D3-F1EB-497793B9042C}"/>
              </a:ext>
            </a:extLst>
          </p:cNvPr>
          <p:cNvSpPr/>
          <p:nvPr/>
        </p:nvSpPr>
        <p:spPr>
          <a:xfrm>
            <a:off x="5601527" y="2813687"/>
            <a:ext cx="400833" cy="718875"/>
          </a:xfrm>
          <a:prstGeom prst="downArrow">
            <a:avLst>
              <a:gd name="adj1" fmla="val 50000"/>
              <a:gd name="adj2" fmla="val 88611"/>
            </a:avLst>
          </a:prstGeom>
          <a:solidFill>
            <a:srgbClr val="FF0000"/>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FFCC99"/>
              </a:solidFill>
              <a:latin typeface="Aa花间辞楷书 (非商业使用)" panose="02010600010101010101" pitchFamily="2" charset="-122"/>
              <a:ea typeface="Aa花间辞楷书 (非商业使用)" panose="02010600010101010101" pitchFamily="2" charset="-122"/>
            </a:endParaRPr>
          </a:p>
        </p:txBody>
      </p:sp>
      <p:sp>
        <p:nvSpPr>
          <p:cNvPr id="14" name="箭头: 下 13">
            <a:extLst>
              <a:ext uri="{FF2B5EF4-FFF2-40B4-BE49-F238E27FC236}">
                <a16:creationId xmlns:a16="http://schemas.microsoft.com/office/drawing/2014/main" id="{18B3647B-F532-BFA6-B32B-BE4F2B1A65FA}"/>
              </a:ext>
            </a:extLst>
          </p:cNvPr>
          <p:cNvSpPr/>
          <p:nvPr/>
        </p:nvSpPr>
        <p:spPr>
          <a:xfrm>
            <a:off x="5601526" y="4576201"/>
            <a:ext cx="400833" cy="718875"/>
          </a:xfrm>
          <a:prstGeom prst="downArrow">
            <a:avLst>
              <a:gd name="adj1" fmla="val 50000"/>
              <a:gd name="adj2" fmla="val 88611"/>
            </a:avLst>
          </a:prstGeom>
          <a:solidFill>
            <a:srgbClr val="FF0000"/>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FFCC99"/>
              </a:solidFill>
              <a:latin typeface="Aa花间辞楷书 (非商业使用)" panose="02010600010101010101" pitchFamily="2" charset="-122"/>
              <a:ea typeface="Aa花间辞楷书 (非商业使用)" panose="02010600010101010101" pitchFamily="2" charset="-122"/>
            </a:endParaRPr>
          </a:p>
        </p:txBody>
      </p:sp>
      <p:sp>
        <p:nvSpPr>
          <p:cNvPr id="15" name="矩形: 圆角 14">
            <a:extLst>
              <a:ext uri="{FF2B5EF4-FFF2-40B4-BE49-F238E27FC236}">
                <a16:creationId xmlns:a16="http://schemas.microsoft.com/office/drawing/2014/main" id="{84DD9CD1-9219-59F4-1DC1-4BD6A5431C5F}"/>
              </a:ext>
            </a:extLst>
          </p:cNvPr>
          <p:cNvSpPr/>
          <p:nvPr/>
        </p:nvSpPr>
        <p:spPr>
          <a:xfrm>
            <a:off x="4468864" y="718360"/>
            <a:ext cx="2666156" cy="508529"/>
          </a:xfrm>
          <a:prstGeom prst="roundRect">
            <a:avLst/>
          </a:prstGeom>
          <a:solidFill>
            <a:schemeClr val="accent2">
              <a:lumMod val="20000"/>
              <a:lumOff val="80000"/>
            </a:schemeClr>
          </a:solid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3153"/>
                </a:solidFill>
                <a:latin typeface="Aa花间辞楷书 (非商业使用)" panose="02010600010101010101" pitchFamily="2" charset="-122"/>
                <a:ea typeface="Aa花间辞楷书 (非商业使用)" panose="02010600010101010101" pitchFamily="2" charset="-122"/>
              </a:rPr>
              <a:t>基于人类思维的推理</a:t>
            </a:r>
          </a:p>
        </p:txBody>
      </p:sp>
      <p:sp>
        <p:nvSpPr>
          <p:cNvPr id="16" name="矩形 15">
            <a:extLst>
              <a:ext uri="{FF2B5EF4-FFF2-40B4-BE49-F238E27FC236}">
                <a16:creationId xmlns:a16="http://schemas.microsoft.com/office/drawing/2014/main" id="{3B4BD3B9-C976-321E-D0CE-50BD914C4DD3}"/>
              </a:ext>
            </a:extLst>
          </p:cNvPr>
          <p:cNvSpPr/>
          <p:nvPr/>
        </p:nvSpPr>
        <p:spPr>
          <a:xfrm>
            <a:off x="2538267" y="4580304"/>
            <a:ext cx="1186756" cy="508529"/>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反向链</a:t>
            </a:r>
            <a:endParaRPr lang="el-GR" altLang="zh-CN" dirty="0">
              <a:solidFill>
                <a:srgbClr val="FFCC99"/>
              </a:solidFill>
              <a:latin typeface="微软雅黑" panose="020B0503020204020204" pitchFamily="34" charset="-122"/>
              <a:ea typeface="Aa花间辞楷书 (非商业使用)" panose="02010600010101010101" pitchFamily="2" charset="-122"/>
            </a:endParaRPr>
          </a:p>
        </p:txBody>
      </p:sp>
      <p:cxnSp>
        <p:nvCxnSpPr>
          <p:cNvPr id="17" name="直接箭头连接符 16">
            <a:extLst>
              <a:ext uri="{FF2B5EF4-FFF2-40B4-BE49-F238E27FC236}">
                <a16:creationId xmlns:a16="http://schemas.microsoft.com/office/drawing/2014/main" id="{34796A7C-A091-BF26-0251-5DEF7B58AA88}"/>
              </a:ext>
            </a:extLst>
          </p:cNvPr>
          <p:cNvCxnSpPr>
            <a:cxnSpLocks/>
            <a:endCxn id="7" idx="1"/>
          </p:cNvCxnSpPr>
          <p:nvPr/>
        </p:nvCxnSpPr>
        <p:spPr>
          <a:xfrm>
            <a:off x="3725023" y="3265182"/>
            <a:ext cx="743843" cy="746728"/>
          </a:xfrm>
          <a:prstGeom prst="straightConnector1">
            <a:avLst/>
          </a:prstGeom>
          <a:ln w="38100">
            <a:solidFill>
              <a:srgbClr val="FFCC99"/>
            </a:solidFill>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8" name="直接箭头连接符 17">
            <a:extLst>
              <a:ext uri="{FF2B5EF4-FFF2-40B4-BE49-F238E27FC236}">
                <a16:creationId xmlns:a16="http://schemas.microsoft.com/office/drawing/2014/main" id="{0C0B1BD5-A46A-E7F1-6A7D-CB988E327656}"/>
              </a:ext>
            </a:extLst>
          </p:cNvPr>
          <p:cNvCxnSpPr>
            <a:cxnSpLocks/>
          </p:cNvCxnSpPr>
          <p:nvPr/>
        </p:nvCxnSpPr>
        <p:spPr>
          <a:xfrm>
            <a:off x="3725023" y="4004445"/>
            <a:ext cx="698037" cy="0"/>
          </a:xfrm>
          <a:prstGeom prst="straightConnector1">
            <a:avLst/>
          </a:prstGeom>
          <a:ln w="38100">
            <a:solidFill>
              <a:srgbClr val="FFCC99"/>
            </a:solidFill>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9" name="直接箭头连接符 18">
            <a:extLst>
              <a:ext uri="{FF2B5EF4-FFF2-40B4-BE49-F238E27FC236}">
                <a16:creationId xmlns:a16="http://schemas.microsoft.com/office/drawing/2014/main" id="{5A24E435-2DF1-FEA2-B7EB-13724F9759D6}"/>
              </a:ext>
            </a:extLst>
          </p:cNvPr>
          <p:cNvCxnSpPr>
            <a:cxnSpLocks/>
            <a:stCxn id="16" idx="3"/>
            <a:endCxn id="7" idx="1"/>
          </p:cNvCxnSpPr>
          <p:nvPr/>
        </p:nvCxnSpPr>
        <p:spPr>
          <a:xfrm flipV="1">
            <a:off x="3725023" y="4011910"/>
            <a:ext cx="743843" cy="822659"/>
          </a:xfrm>
          <a:prstGeom prst="straightConnector1">
            <a:avLst/>
          </a:prstGeom>
          <a:ln w="38100">
            <a:solidFill>
              <a:srgbClr val="FFCC99"/>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20" name="矩形 19">
            <a:extLst>
              <a:ext uri="{FF2B5EF4-FFF2-40B4-BE49-F238E27FC236}">
                <a16:creationId xmlns:a16="http://schemas.microsoft.com/office/drawing/2014/main" id="{85C0486C-B60F-D9C7-EF89-DFBFA0455F04}"/>
              </a:ext>
            </a:extLst>
          </p:cNvPr>
          <p:cNvSpPr/>
          <p:nvPr/>
        </p:nvSpPr>
        <p:spPr>
          <a:xfrm>
            <a:off x="6039016" y="4678108"/>
            <a:ext cx="3399452" cy="508529"/>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引入对象、关系、函数</a:t>
            </a:r>
            <a:endParaRPr lang="el-GR" altLang="zh-CN" dirty="0">
              <a:solidFill>
                <a:srgbClr val="FFCC99"/>
              </a:solidFill>
              <a:latin typeface="微软雅黑" panose="020B0503020204020204" pitchFamily="34" charset="-122"/>
              <a:ea typeface="Aa花间辞楷书 (非商业使用)" panose="02010600010101010101" pitchFamily="2" charset="-122"/>
            </a:endParaRPr>
          </a:p>
        </p:txBody>
      </p:sp>
      <p:sp>
        <p:nvSpPr>
          <p:cNvPr id="21" name="箭头: 下 20">
            <a:extLst>
              <a:ext uri="{FF2B5EF4-FFF2-40B4-BE49-F238E27FC236}">
                <a16:creationId xmlns:a16="http://schemas.microsoft.com/office/drawing/2014/main" id="{3BB76328-C2C3-4772-D291-FD8BE5E36719}"/>
              </a:ext>
            </a:extLst>
          </p:cNvPr>
          <p:cNvSpPr/>
          <p:nvPr/>
        </p:nvSpPr>
        <p:spPr>
          <a:xfrm>
            <a:off x="5589623" y="1326939"/>
            <a:ext cx="400833" cy="718875"/>
          </a:xfrm>
          <a:prstGeom prst="downArrow">
            <a:avLst>
              <a:gd name="adj1" fmla="val 50000"/>
              <a:gd name="adj2" fmla="val 88611"/>
            </a:avLst>
          </a:prstGeom>
          <a:solidFill>
            <a:srgbClr val="FF0000"/>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FFCC99"/>
              </a:solidFill>
              <a:latin typeface="Aa花间辞楷书 (非商业使用)" panose="02010600010101010101" pitchFamily="2" charset="-122"/>
              <a:ea typeface="Aa花间辞楷书 (非商业使用)" panose="02010600010101010101" pitchFamily="2" charset="-122"/>
            </a:endParaRPr>
          </a:p>
        </p:txBody>
      </p:sp>
      <p:sp>
        <p:nvSpPr>
          <p:cNvPr id="22" name="矩形 21">
            <a:extLst>
              <a:ext uri="{FF2B5EF4-FFF2-40B4-BE49-F238E27FC236}">
                <a16:creationId xmlns:a16="http://schemas.microsoft.com/office/drawing/2014/main" id="{ADF74A82-81CA-4E12-362D-2D6AEFE2DC0F}"/>
              </a:ext>
            </a:extLst>
          </p:cNvPr>
          <p:cNvSpPr/>
          <p:nvPr/>
        </p:nvSpPr>
        <p:spPr>
          <a:xfrm>
            <a:off x="1542081" y="1914430"/>
            <a:ext cx="2182942" cy="853989"/>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模型检验</a:t>
            </a: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a:t>
            </a:r>
          </a:p>
          <a:p>
            <a:pPr algn="ctr"/>
            <a:r>
              <a:rPr lang="zh-CN" altLang="en-US" dirty="0">
                <a:solidFill>
                  <a:srgbClr val="FFCC99"/>
                </a:solidFill>
                <a:latin typeface="微软雅黑" panose="020B0503020204020204" pitchFamily="34" charset="-122"/>
                <a:ea typeface="Aa花间辞楷书 (非商业使用)" panose="02010600010101010101" pitchFamily="2" charset="-122"/>
              </a:rPr>
              <a:t>包含关系验证</a:t>
            </a:r>
            <a:endParaRPr lang="el-GR" altLang="zh-CN" dirty="0">
              <a:solidFill>
                <a:srgbClr val="FFCC99"/>
              </a:solidFill>
              <a:latin typeface="微软雅黑" panose="020B0503020204020204" pitchFamily="34" charset="-122"/>
              <a:ea typeface="Aa花间辞楷书 (非商业使用)" panose="02010600010101010101" pitchFamily="2" charset="-122"/>
            </a:endParaRPr>
          </a:p>
        </p:txBody>
      </p:sp>
      <p:cxnSp>
        <p:nvCxnSpPr>
          <p:cNvPr id="23" name="直接箭头连接符 22">
            <a:extLst>
              <a:ext uri="{FF2B5EF4-FFF2-40B4-BE49-F238E27FC236}">
                <a16:creationId xmlns:a16="http://schemas.microsoft.com/office/drawing/2014/main" id="{A718542E-5D7F-3EFE-9475-EABE91CF546D}"/>
              </a:ext>
            </a:extLst>
          </p:cNvPr>
          <p:cNvCxnSpPr>
            <a:cxnSpLocks/>
          </p:cNvCxnSpPr>
          <p:nvPr/>
        </p:nvCxnSpPr>
        <p:spPr>
          <a:xfrm flipH="1">
            <a:off x="3696536" y="2423443"/>
            <a:ext cx="726524" cy="0"/>
          </a:xfrm>
          <a:prstGeom prst="straightConnector1">
            <a:avLst/>
          </a:prstGeom>
          <a:ln w="38100">
            <a:solidFill>
              <a:srgbClr val="FFCC99"/>
            </a:solidFill>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24" name="直接箭头连接符 23">
            <a:extLst>
              <a:ext uri="{FF2B5EF4-FFF2-40B4-BE49-F238E27FC236}">
                <a16:creationId xmlns:a16="http://schemas.microsoft.com/office/drawing/2014/main" id="{0DAA2CED-3276-892C-B8B2-1479283D3693}"/>
              </a:ext>
            </a:extLst>
          </p:cNvPr>
          <p:cNvCxnSpPr>
            <a:cxnSpLocks/>
          </p:cNvCxnSpPr>
          <p:nvPr/>
        </p:nvCxnSpPr>
        <p:spPr>
          <a:xfrm>
            <a:off x="3770827" y="5648188"/>
            <a:ext cx="698037" cy="0"/>
          </a:xfrm>
          <a:prstGeom prst="straightConnector1">
            <a:avLst/>
          </a:prstGeom>
          <a:ln w="38100">
            <a:solidFill>
              <a:srgbClr val="FFCC99"/>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25" name="矩形 24">
            <a:extLst>
              <a:ext uri="{FF2B5EF4-FFF2-40B4-BE49-F238E27FC236}">
                <a16:creationId xmlns:a16="http://schemas.microsoft.com/office/drawing/2014/main" id="{34870D70-4565-8783-9616-FE4C99A4FA67}"/>
              </a:ext>
            </a:extLst>
          </p:cNvPr>
          <p:cNvSpPr/>
          <p:nvPr/>
        </p:nvSpPr>
        <p:spPr>
          <a:xfrm>
            <a:off x="1104671" y="5351400"/>
            <a:ext cx="2686804" cy="641466"/>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一阶逻辑的推理</a:t>
            </a:r>
            <a:endParaRPr lang="el-GR" altLang="zh-CN" sz="2400" dirty="0">
              <a:solidFill>
                <a:srgbClr val="FFCC99"/>
              </a:solidFill>
              <a:latin typeface="微软雅黑" panose="020B0503020204020204" pitchFamily="34" charset="-122"/>
              <a:ea typeface="Aa花间辞楷书 (非商业使用)" panose="02010600010101010101" pitchFamily="2" charset="-122"/>
            </a:endParaRPr>
          </a:p>
        </p:txBody>
      </p:sp>
      <p:sp>
        <p:nvSpPr>
          <p:cNvPr id="26" name="矩形 25">
            <a:extLst>
              <a:ext uri="{FF2B5EF4-FFF2-40B4-BE49-F238E27FC236}">
                <a16:creationId xmlns:a16="http://schemas.microsoft.com/office/drawing/2014/main" id="{E5671FE0-A1A7-BF56-DAEA-9E40C71F32C7}"/>
              </a:ext>
            </a:extLst>
          </p:cNvPr>
          <p:cNvSpPr/>
          <p:nvPr/>
        </p:nvSpPr>
        <p:spPr>
          <a:xfrm>
            <a:off x="7912488" y="3354648"/>
            <a:ext cx="1525980" cy="508529"/>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真值枚举</a:t>
            </a:r>
            <a:endParaRPr lang="en-US" altLang="zh-CN" dirty="0">
              <a:solidFill>
                <a:srgbClr val="FFCC99"/>
              </a:solidFill>
              <a:latin typeface="Aa花间辞楷书 (非商业使用)" panose="02010600010101010101" pitchFamily="2" charset="-122"/>
              <a:ea typeface="Aa花间辞楷书 (非商业使用)" panose="02010600010101010101" pitchFamily="2" charset="-122"/>
            </a:endParaRPr>
          </a:p>
        </p:txBody>
      </p:sp>
      <p:cxnSp>
        <p:nvCxnSpPr>
          <p:cNvPr id="27" name="直接箭头连接符 26">
            <a:extLst>
              <a:ext uri="{FF2B5EF4-FFF2-40B4-BE49-F238E27FC236}">
                <a16:creationId xmlns:a16="http://schemas.microsoft.com/office/drawing/2014/main" id="{827A38F9-CEDC-D832-31D7-7F6251315B6B}"/>
              </a:ext>
            </a:extLst>
          </p:cNvPr>
          <p:cNvCxnSpPr>
            <a:cxnSpLocks/>
            <a:stCxn id="26" idx="1"/>
            <a:endCxn id="7" idx="3"/>
          </p:cNvCxnSpPr>
          <p:nvPr/>
        </p:nvCxnSpPr>
        <p:spPr>
          <a:xfrm flipH="1">
            <a:off x="7135022" y="3608913"/>
            <a:ext cx="777466" cy="402997"/>
          </a:xfrm>
          <a:prstGeom prst="straightConnector1">
            <a:avLst/>
          </a:prstGeom>
          <a:ln w="38100">
            <a:solidFill>
              <a:srgbClr val="FFCC99"/>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28" name="矩形 27">
            <a:extLst>
              <a:ext uri="{FF2B5EF4-FFF2-40B4-BE49-F238E27FC236}">
                <a16:creationId xmlns:a16="http://schemas.microsoft.com/office/drawing/2014/main" id="{C638C654-3357-EB7F-9A60-2DC7BC6C2915}"/>
              </a:ext>
            </a:extLst>
          </p:cNvPr>
          <p:cNvSpPr/>
          <p:nvPr/>
        </p:nvSpPr>
        <p:spPr>
          <a:xfrm>
            <a:off x="7929780" y="4069661"/>
            <a:ext cx="1508688" cy="508529"/>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推理规则</a:t>
            </a:r>
            <a:endParaRPr lang="en-US" altLang="zh-CN" dirty="0">
              <a:solidFill>
                <a:srgbClr val="FFCC99"/>
              </a:solidFill>
              <a:latin typeface="Aa花间辞楷书 (非商业使用)" panose="02010600010101010101" pitchFamily="2" charset="-122"/>
              <a:ea typeface="Aa花间辞楷书 (非商业使用)" panose="02010600010101010101" pitchFamily="2" charset="-122"/>
            </a:endParaRPr>
          </a:p>
        </p:txBody>
      </p:sp>
      <p:sp>
        <p:nvSpPr>
          <p:cNvPr id="29" name="矩形 28">
            <a:extLst>
              <a:ext uri="{FF2B5EF4-FFF2-40B4-BE49-F238E27FC236}">
                <a16:creationId xmlns:a16="http://schemas.microsoft.com/office/drawing/2014/main" id="{DA04BDBA-6A0F-E46C-E347-E556197252AD}"/>
              </a:ext>
            </a:extLst>
          </p:cNvPr>
          <p:cNvSpPr/>
          <p:nvPr/>
        </p:nvSpPr>
        <p:spPr>
          <a:xfrm>
            <a:off x="6105691" y="1418226"/>
            <a:ext cx="1186756" cy="508529"/>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模型</a:t>
            </a:r>
            <a:endParaRPr lang="en-US" altLang="zh-CN" dirty="0">
              <a:solidFill>
                <a:srgbClr val="FFCC99"/>
              </a:solidFill>
              <a:latin typeface="Aa花间辞楷书 (非商业使用)" panose="02010600010101010101" pitchFamily="2" charset="-122"/>
              <a:ea typeface="Aa花间辞楷书 (非商业使用)" panose="02010600010101010101" pitchFamily="2" charset="-122"/>
            </a:endParaRPr>
          </a:p>
        </p:txBody>
      </p:sp>
      <p:sp>
        <p:nvSpPr>
          <p:cNvPr id="30" name="矩形 29">
            <a:extLst>
              <a:ext uri="{FF2B5EF4-FFF2-40B4-BE49-F238E27FC236}">
                <a16:creationId xmlns:a16="http://schemas.microsoft.com/office/drawing/2014/main" id="{C2391408-00D3-2EA7-8B97-528B23947AE4}"/>
              </a:ext>
            </a:extLst>
          </p:cNvPr>
          <p:cNvSpPr/>
          <p:nvPr/>
        </p:nvSpPr>
        <p:spPr>
          <a:xfrm>
            <a:off x="4190678" y="2971171"/>
            <a:ext cx="1186756" cy="508529"/>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等价</a:t>
            </a:r>
            <a:endParaRPr lang="en-US" altLang="zh-CN" dirty="0">
              <a:solidFill>
                <a:srgbClr val="FFCC99"/>
              </a:solidFill>
              <a:latin typeface="Aa花间辞楷书 (非商业使用)" panose="02010600010101010101" pitchFamily="2" charset="-122"/>
              <a:ea typeface="Aa花间辞楷书 (非商业使用)" panose="02010600010101010101" pitchFamily="2" charset="-122"/>
            </a:endParaRPr>
          </a:p>
        </p:txBody>
      </p:sp>
    </p:spTree>
    <p:extLst>
      <p:ext uri="{BB962C8B-B14F-4D97-AF65-F5344CB8AC3E}">
        <p14:creationId xmlns:p14="http://schemas.microsoft.com/office/powerpoint/2010/main" val="51059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fade">
                                      <p:cBhvr>
                                        <p:cTn id="48" dur="500"/>
                                        <p:tgtEl>
                                          <p:spTgt spid="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fade">
                                      <p:cBhvr>
                                        <p:cTn id="51" dur="500"/>
                                        <p:tgtEl>
                                          <p:spTgt spid="8"/>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par>
                                <p:cTn id="63" presetID="10" presetClass="entr" presetSubtype="0" fill="hold" nodeType="with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childTnLst>
                                </p:cTn>
                              </p:par>
                              <p:par>
                                <p:cTn id="66" presetID="10" presetClass="entr" presetSubtype="0" fill="hold" nodeType="with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500"/>
                                        <p:tgtEl>
                                          <p:spTgt spid="18"/>
                                        </p:tgtEl>
                                      </p:cBhvr>
                                    </p:animEffect>
                                  </p:childTnLst>
                                </p:cTn>
                              </p:par>
                              <p:par>
                                <p:cTn id="69" presetID="10" presetClass="entr" presetSubtype="0" fill="hold" nodeType="withEffect">
                                  <p:stCondLst>
                                    <p:cond delay="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500"/>
                                        <p:tgtEl>
                                          <p:spTgt spid="19"/>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4"/>
                                        </p:tgtEl>
                                        <p:attrNameLst>
                                          <p:attrName>style.visibility</p:attrName>
                                        </p:attrNameLst>
                                      </p:cBhvr>
                                      <p:to>
                                        <p:strVal val="visible"/>
                                      </p:to>
                                    </p:set>
                                    <p:animEffect transition="in" filter="fade">
                                      <p:cBhvr>
                                        <p:cTn id="76" dur="500"/>
                                        <p:tgtEl>
                                          <p:spTgt spid="14"/>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10"/>
                                        </p:tgtEl>
                                        <p:attrNameLst>
                                          <p:attrName>style.visibility</p:attrName>
                                        </p:attrNameLst>
                                      </p:cBhvr>
                                      <p:to>
                                        <p:strVal val="visible"/>
                                      </p:to>
                                    </p:set>
                                    <p:animEffect transition="in" filter="fade">
                                      <p:cBhvr>
                                        <p:cTn id="81" dur="500"/>
                                        <p:tgtEl>
                                          <p:spTgt spid="10"/>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20"/>
                                        </p:tgtEl>
                                        <p:attrNameLst>
                                          <p:attrName>style.visibility</p:attrName>
                                        </p:attrNameLst>
                                      </p:cBhvr>
                                      <p:to>
                                        <p:strVal val="visible"/>
                                      </p:to>
                                    </p:set>
                                    <p:animEffect transition="in" filter="fade">
                                      <p:cBhvr>
                                        <p:cTn id="86" dur="500"/>
                                        <p:tgtEl>
                                          <p:spTgt spid="20"/>
                                        </p:tgtEl>
                                      </p:cBhvr>
                                    </p:animEffect>
                                  </p:childTnLst>
                                </p:cTn>
                              </p:par>
                              <p:par>
                                <p:cTn id="87" presetID="10" presetClass="entr" presetSubtype="0" fill="hold" nodeType="withEffect">
                                  <p:stCondLst>
                                    <p:cond delay="0"/>
                                  </p:stCondLst>
                                  <p:childTnLst>
                                    <p:set>
                                      <p:cBhvr>
                                        <p:cTn id="88" dur="1" fill="hold">
                                          <p:stCondLst>
                                            <p:cond delay="0"/>
                                          </p:stCondLst>
                                        </p:cTn>
                                        <p:tgtEl>
                                          <p:spTgt spid="24"/>
                                        </p:tgtEl>
                                        <p:attrNameLst>
                                          <p:attrName>style.visibility</p:attrName>
                                        </p:attrNameLst>
                                      </p:cBhvr>
                                      <p:to>
                                        <p:strVal val="visible"/>
                                      </p:to>
                                    </p:set>
                                    <p:animEffect transition="in" filter="fade">
                                      <p:cBhvr>
                                        <p:cTn id="89" dur="500"/>
                                        <p:tgtEl>
                                          <p:spTgt spid="24"/>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500"/>
                                        <p:tgtEl>
                                          <p:spTgt spid="25"/>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26"/>
                                        </p:tgtEl>
                                        <p:attrNameLst>
                                          <p:attrName>style.visibility</p:attrName>
                                        </p:attrNameLst>
                                      </p:cBhvr>
                                      <p:to>
                                        <p:strVal val="visible"/>
                                      </p:to>
                                    </p:set>
                                    <p:animEffect transition="in" filter="fade">
                                      <p:cBhvr>
                                        <p:cTn id="97" dur="500"/>
                                        <p:tgtEl>
                                          <p:spTgt spid="26"/>
                                        </p:tgtEl>
                                      </p:cBhvr>
                                    </p:animEffect>
                                  </p:childTnLst>
                                </p:cTn>
                              </p:par>
                              <p:par>
                                <p:cTn id="98" presetID="10" presetClass="entr" presetSubtype="0" fill="hold" nodeType="withEffect">
                                  <p:stCondLst>
                                    <p:cond delay="0"/>
                                  </p:stCondLst>
                                  <p:childTnLst>
                                    <p:set>
                                      <p:cBhvr>
                                        <p:cTn id="99" dur="1" fill="hold">
                                          <p:stCondLst>
                                            <p:cond delay="0"/>
                                          </p:stCondLst>
                                        </p:cTn>
                                        <p:tgtEl>
                                          <p:spTgt spid="27"/>
                                        </p:tgtEl>
                                        <p:attrNameLst>
                                          <p:attrName>style.visibility</p:attrName>
                                        </p:attrNameLst>
                                      </p:cBhvr>
                                      <p:to>
                                        <p:strVal val="visible"/>
                                      </p:to>
                                    </p:set>
                                    <p:animEffect transition="in" filter="fade">
                                      <p:cBhvr>
                                        <p:cTn id="100" dur="500"/>
                                        <p:tgtEl>
                                          <p:spTgt spid="27"/>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28"/>
                                        </p:tgtEl>
                                        <p:attrNameLst>
                                          <p:attrName>style.visibility</p:attrName>
                                        </p:attrNameLst>
                                      </p:cBhvr>
                                      <p:to>
                                        <p:strVal val="visible"/>
                                      </p:to>
                                    </p:set>
                                    <p:animEffect transition="in" filter="fade">
                                      <p:cBhvr>
                                        <p:cTn id="105" dur="500"/>
                                        <p:tgtEl>
                                          <p:spTgt spid="28"/>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29"/>
                                        </p:tgtEl>
                                        <p:attrNameLst>
                                          <p:attrName>style.visibility</p:attrName>
                                        </p:attrNameLst>
                                      </p:cBhvr>
                                      <p:to>
                                        <p:strVal val="visible"/>
                                      </p:to>
                                    </p:set>
                                    <p:animEffect transition="in" filter="fade">
                                      <p:cBhvr>
                                        <p:cTn id="108" dur="500"/>
                                        <p:tgtEl>
                                          <p:spTgt spid="29"/>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0"/>
                                        </p:tgtEl>
                                        <p:attrNameLst>
                                          <p:attrName>style.visibility</p:attrName>
                                        </p:attrNameLst>
                                      </p:cBhvr>
                                      <p:to>
                                        <p:strVal val="visible"/>
                                      </p:to>
                                    </p:set>
                                    <p:animEffect transition="in" filter="fade">
                                      <p:cBhvr>
                                        <p:cTn id="11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11" grpId="0" animBg="1"/>
      <p:bldP spid="12" grpId="0" animBg="1"/>
      <p:bldP spid="13" grpId="0" animBg="1"/>
      <p:bldP spid="14" grpId="0" animBg="1"/>
      <p:bldP spid="15" grpId="0" animBg="1"/>
      <p:bldP spid="16" grpId="0" animBg="1"/>
      <p:bldP spid="20" grpId="0" animBg="1"/>
      <p:bldP spid="21" grpId="0" animBg="1"/>
      <p:bldP spid="22" grpId="0" animBg="1"/>
      <p:bldP spid="25" grpId="0" animBg="1"/>
      <p:bldP spid="26" grpId="0" animBg="1"/>
      <p:bldP spid="28" grpId="0" animBg="1"/>
      <p:bldP spid="29" grpId="0" animBg="1"/>
      <p:bldP spid="3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8821FF-BB7F-E776-53AE-554105D3DDF5}"/>
              </a:ext>
            </a:extLst>
          </p:cNvPr>
          <p:cNvSpPr>
            <a:spLocks noGrp="1"/>
          </p:cNvSpPr>
          <p:nvPr>
            <p:ph type="title"/>
          </p:nvPr>
        </p:nvSpPr>
        <p:spPr/>
        <p:txBody>
          <a:bodyPr/>
          <a:lstStyle/>
          <a:p>
            <a:r>
              <a:rPr lang="zh-CN" altLang="en-US" dirty="0"/>
              <a:t>主要内容</a:t>
            </a:r>
          </a:p>
        </p:txBody>
      </p:sp>
      <p:sp>
        <p:nvSpPr>
          <p:cNvPr id="3" name="内容占位符 2">
            <a:extLst>
              <a:ext uri="{FF2B5EF4-FFF2-40B4-BE49-F238E27FC236}">
                <a16:creationId xmlns:a16="http://schemas.microsoft.com/office/drawing/2014/main" id="{F7C52ED1-24CC-8E4B-76FB-BC85BFC95E95}"/>
              </a:ext>
            </a:extLst>
          </p:cNvPr>
          <p:cNvSpPr>
            <a:spLocks noGrp="1"/>
          </p:cNvSpPr>
          <p:nvPr>
            <p:ph idx="1"/>
          </p:nvPr>
        </p:nvSpPr>
        <p:spPr/>
        <p:txBody>
          <a:bodyPr/>
          <a:lstStyle/>
          <a:p>
            <a:r>
              <a:rPr lang="en-US" altLang="zh-CN" dirty="0">
                <a:latin typeface="香萃等粗宋" panose="02020700000000000000" pitchFamily="18" charset="-122"/>
                <a:ea typeface="香萃等粗宋" panose="02020700000000000000" pitchFamily="18" charset="-122"/>
              </a:rPr>
              <a:t>9.1 </a:t>
            </a:r>
            <a:r>
              <a:rPr lang="zh-CN" altLang="en-US" dirty="0">
                <a:latin typeface="香萃等粗宋" panose="02020700000000000000" pitchFamily="18" charset="-122"/>
                <a:ea typeface="香萃等粗宋" panose="02020700000000000000" pitchFamily="18" charset="-122"/>
              </a:rPr>
              <a:t>一阶逻辑命题化</a:t>
            </a:r>
            <a:endParaRPr lang="en-US" altLang="zh-CN" dirty="0">
              <a:latin typeface="香萃等粗宋" panose="02020700000000000000" pitchFamily="18" charset="-122"/>
              <a:ea typeface="香萃等粗宋" panose="02020700000000000000" pitchFamily="18" charset="-122"/>
            </a:endParaRPr>
          </a:p>
          <a:p>
            <a:r>
              <a:rPr lang="en-US" altLang="zh-CN" dirty="0">
                <a:latin typeface="香萃等粗宋" panose="02020700000000000000" pitchFamily="18" charset="-122"/>
                <a:ea typeface="香萃等粗宋" panose="02020700000000000000" pitchFamily="18" charset="-122"/>
              </a:rPr>
              <a:t>9.2 </a:t>
            </a:r>
            <a:r>
              <a:rPr lang="zh-CN" altLang="en-US" dirty="0">
                <a:latin typeface="香萃等粗宋" panose="02020700000000000000" pitchFamily="18" charset="-122"/>
                <a:ea typeface="香萃等粗宋" panose="02020700000000000000" pitchFamily="18" charset="-122"/>
              </a:rPr>
              <a:t>合一与</a:t>
            </a:r>
            <a:r>
              <a:rPr lang="en-US" altLang="zh-CN" dirty="0">
                <a:latin typeface="香萃等粗宋" panose="02020700000000000000" pitchFamily="18" charset="-122"/>
                <a:ea typeface="香萃等粗宋" panose="02020700000000000000" pitchFamily="18" charset="-122"/>
              </a:rPr>
              <a:t>GMP</a:t>
            </a:r>
          </a:p>
          <a:p>
            <a:r>
              <a:rPr lang="en-US" altLang="zh-CN" dirty="0">
                <a:latin typeface="香萃等粗宋" panose="02020700000000000000" pitchFamily="18" charset="-122"/>
                <a:ea typeface="香萃等粗宋" panose="02020700000000000000" pitchFamily="18" charset="-122"/>
              </a:rPr>
              <a:t>9.3 </a:t>
            </a:r>
            <a:r>
              <a:rPr lang="zh-CN" altLang="en-US" dirty="0">
                <a:latin typeface="香萃等粗宋" panose="02020700000000000000" pitchFamily="18" charset="-122"/>
                <a:ea typeface="香萃等粗宋" panose="02020700000000000000" pitchFamily="18" charset="-122"/>
              </a:rPr>
              <a:t>前向链接</a:t>
            </a:r>
            <a:endParaRPr lang="en-US" altLang="zh-CN" dirty="0">
              <a:latin typeface="香萃等粗宋" panose="02020700000000000000" pitchFamily="18" charset="-122"/>
              <a:ea typeface="香萃等粗宋" panose="02020700000000000000" pitchFamily="18" charset="-122"/>
            </a:endParaRPr>
          </a:p>
          <a:p>
            <a:r>
              <a:rPr lang="en-US" altLang="zh-CN" dirty="0">
                <a:latin typeface="香萃等粗宋" panose="02020700000000000000" pitchFamily="18" charset="-122"/>
                <a:ea typeface="香萃等粗宋" panose="02020700000000000000" pitchFamily="18" charset="-122"/>
              </a:rPr>
              <a:t>9.4 </a:t>
            </a:r>
            <a:r>
              <a:rPr lang="zh-CN" altLang="en-US" dirty="0">
                <a:latin typeface="香萃等粗宋" panose="02020700000000000000" pitchFamily="18" charset="-122"/>
                <a:ea typeface="香萃等粗宋" panose="02020700000000000000" pitchFamily="18" charset="-122"/>
              </a:rPr>
              <a:t>反向链接</a:t>
            </a:r>
            <a:endParaRPr lang="en-US" altLang="zh-CN" dirty="0">
              <a:latin typeface="香萃等粗宋" panose="02020700000000000000" pitchFamily="18" charset="-122"/>
              <a:ea typeface="香萃等粗宋" panose="02020700000000000000" pitchFamily="18" charset="-122"/>
            </a:endParaRPr>
          </a:p>
          <a:p>
            <a:endParaRPr lang="en-US" altLang="zh-CN" dirty="0">
              <a:latin typeface="香萃等粗宋" panose="02020700000000000000" pitchFamily="18" charset="-122"/>
              <a:ea typeface="香萃等粗宋" panose="02020700000000000000" pitchFamily="18" charset="-122"/>
            </a:endParaRPr>
          </a:p>
        </p:txBody>
      </p:sp>
    </p:spTree>
    <p:extLst>
      <p:ext uri="{BB962C8B-B14F-4D97-AF65-F5344CB8AC3E}">
        <p14:creationId xmlns:p14="http://schemas.microsoft.com/office/powerpoint/2010/main" val="2785357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A18B3F-1227-2A75-7422-00D8238AEFFE}"/>
              </a:ext>
            </a:extLst>
          </p:cNvPr>
          <p:cNvSpPr>
            <a:spLocks noGrp="1"/>
          </p:cNvSpPr>
          <p:nvPr>
            <p:ph type="title"/>
          </p:nvPr>
        </p:nvSpPr>
        <p:spPr/>
        <p:txBody>
          <a:bodyPr/>
          <a:lstStyle/>
          <a:p>
            <a:r>
              <a:rPr lang="en-US" altLang="zh-CN" dirty="0"/>
              <a:t>9.1 </a:t>
            </a:r>
            <a:r>
              <a:rPr lang="zh-CN" altLang="en-US"/>
              <a:t>一阶逻辑命题化</a:t>
            </a:r>
            <a:endParaRPr lang="zh-CN" altLang="en-US" dirty="0"/>
          </a:p>
        </p:txBody>
      </p:sp>
      <p:sp>
        <p:nvSpPr>
          <p:cNvPr id="3" name="内容占位符 2">
            <a:extLst>
              <a:ext uri="{FF2B5EF4-FFF2-40B4-BE49-F238E27FC236}">
                <a16:creationId xmlns:a16="http://schemas.microsoft.com/office/drawing/2014/main" id="{441E6E48-95E2-5CE3-3D0B-AAF14A101C01}"/>
              </a:ext>
            </a:extLst>
          </p:cNvPr>
          <p:cNvSpPr>
            <a:spLocks noGrp="1"/>
          </p:cNvSpPr>
          <p:nvPr>
            <p:ph idx="1"/>
          </p:nvPr>
        </p:nvSpPr>
        <p:spPr/>
        <p:txBody>
          <a:bodyPr/>
          <a:lstStyle/>
          <a:p>
            <a:r>
              <a:rPr lang="en-US" altLang="zh-CN" dirty="0">
                <a:latin typeface="香萃等粗宋" panose="02020700000000000000" pitchFamily="18" charset="-122"/>
                <a:ea typeface="香萃等粗宋" panose="02020700000000000000" pitchFamily="18" charset="-122"/>
              </a:rPr>
              <a:t>1.</a:t>
            </a:r>
            <a:r>
              <a:rPr lang="zh-CN" altLang="en-US" dirty="0">
                <a:latin typeface="香萃等粗宋" panose="02020700000000000000" pitchFamily="18" charset="-122"/>
                <a:ea typeface="香萃等粗宋" panose="02020700000000000000" pitchFamily="18" charset="-122"/>
              </a:rPr>
              <a:t>命题逻辑与一阶逻辑的关系</a:t>
            </a:r>
          </a:p>
          <a:p>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a:t>
            </a: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1</a:t>
            </a: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）命题逻辑是一阶逻辑的子集</a:t>
            </a:r>
          </a:p>
          <a:p>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a:t>
            </a: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2</a:t>
            </a: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）当论域为一个大小确定的</a:t>
            </a:r>
            <a:r>
              <a:rPr lang="zh-CN" altLang="en-US" dirty="0">
                <a:solidFill>
                  <a:srgbClr val="FF0000"/>
                </a:solidFill>
                <a:latin typeface="Aa花间辞楷书 (非商业使用)" panose="02010600010101010101" pitchFamily="2" charset="-122"/>
                <a:ea typeface="Aa花间辞楷书 (非商业使用)" panose="02010600010101010101" pitchFamily="2" charset="-122"/>
              </a:rPr>
              <a:t>有限</a:t>
            </a: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集时，可以</a:t>
            </a:r>
            <a:r>
              <a:rPr lang="zh-CN" altLang="en-US" dirty="0">
                <a:solidFill>
                  <a:srgbClr val="FF0000"/>
                </a:solidFill>
                <a:latin typeface="Aa花间辞楷书 (非商业使用)" panose="02010600010101010101" pitchFamily="2" charset="-122"/>
                <a:ea typeface="Aa花间辞楷书 (非商业使用)" panose="02010600010101010101" pitchFamily="2" charset="-122"/>
              </a:rPr>
              <a:t>等价</a:t>
            </a: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地转化成一个命题逻辑</a:t>
            </a:r>
          </a:p>
          <a:p>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a:t>
            </a: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3</a:t>
            </a: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）当不特别说明论域，或论域的大小不是一个确定的自然数时，就不存在一般的转化方法</a:t>
            </a:r>
          </a:p>
          <a:p>
            <a:endParaRPr lang="zh-CN" altLang="en-US" dirty="0">
              <a:solidFill>
                <a:srgbClr val="FFCC99"/>
              </a:solidFill>
              <a:latin typeface="Aa花间辞楷书 (非商业使用)" panose="02010600010101010101" pitchFamily="2" charset="-122"/>
              <a:ea typeface="Aa花间辞楷书 (非商业使用)" panose="02010600010101010101" pitchFamily="2" charset="-122"/>
            </a:endParaRPr>
          </a:p>
          <a:p>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思考：是否能将一阶逻辑转化为命题逻辑，进而利用命题逻辑推理呢？</a:t>
            </a:r>
          </a:p>
          <a:p>
            <a:endParaRPr lang="zh-CN" altLang="en-US" dirty="0"/>
          </a:p>
        </p:txBody>
      </p:sp>
    </p:spTree>
    <p:extLst>
      <p:ext uri="{BB962C8B-B14F-4D97-AF65-F5344CB8AC3E}">
        <p14:creationId xmlns:p14="http://schemas.microsoft.com/office/powerpoint/2010/main" val="2343221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A18B3F-1227-2A75-7422-00D8238AEFFE}"/>
              </a:ext>
            </a:extLst>
          </p:cNvPr>
          <p:cNvSpPr>
            <a:spLocks noGrp="1"/>
          </p:cNvSpPr>
          <p:nvPr>
            <p:ph type="title"/>
          </p:nvPr>
        </p:nvSpPr>
        <p:spPr/>
        <p:txBody>
          <a:bodyPr/>
          <a:lstStyle/>
          <a:p>
            <a:r>
              <a:rPr lang="en-US" altLang="zh-CN" dirty="0"/>
              <a:t>9.1 </a:t>
            </a:r>
            <a:r>
              <a:rPr lang="zh-CN" altLang="en-US" dirty="0"/>
              <a:t>一阶逻辑命题化</a:t>
            </a:r>
          </a:p>
        </p:txBody>
      </p:sp>
      <p:sp>
        <p:nvSpPr>
          <p:cNvPr id="3" name="内容占位符 2">
            <a:extLst>
              <a:ext uri="{FF2B5EF4-FFF2-40B4-BE49-F238E27FC236}">
                <a16:creationId xmlns:a16="http://schemas.microsoft.com/office/drawing/2014/main" id="{441E6E48-95E2-5CE3-3D0B-AAF14A101C01}"/>
              </a:ext>
            </a:extLst>
          </p:cNvPr>
          <p:cNvSpPr>
            <a:spLocks noGrp="1"/>
          </p:cNvSpPr>
          <p:nvPr>
            <p:ph idx="1"/>
          </p:nvPr>
        </p:nvSpPr>
        <p:spPr/>
        <p:txBody>
          <a:bodyPr>
            <a:normAutofit/>
          </a:bodyPr>
          <a:lstStyle/>
          <a:p>
            <a:r>
              <a:rPr lang="en-US" altLang="zh-CN" dirty="0"/>
              <a:t>2.</a:t>
            </a:r>
            <a:r>
              <a:rPr lang="zh-CN" altLang="en-US" dirty="0"/>
              <a:t>重要概念：</a:t>
            </a:r>
            <a:r>
              <a:rPr lang="zh-CN" altLang="en-US" dirty="0">
                <a:solidFill>
                  <a:srgbClr val="FF0000"/>
                </a:solidFill>
              </a:rPr>
              <a:t>置换</a:t>
            </a:r>
            <a:endParaRPr lang="en-US" altLang="zh-CN" dirty="0">
              <a:solidFill>
                <a:srgbClr val="FF0000"/>
              </a:solidFill>
            </a:endParaRPr>
          </a:p>
          <a:p>
            <a:r>
              <a:rPr lang="zh-CN" altLang="en-US" dirty="0">
                <a:solidFill>
                  <a:srgbClr val="FF0000"/>
                </a:solidFill>
              </a:rPr>
              <a:t>（</a:t>
            </a:r>
            <a:r>
              <a:rPr lang="en-US" altLang="zh-CN" dirty="0">
                <a:solidFill>
                  <a:srgbClr val="FF0000"/>
                </a:solidFill>
              </a:rPr>
              <a:t>1</a:t>
            </a:r>
            <a:r>
              <a:rPr lang="zh-CN" altLang="en-US" dirty="0">
                <a:solidFill>
                  <a:srgbClr val="FF0000"/>
                </a:solidFill>
              </a:rPr>
              <a:t>）置换</a:t>
            </a:r>
            <a:r>
              <a:rPr lang="el-GR" altLang="zh-CN" dirty="0">
                <a:solidFill>
                  <a:srgbClr val="FF0000"/>
                </a:solidFill>
              </a:rPr>
              <a:t>θ</a:t>
            </a:r>
            <a:r>
              <a:rPr lang="zh-CN" altLang="el-GR" dirty="0">
                <a:solidFill>
                  <a:srgbClr val="FF0000"/>
                </a:solidFill>
              </a:rPr>
              <a:t>：</a:t>
            </a:r>
            <a:r>
              <a:rPr lang="el-GR" altLang="zh-CN" dirty="0">
                <a:solidFill>
                  <a:srgbClr val="FF0000"/>
                </a:solidFill>
              </a:rPr>
              <a:t>{</a:t>
            </a:r>
            <a:r>
              <a:rPr lang="en-US" altLang="zh-CN" dirty="0">
                <a:solidFill>
                  <a:srgbClr val="FF0000"/>
                </a:solidFill>
              </a:rPr>
              <a:t>x/a}</a:t>
            </a:r>
          </a:p>
          <a:p>
            <a:pPr lvl="1"/>
            <a:r>
              <a:rPr lang="zh-CN" altLang="en-US" dirty="0">
                <a:latin typeface="Aa花间辞楷书 (非商业使用)" panose="02010600010101010101" pitchFamily="2" charset="-122"/>
                <a:ea typeface="Aa花间辞楷书 (非商业使用)" panose="02010600010101010101" pitchFamily="2" charset="-122"/>
              </a:rPr>
              <a:t>给定语句</a:t>
            </a:r>
            <a:r>
              <a:rPr lang="en-US" altLang="zh-CN" dirty="0">
                <a:latin typeface="Aa花间辞楷书 (非商业使用)" panose="02010600010101010101" pitchFamily="2" charset="-122"/>
                <a:ea typeface="Aa花间辞楷书 (非商业使用)" panose="02010600010101010101" pitchFamily="2" charset="-122"/>
              </a:rPr>
              <a:t>S</a:t>
            </a:r>
            <a:r>
              <a:rPr lang="zh-CN" altLang="en-US" dirty="0">
                <a:latin typeface="Aa花间辞楷书 (非商业使用)" panose="02010600010101010101" pitchFamily="2" charset="-122"/>
                <a:ea typeface="Aa花间辞楷书 (非商业使用)" panose="02010600010101010101" pitchFamily="2" charset="-122"/>
              </a:rPr>
              <a:t>和置换 </a:t>
            </a:r>
            <a:r>
              <a:rPr lang="zh-CN" altLang="en-US"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 </a:t>
            </a:r>
            <a:r>
              <a:rPr lang="zh-CN" altLang="el-GR" dirty="0">
                <a:latin typeface="Aa花间辞楷书 (非商业使用)" panose="02010600010101010101" pitchFamily="2" charset="-122"/>
                <a:ea typeface="Aa花间辞楷书 (非商业使用)" panose="02010600010101010101" pitchFamily="2" charset="-122"/>
              </a:rPr>
              <a:t>，</a:t>
            </a:r>
            <a:r>
              <a:rPr lang="en-US" altLang="zh-CN" dirty="0">
                <a:latin typeface="Aa花间辞楷书 (非商业使用)" panose="02010600010101010101" pitchFamily="2" charset="-122"/>
                <a:ea typeface="Aa花间辞楷书 (非商业使用)" panose="02010600010101010101" pitchFamily="2" charset="-122"/>
              </a:rPr>
              <a:t>S</a:t>
            </a:r>
            <a:r>
              <a:rPr lang="zh-CN" altLang="en-US"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 </a:t>
            </a:r>
            <a:r>
              <a:rPr lang="el-GR" altLang="zh-CN" dirty="0">
                <a:ea typeface="Aa花间辞楷书 (非商业使用)" panose="02010600010101010101" pitchFamily="2" charset="-122"/>
              </a:rPr>
              <a:t> </a:t>
            </a:r>
            <a:r>
              <a:rPr lang="zh-CN" altLang="en-US" dirty="0">
                <a:latin typeface="Aa花间辞楷书 (非商业使用)" panose="02010600010101010101" pitchFamily="2" charset="-122"/>
                <a:ea typeface="Aa花间辞楷书 (非商业使用)" panose="02010600010101010101" pitchFamily="2" charset="-122"/>
              </a:rPr>
              <a:t>表示将 </a:t>
            </a:r>
            <a:r>
              <a:rPr lang="zh-CN" altLang="en-US"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 </a:t>
            </a:r>
            <a:r>
              <a:rPr lang="zh-CN" altLang="en-US" dirty="0">
                <a:latin typeface="Aa花间辞楷书 (非商业使用)" panose="02010600010101010101" pitchFamily="2" charset="-122"/>
                <a:ea typeface="Aa花间辞楷书 (非商业使用)" panose="02010600010101010101" pitchFamily="2" charset="-122"/>
              </a:rPr>
              <a:t>应用于 </a:t>
            </a:r>
            <a:r>
              <a:rPr lang="en-US" altLang="zh-CN" dirty="0">
                <a:latin typeface="Aa花间辞楷书 (非商业使用)" panose="02010600010101010101" pitchFamily="2" charset="-122"/>
                <a:ea typeface="Aa花间辞楷书 (非商业使用)" panose="02010600010101010101" pitchFamily="2" charset="-122"/>
              </a:rPr>
              <a:t>S </a:t>
            </a:r>
            <a:r>
              <a:rPr lang="zh-CN" altLang="en-US" dirty="0">
                <a:latin typeface="Aa花间辞楷书 (非商业使用)" panose="02010600010101010101" pitchFamily="2" charset="-122"/>
                <a:ea typeface="Aa花间辞楷书 (非商业使用)" panose="02010600010101010101" pitchFamily="2" charset="-122"/>
              </a:rPr>
              <a:t>的结果。</a:t>
            </a:r>
          </a:p>
          <a:p>
            <a:pPr lvl="1"/>
            <a:r>
              <a:rPr lang="en-US" altLang="zh-CN" dirty="0">
                <a:latin typeface="Aa花间辞楷书 (非商业使用)" panose="02010600010101010101" pitchFamily="2" charset="-122"/>
                <a:ea typeface="Aa花间辞楷书 (非商业使用)" panose="02010600010101010101" pitchFamily="2" charset="-122"/>
              </a:rPr>
              <a:t>S = Smarter(</a:t>
            </a:r>
            <a:r>
              <a:rPr lang="en-US" altLang="zh-CN" dirty="0" err="1">
                <a:latin typeface="Aa花间辞楷书 (非商业使用)" panose="02010600010101010101" pitchFamily="2" charset="-122"/>
                <a:ea typeface="Aa花间辞楷书 (非商业使用)" panose="02010600010101010101" pitchFamily="2" charset="-122"/>
              </a:rPr>
              <a:t>x,y</a:t>
            </a:r>
            <a:r>
              <a:rPr lang="en-US" altLang="zh-CN" dirty="0">
                <a:latin typeface="Aa花间辞楷书 (非商业使用)" panose="02010600010101010101" pitchFamily="2" charset="-122"/>
                <a:ea typeface="Aa花间辞楷书 (非商业使用)" panose="02010600010101010101" pitchFamily="2" charset="-122"/>
              </a:rPr>
              <a:t>)</a:t>
            </a:r>
          </a:p>
          <a:p>
            <a:pPr lvl="1"/>
            <a:r>
              <a:rPr lang="zh-CN" altLang="en-US"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l-GR" altLang="zh-CN" dirty="0">
                <a:ea typeface="Aa花间辞楷书 (非商业使用)" panose="02010600010101010101" pitchFamily="2" charset="-122"/>
              </a:rPr>
              <a:t> = {</a:t>
            </a:r>
            <a:r>
              <a:rPr lang="en-US" altLang="zh-CN" dirty="0">
                <a:latin typeface="Aa花间辞楷书 (非商业使用)" panose="02010600010101010101" pitchFamily="2" charset="-122"/>
                <a:ea typeface="Aa花间辞楷书 (非商业使用)" panose="02010600010101010101" pitchFamily="2" charset="-122"/>
              </a:rPr>
              <a:t>x/Hillary, y/Bill}</a:t>
            </a:r>
          </a:p>
          <a:p>
            <a:pPr lvl="1"/>
            <a:r>
              <a:rPr lang="en-US" altLang="zh-CN" dirty="0">
                <a:latin typeface="Aa花间辞楷书 (非商业使用)" panose="02010600010101010101" pitchFamily="2" charset="-122"/>
                <a:ea typeface="Aa花间辞楷书 (非商业使用)" panose="02010600010101010101" pitchFamily="2" charset="-122"/>
              </a:rPr>
              <a:t>S</a:t>
            </a:r>
            <a:r>
              <a:rPr lang="zh-CN" altLang="en-US"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 </a:t>
            </a:r>
            <a:r>
              <a:rPr lang="el-GR" altLang="zh-CN" dirty="0">
                <a:ea typeface="Aa花间辞楷书 (非商业使用)" panose="02010600010101010101" pitchFamily="2" charset="-122"/>
              </a:rPr>
              <a:t> = </a:t>
            </a:r>
            <a:r>
              <a:rPr lang="en-US" altLang="zh-CN" dirty="0">
                <a:latin typeface="Aa花间辞楷书 (非商业使用)" panose="02010600010101010101" pitchFamily="2" charset="-122"/>
                <a:ea typeface="Aa花间辞楷书 (非商业使用)" panose="02010600010101010101" pitchFamily="2" charset="-122"/>
              </a:rPr>
              <a:t>Smarter(Hillary, Bill)</a:t>
            </a:r>
          </a:p>
          <a:p>
            <a:pPr lvl="1"/>
            <a:r>
              <a:rPr lang="en-US" altLang="zh-CN" dirty="0">
                <a:latin typeface="Aa花间辞楷书 (非商业使用)" panose="02010600010101010101" pitchFamily="2" charset="-122"/>
                <a:ea typeface="Aa花间辞楷书 (非商业使用)" panose="02010600010101010101" pitchFamily="2" charset="-122"/>
              </a:rPr>
              <a:t>S</a:t>
            </a:r>
            <a:r>
              <a:rPr lang="zh-CN" altLang="en-US"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 </a:t>
            </a:r>
            <a:r>
              <a:rPr lang="el-GR" altLang="zh-CN" dirty="0">
                <a:ea typeface="Aa花间辞楷书 (非商业使用)" panose="02010600010101010101" pitchFamily="2" charset="-122"/>
              </a:rPr>
              <a:t> </a:t>
            </a:r>
            <a:r>
              <a:rPr lang="zh-CN" altLang="en-US" dirty="0">
                <a:latin typeface="Aa花间辞楷书 (非商业使用)" panose="02010600010101010101" pitchFamily="2" charset="-122"/>
                <a:ea typeface="Aa花间辞楷书 (非商业使用)" panose="02010600010101010101" pitchFamily="2" charset="-122"/>
              </a:rPr>
              <a:t>也可表示为 </a:t>
            </a:r>
            <a:r>
              <a:rPr lang="en-US" altLang="zh-CN" dirty="0">
                <a:latin typeface="Aa花间辞楷书 (非商业使用)" panose="02010600010101010101" pitchFamily="2" charset="-122"/>
                <a:ea typeface="Aa花间辞楷书 (非商业使用)" panose="02010600010101010101" pitchFamily="2" charset="-122"/>
              </a:rPr>
              <a:t>SUBST</a:t>
            </a:r>
            <a:r>
              <a:rPr lang="zh-CN" altLang="en-US" dirty="0">
                <a:latin typeface="Aa花间辞楷书 (非商业使用)" panose="02010600010101010101" pitchFamily="2" charset="-122"/>
                <a:ea typeface="Aa花间辞楷书 (非商业使用)" panose="02010600010101010101" pitchFamily="2" charset="-122"/>
              </a:rPr>
              <a:t>（ </a:t>
            </a:r>
            <a:r>
              <a:rPr lang="zh-CN" altLang="en-US"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 </a:t>
            </a:r>
            <a:r>
              <a:rPr lang="zh-CN" altLang="el-GR" dirty="0">
                <a:latin typeface="Aa花间辞楷书 (非商业使用)" panose="02010600010101010101" pitchFamily="2" charset="-122"/>
                <a:ea typeface="Aa花间辞楷书 (非商业使用)" panose="02010600010101010101" pitchFamily="2" charset="-122"/>
              </a:rPr>
              <a:t>，</a:t>
            </a:r>
            <a:r>
              <a:rPr lang="en-US" altLang="zh-CN" dirty="0">
                <a:latin typeface="Aa花间辞楷书 (非商业使用)" panose="02010600010101010101" pitchFamily="2" charset="-122"/>
                <a:ea typeface="Aa花间辞楷书 (非商业使用)" panose="02010600010101010101" pitchFamily="2" charset="-122"/>
              </a:rPr>
              <a:t>S </a:t>
            </a:r>
            <a:r>
              <a:rPr lang="zh-CN" altLang="en-US" dirty="0">
                <a:latin typeface="Aa花间辞楷书 (非商业使用)" panose="02010600010101010101" pitchFamily="2" charset="-122"/>
                <a:ea typeface="Aa花间辞楷书 (非商业使用)" panose="02010600010101010101" pitchFamily="2" charset="-122"/>
              </a:rPr>
              <a:t>）</a:t>
            </a:r>
            <a:endParaRPr lang="en-US" altLang="zh-CN" dirty="0">
              <a:latin typeface="Aa花间辞楷书 (非商业使用)" panose="02010600010101010101" pitchFamily="2" charset="-122"/>
              <a:ea typeface="Aa花间辞楷书 (非商业使用)" panose="02010600010101010101" pitchFamily="2" charset="-122"/>
            </a:endParaRPr>
          </a:p>
          <a:p>
            <a:pPr lvl="1"/>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请思考：置换是什么？</a:t>
            </a:r>
          </a:p>
          <a:p>
            <a:pPr lvl="1"/>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              引入“置换”要解决什么问题？</a:t>
            </a:r>
          </a:p>
          <a:p>
            <a:endParaRPr lang="zh-CN" altLang="en-US" dirty="0"/>
          </a:p>
        </p:txBody>
      </p:sp>
    </p:spTree>
    <p:extLst>
      <p:ext uri="{BB962C8B-B14F-4D97-AF65-F5344CB8AC3E}">
        <p14:creationId xmlns:p14="http://schemas.microsoft.com/office/powerpoint/2010/main" val="3757232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4688D5-E157-FDBD-2ADF-D56378D50E15}"/>
              </a:ext>
            </a:extLst>
          </p:cNvPr>
          <p:cNvSpPr>
            <a:spLocks noGrp="1"/>
          </p:cNvSpPr>
          <p:nvPr>
            <p:ph type="title"/>
          </p:nvPr>
        </p:nvSpPr>
        <p:spPr/>
        <p:txBody>
          <a:bodyPr/>
          <a:lstStyle/>
          <a:p>
            <a:r>
              <a:rPr lang="en-US" altLang="zh-CN" dirty="0"/>
              <a:t>9.1 </a:t>
            </a:r>
            <a:r>
              <a:rPr lang="zh-CN" altLang="en-US" dirty="0"/>
              <a:t>一阶逻辑命题化</a:t>
            </a:r>
          </a:p>
        </p:txBody>
      </p:sp>
      <p:sp>
        <p:nvSpPr>
          <p:cNvPr id="3" name="内容占位符 2">
            <a:extLst>
              <a:ext uri="{FF2B5EF4-FFF2-40B4-BE49-F238E27FC236}">
                <a16:creationId xmlns:a16="http://schemas.microsoft.com/office/drawing/2014/main" id="{FB7CE991-7D6C-FB69-D0E1-5AA623C770D3}"/>
              </a:ext>
            </a:extLst>
          </p:cNvPr>
          <p:cNvSpPr>
            <a:spLocks noGrp="1"/>
          </p:cNvSpPr>
          <p:nvPr>
            <p:ph idx="1"/>
          </p:nvPr>
        </p:nvSpPr>
        <p:spPr>
          <a:xfrm>
            <a:off x="522513" y="807720"/>
            <a:ext cx="5573487" cy="5478779"/>
          </a:xfrm>
        </p:spPr>
        <p:txBody>
          <a:bodyPr/>
          <a:lstStyle/>
          <a:p>
            <a:r>
              <a:rPr lang="zh-CN" altLang="en-US" dirty="0"/>
              <a:t>命题逻辑</a:t>
            </a:r>
          </a:p>
        </p:txBody>
      </p:sp>
      <p:sp>
        <p:nvSpPr>
          <p:cNvPr id="4" name="内容占位符 2">
            <a:extLst>
              <a:ext uri="{FF2B5EF4-FFF2-40B4-BE49-F238E27FC236}">
                <a16:creationId xmlns:a16="http://schemas.microsoft.com/office/drawing/2014/main" id="{149D0EA4-4070-0421-6CBB-579874766BCD}"/>
              </a:ext>
            </a:extLst>
          </p:cNvPr>
          <p:cNvSpPr txBox="1">
            <a:spLocks/>
          </p:cNvSpPr>
          <p:nvPr/>
        </p:nvSpPr>
        <p:spPr>
          <a:xfrm>
            <a:off x="3637568" y="814251"/>
            <a:ext cx="5573487" cy="5478779"/>
          </a:xfrm>
          <a:prstGeom prst="rect">
            <a:avLst/>
          </a:prstGeom>
        </p:spPr>
        <p:txBody>
          <a:bodyPr vert="horz" lIns="91440" tIns="45720" rIns="91440" bIns="45720" rtlCol="0">
            <a:normAutofit/>
          </a:bodyPr>
          <a:lstStyle>
            <a:lvl1pPr marL="0" indent="0" algn="l" defTabSz="914400" rtl="0" eaLnBrk="1" latinLnBrk="0" hangingPunct="1">
              <a:lnSpc>
                <a:spcPct val="130000"/>
              </a:lnSpc>
              <a:spcBef>
                <a:spcPts val="1000"/>
              </a:spcBef>
              <a:buFont typeface="Arial" panose="020B0604020202020204" pitchFamily="34" charset="0"/>
              <a:buNone/>
              <a:defRPr sz="2400" kern="1200">
                <a:solidFill>
                  <a:schemeClr val="bg1"/>
                </a:solidFill>
                <a:latin typeface="方正小标宋简体" panose="02010601030101010101" pitchFamily="2" charset="-122"/>
                <a:ea typeface="方正小标宋简体" panose="02010601030101010101" pitchFamily="2" charset="-122"/>
                <a:cs typeface="+mn-cs"/>
              </a:defRPr>
            </a:lvl1pPr>
            <a:lvl2pPr marL="457200" indent="0" algn="l" defTabSz="914400" rtl="0" eaLnBrk="1" latinLnBrk="0" hangingPunct="1">
              <a:lnSpc>
                <a:spcPct val="130000"/>
              </a:lnSpc>
              <a:spcBef>
                <a:spcPts val="500"/>
              </a:spcBef>
              <a:buFont typeface="Arial" panose="020B0604020202020204" pitchFamily="34" charset="0"/>
              <a:buNone/>
              <a:defRPr sz="2000" kern="1200">
                <a:solidFill>
                  <a:schemeClr val="bg1"/>
                </a:solidFill>
                <a:latin typeface="方正小标宋简体" panose="02010601030101010101" pitchFamily="2" charset="-122"/>
                <a:ea typeface="方正小标宋简体" panose="02010601030101010101" pitchFamily="2" charset="-122"/>
                <a:cs typeface="+mn-cs"/>
              </a:defRPr>
            </a:lvl2pPr>
            <a:lvl3pPr marL="914400" indent="0" algn="l" defTabSz="914400" rtl="0" eaLnBrk="1" latinLnBrk="0" hangingPunct="1">
              <a:lnSpc>
                <a:spcPct val="130000"/>
              </a:lnSpc>
              <a:spcBef>
                <a:spcPts val="500"/>
              </a:spcBef>
              <a:buFont typeface="Arial" panose="020B0604020202020204" pitchFamily="34" charset="0"/>
              <a:buNone/>
              <a:defRPr sz="1800" kern="1200">
                <a:solidFill>
                  <a:schemeClr val="bg1"/>
                </a:solidFill>
                <a:latin typeface="方正小标宋简体" panose="02010601030101010101" pitchFamily="2" charset="-122"/>
                <a:ea typeface="方正小标宋简体" panose="02010601030101010101" pitchFamily="2" charset="-122"/>
                <a:cs typeface="+mn-cs"/>
              </a:defRPr>
            </a:lvl3pPr>
            <a:lvl4pPr marL="1371600" indent="0" algn="l" defTabSz="914400" rtl="0" eaLnBrk="1" latinLnBrk="0" hangingPunct="1">
              <a:lnSpc>
                <a:spcPct val="130000"/>
              </a:lnSpc>
              <a:spcBef>
                <a:spcPts val="500"/>
              </a:spcBef>
              <a:buFont typeface="Arial" panose="020B0604020202020204" pitchFamily="34" charset="0"/>
              <a:buNone/>
              <a:defRPr sz="1600" kern="1200">
                <a:solidFill>
                  <a:schemeClr val="bg1"/>
                </a:solidFill>
                <a:latin typeface="方正小标宋简体" panose="02010601030101010101" pitchFamily="2" charset="-122"/>
                <a:ea typeface="方正小标宋简体" panose="02010601030101010101" pitchFamily="2" charset="-122"/>
                <a:cs typeface="+mn-cs"/>
              </a:defRPr>
            </a:lvl4pPr>
            <a:lvl5pPr marL="1828800" indent="0" algn="l" defTabSz="914400" rtl="0" eaLnBrk="1" latinLnBrk="0" hangingPunct="1">
              <a:lnSpc>
                <a:spcPct val="130000"/>
              </a:lnSpc>
              <a:spcBef>
                <a:spcPts val="500"/>
              </a:spcBef>
              <a:buFont typeface="Arial" panose="020B0604020202020204" pitchFamily="34" charset="0"/>
              <a:buNone/>
              <a:defRPr sz="1600" kern="1200">
                <a:solidFill>
                  <a:schemeClr val="bg1"/>
                </a:solidFill>
                <a:latin typeface="方正小标宋简体" panose="02010601030101010101" pitchFamily="2" charset="-122"/>
                <a:ea typeface="方正小标宋简体" panose="02010601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一阶逻辑</a:t>
            </a:r>
          </a:p>
        </p:txBody>
      </p:sp>
      <p:sp>
        <p:nvSpPr>
          <p:cNvPr id="5" name="内容占位符 1">
            <a:extLst>
              <a:ext uri="{FF2B5EF4-FFF2-40B4-BE49-F238E27FC236}">
                <a16:creationId xmlns:a16="http://schemas.microsoft.com/office/drawing/2014/main" id="{744EB4C1-2649-213D-FB46-7607E7D1BC78}"/>
              </a:ext>
            </a:extLst>
          </p:cNvPr>
          <p:cNvSpPr txBox="1">
            <a:spLocks/>
          </p:cNvSpPr>
          <p:nvPr/>
        </p:nvSpPr>
        <p:spPr>
          <a:xfrm>
            <a:off x="693806" y="1531666"/>
            <a:ext cx="2738941" cy="1706210"/>
          </a:xfrm>
          <a:prstGeom prst="rect">
            <a:avLst/>
          </a:prstGeom>
          <a:ln w="28575">
            <a:solidFill>
              <a:srgbClr val="FEDD7E"/>
            </a:solidFill>
          </a:ln>
        </p:spPr>
        <p:txBody>
          <a:bodyPr vert="horz" lIns="91440" tIns="45720" rIns="91440" bIns="45720" rtlCol="0">
            <a:normAutofit fontScale="70000" lnSpcReduction="20000"/>
          </a:bodyPr>
          <a:lstStyle>
            <a:lvl1pPr marL="171450" indent="-171450" algn="l" defTabSz="685800" rtl="0" eaLnBrk="1" latinLnBrk="0" hangingPunct="1">
              <a:lnSpc>
                <a:spcPct val="110000"/>
              </a:lnSpc>
              <a:spcBef>
                <a:spcPts val="750"/>
              </a:spcBef>
              <a:buFont typeface="Wingdings" panose="05000000000000000000" pitchFamily="2" charset="2"/>
              <a:buChar char="u"/>
              <a:defRPr sz="2400" b="1" i="0" kern="1200" spc="0" baseline="0">
                <a:solidFill>
                  <a:srgbClr val="002060"/>
                </a:solidFill>
                <a:latin typeface="方正屏显雅宋简体" panose="02010600010101010101" pitchFamily="2" charset="-122"/>
                <a:ea typeface="方正屏显雅宋简体" panose="02010600010101010101" pitchFamily="2" charset="-122"/>
                <a:cs typeface="+mn-cs"/>
              </a:defRPr>
            </a:lvl1pPr>
            <a:lvl2pPr marL="685800" indent="-342900" algn="l" defTabSz="685800" rtl="0" eaLnBrk="1" latinLnBrk="0" hangingPunct="1">
              <a:lnSpc>
                <a:spcPct val="110000"/>
              </a:lnSpc>
              <a:spcBef>
                <a:spcPts val="375"/>
              </a:spcBef>
              <a:buFont typeface="Wingdings" panose="05000000000000000000" pitchFamily="2" charset="2"/>
              <a:buChar char="l"/>
              <a:defRPr sz="2000" b="1" i="0" kern="1200" spc="0" baseline="0">
                <a:solidFill>
                  <a:srgbClr val="002060"/>
                </a:solidFill>
                <a:latin typeface="方正屏显雅宋简体" panose="02010600010101010101" pitchFamily="2" charset="-122"/>
                <a:ea typeface="方正屏显雅宋简体" panose="02010600010101010101" pitchFamily="2" charset="-122"/>
                <a:cs typeface="+mn-cs"/>
              </a:defRPr>
            </a:lvl2pPr>
            <a:lvl3pPr marL="360000" indent="0" algn="l" defTabSz="685800" rtl="0" eaLnBrk="1" latinLnBrk="0" hangingPunct="1">
              <a:lnSpc>
                <a:spcPct val="100000"/>
              </a:lnSpc>
              <a:spcBef>
                <a:spcPts val="0"/>
              </a:spcBef>
              <a:buFont typeface="Wingdings 2" pitchFamily="18" charset="2"/>
              <a:buNone/>
              <a:defRPr sz="1800" b="0" i="0" kern="1200" spc="0" baseline="0">
                <a:solidFill>
                  <a:srgbClr val="C00000"/>
                </a:solidFill>
                <a:latin typeface="方正屏显雅宋简体" panose="02010600010101010101" pitchFamily="2" charset="-122"/>
                <a:ea typeface="方正屏显雅宋简体" panose="02010600010101010101" pitchFamily="2" charset="-122"/>
                <a:cs typeface="Courier New" panose="02070309020205020404" pitchFamily="49" charset="0"/>
              </a:defRPr>
            </a:lvl3pPr>
            <a:lvl4pPr marL="1200150" indent="-171450" algn="l" defTabSz="685800" rtl="0" eaLnBrk="1" latinLnBrk="0" hangingPunct="1">
              <a:lnSpc>
                <a:spcPct val="110000"/>
              </a:lnSpc>
              <a:spcBef>
                <a:spcPts val="375"/>
              </a:spcBef>
              <a:buFont typeface="Wingdings 2" pitchFamily="18" charset="2"/>
              <a:buChar char=""/>
              <a:defRPr sz="2000" b="1" i="0" kern="1200" baseline="0">
                <a:solidFill>
                  <a:schemeClr val="accent5">
                    <a:lumMod val="75000"/>
                  </a:schemeClr>
                </a:solidFill>
                <a:latin typeface="方正屏显雅宋简体" panose="02010600010101010101" pitchFamily="2" charset="-122"/>
                <a:ea typeface="方正屏显雅宋简体" panose="02010600010101010101" pitchFamily="2" charset="-122"/>
                <a:cs typeface="+mn-cs"/>
              </a:defRPr>
            </a:lvl4pPr>
            <a:lvl5pPr marL="1543050" indent="-171450" algn="l" defTabSz="685800" rtl="0" eaLnBrk="1" latinLnBrk="0" hangingPunct="1">
              <a:lnSpc>
                <a:spcPct val="110000"/>
              </a:lnSpc>
              <a:spcBef>
                <a:spcPts val="375"/>
              </a:spcBef>
              <a:buFont typeface="Wingdings 2" pitchFamily="18" charset="2"/>
              <a:buChar char=""/>
              <a:defRPr sz="2000" b="1" i="0" kern="1200" baseline="0">
                <a:solidFill>
                  <a:schemeClr val="accent5">
                    <a:lumMod val="75000"/>
                  </a:schemeClr>
                </a:solidFill>
                <a:latin typeface="方正屏显雅宋简体" panose="02010600010101010101" pitchFamily="2" charset="-122"/>
                <a:ea typeface="方正屏显雅宋简体" panose="02010600010101010101" pitchFamily="2" charset="-122"/>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a:lstStyle>
          <a:p>
            <a:pPr marL="0" indent="0">
              <a:buNone/>
            </a:pP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P:John</a:t>
            </a: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是国王</a:t>
            </a:r>
            <a:endParaRPr lang="en-US" altLang="zh-CN" dirty="0">
              <a:solidFill>
                <a:srgbClr val="FFCC99"/>
              </a:solidFill>
              <a:latin typeface="Aa花间辞楷书 (非商业使用)" panose="02010600010101010101" pitchFamily="2" charset="-122"/>
              <a:ea typeface="Aa花间辞楷书 (非商业使用)" panose="02010600010101010101" pitchFamily="2" charset="-122"/>
            </a:endParaRPr>
          </a:p>
          <a:p>
            <a:pPr marL="0" indent="0">
              <a:buNone/>
            </a:pP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Q:Richard</a:t>
            </a: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是人</a:t>
            </a:r>
            <a:endParaRPr lang="en-US" altLang="zh-CN" dirty="0">
              <a:solidFill>
                <a:srgbClr val="FFCC99"/>
              </a:solidFill>
              <a:latin typeface="Aa花间辞楷书 (非商业使用)" panose="02010600010101010101" pitchFamily="2" charset="-122"/>
              <a:ea typeface="Aa花间辞楷书 (非商业使用)" panose="02010600010101010101" pitchFamily="2" charset="-122"/>
            </a:endParaRPr>
          </a:p>
          <a:p>
            <a:pPr marL="0" indent="0">
              <a:buNone/>
            </a:pP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R:</a:t>
            </a: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所有国王都是人</a:t>
            </a:r>
            <a:endParaRPr lang="en-US" altLang="zh-CN" dirty="0">
              <a:solidFill>
                <a:srgbClr val="FFCC99"/>
              </a:solidFill>
              <a:latin typeface="Aa花间辞楷书 (非商业使用)" panose="02010600010101010101" pitchFamily="2" charset="-122"/>
              <a:ea typeface="Aa花间辞楷书 (非商业使用)" panose="02010600010101010101" pitchFamily="2" charset="-122"/>
            </a:endParaRPr>
          </a:p>
          <a:p>
            <a:pPr marL="0" indent="0">
              <a:buNone/>
            </a:pP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S1:John</a:t>
            </a: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是国王</a:t>
            </a:r>
            <a:endParaRPr lang="en-US" altLang="zh-CN" dirty="0">
              <a:solidFill>
                <a:srgbClr val="FFCC99"/>
              </a:solidFill>
              <a:latin typeface="Aa花间辞楷书 (非商业使用)" panose="02010600010101010101" pitchFamily="2" charset="-122"/>
              <a:ea typeface="Aa花间辞楷书 (非商业使用)" panose="02010600010101010101" pitchFamily="2" charset="-122"/>
            </a:endParaRPr>
          </a:p>
          <a:p>
            <a:pPr marL="0" indent="0">
              <a:buNone/>
            </a:pP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S2:John</a:t>
            </a: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是人</a:t>
            </a:r>
            <a:endParaRPr lang="en-US" altLang="zh-CN" dirty="0">
              <a:solidFill>
                <a:srgbClr val="FFCC99"/>
              </a:solidFill>
              <a:latin typeface="Aa花间辞楷书 (非商业使用)" panose="02010600010101010101" pitchFamily="2" charset="-122"/>
              <a:ea typeface="Aa花间辞楷书 (非商业使用)" panose="02010600010101010101" pitchFamily="2" charset="-122"/>
            </a:endParaRPr>
          </a:p>
          <a:p>
            <a:endParaRPr lang="zh-CN" altLang="en-US" dirty="0">
              <a:solidFill>
                <a:srgbClr val="FFCC99"/>
              </a:solidFill>
              <a:latin typeface="Aa花间辞楷书 (非商业使用)" panose="02010600010101010101" pitchFamily="2" charset="-122"/>
              <a:ea typeface="Aa花间辞楷书 (非商业使用)" panose="02010600010101010101" pitchFamily="2" charset="-122"/>
            </a:endParaRPr>
          </a:p>
        </p:txBody>
      </p:sp>
      <mc:AlternateContent xmlns:mc="http://schemas.openxmlformats.org/markup-compatibility/2006">
        <mc:Choice xmlns:a14="http://schemas.microsoft.com/office/drawing/2010/main" Requires="a14">
          <p:sp>
            <p:nvSpPr>
              <p:cNvPr id="6" name="内容占位符 1">
                <a:extLst>
                  <a:ext uri="{FF2B5EF4-FFF2-40B4-BE49-F238E27FC236}">
                    <a16:creationId xmlns:a16="http://schemas.microsoft.com/office/drawing/2014/main" id="{D8842195-4F20-F016-A825-5DDF3255E67E}"/>
                  </a:ext>
                </a:extLst>
              </p:cNvPr>
              <p:cNvSpPr txBox="1">
                <a:spLocks/>
              </p:cNvSpPr>
              <p:nvPr/>
            </p:nvSpPr>
            <p:spPr>
              <a:xfrm>
                <a:off x="710570" y="3658489"/>
                <a:ext cx="2738941" cy="683148"/>
              </a:xfrm>
              <a:prstGeom prst="rect">
                <a:avLst/>
              </a:prstGeom>
              <a:ln w="28575">
                <a:solidFill>
                  <a:srgbClr val="FEDD7E"/>
                </a:solidFill>
              </a:ln>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Wingdings 2" pitchFamily="18"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a:lstStyle>
              <a:p>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KB </a:t>
                </a:r>
                <a14:m>
                  <m:oMath xmlns:m="http://schemas.openxmlformats.org/officeDocument/2006/math">
                    <m:r>
                      <a:rPr lang="en-US" altLang="zh-CN" dirty="0">
                        <a:solidFill>
                          <a:srgbClr val="FFCC99"/>
                        </a:solidFill>
                        <a:latin typeface="Cambria Math" panose="02040503050406030204" pitchFamily="18" charset="0"/>
                      </a:rPr>
                      <m:t>⇒</m:t>
                    </m:r>
                  </m:oMath>
                </a14:m>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S1</a:t>
                </a:r>
                <a:endParaRPr lang="zh-CN" altLang="en-US" dirty="0">
                  <a:solidFill>
                    <a:srgbClr val="FFCC99"/>
                  </a:solidFill>
                  <a:latin typeface="Aa花间辞楷书 (非商业使用)" panose="02010600010101010101" pitchFamily="2" charset="-122"/>
                  <a:ea typeface="Aa花间辞楷书 (非商业使用)" panose="02010600010101010101" pitchFamily="2" charset="-122"/>
                </a:endParaRPr>
              </a:p>
            </p:txBody>
          </p:sp>
        </mc:Choice>
        <mc:Fallback>
          <p:sp>
            <p:nvSpPr>
              <p:cNvPr id="6" name="内容占位符 1">
                <a:extLst>
                  <a:ext uri="{FF2B5EF4-FFF2-40B4-BE49-F238E27FC236}">
                    <a16:creationId xmlns:a16="http://schemas.microsoft.com/office/drawing/2014/main" id="{D8842195-4F20-F016-A825-5DDF3255E67E}"/>
                  </a:ext>
                </a:extLst>
              </p:cNvPr>
              <p:cNvSpPr txBox="1">
                <a:spLocks noRot="1" noChangeAspect="1" noMove="1" noResize="1" noEditPoints="1" noAdjustHandles="1" noChangeArrowheads="1" noChangeShapeType="1" noTextEdit="1"/>
              </p:cNvSpPr>
              <p:nvPr/>
            </p:nvSpPr>
            <p:spPr>
              <a:xfrm>
                <a:off x="710570" y="3658489"/>
                <a:ext cx="2738941" cy="683148"/>
              </a:xfrm>
              <a:prstGeom prst="rect">
                <a:avLst/>
              </a:prstGeom>
              <a:blipFill>
                <a:blip r:embed="rId2"/>
                <a:stretch>
                  <a:fillRect l="-1542" t="-7692"/>
                </a:stretch>
              </a:blipFill>
              <a:ln w="28575">
                <a:solidFill>
                  <a:srgbClr val="FEDD7E"/>
                </a:solidFill>
              </a:ln>
            </p:spPr>
            <p:txBody>
              <a:bodyPr/>
              <a:lstStyle/>
              <a:p>
                <a:r>
                  <a:rPr lang="zh-CN" altLang="en-US">
                    <a:noFill/>
                  </a:rPr>
                  <a:t> </a:t>
                </a:r>
              </a:p>
            </p:txBody>
          </p:sp>
        </mc:Fallback>
      </mc:AlternateContent>
      <p:sp>
        <p:nvSpPr>
          <p:cNvPr id="7" name="内容占位符 1">
            <a:extLst>
              <a:ext uri="{FF2B5EF4-FFF2-40B4-BE49-F238E27FC236}">
                <a16:creationId xmlns:a16="http://schemas.microsoft.com/office/drawing/2014/main" id="{7F0521CE-8E84-41D3-4CDD-C6385CF53FF4}"/>
              </a:ext>
            </a:extLst>
          </p:cNvPr>
          <p:cNvSpPr txBox="1">
            <a:spLocks/>
          </p:cNvSpPr>
          <p:nvPr/>
        </p:nvSpPr>
        <p:spPr>
          <a:xfrm>
            <a:off x="695048" y="4762251"/>
            <a:ext cx="2738941" cy="683148"/>
          </a:xfrm>
          <a:prstGeom prst="rect">
            <a:avLst/>
          </a:prstGeom>
          <a:ln w="28575">
            <a:solidFill>
              <a:srgbClr val="FEDD7E"/>
            </a:solidFill>
          </a:ln>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Wingdings 2" pitchFamily="18"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a:lstStyle>
          <a:p>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KB</a:t>
            </a: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无法推断出</a:t>
            </a: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S2</a:t>
            </a:r>
            <a:endParaRPr lang="zh-CN" altLang="en-US" dirty="0">
              <a:solidFill>
                <a:srgbClr val="FFCC99"/>
              </a:solidFill>
              <a:latin typeface="Aa花间辞楷书 (非商业使用)" panose="02010600010101010101" pitchFamily="2" charset="-122"/>
              <a:ea typeface="Aa花间辞楷书 (非商业使用)" panose="02010600010101010101" pitchFamily="2" charset="-122"/>
            </a:endParaRPr>
          </a:p>
        </p:txBody>
      </p:sp>
      <mc:AlternateContent xmlns:mc="http://schemas.openxmlformats.org/markup-compatibility/2006">
        <mc:Choice xmlns:a14="http://schemas.microsoft.com/office/drawing/2010/main" Requires="a14">
          <p:sp>
            <p:nvSpPr>
              <p:cNvPr id="8" name="内容占位符 1">
                <a:extLst>
                  <a:ext uri="{FF2B5EF4-FFF2-40B4-BE49-F238E27FC236}">
                    <a16:creationId xmlns:a16="http://schemas.microsoft.com/office/drawing/2014/main" id="{EF992D5B-4DC4-FEC2-D31F-1E2D367B2129}"/>
                  </a:ext>
                </a:extLst>
              </p:cNvPr>
              <p:cNvSpPr txBox="1">
                <a:spLocks/>
              </p:cNvSpPr>
              <p:nvPr/>
            </p:nvSpPr>
            <p:spPr>
              <a:xfrm>
                <a:off x="3825625" y="1531666"/>
                <a:ext cx="2738941" cy="1706209"/>
              </a:xfrm>
              <a:prstGeom prst="rect">
                <a:avLst/>
              </a:prstGeom>
              <a:ln w="28575">
                <a:solidFill>
                  <a:srgbClr val="FEDD7E"/>
                </a:solidFill>
              </a:ln>
            </p:spPr>
            <p:txBody>
              <a:bodyPr vert="horz" lIns="91440" tIns="45720" rIns="91440" bIns="45720" rtlCol="0">
                <a:normAutofit fontScale="92500" lnSpcReduction="10000"/>
              </a:bodyPr>
              <a:lstStyle>
                <a:lvl1pPr marL="171450" indent="-171450" algn="l" defTabSz="685800" rtl="0" eaLnBrk="1" latinLnBrk="0" hangingPunct="1">
                  <a:lnSpc>
                    <a:spcPct val="90000"/>
                  </a:lnSpc>
                  <a:spcBef>
                    <a:spcPts val="750"/>
                  </a:spcBef>
                  <a:buFont typeface="Wingdings 2" pitchFamily="18"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a:lstStyle>
              <a:p>
                <a:pPr marL="0" indent="0">
                  <a:buNone/>
                </a:pP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King(John)</a:t>
                </a:r>
              </a:p>
              <a:p>
                <a:pPr marL="0" indent="0">
                  <a:buNone/>
                </a:pP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Person(Richard)</a:t>
                </a:r>
              </a:p>
              <a:p>
                <a:pPr marL="0" indent="0">
                  <a:buNone/>
                </a:pPr>
                <a14:m>
                  <m:oMath xmlns:m="http://schemas.openxmlformats.org/officeDocument/2006/math">
                    <m:r>
                      <a:rPr lang="en-US" altLang="zh-CN" dirty="0" smtClean="0">
                        <a:solidFill>
                          <a:srgbClr val="FFCC99"/>
                        </a:solidFill>
                        <a:latin typeface="Cambria Math" panose="02040503050406030204" pitchFamily="18" charset="0"/>
                      </a:rPr>
                      <m:t>∀</m:t>
                    </m:r>
                    <m:r>
                      <m:rPr>
                        <m:sty m:val="p"/>
                      </m:rPr>
                      <a:rPr lang="en-US" altLang="zh-CN" b="0" i="0" dirty="0" smtClean="0">
                        <a:solidFill>
                          <a:srgbClr val="FFCC99"/>
                        </a:solidFill>
                        <a:latin typeface="Cambria Math" panose="02040503050406030204" pitchFamily="18" charset="0"/>
                      </a:rPr>
                      <m:t>x</m:t>
                    </m:r>
                    <m:r>
                      <m:rPr>
                        <m:sty m:val="p"/>
                      </m:rPr>
                      <a:rPr lang="en-US" altLang="zh-CN" i="1" dirty="0">
                        <a:solidFill>
                          <a:srgbClr val="FFCC99"/>
                        </a:solidFill>
                        <a:latin typeface="Cambria Math" panose="02040503050406030204" pitchFamily="18" charset="0"/>
                      </a:rPr>
                      <m:t>King</m:t>
                    </m:r>
                    <m:r>
                      <a:rPr lang="en-US" altLang="zh-CN" b="0" i="0" dirty="0" smtClean="0">
                        <a:solidFill>
                          <a:srgbClr val="FFCC99"/>
                        </a:solidFill>
                        <a:latin typeface="Cambria Math" panose="02040503050406030204" pitchFamily="18" charset="0"/>
                      </a:rPr>
                      <m:t>(</m:t>
                    </m:r>
                    <m:r>
                      <m:rPr>
                        <m:sty m:val="p"/>
                      </m:rPr>
                      <a:rPr lang="en-US" altLang="zh-CN" b="0" i="0" dirty="0" smtClean="0">
                        <a:solidFill>
                          <a:srgbClr val="FFCC99"/>
                        </a:solidFill>
                        <a:latin typeface="Cambria Math" panose="02040503050406030204" pitchFamily="18" charset="0"/>
                      </a:rPr>
                      <m:t>x</m:t>
                    </m:r>
                    <m:r>
                      <a:rPr lang="en-US" altLang="zh-CN" b="0" i="0" dirty="0" smtClean="0">
                        <a:solidFill>
                          <a:srgbClr val="FFCC99"/>
                        </a:solidFill>
                        <a:latin typeface="Cambria Math" panose="02040503050406030204" pitchFamily="18" charset="0"/>
                      </a:rPr>
                      <m:t>)⇒</m:t>
                    </m:r>
                  </m:oMath>
                </a14:m>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Person(x)</a:t>
                </a:r>
              </a:p>
              <a:p>
                <a:pPr marL="0" indent="0">
                  <a:buNone/>
                </a:pP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King(John)</a:t>
                </a:r>
              </a:p>
              <a:p>
                <a:pPr marL="0" indent="0">
                  <a:buNone/>
                </a:pP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Person(John)</a:t>
                </a:r>
              </a:p>
              <a:p>
                <a:endParaRPr lang="zh-CN" altLang="en-US" dirty="0">
                  <a:solidFill>
                    <a:srgbClr val="FFCC99"/>
                  </a:solidFill>
                  <a:latin typeface="Aa花间辞楷书 (非商业使用)" panose="02010600010101010101" pitchFamily="2" charset="-122"/>
                  <a:ea typeface="Aa花间辞楷书 (非商业使用)" panose="02010600010101010101" pitchFamily="2" charset="-122"/>
                </a:endParaRPr>
              </a:p>
            </p:txBody>
          </p:sp>
        </mc:Choice>
        <mc:Fallback>
          <p:sp>
            <p:nvSpPr>
              <p:cNvPr id="8" name="内容占位符 1">
                <a:extLst>
                  <a:ext uri="{FF2B5EF4-FFF2-40B4-BE49-F238E27FC236}">
                    <a16:creationId xmlns:a16="http://schemas.microsoft.com/office/drawing/2014/main" id="{EF992D5B-4DC4-FEC2-D31F-1E2D367B2129}"/>
                  </a:ext>
                </a:extLst>
              </p:cNvPr>
              <p:cNvSpPr txBox="1">
                <a:spLocks noRot="1" noChangeAspect="1" noMove="1" noResize="1" noEditPoints="1" noAdjustHandles="1" noChangeArrowheads="1" noChangeShapeType="1" noTextEdit="1"/>
              </p:cNvSpPr>
              <p:nvPr/>
            </p:nvSpPr>
            <p:spPr>
              <a:xfrm>
                <a:off x="3825625" y="1531666"/>
                <a:ext cx="2738941" cy="1706209"/>
              </a:xfrm>
              <a:prstGeom prst="rect">
                <a:avLst/>
              </a:prstGeom>
              <a:blipFill>
                <a:blip r:embed="rId3"/>
                <a:stretch>
                  <a:fillRect l="-1762" t="-3860" b="-2456"/>
                </a:stretch>
              </a:blipFill>
              <a:ln w="28575">
                <a:solidFill>
                  <a:srgbClr val="FEDD7E"/>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内容占位符 1">
                <a:extLst>
                  <a:ext uri="{FF2B5EF4-FFF2-40B4-BE49-F238E27FC236}">
                    <a16:creationId xmlns:a16="http://schemas.microsoft.com/office/drawing/2014/main" id="{5065CF93-D790-B1CA-72FF-155B02BACB82}"/>
                  </a:ext>
                </a:extLst>
              </p:cNvPr>
              <p:cNvSpPr txBox="1">
                <a:spLocks/>
              </p:cNvSpPr>
              <p:nvPr/>
            </p:nvSpPr>
            <p:spPr>
              <a:xfrm>
                <a:off x="3841147" y="3658490"/>
                <a:ext cx="2738941" cy="683148"/>
              </a:xfrm>
              <a:prstGeom prst="rect">
                <a:avLst/>
              </a:prstGeom>
              <a:ln w="28575">
                <a:solidFill>
                  <a:srgbClr val="FEDD7E"/>
                </a:solidFill>
              </a:ln>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Wingdings 2" pitchFamily="18"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a:lstStyle>
              <a:p>
                <a:pPr marL="0" indent="0">
                  <a:buNone/>
                </a:pP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KB </a:t>
                </a:r>
                <a14:m>
                  <m:oMath xmlns:m="http://schemas.openxmlformats.org/officeDocument/2006/math">
                    <m:r>
                      <a:rPr lang="en-US" altLang="zh-CN" dirty="0">
                        <a:solidFill>
                          <a:srgbClr val="FFCC99"/>
                        </a:solidFill>
                        <a:latin typeface="Cambria Math" panose="02040503050406030204" pitchFamily="18" charset="0"/>
                      </a:rPr>
                      <m:t>⇒</m:t>
                    </m:r>
                    <m:r>
                      <m:rPr>
                        <m:sty m:val="p"/>
                      </m:rPr>
                      <a:rPr lang="en-US" altLang="zh-CN" i="1" dirty="0" smtClean="0">
                        <a:solidFill>
                          <a:srgbClr val="FFCC99"/>
                        </a:solidFill>
                        <a:latin typeface="Cambria Math" panose="02040503050406030204" pitchFamily="18" charset="0"/>
                      </a:rPr>
                      <m:t>King</m:t>
                    </m:r>
                    <m:r>
                      <a:rPr lang="en-US" altLang="zh-CN" b="0" i="1" dirty="0" smtClean="0">
                        <a:solidFill>
                          <a:srgbClr val="FFCC99"/>
                        </a:solidFill>
                        <a:latin typeface="Cambria Math" panose="02040503050406030204" pitchFamily="18" charset="0"/>
                      </a:rPr>
                      <m:t>(</m:t>
                    </m:r>
                  </m:oMath>
                </a14:m>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John)</a:t>
                </a:r>
                <a:endParaRPr lang="zh-CN" altLang="en-US" dirty="0">
                  <a:solidFill>
                    <a:srgbClr val="FFCC99"/>
                  </a:solidFill>
                  <a:latin typeface="Aa花间辞楷书 (非商业使用)" panose="02010600010101010101" pitchFamily="2" charset="-122"/>
                  <a:ea typeface="Aa花间辞楷书 (非商业使用)" panose="02010600010101010101" pitchFamily="2" charset="-122"/>
                </a:endParaRPr>
              </a:p>
            </p:txBody>
          </p:sp>
        </mc:Choice>
        <mc:Fallback>
          <p:sp>
            <p:nvSpPr>
              <p:cNvPr id="9" name="内容占位符 1">
                <a:extLst>
                  <a:ext uri="{FF2B5EF4-FFF2-40B4-BE49-F238E27FC236}">
                    <a16:creationId xmlns:a16="http://schemas.microsoft.com/office/drawing/2014/main" id="{5065CF93-D790-B1CA-72FF-155B02BACB82}"/>
                  </a:ext>
                </a:extLst>
              </p:cNvPr>
              <p:cNvSpPr txBox="1">
                <a:spLocks noRot="1" noChangeAspect="1" noMove="1" noResize="1" noEditPoints="1" noAdjustHandles="1" noChangeArrowheads="1" noChangeShapeType="1" noTextEdit="1"/>
              </p:cNvSpPr>
              <p:nvPr/>
            </p:nvSpPr>
            <p:spPr>
              <a:xfrm>
                <a:off x="3841147" y="3658490"/>
                <a:ext cx="2738941" cy="683148"/>
              </a:xfrm>
              <a:prstGeom prst="rect">
                <a:avLst/>
              </a:prstGeom>
              <a:blipFill>
                <a:blip r:embed="rId4"/>
                <a:stretch>
                  <a:fillRect l="-2203" t="-7692"/>
                </a:stretch>
              </a:blipFill>
              <a:ln w="28575">
                <a:solidFill>
                  <a:srgbClr val="FEDD7E"/>
                </a:solidFill>
              </a:ln>
            </p:spPr>
            <p:txBody>
              <a:bodyPr/>
              <a:lstStyle/>
              <a:p>
                <a:r>
                  <a:rPr lang="zh-CN" altLang="en-US">
                    <a:noFill/>
                  </a:rPr>
                  <a:t> </a:t>
                </a:r>
              </a:p>
            </p:txBody>
          </p:sp>
        </mc:Fallback>
      </mc:AlternateContent>
      <p:sp>
        <p:nvSpPr>
          <p:cNvPr id="10" name="内容占位符 1">
            <a:extLst>
              <a:ext uri="{FF2B5EF4-FFF2-40B4-BE49-F238E27FC236}">
                <a16:creationId xmlns:a16="http://schemas.microsoft.com/office/drawing/2014/main" id="{FA5B00E2-5511-55AF-9948-F6747AAB977B}"/>
              </a:ext>
            </a:extLst>
          </p:cNvPr>
          <p:cNvSpPr txBox="1">
            <a:spLocks/>
          </p:cNvSpPr>
          <p:nvPr/>
        </p:nvSpPr>
        <p:spPr>
          <a:xfrm>
            <a:off x="3825625" y="4855982"/>
            <a:ext cx="2662177" cy="1088821"/>
          </a:xfrm>
          <a:prstGeom prst="rect">
            <a:avLst/>
          </a:prstGeom>
          <a:ln w="28575">
            <a:solidFill>
              <a:srgbClr val="FEDD7E"/>
            </a:solidFill>
          </a:ln>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Wingdings 2" pitchFamily="18"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a:lstStyle>
          <a:p>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一阶逻辑通过查找合法的置换来判定关系</a:t>
            </a:r>
          </a:p>
        </p:txBody>
      </p:sp>
      <p:sp>
        <p:nvSpPr>
          <p:cNvPr id="11" name="内容占位符 1">
            <a:extLst>
              <a:ext uri="{FF2B5EF4-FFF2-40B4-BE49-F238E27FC236}">
                <a16:creationId xmlns:a16="http://schemas.microsoft.com/office/drawing/2014/main" id="{F67021D0-9740-8105-D0FB-C7F8680DC690}"/>
              </a:ext>
            </a:extLst>
          </p:cNvPr>
          <p:cNvSpPr txBox="1">
            <a:spLocks/>
          </p:cNvSpPr>
          <p:nvPr/>
        </p:nvSpPr>
        <p:spPr>
          <a:xfrm>
            <a:off x="6768145" y="1531666"/>
            <a:ext cx="5336461" cy="4428395"/>
          </a:xfrm>
          <a:prstGeom prst="rect">
            <a:avLst/>
          </a:prstGeom>
          <a:solidFill>
            <a:srgbClr val="FFCCCC"/>
          </a:solidFill>
          <a:ln w="28575">
            <a:solidFill>
              <a:schemeClr val="tx1"/>
            </a:solidFill>
          </a:ln>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Wingdings 2" pitchFamily="18"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a:lstStyle>
          <a:p>
            <a:pPr>
              <a:lnSpc>
                <a:spcPct val="160000"/>
              </a:lnSpc>
            </a:pPr>
            <a:r>
              <a:rPr lang="zh-CN" altLang="en-US" sz="2000" dirty="0">
                <a:solidFill>
                  <a:srgbClr val="002060"/>
                </a:solidFill>
                <a:latin typeface="Aa花间辞楷书 (非商业使用)" panose="02010600010101010101" pitchFamily="2" charset="-122"/>
                <a:ea typeface="Aa花间辞楷书 (非商业使用)" panose="02010600010101010101" pitchFamily="2" charset="-122"/>
              </a:rPr>
              <a:t>命题逻辑只是对事物的存在进行限定</a:t>
            </a:r>
            <a:endParaRPr lang="en-US" altLang="zh-CN" sz="2000" dirty="0">
              <a:solidFill>
                <a:srgbClr val="002060"/>
              </a:solidFill>
              <a:latin typeface="Aa花间辞楷书 (非商业使用)" panose="02010600010101010101" pitchFamily="2" charset="-122"/>
              <a:ea typeface="Aa花间辞楷书 (非商业使用)" panose="02010600010101010101" pitchFamily="2" charset="-122"/>
            </a:endParaRPr>
          </a:p>
          <a:p>
            <a:pPr>
              <a:lnSpc>
                <a:spcPct val="160000"/>
              </a:lnSpc>
            </a:pPr>
            <a:r>
              <a:rPr lang="zh-CN" altLang="en-US" sz="2000" dirty="0">
                <a:solidFill>
                  <a:srgbClr val="002060"/>
                </a:solidFill>
                <a:latin typeface="Aa花间辞楷书 (非商业使用)" panose="02010600010101010101" pitchFamily="2" charset="-122"/>
                <a:ea typeface="Aa花间辞楷书 (非商业使用)" panose="02010600010101010101" pitchFamily="2" charset="-122"/>
              </a:rPr>
              <a:t>一阶逻辑对于对象和关系的存在进行限定</a:t>
            </a:r>
            <a:endParaRPr lang="en-US" altLang="zh-CN" dirty="0">
              <a:solidFill>
                <a:srgbClr val="002060"/>
              </a:solidFill>
              <a:latin typeface="Aa花间辞楷书 (非商业使用)" panose="02010600010101010101" pitchFamily="2" charset="-122"/>
              <a:ea typeface="Aa花间辞楷书 (非商业使用)" panose="02010600010101010101" pitchFamily="2" charset="-122"/>
            </a:endParaRPr>
          </a:p>
          <a:p>
            <a:pPr>
              <a:lnSpc>
                <a:spcPct val="160000"/>
              </a:lnSpc>
            </a:pPr>
            <a:endParaRPr lang="en-US" altLang="zh-CN" dirty="0">
              <a:solidFill>
                <a:srgbClr val="002060"/>
              </a:solidFill>
              <a:latin typeface="Aa花间辞楷书 (非商业使用)" panose="02010600010101010101" pitchFamily="2" charset="-122"/>
              <a:ea typeface="Aa花间辞楷书 (非商业使用)" panose="02010600010101010101" pitchFamily="2" charset="-122"/>
            </a:endParaRPr>
          </a:p>
          <a:p>
            <a:pPr>
              <a:lnSpc>
                <a:spcPct val="160000"/>
              </a:lnSpc>
            </a:pPr>
            <a:r>
              <a:rPr lang="zh-CN" altLang="en-US" dirty="0">
                <a:solidFill>
                  <a:srgbClr val="002060"/>
                </a:solidFill>
                <a:latin typeface="Aa花间辞楷书 (非商业使用)" panose="02010600010101010101" pitchFamily="2" charset="-122"/>
                <a:ea typeface="Aa花间辞楷书 (非商业使用)" panose="02010600010101010101" pitchFamily="2" charset="-122"/>
              </a:rPr>
              <a:t>命题逻辑只需判定真假</a:t>
            </a:r>
            <a:endParaRPr lang="en-US" altLang="zh-CN" dirty="0">
              <a:solidFill>
                <a:srgbClr val="002060"/>
              </a:solidFill>
              <a:latin typeface="Aa花间辞楷书 (非商业使用)" panose="02010600010101010101" pitchFamily="2" charset="-122"/>
              <a:ea typeface="Aa花间辞楷书 (非商业使用)" panose="02010600010101010101" pitchFamily="2" charset="-122"/>
            </a:endParaRPr>
          </a:p>
          <a:p>
            <a:pPr>
              <a:lnSpc>
                <a:spcPct val="160000"/>
              </a:lnSpc>
            </a:pPr>
            <a:r>
              <a:rPr lang="zh-CN" altLang="en-US" dirty="0">
                <a:solidFill>
                  <a:srgbClr val="002060"/>
                </a:solidFill>
                <a:latin typeface="Aa花间辞楷书 (非商业使用)" panose="02010600010101010101" pitchFamily="2" charset="-122"/>
                <a:ea typeface="Aa花间辞楷书 (非商业使用)" panose="02010600010101010101" pitchFamily="2" charset="-122"/>
              </a:rPr>
              <a:t>一阶逻辑可能还要考虑关系是否存在</a:t>
            </a:r>
            <a:endParaRPr lang="en-US" altLang="zh-CN" dirty="0">
              <a:solidFill>
                <a:srgbClr val="002060"/>
              </a:solidFill>
              <a:latin typeface="Aa花间辞楷书 (非商业使用)" panose="02010600010101010101" pitchFamily="2" charset="-122"/>
              <a:ea typeface="Aa花间辞楷书 (非商业使用)" panose="02010600010101010101" pitchFamily="2" charset="-122"/>
            </a:endParaRPr>
          </a:p>
          <a:p>
            <a:pPr>
              <a:lnSpc>
                <a:spcPct val="160000"/>
              </a:lnSpc>
            </a:pPr>
            <a:endParaRPr lang="en-US" altLang="zh-CN" dirty="0">
              <a:solidFill>
                <a:srgbClr val="002060"/>
              </a:solidFill>
              <a:latin typeface="Aa花间辞楷书 (非商业使用)" panose="02010600010101010101" pitchFamily="2" charset="-122"/>
              <a:ea typeface="Aa花间辞楷书 (非商业使用)" panose="02010600010101010101" pitchFamily="2" charset="-122"/>
            </a:endParaRPr>
          </a:p>
          <a:p>
            <a:pPr>
              <a:lnSpc>
                <a:spcPct val="160000"/>
              </a:lnSpc>
            </a:pPr>
            <a:r>
              <a:rPr lang="zh-CN" altLang="en-US" dirty="0">
                <a:solidFill>
                  <a:srgbClr val="002060"/>
                </a:solidFill>
                <a:latin typeface="Aa花间辞楷书 (非商业使用)" panose="02010600010101010101" pitchFamily="2" charset="-122"/>
                <a:ea typeface="Aa花间辞楷书 (非商业使用)" panose="02010600010101010101" pitchFamily="2" charset="-122"/>
              </a:rPr>
              <a:t>关系的判定通过</a:t>
            </a:r>
            <a:r>
              <a:rPr lang="zh-CN" altLang="en-US" dirty="0">
                <a:solidFill>
                  <a:srgbClr val="FF0000"/>
                </a:solidFill>
                <a:latin typeface="Aa花间辞楷书 (非商业使用)" panose="02010600010101010101" pitchFamily="2" charset="-122"/>
                <a:ea typeface="Aa花间辞楷书 (非商业使用)" panose="02010600010101010101" pitchFamily="2" charset="-122"/>
              </a:rPr>
              <a:t>置换的合法性</a:t>
            </a:r>
            <a:r>
              <a:rPr lang="zh-CN" altLang="en-US" dirty="0">
                <a:solidFill>
                  <a:srgbClr val="002060"/>
                </a:solidFill>
                <a:latin typeface="Aa花间辞楷书 (非商业使用)" panose="02010600010101010101" pitchFamily="2" charset="-122"/>
                <a:ea typeface="Aa花间辞楷书 (非商业使用)" panose="02010600010101010101" pitchFamily="2" charset="-122"/>
              </a:rPr>
              <a:t>来判定</a:t>
            </a:r>
          </a:p>
        </p:txBody>
      </p:sp>
    </p:spTree>
    <p:extLst>
      <p:ext uri="{BB962C8B-B14F-4D97-AF65-F5344CB8AC3E}">
        <p14:creationId xmlns:p14="http://schemas.microsoft.com/office/powerpoint/2010/main" val="3508343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fade">
                                      <p:cBhvr>
                                        <p:cTn id="7" dur="500"/>
                                        <p:tgtEl>
                                          <p:spTgt spid="5">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fade">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fade">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fade">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500"/>
                                        <p:tgtEl>
                                          <p:spTgt spid="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500"/>
                                        <p:tgtEl>
                                          <p:spTgt spid="1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6" grpId="0" animBg="1"/>
      <p:bldP spid="7" grpId="0" animBg="1"/>
      <p:bldP spid="8" grpId="0" animBg="1"/>
      <p:bldP spid="9"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8A426-A3A0-0616-6B07-4D2F2C8E3E74}"/>
              </a:ext>
            </a:extLst>
          </p:cNvPr>
          <p:cNvSpPr>
            <a:spLocks noGrp="1"/>
          </p:cNvSpPr>
          <p:nvPr>
            <p:ph type="title"/>
          </p:nvPr>
        </p:nvSpPr>
        <p:spPr/>
        <p:txBody>
          <a:bodyPr/>
          <a:lstStyle/>
          <a:p>
            <a:r>
              <a:rPr lang="en-US" altLang="zh-CN" dirty="0"/>
              <a:t>9.1 </a:t>
            </a:r>
            <a:r>
              <a:rPr lang="zh-CN" altLang="en-US" dirty="0"/>
              <a:t>一阶逻辑命题化</a:t>
            </a:r>
          </a:p>
        </p:txBody>
      </p:sp>
      <p:sp>
        <p:nvSpPr>
          <p:cNvPr id="3" name="内容占位符 2">
            <a:extLst>
              <a:ext uri="{FF2B5EF4-FFF2-40B4-BE49-F238E27FC236}">
                <a16:creationId xmlns:a16="http://schemas.microsoft.com/office/drawing/2014/main" id="{655496D2-D7D1-E390-CD75-E7F51B05DC8E}"/>
              </a:ext>
            </a:extLst>
          </p:cNvPr>
          <p:cNvSpPr>
            <a:spLocks noGrp="1"/>
          </p:cNvSpPr>
          <p:nvPr>
            <p:ph idx="1"/>
          </p:nvPr>
        </p:nvSpPr>
        <p:spPr/>
        <p:txBody>
          <a:bodyPr/>
          <a:lstStyle/>
          <a:p>
            <a:r>
              <a:rPr lang="en-US" altLang="zh-CN" dirty="0"/>
              <a:t>3.</a:t>
            </a:r>
            <a:r>
              <a:rPr lang="zh-CN" altLang="en-US" dirty="0"/>
              <a:t>全称量词实例化</a:t>
            </a:r>
            <a:r>
              <a:rPr lang="en-US" altLang="zh-CN" dirty="0"/>
              <a:t>——</a:t>
            </a:r>
            <a:r>
              <a:rPr lang="zh-CN" altLang="en-US" dirty="0"/>
              <a:t>置换</a:t>
            </a:r>
            <a:endParaRPr lang="en-US" altLang="zh-CN" dirty="0"/>
          </a:p>
          <a:p>
            <a:pPr lvl="1"/>
            <a:r>
              <a:rPr lang="zh-CN" altLang="en-US" dirty="0">
                <a:latin typeface="Aa花间辞楷书 (非商业使用)" panose="02010600010101010101" pitchFamily="2" charset="-122"/>
                <a:ea typeface="Aa花间辞楷书 (非商业使用)" panose="02010600010101010101" pitchFamily="2" charset="-122"/>
              </a:rPr>
              <a:t>全称量化语句的实例被其本身</a:t>
            </a:r>
            <a:r>
              <a:rPr lang="zh-CN" altLang="en-US" dirty="0">
                <a:solidFill>
                  <a:srgbClr val="FF0000"/>
                </a:solidFill>
                <a:latin typeface="Aa花间辞楷书 (非商业使用)" panose="02010600010101010101" pitchFamily="2" charset="-122"/>
                <a:ea typeface="Aa花间辞楷书 (非商业使用)" panose="02010600010101010101" pitchFamily="2" charset="-122"/>
              </a:rPr>
              <a:t>逻辑蕴涵</a:t>
            </a:r>
            <a:r>
              <a:rPr lang="zh-CN" altLang="en-US" dirty="0">
                <a:latin typeface="Aa花间辞楷书 (非商业使用)" panose="02010600010101010101" pitchFamily="2" charset="-122"/>
                <a:ea typeface="Aa花间辞楷书 (非商业使用)" panose="02010600010101010101" pitchFamily="2" charset="-122"/>
              </a:rPr>
              <a:t>：</a:t>
            </a:r>
            <a:endParaRPr lang="en-US" altLang="zh-CN" dirty="0">
              <a:latin typeface="Aa花间辞楷书 (非商业使用)" panose="02010600010101010101" pitchFamily="2" charset="-122"/>
              <a:ea typeface="Aa花间辞楷书 (非商业使用)" panose="02010600010101010101" pitchFamily="2" charset="-122"/>
            </a:endParaRPr>
          </a:p>
          <a:p>
            <a:pPr lvl="1"/>
            <a:endParaRPr lang="en-US" altLang="zh-CN" dirty="0">
              <a:latin typeface="Aa花间辞楷书 (非商业使用)" panose="02010600010101010101" pitchFamily="2" charset="-122"/>
              <a:ea typeface="Aa花间辞楷书 (非商业使用)" panose="02010600010101010101" pitchFamily="2" charset="-122"/>
            </a:endParaRPr>
          </a:p>
          <a:p>
            <a:pPr lvl="1"/>
            <a:endParaRPr lang="en-US" altLang="zh-CN" dirty="0">
              <a:latin typeface="Aa花间辞楷书 (非商业使用)" panose="02010600010101010101" pitchFamily="2" charset="-122"/>
              <a:ea typeface="Aa花间辞楷书 (非商业使用)" panose="02010600010101010101" pitchFamily="2" charset="-122"/>
            </a:endParaRPr>
          </a:p>
          <a:p>
            <a:pPr lvl="1"/>
            <a:r>
              <a:rPr lang="zh-CN" altLang="en-US" dirty="0">
                <a:latin typeface="Aa花间辞楷书 (非商业使用)" panose="02010600010101010101" pitchFamily="2" charset="-122"/>
                <a:ea typeface="Aa花间辞楷书 (非商业使用)" panose="02010600010101010101" pitchFamily="2" charset="-122"/>
              </a:rPr>
              <a:t>其中， </a:t>
            </a:r>
            <a:r>
              <a:rPr lang="el-GR" altLang="zh-CN" dirty="0">
                <a:ea typeface="Aa花间辞楷书 (非商业使用)" panose="02010600010101010101" pitchFamily="2" charset="-122"/>
                <a:cs typeface="Arial" pitchFamily="34" charset="0"/>
                <a:sym typeface="Symbol" pitchFamily="18" charset="2"/>
              </a:rPr>
              <a:t>α</a:t>
            </a:r>
            <a:r>
              <a:rPr lang="en-US" altLang="zh-CN" dirty="0">
                <a:latin typeface="Aa花间辞楷书 (非商业使用)" panose="02010600010101010101" pitchFamily="2" charset="-122"/>
                <a:ea typeface="Aa花间辞楷书 (非商业使用)" panose="02010600010101010101" pitchFamily="2" charset="-122"/>
                <a:cs typeface="Arial" pitchFamily="34" charset="0"/>
                <a:sym typeface="Symbol" pitchFamily="18" charset="2"/>
              </a:rPr>
              <a:t> </a:t>
            </a:r>
            <a:r>
              <a:rPr lang="zh-CN" altLang="en-US" dirty="0">
                <a:latin typeface="Aa花间辞楷书 (非商业使用)" panose="02010600010101010101" pitchFamily="2" charset="-122"/>
                <a:ea typeface="Aa花间辞楷书 (非商业使用)" panose="02010600010101010101" pitchFamily="2" charset="-122"/>
                <a:sym typeface="Symbol" pitchFamily="18" charset="2"/>
              </a:rPr>
              <a:t>是语句，</a:t>
            </a:r>
            <a:r>
              <a:rPr lang="en-US" altLang="zh-CN" dirty="0">
                <a:latin typeface="Aa花间辞楷书 (非商业使用)" panose="02010600010101010101" pitchFamily="2" charset="-122"/>
                <a:ea typeface="Aa花间辞楷书 (非商业使用)" panose="02010600010101010101" pitchFamily="2" charset="-122"/>
              </a:rPr>
              <a:t>v </a:t>
            </a:r>
            <a:r>
              <a:rPr lang="zh-CN" altLang="en-US" dirty="0">
                <a:latin typeface="Aa花间辞楷书 (非商业使用)" panose="02010600010101010101" pitchFamily="2" charset="-122"/>
                <a:ea typeface="Aa花间辞楷书 (非商业使用)" panose="02010600010101010101" pitchFamily="2" charset="-122"/>
              </a:rPr>
              <a:t>是</a:t>
            </a:r>
            <a:r>
              <a:rPr lang="zh-CN" altLang="en-US" dirty="0">
                <a:solidFill>
                  <a:srgbClr val="FF0000"/>
                </a:solidFill>
                <a:latin typeface="Aa花间辞楷书 (非商业使用)" panose="02010600010101010101" pitchFamily="2" charset="-122"/>
                <a:ea typeface="Aa花间辞楷书 (非商业使用)" panose="02010600010101010101" pitchFamily="2" charset="-122"/>
              </a:rPr>
              <a:t>变量</a:t>
            </a:r>
            <a:r>
              <a:rPr lang="zh-CN" altLang="en-US" dirty="0">
                <a:latin typeface="Aa花间辞楷书 (非商业使用)" panose="02010600010101010101" pitchFamily="2" charset="-122"/>
                <a:ea typeface="Aa花间辞楷书 (非商业使用)" panose="02010600010101010101" pitchFamily="2" charset="-122"/>
              </a:rPr>
              <a:t>，</a:t>
            </a:r>
            <a:r>
              <a:rPr lang="en-US" altLang="zh-CN" dirty="0">
                <a:latin typeface="Aa花间辞楷书 (非商业使用)" panose="02010600010101010101" pitchFamily="2" charset="-122"/>
                <a:ea typeface="Aa花间辞楷书 (非商业使用)" panose="02010600010101010101" pitchFamily="2" charset="-122"/>
              </a:rPr>
              <a:t>g</a:t>
            </a:r>
            <a:r>
              <a:rPr lang="zh-CN" altLang="en-US" dirty="0">
                <a:latin typeface="Aa花间辞楷书 (非商业使用)" panose="02010600010101010101" pitchFamily="2" charset="-122"/>
                <a:ea typeface="Aa花间辞楷书 (非商业使用)" panose="02010600010101010101" pitchFamily="2" charset="-122"/>
              </a:rPr>
              <a:t>是</a:t>
            </a:r>
            <a:r>
              <a:rPr lang="zh-CN" altLang="en-US" dirty="0">
                <a:solidFill>
                  <a:srgbClr val="FF0000"/>
                </a:solidFill>
                <a:latin typeface="Aa花间辞楷书 (非商业使用)" panose="02010600010101010101" pitchFamily="2" charset="-122"/>
                <a:ea typeface="Aa花间辞楷书 (非商业使用)" panose="02010600010101010101" pitchFamily="2" charset="-122"/>
              </a:rPr>
              <a:t>基项</a:t>
            </a:r>
            <a:r>
              <a:rPr lang="zh-CN" altLang="en-US" dirty="0">
                <a:latin typeface="Aa花间辞楷书 (非商业使用)" panose="02010600010101010101" pitchFamily="2" charset="-122"/>
                <a:ea typeface="Aa花间辞楷书 (非商业使用)" panose="02010600010101010101" pitchFamily="2" charset="-122"/>
              </a:rPr>
              <a:t>（没有变量的项）</a:t>
            </a:r>
            <a:endParaRPr lang="en-US" altLang="zh-CN" dirty="0">
              <a:latin typeface="Aa花间辞楷书 (非商业使用)" panose="02010600010101010101" pitchFamily="2" charset="-122"/>
              <a:ea typeface="Aa花间辞楷书 (非商业使用)" panose="02010600010101010101" pitchFamily="2" charset="-122"/>
            </a:endParaRPr>
          </a:p>
          <a:p>
            <a:pPr lvl="1">
              <a:lnSpc>
                <a:spcPct val="118000"/>
              </a:lnSpc>
            </a:pPr>
            <a:endParaRPr lang="en-US" altLang="zh-CN" dirty="0">
              <a:latin typeface="Aa花间辞楷书 (非商业使用)" panose="02010600010101010101" pitchFamily="2" charset="-122"/>
              <a:ea typeface="Aa花间辞楷书 (非商业使用)" panose="02010600010101010101" pitchFamily="2" charset="-122"/>
            </a:endParaRPr>
          </a:p>
          <a:p>
            <a:pPr lvl="1">
              <a:lnSpc>
                <a:spcPct val="118000"/>
              </a:lnSpc>
            </a:pPr>
            <a:r>
              <a:rPr lang="zh-CN" altLang="en-US"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x </a:t>
            </a:r>
            <a:r>
              <a:rPr lang="en-US" altLang="zh-CN" i="1" dirty="0">
                <a:solidFill>
                  <a:srgbClr val="FF0000"/>
                </a:solidFill>
                <a:latin typeface="Aa花间辞楷书 (非商业使用)" panose="02010600010101010101" pitchFamily="2" charset="-122"/>
                <a:ea typeface="Aa花间辞楷书 (非商业使用)" panose="02010600010101010101" pitchFamily="2" charset="-122"/>
              </a:rPr>
              <a:t>King</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a:t>
            </a:r>
            <a:r>
              <a:rPr lang="en-US" altLang="zh-CN" i="1" dirty="0">
                <a:solidFill>
                  <a:srgbClr val="FF0000"/>
                </a:solidFill>
                <a:latin typeface="Aa花间辞楷书 (非商业使用)" panose="02010600010101010101" pitchFamily="2" charset="-122"/>
                <a:ea typeface="Aa花间辞楷书 (非商业使用)" panose="02010600010101010101" pitchFamily="2" charset="-122"/>
              </a:rPr>
              <a:t>x</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a:t>
            </a:r>
            <a:r>
              <a:rPr lang="en-US" altLang="zh-CN" i="1" dirty="0">
                <a:solidFill>
                  <a:srgbClr val="FF0000"/>
                </a:solidFill>
                <a:latin typeface="Aa花间辞楷书 (非商业使用)" panose="02010600010101010101" pitchFamily="2" charset="-122"/>
                <a:ea typeface="Aa花间辞楷书 (非商业使用)" panose="02010600010101010101" pitchFamily="2" charset="-122"/>
              </a:rPr>
              <a:t>Greedy</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a:t>
            </a:r>
            <a:r>
              <a:rPr lang="en-US" altLang="zh-CN" i="1" dirty="0">
                <a:solidFill>
                  <a:srgbClr val="FF0000"/>
                </a:solidFill>
                <a:latin typeface="Aa花间辞楷书 (非商业使用)" panose="02010600010101010101" pitchFamily="2" charset="-122"/>
                <a:ea typeface="Aa花间辞楷书 (非商业使用)" panose="02010600010101010101" pitchFamily="2" charset="-122"/>
              </a:rPr>
              <a:t>x</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i="1" dirty="0">
                <a:solidFill>
                  <a:srgbClr val="FF0000"/>
                </a:solidFill>
                <a:latin typeface="Aa花间辞楷书 (非商业使用)" panose="02010600010101010101" pitchFamily="2" charset="-122"/>
                <a:ea typeface="Aa花间辞楷书 (非商业使用)" panose="02010600010101010101" pitchFamily="2" charset="-122"/>
              </a:rPr>
              <a:t>Evil</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a:t>
            </a:r>
            <a:r>
              <a:rPr lang="en-US" altLang="zh-CN" i="1" dirty="0">
                <a:solidFill>
                  <a:srgbClr val="FF0000"/>
                </a:solidFill>
                <a:latin typeface="Aa花间辞楷书 (非商业使用)" panose="02010600010101010101" pitchFamily="2" charset="-122"/>
                <a:ea typeface="Aa花间辞楷书 (非商业使用)" panose="02010600010101010101" pitchFamily="2" charset="-122"/>
              </a:rPr>
              <a:t>x</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a:t>
            </a:r>
            <a:r>
              <a:rPr lang="zh-CN" altLang="en-US" dirty="0">
                <a:latin typeface="Aa花间辞楷书 (非商业使用)" panose="02010600010101010101" pitchFamily="2" charset="-122"/>
                <a:ea typeface="Aa花间辞楷书 (非商业使用)" panose="02010600010101010101" pitchFamily="2" charset="-122"/>
              </a:rPr>
              <a:t>可产生下列实例：</a:t>
            </a:r>
            <a:endParaRPr lang="en-US" altLang="zh-CN" dirty="0">
              <a:latin typeface="Aa花间辞楷书 (非商业使用)" panose="02010600010101010101" pitchFamily="2" charset="-122"/>
              <a:ea typeface="Aa花间辞楷书 (非商业使用)" panose="02010600010101010101" pitchFamily="2" charset="-122"/>
            </a:endParaRPr>
          </a:p>
          <a:p>
            <a:pPr lvl="1">
              <a:lnSpc>
                <a:spcPct val="118000"/>
              </a:lnSpc>
            </a:pPr>
            <a:r>
              <a:rPr lang="en-US" altLang="zh-CN" sz="2400" i="1" dirty="0">
                <a:latin typeface="Aa花间辞楷书 (非商业使用)" panose="02010600010101010101" pitchFamily="2" charset="-122"/>
                <a:ea typeface="Aa花间辞楷书 (非商业使用)" panose="02010600010101010101" pitchFamily="2" charset="-122"/>
              </a:rPr>
              <a:t>King</a:t>
            </a:r>
            <a:r>
              <a:rPr lang="en-US" altLang="zh-CN" sz="2400" dirty="0">
                <a:latin typeface="Aa花间辞楷书 (非商业使用)" panose="02010600010101010101" pitchFamily="2" charset="-122"/>
                <a:ea typeface="Aa花间辞楷书 (非商业使用)" panose="02010600010101010101" pitchFamily="2" charset="-122"/>
              </a:rPr>
              <a:t>(</a:t>
            </a:r>
            <a:r>
              <a:rPr lang="en-US" altLang="zh-CN" sz="2400" i="1" dirty="0">
                <a:latin typeface="Aa花间辞楷书 (非商业使用)" panose="02010600010101010101" pitchFamily="2" charset="-122"/>
                <a:ea typeface="Aa花间辞楷书 (非商业使用)" panose="02010600010101010101" pitchFamily="2" charset="-122"/>
              </a:rPr>
              <a:t>John</a:t>
            </a:r>
            <a:r>
              <a:rPr lang="en-US" altLang="zh-CN" sz="2400" dirty="0">
                <a:latin typeface="Aa花间辞楷书 (非商业使用)" panose="02010600010101010101" pitchFamily="2" charset="-122"/>
                <a:ea typeface="Aa花间辞楷书 (非商业使用)" panose="02010600010101010101" pitchFamily="2" charset="-122"/>
              </a:rPr>
              <a:t>) </a:t>
            </a:r>
            <a:r>
              <a:rPr lang="en-US" altLang="zh-CN" sz="2400" dirty="0">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latin typeface="Aa花间辞楷书 (非商业使用)" panose="02010600010101010101" pitchFamily="2" charset="-122"/>
                <a:ea typeface="Aa花间辞楷书 (非商业使用)" panose="02010600010101010101" pitchFamily="2" charset="-122"/>
              </a:rPr>
              <a:t> </a:t>
            </a:r>
            <a:r>
              <a:rPr lang="en-US" altLang="zh-CN" sz="2400" i="1" dirty="0">
                <a:latin typeface="Aa花间辞楷书 (非商业使用)" panose="02010600010101010101" pitchFamily="2" charset="-122"/>
                <a:ea typeface="Aa花间辞楷书 (非商业使用)" panose="02010600010101010101" pitchFamily="2" charset="-122"/>
              </a:rPr>
              <a:t>Greedy</a:t>
            </a:r>
            <a:r>
              <a:rPr lang="en-US" altLang="zh-CN" sz="2400" dirty="0">
                <a:latin typeface="Aa花间辞楷书 (非商业使用)" panose="02010600010101010101" pitchFamily="2" charset="-122"/>
                <a:ea typeface="Aa花间辞楷书 (非商业使用)" panose="02010600010101010101" pitchFamily="2" charset="-122"/>
              </a:rPr>
              <a:t>(</a:t>
            </a:r>
            <a:r>
              <a:rPr lang="en-US" altLang="zh-CN" sz="2400" i="1" dirty="0">
                <a:latin typeface="Aa花间辞楷书 (非商业使用)" panose="02010600010101010101" pitchFamily="2" charset="-122"/>
                <a:ea typeface="Aa花间辞楷书 (非商业使用)" panose="02010600010101010101" pitchFamily="2" charset="-122"/>
              </a:rPr>
              <a:t>John</a:t>
            </a:r>
            <a:r>
              <a:rPr lang="en-US" altLang="zh-CN" sz="2400" dirty="0">
                <a:latin typeface="Aa花间辞楷书 (非商业使用)" panose="02010600010101010101" pitchFamily="2" charset="-122"/>
                <a:ea typeface="Aa花间辞楷书 (非商业使用)" panose="02010600010101010101" pitchFamily="2" charset="-122"/>
              </a:rPr>
              <a:t>) </a:t>
            </a:r>
            <a:r>
              <a:rPr lang="en-US" altLang="zh-CN" sz="2400" dirty="0">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latin typeface="Aa花间辞楷书 (非商业使用)" panose="02010600010101010101" pitchFamily="2" charset="-122"/>
                <a:ea typeface="Aa花间辞楷书 (非商业使用)" panose="02010600010101010101" pitchFamily="2" charset="-122"/>
              </a:rPr>
              <a:t>  </a:t>
            </a:r>
            <a:r>
              <a:rPr lang="en-US" altLang="zh-CN" sz="2400" i="1" dirty="0">
                <a:latin typeface="Aa花间辞楷书 (非商业使用)" panose="02010600010101010101" pitchFamily="2" charset="-122"/>
                <a:ea typeface="Aa花间辞楷书 (非商业使用)" panose="02010600010101010101" pitchFamily="2" charset="-122"/>
              </a:rPr>
              <a:t>Evil</a:t>
            </a:r>
            <a:r>
              <a:rPr lang="en-US" altLang="zh-CN" sz="2400" dirty="0">
                <a:latin typeface="Aa花间辞楷书 (非商业使用)" panose="02010600010101010101" pitchFamily="2" charset="-122"/>
                <a:ea typeface="Aa花间辞楷书 (非商业使用)" panose="02010600010101010101" pitchFamily="2" charset="-122"/>
              </a:rPr>
              <a:t>(</a:t>
            </a:r>
            <a:r>
              <a:rPr lang="en-US" altLang="zh-CN" sz="2400" i="1" dirty="0">
                <a:latin typeface="Aa花间辞楷书 (非商业使用)" panose="02010600010101010101" pitchFamily="2" charset="-122"/>
                <a:ea typeface="Aa花间辞楷书 (非商业使用)" panose="02010600010101010101" pitchFamily="2" charset="-122"/>
              </a:rPr>
              <a:t>John</a:t>
            </a:r>
            <a:r>
              <a:rPr lang="en-US" altLang="zh-CN" sz="2400" dirty="0">
                <a:latin typeface="Aa花间辞楷书 (非商业使用)" panose="02010600010101010101" pitchFamily="2" charset="-122"/>
                <a:ea typeface="Aa花间辞楷书 (非商业使用)" panose="02010600010101010101" pitchFamily="2" charset="-122"/>
              </a:rPr>
              <a:t>)</a:t>
            </a:r>
          </a:p>
          <a:p>
            <a:pPr lvl="1">
              <a:lnSpc>
                <a:spcPct val="118000"/>
              </a:lnSpc>
              <a:buFontTx/>
              <a:buNone/>
            </a:pPr>
            <a:r>
              <a:rPr lang="en-US" altLang="zh-CN" sz="2400" i="1" dirty="0">
                <a:latin typeface="Aa花间辞楷书 (非商业使用)" panose="02010600010101010101" pitchFamily="2" charset="-122"/>
                <a:ea typeface="Aa花间辞楷书 (非商业使用)" panose="02010600010101010101" pitchFamily="2" charset="-122"/>
              </a:rPr>
              <a:t>King</a:t>
            </a:r>
            <a:r>
              <a:rPr lang="en-US" altLang="zh-CN" sz="2400" dirty="0">
                <a:latin typeface="Aa花间辞楷书 (非商业使用)" panose="02010600010101010101" pitchFamily="2" charset="-122"/>
                <a:ea typeface="Aa花间辞楷书 (非商业使用)" panose="02010600010101010101" pitchFamily="2" charset="-122"/>
              </a:rPr>
              <a:t>(</a:t>
            </a:r>
            <a:r>
              <a:rPr lang="en-US" altLang="zh-CN" sz="2400" i="1" dirty="0">
                <a:latin typeface="Aa花间辞楷书 (非商业使用)" panose="02010600010101010101" pitchFamily="2" charset="-122"/>
                <a:ea typeface="Aa花间辞楷书 (非商业使用)" panose="02010600010101010101" pitchFamily="2" charset="-122"/>
              </a:rPr>
              <a:t>Richard</a:t>
            </a:r>
            <a:r>
              <a:rPr lang="en-US" altLang="zh-CN" sz="2400" dirty="0">
                <a:latin typeface="Aa花间辞楷书 (非商业使用)" panose="02010600010101010101" pitchFamily="2" charset="-122"/>
                <a:ea typeface="Aa花间辞楷书 (非商业使用)" panose="02010600010101010101" pitchFamily="2" charset="-122"/>
              </a:rPr>
              <a:t>) </a:t>
            </a:r>
            <a:r>
              <a:rPr lang="en-US" altLang="zh-CN" sz="2400" dirty="0">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latin typeface="Aa花间辞楷书 (非商业使用)" panose="02010600010101010101" pitchFamily="2" charset="-122"/>
                <a:ea typeface="Aa花间辞楷书 (非商业使用)" panose="02010600010101010101" pitchFamily="2" charset="-122"/>
              </a:rPr>
              <a:t> </a:t>
            </a:r>
            <a:r>
              <a:rPr lang="en-US" altLang="zh-CN" sz="2400" i="1" dirty="0">
                <a:latin typeface="Aa花间辞楷书 (非商业使用)" panose="02010600010101010101" pitchFamily="2" charset="-122"/>
                <a:ea typeface="Aa花间辞楷书 (非商业使用)" panose="02010600010101010101" pitchFamily="2" charset="-122"/>
              </a:rPr>
              <a:t>Greedy</a:t>
            </a:r>
            <a:r>
              <a:rPr lang="en-US" altLang="zh-CN" sz="2400" dirty="0">
                <a:latin typeface="Aa花间辞楷书 (非商业使用)" panose="02010600010101010101" pitchFamily="2" charset="-122"/>
                <a:ea typeface="Aa花间辞楷书 (非商业使用)" panose="02010600010101010101" pitchFamily="2" charset="-122"/>
              </a:rPr>
              <a:t>(</a:t>
            </a:r>
            <a:r>
              <a:rPr lang="en-US" altLang="zh-CN" sz="2400" i="1" dirty="0">
                <a:latin typeface="Aa花间辞楷书 (非商业使用)" panose="02010600010101010101" pitchFamily="2" charset="-122"/>
                <a:ea typeface="Aa花间辞楷书 (非商业使用)" panose="02010600010101010101" pitchFamily="2" charset="-122"/>
              </a:rPr>
              <a:t>Richard</a:t>
            </a:r>
            <a:r>
              <a:rPr lang="en-US" altLang="zh-CN" sz="2400" dirty="0">
                <a:latin typeface="Aa花间辞楷书 (非商业使用)" panose="02010600010101010101" pitchFamily="2" charset="-122"/>
                <a:ea typeface="Aa花间辞楷书 (非商业使用)" panose="02010600010101010101" pitchFamily="2" charset="-122"/>
              </a:rPr>
              <a:t>) </a:t>
            </a:r>
            <a:r>
              <a:rPr lang="en-US" altLang="zh-CN" sz="2400" dirty="0">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latin typeface="Aa花间辞楷书 (非商业使用)" panose="02010600010101010101" pitchFamily="2" charset="-122"/>
                <a:ea typeface="Aa花间辞楷书 (非商业使用)" panose="02010600010101010101" pitchFamily="2" charset="-122"/>
              </a:rPr>
              <a:t> </a:t>
            </a:r>
            <a:r>
              <a:rPr lang="en-US" altLang="zh-CN" sz="2400" i="1" dirty="0">
                <a:latin typeface="Aa花间辞楷书 (非商业使用)" panose="02010600010101010101" pitchFamily="2" charset="-122"/>
                <a:ea typeface="Aa花间辞楷书 (非商业使用)" panose="02010600010101010101" pitchFamily="2" charset="-122"/>
              </a:rPr>
              <a:t>Evil</a:t>
            </a:r>
            <a:r>
              <a:rPr lang="en-US" altLang="zh-CN" sz="2400" dirty="0">
                <a:latin typeface="Aa花间辞楷书 (非商业使用)" panose="02010600010101010101" pitchFamily="2" charset="-122"/>
                <a:ea typeface="Aa花间辞楷书 (非商业使用)" panose="02010600010101010101" pitchFamily="2" charset="-122"/>
              </a:rPr>
              <a:t>(</a:t>
            </a:r>
            <a:r>
              <a:rPr lang="en-US" altLang="zh-CN" sz="2400" i="1" dirty="0">
                <a:latin typeface="Aa花间辞楷书 (非商业使用)" panose="02010600010101010101" pitchFamily="2" charset="-122"/>
                <a:ea typeface="Aa花间辞楷书 (非商业使用)" panose="02010600010101010101" pitchFamily="2" charset="-122"/>
              </a:rPr>
              <a:t>Richard</a:t>
            </a:r>
            <a:r>
              <a:rPr lang="en-US" altLang="zh-CN" sz="2400" dirty="0">
                <a:latin typeface="Aa花间辞楷书 (非商业使用)" panose="02010600010101010101" pitchFamily="2" charset="-122"/>
                <a:ea typeface="Aa花间辞楷书 (非商业使用)" panose="02010600010101010101" pitchFamily="2" charset="-122"/>
              </a:rPr>
              <a:t>)</a:t>
            </a:r>
          </a:p>
          <a:p>
            <a:pPr lvl="1">
              <a:lnSpc>
                <a:spcPct val="118000"/>
              </a:lnSpc>
              <a:buFontTx/>
              <a:buNone/>
            </a:pPr>
            <a:r>
              <a:rPr lang="en-US" altLang="zh-CN" sz="2400" i="1" dirty="0">
                <a:latin typeface="Aa花间辞楷书 (非商业使用)" panose="02010600010101010101" pitchFamily="2" charset="-122"/>
                <a:ea typeface="Aa花间辞楷书 (非商业使用)" panose="02010600010101010101" pitchFamily="2" charset="-122"/>
              </a:rPr>
              <a:t>King</a:t>
            </a:r>
            <a:r>
              <a:rPr lang="en-US" altLang="zh-CN" sz="2400" dirty="0">
                <a:latin typeface="Aa花间辞楷书 (非商业使用)" panose="02010600010101010101" pitchFamily="2" charset="-122"/>
                <a:ea typeface="Aa花间辞楷书 (非商业使用)" panose="02010600010101010101" pitchFamily="2" charset="-122"/>
              </a:rPr>
              <a:t>(</a:t>
            </a:r>
            <a:r>
              <a:rPr lang="en-US" altLang="zh-CN" sz="2400" i="1" dirty="0">
                <a:latin typeface="Aa花间辞楷书 (非商业使用)" panose="02010600010101010101" pitchFamily="2" charset="-122"/>
                <a:ea typeface="Aa花间辞楷书 (非商业使用)" panose="02010600010101010101" pitchFamily="2" charset="-122"/>
              </a:rPr>
              <a:t>Father</a:t>
            </a:r>
            <a:r>
              <a:rPr lang="en-US" altLang="zh-CN" sz="2400" dirty="0">
                <a:latin typeface="Aa花间辞楷书 (非商业使用)" panose="02010600010101010101" pitchFamily="2" charset="-122"/>
                <a:ea typeface="Aa花间辞楷书 (非商业使用)" panose="02010600010101010101" pitchFamily="2" charset="-122"/>
              </a:rPr>
              <a:t>(</a:t>
            </a:r>
            <a:r>
              <a:rPr lang="en-US" altLang="zh-CN" sz="2400" i="1" dirty="0">
                <a:latin typeface="Aa花间辞楷书 (非商业使用)" panose="02010600010101010101" pitchFamily="2" charset="-122"/>
                <a:ea typeface="Aa花间辞楷书 (非商业使用)" panose="02010600010101010101" pitchFamily="2" charset="-122"/>
              </a:rPr>
              <a:t>John</a:t>
            </a:r>
            <a:r>
              <a:rPr lang="en-US" altLang="zh-CN" sz="2400" dirty="0">
                <a:latin typeface="Aa花间辞楷书 (非商业使用)" panose="02010600010101010101" pitchFamily="2" charset="-122"/>
                <a:ea typeface="Aa花间辞楷书 (非商业使用)" panose="02010600010101010101" pitchFamily="2" charset="-122"/>
              </a:rPr>
              <a:t>)) </a:t>
            </a:r>
            <a:r>
              <a:rPr lang="en-US" altLang="zh-CN" sz="2400" dirty="0">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latin typeface="Aa花间辞楷书 (非商业使用)" panose="02010600010101010101" pitchFamily="2" charset="-122"/>
                <a:ea typeface="Aa花间辞楷书 (非商业使用)" panose="02010600010101010101" pitchFamily="2" charset="-122"/>
              </a:rPr>
              <a:t> </a:t>
            </a:r>
            <a:r>
              <a:rPr lang="en-US" altLang="zh-CN" sz="2400" i="1" dirty="0">
                <a:latin typeface="Aa花间辞楷书 (非商业使用)" panose="02010600010101010101" pitchFamily="2" charset="-122"/>
                <a:ea typeface="Aa花间辞楷书 (非商业使用)" panose="02010600010101010101" pitchFamily="2" charset="-122"/>
              </a:rPr>
              <a:t>Greedy</a:t>
            </a:r>
            <a:r>
              <a:rPr lang="en-US" altLang="zh-CN" sz="2400" dirty="0">
                <a:latin typeface="Aa花间辞楷书 (非商业使用)" panose="02010600010101010101" pitchFamily="2" charset="-122"/>
                <a:ea typeface="Aa花间辞楷书 (非商业使用)" panose="02010600010101010101" pitchFamily="2" charset="-122"/>
              </a:rPr>
              <a:t>(</a:t>
            </a:r>
            <a:r>
              <a:rPr lang="en-US" altLang="zh-CN" sz="2400" i="1" dirty="0">
                <a:latin typeface="Aa花间辞楷书 (非商业使用)" panose="02010600010101010101" pitchFamily="2" charset="-122"/>
                <a:ea typeface="Aa花间辞楷书 (非商业使用)" panose="02010600010101010101" pitchFamily="2" charset="-122"/>
              </a:rPr>
              <a:t>Father</a:t>
            </a:r>
            <a:r>
              <a:rPr lang="en-US" altLang="zh-CN" sz="2400" dirty="0">
                <a:latin typeface="Aa花间辞楷书 (非商业使用)" panose="02010600010101010101" pitchFamily="2" charset="-122"/>
                <a:ea typeface="Aa花间辞楷书 (非商业使用)" panose="02010600010101010101" pitchFamily="2" charset="-122"/>
              </a:rPr>
              <a:t>(</a:t>
            </a:r>
            <a:r>
              <a:rPr lang="en-US" altLang="zh-CN" sz="2400" i="1" dirty="0">
                <a:latin typeface="Aa花间辞楷书 (非商业使用)" panose="02010600010101010101" pitchFamily="2" charset="-122"/>
                <a:ea typeface="Aa花间辞楷书 (非商业使用)" panose="02010600010101010101" pitchFamily="2" charset="-122"/>
              </a:rPr>
              <a:t>John</a:t>
            </a:r>
            <a:r>
              <a:rPr lang="en-US" altLang="zh-CN" sz="2400" dirty="0">
                <a:latin typeface="Aa花间辞楷书 (非商业使用)" panose="02010600010101010101" pitchFamily="2" charset="-122"/>
                <a:ea typeface="Aa花间辞楷书 (非商业使用)" panose="02010600010101010101" pitchFamily="2" charset="-122"/>
              </a:rPr>
              <a:t>)) </a:t>
            </a:r>
            <a:r>
              <a:rPr lang="en-US" altLang="zh-CN" sz="2400" dirty="0">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latin typeface="Aa花间辞楷书 (非商业使用)" panose="02010600010101010101" pitchFamily="2" charset="-122"/>
                <a:ea typeface="Aa花间辞楷书 (非商业使用)" panose="02010600010101010101" pitchFamily="2" charset="-122"/>
              </a:rPr>
              <a:t> </a:t>
            </a:r>
            <a:r>
              <a:rPr lang="en-US" altLang="zh-CN" sz="2400" i="1" dirty="0">
                <a:latin typeface="Aa花间辞楷书 (非商业使用)" panose="02010600010101010101" pitchFamily="2" charset="-122"/>
                <a:ea typeface="Aa花间辞楷书 (非商业使用)" panose="02010600010101010101" pitchFamily="2" charset="-122"/>
              </a:rPr>
              <a:t>Evil</a:t>
            </a:r>
            <a:r>
              <a:rPr lang="en-US" altLang="zh-CN" sz="2400" dirty="0">
                <a:latin typeface="Aa花间辞楷书 (非商业使用)" panose="02010600010101010101" pitchFamily="2" charset="-122"/>
                <a:ea typeface="Aa花间辞楷书 (非商业使用)" panose="02010600010101010101" pitchFamily="2" charset="-122"/>
              </a:rPr>
              <a:t>(</a:t>
            </a:r>
            <a:r>
              <a:rPr lang="en-US" altLang="zh-CN" sz="2400" i="1" dirty="0">
                <a:latin typeface="Aa花间辞楷书 (非商业使用)" panose="02010600010101010101" pitchFamily="2" charset="-122"/>
                <a:ea typeface="Aa花间辞楷书 (非商业使用)" panose="02010600010101010101" pitchFamily="2" charset="-122"/>
              </a:rPr>
              <a:t>Father</a:t>
            </a:r>
            <a:r>
              <a:rPr lang="en-US" altLang="zh-CN" sz="2400" dirty="0">
                <a:latin typeface="Aa花间辞楷书 (非商业使用)" panose="02010600010101010101" pitchFamily="2" charset="-122"/>
                <a:ea typeface="Aa花间辞楷书 (非商业使用)" panose="02010600010101010101" pitchFamily="2" charset="-122"/>
              </a:rPr>
              <a:t>(</a:t>
            </a:r>
            <a:r>
              <a:rPr lang="en-US" altLang="zh-CN" sz="2400" i="1" dirty="0">
                <a:latin typeface="Aa花间辞楷书 (非商业使用)" panose="02010600010101010101" pitchFamily="2" charset="-122"/>
                <a:ea typeface="Aa花间辞楷书 (非商业使用)" panose="02010600010101010101" pitchFamily="2" charset="-122"/>
              </a:rPr>
              <a:t>John</a:t>
            </a:r>
            <a:r>
              <a:rPr lang="en-US" altLang="zh-CN" sz="2400" dirty="0">
                <a:latin typeface="Aa花间辞楷书 (非商业使用)" panose="02010600010101010101" pitchFamily="2" charset="-122"/>
                <a:ea typeface="Aa花间辞楷书 (非商业使用)" panose="02010600010101010101" pitchFamily="2" charset="-122"/>
              </a:rPr>
              <a:t>))</a:t>
            </a:r>
          </a:p>
          <a:p>
            <a:pPr lvl="1">
              <a:lnSpc>
                <a:spcPct val="118000"/>
              </a:lnSpc>
              <a:buFontTx/>
              <a:buNone/>
            </a:pPr>
            <a:r>
              <a:rPr lang="en-US" altLang="zh-CN" sz="2400" dirty="0">
                <a:latin typeface="Aa花间辞楷书 (非商业使用)" panose="02010600010101010101" pitchFamily="2" charset="-122"/>
                <a:ea typeface="Aa花间辞楷书 (非商业使用)" panose="02010600010101010101" pitchFamily="2" charset="-122"/>
              </a:rPr>
              <a:t>…</a:t>
            </a:r>
          </a:p>
          <a:p>
            <a:endParaRPr lang="zh-CN" altLang="en-US" dirty="0"/>
          </a:p>
        </p:txBody>
      </p:sp>
      <mc:AlternateContent xmlns:mc="http://schemas.openxmlformats.org/markup-compatibility/2006">
        <mc:Choice xmlns:a14="http://schemas.microsoft.com/office/drawing/2010/main" Requires="a14">
          <p:sp>
            <p:nvSpPr>
              <p:cNvPr id="4" name="Object 2">
                <a:extLst>
                  <a:ext uri="{FF2B5EF4-FFF2-40B4-BE49-F238E27FC236}">
                    <a16:creationId xmlns:a16="http://schemas.microsoft.com/office/drawing/2014/main" id="{028C67BA-2592-95B2-A657-4EF4474A85AA}"/>
                  </a:ext>
                </a:extLst>
              </p:cNvPr>
              <p:cNvSpPr txBox="1"/>
              <p:nvPr/>
            </p:nvSpPr>
            <p:spPr bwMode="auto">
              <a:xfrm>
                <a:off x="3332390" y="1818595"/>
                <a:ext cx="2305050" cy="855662"/>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f>
                        <m:fPr>
                          <m:ctrlPr>
                            <a:rPr lang="zh-CN" altLang="en-US" sz="2800" i="1" smtClean="0">
                              <a:solidFill>
                                <a:srgbClr val="FFCC99"/>
                              </a:solidFill>
                              <a:latin typeface="Cambria Math" panose="02040503050406030204" pitchFamily="18" charset="0"/>
                            </a:rPr>
                          </m:ctrlPr>
                        </m:fPr>
                        <m:num>
                          <m:r>
                            <a:rPr lang="zh-CN" altLang="en-US" sz="2800" i="1">
                              <a:solidFill>
                                <a:srgbClr val="FFCC99"/>
                              </a:solidFill>
                              <a:latin typeface="Cambria Math" panose="02040503050406030204" pitchFamily="18" charset="0"/>
                            </a:rPr>
                            <m:t>∀</m:t>
                          </m:r>
                          <m:r>
                            <a:rPr lang="zh-CN" altLang="en-US" sz="2800" i="1">
                              <a:solidFill>
                                <a:srgbClr val="FFCC99"/>
                              </a:solidFill>
                              <a:latin typeface="Cambria Math" panose="02040503050406030204" pitchFamily="18" charset="0"/>
                            </a:rPr>
                            <m:t>𝑣</m:t>
                          </m:r>
                          <m:m>
                            <m:mPr>
                              <m:plcHide m:val="on"/>
                              <m:mcs>
                                <m:mc>
                                  <m:mcPr>
                                    <m:count m:val="1"/>
                                    <m:mcJc m:val="center"/>
                                  </m:mcPr>
                                </m:mc>
                              </m:mcs>
                              <m:ctrlPr>
                                <a:rPr lang="zh-CN" altLang="en-US" sz="2800" i="1">
                                  <a:solidFill>
                                    <a:srgbClr val="FFCC99"/>
                                  </a:solidFill>
                                  <a:latin typeface="Cambria Math" panose="02040503050406030204" pitchFamily="18" charset="0"/>
                                </a:rPr>
                              </m:ctrlPr>
                            </m:mPr>
                            <m:mr>
                              <m:e/>
                            </m:mr>
                          </m:m>
                          <m:r>
                            <a:rPr lang="zh-CN" altLang="en-US" sz="2800" i="1">
                              <a:solidFill>
                                <a:srgbClr val="FFCC99"/>
                              </a:solidFill>
                              <a:latin typeface="Cambria Math" panose="02040503050406030204" pitchFamily="18" charset="0"/>
                            </a:rPr>
                            <m:t>𝛼</m:t>
                          </m:r>
                        </m:num>
                        <m:den>
                          <m:r>
                            <a:rPr lang="zh-CN" altLang="en-US" sz="2800" i="1">
                              <a:solidFill>
                                <a:srgbClr val="FFCC99"/>
                              </a:solidFill>
                              <a:latin typeface="Cambria Math" panose="02040503050406030204" pitchFamily="18" charset="0"/>
                            </a:rPr>
                            <m:t>𝑆𝑈𝐵𝑆𝑇</m:t>
                          </m:r>
                          <m:d>
                            <m:dPr>
                              <m:ctrlPr>
                                <a:rPr lang="zh-CN" altLang="en-US" sz="2800" i="1">
                                  <a:solidFill>
                                    <a:srgbClr val="FFCC99"/>
                                  </a:solidFill>
                                  <a:latin typeface="Cambria Math" panose="02040503050406030204" pitchFamily="18" charset="0"/>
                                </a:rPr>
                              </m:ctrlPr>
                            </m:dPr>
                            <m:e>
                              <m:d>
                                <m:dPr>
                                  <m:begChr m:val="{"/>
                                  <m:endChr m:val="}"/>
                                  <m:ctrlPr>
                                    <a:rPr lang="zh-CN" altLang="en-US" sz="2800" i="1">
                                      <a:solidFill>
                                        <a:srgbClr val="FFCC99"/>
                                      </a:solidFill>
                                      <a:latin typeface="Cambria Math" panose="02040503050406030204" pitchFamily="18" charset="0"/>
                                    </a:rPr>
                                  </m:ctrlPr>
                                </m:dPr>
                                <m:e>
                                  <m:r>
                                    <a:rPr lang="zh-CN" altLang="en-US" sz="2800" i="1">
                                      <a:solidFill>
                                        <a:srgbClr val="FFCC99"/>
                                      </a:solidFill>
                                      <a:latin typeface="Cambria Math" panose="02040503050406030204" pitchFamily="18" charset="0"/>
                                    </a:rPr>
                                    <m:t>𝑣</m:t>
                                  </m:r>
                                  <m:r>
                                    <a:rPr lang="zh-CN" altLang="en-US" sz="2800" i="1">
                                      <a:solidFill>
                                        <a:srgbClr val="FFCC99"/>
                                      </a:solidFill>
                                      <a:latin typeface="Cambria Math" panose="02040503050406030204" pitchFamily="18" charset="0"/>
                                    </a:rPr>
                                    <m:t>/</m:t>
                                  </m:r>
                                  <m:r>
                                    <a:rPr lang="zh-CN" altLang="en-US" sz="2800" i="1">
                                      <a:solidFill>
                                        <a:srgbClr val="FFCC99"/>
                                      </a:solidFill>
                                      <a:latin typeface="Cambria Math" panose="02040503050406030204" pitchFamily="18" charset="0"/>
                                    </a:rPr>
                                    <m:t>𝑔</m:t>
                                  </m:r>
                                </m:e>
                              </m:d>
                              <m:r>
                                <a:rPr lang="zh-CN" altLang="en-US" sz="2800" i="1">
                                  <a:solidFill>
                                    <a:srgbClr val="FFCC99"/>
                                  </a:solidFill>
                                  <a:latin typeface="Cambria Math" panose="02040503050406030204" pitchFamily="18" charset="0"/>
                                </a:rPr>
                                <m:t>,</m:t>
                              </m:r>
                              <m:r>
                                <a:rPr lang="zh-CN" altLang="en-US" sz="2800" i="1">
                                  <a:solidFill>
                                    <a:srgbClr val="FFCC99"/>
                                  </a:solidFill>
                                  <a:latin typeface="Cambria Math" panose="02040503050406030204" pitchFamily="18" charset="0"/>
                                </a:rPr>
                                <m:t>𝛼</m:t>
                              </m:r>
                            </m:e>
                          </m:d>
                        </m:den>
                      </m:f>
                    </m:oMath>
                  </m:oMathPara>
                </a14:m>
                <a:endParaRPr lang="zh-CN" altLang="en-US" sz="2800" dirty="0">
                  <a:solidFill>
                    <a:srgbClr val="FFCC99"/>
                  </a:solidFill>
                </a:endParaRPr>
              </a:p>
            </p:txBody>
          </p:sp>
        </mc:Choice>
        <mc:Fallback>
          <p:sp>
            <p:nvSpPr>
              <p:cNvPr id="4" name="Object 2">
                <a:extLst>
                  <a:ext uri="{FF2B5EF4-FFF2-40B4-BE49-F238E27FC236}">
                    <a16:creationId xmlns:a16="http://schemas.microsoft.com/office/drawing/2014/main" id="{028C67BA-2592-95B2-A657-4EF4474A85AA}"/>
                  </a:ext>
                </a:extLst>
              </p:cNvPr>
              <p:cNvSpPr txBox="1">
                <a:spLocks noRot="1" noChangeAspect="1" noMove="1" noResize="1" noEditPoints="1" noAdjustHandles="1" noChangeArrowheads="1" noChangeShapeType="1" noTextEdit="1"/>
              </p:cNvSpPr>
              <p:nvPr/>
            </p:nvSpPr>
            <p:spPr bwMode="auto">
              <a:xfrm>
                <a:off x="3332390" y="1818595"/>
                <a:ext cx="2305050" cy="855662"/>
              </a:xfrm>
              <a:prstGeom prst="rect">
                <a:avLst/>
              </a:prstGeom>
              <a:blipFill>
                <a:blip r:embed="rId2"/>
                <a:stretch>
                  <a:fillRect r="-16931" b="-56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02971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8A426-A3A0-0616-6B07-4D2F2C8E3E74}"/>
              </a:ext>
            </a:extLst>
          </p:cNvPr>
          <p:cNvSpPr>
            <a:spLocks noGrp="1"/>
          </p:cNvSpPr>
          <p:nvPr>
            <p:ph type="title"/>
          </p:nvPr>
        </p:nvSpPr>
        <p:spPr/>
        <p:txBody>
          <a:bodyPr/>
          <a:lstStyle/>
          <a:p>
            <a:r>
              <a:rPr lang="en-US" altLang="zh-CN" dirty="0"/>
              <a:t>9.1 </a:t>
            </a:r>
            <a:r>
              <a:rPr lang="zh-CN" altLang="en-US" dirty="0"/>
              <a:t>一阶逻辑命题化</a:t>
            </a:r>
          </a:p>
        </p:txBody>
      </p:sp>
      <p:sp>
        <p:nvSpPr>
          <p:cNvPr id="3" name="内容占位符 2">
            <a:extLst>
              <a:ext uri="{FF2B5EF4-FFF2-40B4-BE49-F238E27FC236}">
                <a16:creationId xmlns:a16="http://schemas.microsoft.com/office/drawing/2014/main" id="{655496D2-D7D1-E390-CD75-E7F51B05DC8E}"/>
              </a:ext>
            </a:extLst>
          </p:cNvPr>
          <p:cNvSpPr>
            <a:spLocks noGrp="1"/>
          </p:cNvSpPr>
          <p:nvPr>
            <p:ph idx="1"/>
          </p:nvPr>
        </p:nvSpPr>
        <p:spPr/>
        <p:txBody>
          <a:bodyPr/>
          <a:lstStyle/>
          <a:p>
            <a:r>
              <a:rPr lang="en-US" altLang="zh-CN" dirty="0"/>
              <a:t>4.</a:t>
            </a:r>
            <a:r>
              <a:rPr lang="zh-CN" altLang="en-US" dirty="0"/>
              <a:t>存在量词实例化</a:t>
            </a:r>
            <a:r>
              <a:rPr lang="en-US" altLang="zh-CN" dirty="0"/>
              <a:t>——</a:t>
            </a:r>
            <a:r>
              <a:rPr lang="zh-CN" altLang="en-US" dirty="0"/>
              <a:t>重命名</a:t>
            </a:r>
            <a:endParaRPr lang="en-US" altLang="zh-CN" dirty="0"/>
          </a:p>
          <a:p>
            <a:pPr lvl="1"/>
            <a:r>
              <a:rPr lang="zh-CN" altLang="en-US" dirty="0">
                <a:latin typeface="Aa花间辞楷书 (非商业使用)" panose="02010600010101010101" pitchFamily="2" charset="-122"/>
                <a:ea typeface="Aa花间辞楷书 (非商业使用)" panose="02010600010101010101" pitchFamily="2" charset="-122"/>
              </a:rPr>
              <a:t>对于任何语句</a:t>
            </a:r>
            <a:r>
              <a:rPr lang="el-GR" altLang="zh-CN" dirty="0">
                <a:ea typeface="Aa花间辞楷书 (非商业使用)" panose="02010600010101010101" pitchFamily="2" charset="-122"/>
                <a:cs typeface="Arial" pitchFamily="34" charset="0"/>
                <a:sym typeface="Symbol" pitchFamily="18" charset="2"/>
              </a:rPr>
              <a:t>α</a:t>
            </a:r>
            <a:r>
              <a:rPr lang="en-US" altLang="zh-CN" dirty="0">
                <a:latin typeface="Aa花间辞楷书 (非商业使用)" panose="02010600010101010101" pitchFamily="2" charset="-122"/>
                <a:ea typeface="Aa花间辞楷书 (非商业使用)" panose="02010600010101010101" pitchFamily="2" charset="-122"/>
              </a:rPr>
              <a:t>，</a:t>
            </a:r>
            <a:r>
              <a:rPr lang="zh-CN" altLang="en-US" dirty="0">
                <a:latin typeface="Aa花间辞楷书 (非商业使用)" panose="02010600010101010101" pitchFamily="2" charset="-122"/>
                <a:ea typeface="Aa花间辞楷书 (非商业使用)" panose="02010600010101010101" pitchFamily="2" charset="-122"/>
              </a:rPr>
              <a:t>变量</a:t>
            </a:r>
            <a:r>
              <a:rPr lang="en-US" altLang="zh-CN" i="1" dirty="0">
                <a:latin typeface="Aa花间辞楷书 (非商业使用)" panose="02010600010101010101" pitchFamily="2" charset="-122"/>
                <a:ea typeface="Aa花间辞楷书 (非商业使用)" panose="02010600010101010101" pitchFamily="2" charset="-122"/>
              </a:rPr>
              <a:t>v</a:t>
            </a:r>
            <a:r>
              <a:rPr lang="en-US" altLang="zh-CN" dirty="0">
                <a:latin typeface="Aa花间辞楷书 (非商业使用)" panose="02010600010101010101" pitchFamily="2" charset="-122"/>
                <a:ea typeface="Aa花间辞楷书 (非商业使用)" panose="02010600010101010101" pitchFamily="2" charset="-122"/>
              </a:rPr>
              <a:t>， </a:t>
            </a:r>
            <a:r>
              <a:rPr lang="zh-CN" altLang="en-US" dirty="0">
                <a:latin typeface="Aa花间辞楷书 (非商业使用)" panose="02010600010101010101" pitchFamily="2" charset="-122"/>
                <a:ea typeface="Aa花间辞楷书 (非商业使用)" panose="02010600010101010101" pitchFamily="2" charset="-122"/>
              </a:rPr>
              <a:t>和</a:t>
            </a:r>
            <a:r>
              <a:rPr lang="zh-CN" altLang="en-US" dirty="0">
                <a:solidFill>
                  <a:srgbClr val="FF0000"/>
                </a:solidFill>
                <a:latin typeface="Aa花间辞楷书 (非商业使用)" panose="02010600010101010101" pitchFamily="2" charset="-122"/>
                <a:ea typeface="Aa花间辞楷书 (非商业使用)" panose="02010600010101010101" pitchFamily="2" charset="-122"/>
              </a:rPr>
              <a:t>常量符号</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k</a:t>
            </a:r>
            <a:r>
              <a:rPr lang="en-US" altLang="zh-CN" dirty="0">
                <a:latin typeface="Aa花间辞楷书 (非商业使用)" panose="02010600010101010101" pitchFamily="2" charset="-122"/>
                <a:ea typeface="Aa花间辞楷书 (非商业使用)" panose="02010600010101010101" pitchFamily="2" charset="-122"/>
              </a:rPr>
              <a:t>， k</a:t>
            </a:r>
            <a:r>
              <a:rPr lang="zh-CN" altLang="en-US" dirty="0">
                <a:latin typeface="Aa花间辞楷书 (非商业使用)" panose="02010600010101010101" pitchFamily="2" charset="-122"/>
                <a:ea typeface="Aa花间辞楷书 (非商业使用)" panose="02010600010101010101" pitchFamily="2" charset="-122"/>
              </a:rPr>
              <a:t>不出现在知识库</a:t>
            </a:r>
            <a:r>
              <a:rPr lang="en-US" altLang="zh-CN" dirty="0">
                <a:latin typeface="Aa花间辞楷书 (非商业使用)" panose="02010600010101010101" pitchFamily="2" charset="-122"/>
                <a:ea typeface="Aa花间辞楷书 (非商业使用)" panose="02010600010101010101" pitchFamily="2" charset="-122"/>
              </a:rPr>
              <a:t>KB</a:t>
            </a:r>
            <a:r>
              <a:rPr lang="zh-CN" altLang="en-US" dirty="0">
                <a:latin typeface="Aa花间辞楷书 (非商业使用)" panose="02010600010101010101" pitchFamily="2" charset="-122"/>
                <a:ea typeface="Aa花间辞楷书 (非商业使用)" panose="02010600010101010101" pitchFamily="2" charset="-122"/>
              </a:rPr>
              <a:t>的其它地方：</a:t>
            </a:r>
            <a:endParaRPr lang="en-US" altLang="zh-CN" dirty="0">
              <a:latin typeface="Aa花间辞楷书 (非商业使用)" panose="02010600010101010101" pitchFamily="2" charset="-122"/>
              <a:ea typeface="Aa花间辞楷书 (非商业使用)" panose="02010600010101010101" pitchFamily="2" charset="-122"/>
            </a:endParaRPr>
          </a:p>
          <a:p>
            <a:pPr lvl="1"/>
            <a:endParaRPr lang="en-US" altLang="zh-CN" dirty="0">
              <a:latin typeface="Aa花间辞楷书 (非商业使用)" panose="02010600010101010101" pitchFamily="2" charset="-122"/>
              <a:ea typeface="Aa花间辞楷书 (非商业使用)" panose="02010600010101010101" pitchFamily="2" charset="-122"/>
            </a:endParaRPr>
          </a:p>
          <a:p>
            <a:pPr lvl="1"/>
            <a:endParaRPr lang="en-US" altLang="zh-CN" dirty="0">
              <a:latin typeface="Aa花间辞楷书 (非商业使用)" panose="02010600010101010101" pitchFamily="2" charset="-122"/>
              <a:ea typeface="Aa花间辞楷书 (非商业使用)" panose="02010600010101010101" pitchFamily="2" charset="-122"/>
            </a:endParaRPr>
          </a:p>
          <a:p>
            <a:pPr lvl="1">
              <a:lnSpc>
                <a:spcPct val="140000"/>
              </a:lnSpc>
            </a:pPr>
            <a:r>
              <a:rPr lang="zh-CN" altLang="en-US" dirty="0">
                <a:latin typeface="Aa花间辞楷书 (非商业使用)" panose="02010600010101010101" pitchFamily="2" charset="-122"/>
                <a:ea typeface="Aa花间辞楷书 (非商业使用)" panose="02010600010101010101" pitchFamily="2" charset="-122"/>
                <a:cs typeface="Arial" pitchFamily="34" charset="0"/>
                <a:sym typeface="Symbol" pitchFamily="18" charset="2"/>
              </a:rPr>
              <a:t>      </a:t>
            </a:r>
            <a:r>
              <a:rPr lang="zh-CN" altLang="el-GR" dirty="0">
                <a:solidFill>
                  <a:srgbClr val="C00000"/>
                </a:solidFill>
                <a:latin typeface="Aa花间辞楷书 (非商业使用)" panose="02010600010101010101" pitchFamily="2" charset="-122"/>
                <a:ea typeface="Aa花间辞楷书 (非商业使用)" panose="02010600010101010101" pitchFamily="2" charset="-122"/>
                <a:cs typeface="Arial" pitchFamily="34" charset="0"/>
                <a:sym typeface="Symbol" pitchFamily="18" charset="2"/>
              </a:rPr>
              <a:t></a:t>
            </a:r>
            <a:r>
              <a:rPr lang="en-US" altLang="zh-CN" i="1" dirty="0">
                <a:solidFill>
                  <a:srgbClr val="C00000"/>
                </a:solidFill>
                <a:latin typeface="Aa花间辞楷书 (非商业使用)" panose="02010600010101010101" pitchFamily="2" charset="-122"/>
                <a:ea typeface="Aa花间辞楷书 (非商业使用)" panose="02010600010101010101" pitchFamily="2" charset="-122"/>
              </a:rPr>
              <a:t>x</a:t>
            </a:r>
            <a:r>
              <a:rPr lang="en-US" altLang="zh-CN" dirty="0">
                <a:solidFill>
                  <a:srgbClr val="C00000"/>
                </a:solidFill>
                <a:latin typeface="Aa花间辞楷书 (非商业使用)" panose="02010600010101010101" pitchFamily="2" charset="-122"/>
                <a:ea typeface="Aa花间辞楷书 (非商业使用)" panose="02010600010101010101" pitchFamily="2" charset="-122"/>
              </a:rPr>
              <a:t> </a:t>
            </a:r>
            <a:r>
              <a:rPr lang="en-US" altLang="zh-CN" i="1" dirty="0">
                <a:solidFill>
                  <a:srgbClr val="C00000"/>
                </a:solidFill>
                <a:latin typeface="Aa花间辞楷书 (非商业使用)" panose="02010600010101010101" pitchFamily="2" charset="-122"/>
                <a:ea typeface="Aa花间辞楷书 (非商业使用)" panose="02010600010101010101" pitchFamily="2" charset="-122"/>
              </a:rPr>
              <a:t>Crown</a:t>
            </a:r>
            <a:r>
              <a:rPr lang="en-US" altLang="zh-CN" dirty="0">
                <a:solidFill>
                  <a:srgbClr val="C00000"/>
                </a:solidFill>
                <a:latin typeface="Aa花间辞楷书 (非商业使用)" panose="02010600010101010101" pitchFamily="2" charset="-122"/>
                <a:ea typeface="Aa花间辞楷书 (非商业使用)" panose="02010600010101010101" pitchFamily="2" charset="-122"/>
              </a:rPr>
              <a:t>(</a:t>
            </a:r>
            <a:r>
              <a:rPr lang="en-US" altLang="zh-CN" i="1" dirty="0">
                <a:solidFill>
                  <a:srgbClr val="C00000"/>
                </a:solidFill>
                <a:latin typeface="Aa花间辞楷书 (非商业使用)" panose="02010600010101010101" pitchFamily="2" charset="-122"/>
                <a:ea typeface="Aa花间辞楷书 (非商业使用)" panose="02010600010101010101" pitchFamily="2" charset="-122"/>
              </a:rPr>
              <a:t>x</a:t>
            </a:r>
            <a:r>
              <a:rPr lang="en-US" altLang="zh-CN" dirty="0">
                <a:solidFill>
                  <a:srgbClr val="C00000"/>
                </a:solidFill>
                <a:latin typeface="Aa花间辞楷书 (非商业使用)" panose="02010600010101010101" pitchFamily="2" charset="-122"/>
                <a:ea typeface="Aa花间辞楷书 (非商业使用)" panose="02010600010101010101" pitchFamily="2" charset="-122"/>
              </a:rPr>
              <a:t>) </a:t>
            </a:r>
            <a:r>
              <a:rPr lang="en-US" altLang="zh-CN" dirty="0">
                <a:solidFill>
                  <a:srgbClr val="C0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C00000"/>
                </a:solidFill>
                <a:latin typeface="Aa花间辞楷书 (非商业使用)" panose="02010600010101010101" pitchFamily="2" charset="-122"/>
                <a:ea typeface="Aa花间辞楷书 (非商业使用)" panose="02010600010101010101" pitchFamily="2" charset="-122"/>
              </a:rPr>
              <a:t> </a:t>
            </a:r>
            <a:r>
              <a:rPr lang="en-US" altLang="zh-CN" i="1" dirty="0" err="1">
                <a:solidFill>
                  <a:srgbClr val="C00000"/>
                </a:solidFill>
                <a:latin typeface="Aa花间辞楷书 (非商业使用)" panose="02010600010101010101" pitchFamily="2" charset="-122"/>
                <a:ea typeface="Aa花间辞楷书 (非商业使用)" panose="02010600010101010101" pitchFamily="2" charset="-122"/>
              </a:rPr>
              <a:t>OnHead</a:t>
            </a:r>
            <a:r>
              <a:rPr lang="en-US" altLang="zh-CN" dirty="0">
                <a:solidFill>
                  <a:srgbClr val="C00000"/>
                </a:solidFill>
                <a:latin typeface="Aa花间辞楷书 (非商业使用)" panose="02010600010101010101" pitchFamily="2" charset="-122"/>
                <a:ea typeface="Aa花间辞楷书 (非商业使用)" panose="02010600010101010101" pitchFamily="2" charset="-122"/>
              </a:rPr>
              <a:t>(</a:t>
            </a:r>
            <a:r>
              <a:rPr lang="en-US" altLang="zh-CN" i="1" dirty="0" err="1">
                <a:solidFill>
                  <a:srgbClr val="C00000"/>
                </a:solidFill>
                <a:latin typeface="Aa花间辞楷书 (非商业使用)" panose="02010600010101010101" pitchFamily="2" charset="-122"/>
                <a:ea typeface="Aa花间辞楷书 (非商业使用)" panose="02010600010101010101" pitchFamily="2" charset="-122"/>
              </a:rPr>
              <a:t>x,John</a:t>
            </a:r>
            <a:r>
              <a:rPr lang="en-US" altLang="zh-CN" dirty="0">
                <a:solidFill>
                  <a:srgbClr val="C00000"/>
                </a:solidFill>
                <a:latin typeface="Aa花间辞楷书 (非商业使用)" panose="02010600010101010101" pitchFamily="2" charset="-122"/>
                <a:ea typeface="Aa花间辞楷书 (非商业使用)" panose="02010600010101010101" pitchFamily="2" charset="-122"/>
              </a:rPr>
              <a:t>)</a:t>
            </a:r>
            <a:r>
              <a:rPr lang="zh-CN" altLang="en-US" dirty="0">
                <a:latin typeface="Aa花间辞楷书 (非商业使用)" panose="02010600010101010101" pitchFamily="2" charset="-122"/>
                <a:ea typeface="Aa花间辞楷书 (非商业使用)" panose="02010600010101010101" pitchFamily="2" charset="-122"/>
              </a:rPr>
              <a:t>产生实例：</a:t>
            </a:r>
          </a:p>
          <a:p>
            <a:pPr lvl="1">
              <a:lnSpc>
                <a:spcPct val="140000"/>
              </a:lnSpc>
            </a:pPr>
            <a:r>
              <a:rPr lang="en-US" altLang="zh-CN" i="1" dirty="0">
                <a:latin typeface="Aa花间辞楷书 (非商业使用)" panose="02010600010101010101" pitchFamily="2" charset="-122"/>
                <a:ea typeface="Aa花间辞楷书 (非商业使用)" panose="02010600010101010101" pitchFamily="2" charset="-122"/>
              </a:rPr>
              <a:t>                 Crown</a:t>
            </a:r>
            <a:r>
              <a:rPr lang="en-US" altLang="zh-CN" dirty="0">
                <a:latin typeface="Aa花间辞楷书 (非商业使用)" panose="02010600010101010101" pitchFamily="2" charset="-122"/>
                <a:ea typeface="Aa花间辞楷书 (非商业使用)" panose="02010600010101010101" pitchFamily="2" charset="-122"/>
              </a:rPr>
              <a:t>(</a:t>
            </a:r>
            <a:r>
              <a:rPr lang="en-US" altLang="zh-CN" i="1" dirty="0">
                <a:latin typeface="Aa花间辞楷书 (非商业使用)" panose="02010600010101010101" pitchFamily="2" charset="-122"/>
                <a:ea typeface="Aa花间辞楷书 (非商业使用)" panose="02010600010101010101" pitchFamily="2" charset="-122"/>
              </a:rPr>
              <a:t>C</a:t>
            </a:r>
            <a:r>
              <a:rPr lang="en-US" altLang="zh-CN" i="1" baseline="-25000" dirty="0">
                <a:latin typeface="Aa花间辞楷书 (非商业使用)" panose="02010600010101010101" pitchFamily="2" charset="-122"/>
                <a:ea typeface="Aa花间辞楷书 (非商业使用)" panose="02010600010101010101" pitchFamily="2" charset="-122"/>
              </a:rPr>
              <a:t>1</a:t>
            </a:r>
            <a:r>
              <a:rPr lang="en-US" altLang="zh-CN" dirty="0">
                <a:latin typeface="Aa花间辞楷书 (非商业使用)" panose="02010600010101010101" pitchFamily="2" charset="-122"/>
                <a:ea typeface="Aa花间辞楷书 (非商业使用)" panose="02010600010101010101" pitchFamily="2" charset="-122"/>
              </a:rPr>
              <a:t>) </a:t>
            </a:r>
            <a:r>
              <a:rPr lang="en-US" altLang="zh-CN" dirty="0">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latin typeface="Aa花间辞楷书 (非商业使用)" panose="02010600010101010101" pitchFamily="2" charset="-122"/>
                <a:ea typeface="Aa花间辞楷书 (非商业使用)" panose="02010600010101010101" pitchFamily="2" charset="-122"/>
              </a:rPr>
              <a:t> </a:t>
            </a:r>
            <a:r>
              <a:rPr lang="en-US" altLang="zh-CN" i="1" dirty="0" err="1">
                <a:latin typeface="Aa花间辞楷书 (非商业使用)" panose="02010600010101010101" pitchFamily="2" charset="-122"/>
                <a:ea typeface="Aa花间辞楷书 (非商业使用)" panose="02010600010101010101" pitchFamily="2" charset="-122"/>
              </a:rPr>
              <a:t>OnHead</a:t>
            </a:r>
            <a:r>
              <a:rPr lang="en-US" altLang="zh-CN" dirty="0">
                <a:latin typeface="Aa花间辞楷书 (非商业使用)" panose="02010600010101010101" pitchFamily="2" charset="-122"/>
                <a:ea typeface="Aa花间辞楷书 (非商业使用)" panose="02010600010101010101" pitchFamily="2" charset="-122"/>
              </a:rPr>
              <a:t>(</a:t>
            </a:r>
            <a:r>
              <a:rPr lang="en-US" altLang="zh-CN" i="1" dirty="0">
                <a:latin typeface="Aa花间辞楷书 (非商业使用)" panose="02010600010101010101" pitchFamily="2" charset="-122"/>
                <a:ea typeface="Aa花间辞楷书 (非商业使用)" panose="02010600010101010101" pitchFamily="2" charset="-122"/>
              </a:rPr>
              <a:t>C</a:t>
            </a:r>
            <a:r>
              <a:rPr lang="en-US" altLang="zh-CN" i="1" baseline="-25000" dirty="0">
                <a:latin typeface="Aa花间辞楷书 (非商业使用)" panose="02010600010101010101" pitchFamily="2" charset="-122"/>
                <a:ea typeface="Aa花间辞楷书 (非商业使用)" panose="02010600010101010101" pitchFamily="2" charset="-122"/>
              </a:rPr>
              <a:t>1</a:t>
            </a:r>
            <a:r>
              <a:rPr lang="en-US" altLang="zh-CN" i="1" dirty="0">
                <a:latin typeface="Aa花间辞楷书 (非商业使用)" panose="02010600010101010101" pitchFamily="2" charset="-122"/>
                <a:ea typeface="Aa花间辞楷书 (非商业使用)" panose="02010600010101010101" pitchFamily="2" charset="-122"/>
              </a:rPr>
              <a:t>,John</a:t>
            </a:r>
            <a:r>
              <a:rPr lang="en-US" altLang="zh-CN" dirty="0">
                <a:latin typeface="Aa花间辞楷书 (非商业使用)" panose="02010600010101010101" pitchFamily="2" charset="-122"/>
                <a:ea typeface="Aa花间辞楷书 (非商业使用)" panose="02010600010101010101" pitchFamily="2" charset="-122"/>
              </a:rPr>
              <a:t>)</a:t>
            </a:r>
          </a:p>
          <a:p>
            <a:pPr lvl="1">
              <a:lnSpc>
                <a:spcPct val="140000"/>
              </a:lnSpc>
            </a:pPr>
            <a:r>
              <a:rPr lang="en-US" altLang="zh-CN" dirty="0">
                <a:latin typeface="Aa花间辞楷书 (非商业使用)" panose="02010600010101010101" pitchFamily="2" charset="-122"/>
                <a:ea typeface="Aa花间辞楷书 (非商业使用)" panose="02010600010101010101" pitchFamily="2" charset="-122"/>
              </a:rPr>
              <a:t>	</a:t>
            </a:r>
            <a:r>
              <a:rPr lang="zh-CN" altLang="en-US" dirty="0">
                <a:latin typeface="Aa花间辞楷书 (非商业使用)" panose="02010600010101010101" pitchFamily="2" charset="-122"/>
                <a:ea typeface="Aa花间辞楷书 (非商业使用)" panose="02010600010101010101" pitchFamily="2" charset="-122"/>
              </a:rPr>
              <a:t>假定</a:t>
            </a:r>
            <a:r>
              <a:rPr lang="en-US" altLang="zh-CN" i="1" dirty="0">
                <a:latin typeface="Aa花间辞楷书 (非商业使用)" panose="02010600010101010101" pitchFamily="2" charset="-122"/>
                <a:ea typeface="Aa花间辞楷书 (非商业使用)" panose="02010600010101010101" pitchFamily="2" charset="-122"/>
              </a:rPr>
              <a:t>C</a:t>
            </a:r>
            <a:r>
              <a:rPr lang="en-US" altLang="zh-CN" i="1" baseline="-25000" dirty="0">
                <a:latin typeface="Aa花间辞楷书 (非商业使用)" panose="02010600010101010101" pitchFamily="2" charset="-122"/>
                <a:ea typeface="Aa花间辞楷书 (非商业使用)" panose="02010600010101010101" pitchFamily="2" charset="-122"/>
              </a:rPr>
              <a:t>1</a:t>
            </a:r>
            <a:r>
              <a:rPr lang="en-US" altLang="zh-CN" dirty="0">
                <a:latin typeface="Aa花间辞楷书 (非商业使用)" panose="02010600010101010101" pitchFamily="2" charset="-122"/>
                <a:ea typeface="Aa花间辞楷书 (非商业使用)" panose="02010600010101010101" pitchFamily="2" charset="-122"/>
              </a:rPr>
              <a:t> </a:t>
            </a:r>
            <a:r>
              <a:rPr lang="zh-CN" altLang="en-US" dirty="0">
                <a:latin typeface="Aa花间辞楷书 (非商业使用)" panose="02010600010101010101" pitchFamily="2" charset="-122"/>
                <a:ea typeface="Aa花间辞楷书 (非商业使用)" panose="02010600010101010101" pitchFamily="2" charset="-122"/>
              </a:rPr>
              <a:t>是一个</a:t>
            </a:r>
            <a:r>
              <a:rPr lang="zh-CN" altLang="en-US" dirty="0">
                <a:solidFill>
                  <a:srgbClr val="FF0000"/>
                </a:solidFill>
                <a:latin typeface="Aa花间辞楷书 (非商业使用)" panose="02010600010101010101" pitchFamily="2" charset="-122"/>
                <a:ea typeface="Aa花间辞楷书 (非商业使用)" panose="02010600010101010101" pitchFamily="2" charset="-122"/>
              </a:rPr>
              <a:t>新常量符号</a:t>
            </a:r>
            <a:r>
              <a:rPr lang="zh-CN" altLang="en-US" dirty="0">
                <a:latin typeface="Aa花间辞楷书 (非商业使用)" panose="02010600010101010101" pitchFamily="2" charset="-122"/>
                <a:ea typeface="Aa花间辞楷书 (非商业使用)" panose="02010600010101010101" pitchFamily="2" charset="-122"/>
              </a:rPr>
              <a:t>，这个新的常量符号称为</a:t>
            </a:r>
            <a:r>
              <a:rPr lang="en-US" altLang="zh-CN" dirty="0" err="1">
                <a:solidFill>
                  <a:srgbClr val="C00000"/>
                </a:solidFill>
                <a:latin typeface="Aa花间辞楷书 (非商业使用)" panose="02010600010101010101" pitchFamily="2" charset="-122"/>
                <a:ea typeface="Aa花间辞楷书 (非商业使用)" panose="02010600010101010101" pitchFamily="2" charset="-122"/>
              </a:rPr>
              <a:t>Skolem</a:t>
            </a:r>
            <a:r>
              <a:rPr lang="zh-CN" altLang="en-US" dirty="0">
                <a:solidFill>
                  <a:srgbClr val="C00000"/>
                </a:solidFill>
                <a:latin typeface="Aa花间辞楷书 (非商业使用)" panose="02010600010101010101" pitchFamily="2" charset="-122"/>
                <a:ea typeface="Aa花间辞楷书 (非商业使用)" panose="02010600010101010101" pitchFamily="2" charset="-122"/>
              </a:rPr>
              <a:t>常量</a:t>
            </a:r>
            <a:r>
              <a:rPr lang="zh-CN" altLang="en-US" dirty="0">
                <a:latin typeface="Aa花间辞楷书 (非商业使用)" panose="02010600010101010101" pitchFamily="2" charset="-122"/>
                <a:ea typeface="Aa花间辞楷书 (非商业使用)" panose="02010600010101010101" pitchFamily="2" charset="-122"/>
              </a:rPr>
              <a:t>。注意这里的</a:t>
            </a:r>
            <a:r>
              <a:rPr lang="en-US" altLang="zh-CN" i="1" dirty="0">
                <a:latin typeface="Aa花间辞楷书 (非商业使用)" panose="02010600010101010101" pitchFamily="2" charset="-122"/>
                <a:ea typeface="Aa花间辞楷书 (非商业使用)" panose="02010600010101010101" pitchFamily="2" charset="-122"/>
              </a:rPr>
              <a:t>C</a:t>
            </a:r>
            <a:r>
              <a:rPr lang="en-US" altLang="zh-CN" i="1" baseline="-25000" dirty="0">
                <a:latin typeface="Aa花间辞楷书 (非商业使用)" panose="02010600010101010101" pitchFamily="2" charset="-122"/>
                <a:ea typeface="Aa花间辞楷书 (非商业使用)" panose="02010600010101010101" pitchFamily="2" charset="-122"/>
              </a:rPr>
              <a:t>1</a:t>
            </a:r>
            <a:r>
              <a:rPr lang="en-US" altLang="zh-CN" dirty="0">
                <a:latin typeface="Aa花间辞楷书 (非商业使用)" panose="02010600010101010101" pitchFamily="2" charset="-122"/>
                <a:ea typeface="Aa花间辞楷书 (非商业使用)" panose="02010600010101010101" pitchFamily="2" charset="-122"/>
              </a:rPr>
              <a:t> </a:t>
            </a:r>
            <a:r>
              <a:rPr lang="zh-CN" altLang="en-US" dirty="0">
                <a:latin typeface="Aa花间辞楷书 (非商业使用)" panose="02010600010101010101" pitchFamily="2" charset="-122"/>
                <a:ea typeface="Aa花间辞楷书 (非商业使用)" panose="02010600010101010101" pitchFamily="2" charset="-122"/>
              </a:rPr>
              <a:t>没在</a:t>
            </a:r>
            <a:r>
              <a:rPr lang="en-US" altLang="zh-CN" dirty="0">
                <a:latin typeface="Aa花间辞楷书 (非商业使用)" panose="02010600010101010101" pitchFamily="2" charset="-122"/>
                <a:ea typeface="Aa花间辞楷书 (非商业使用)" panose="02010600010101010101" pitchFamily="2" charset="-122"/>
              </a:rPr>
              <a:t>KB</a:t>
            </a:r>
            <a:r>
              <a:rPr lang="zh-CN" altLang="en-US" dirty="0">
                <a:latin typeface="Aa花间辞楷书 (非商业使用)" panose="02010600010101010101" pitchFamily="2" charset="-122"/>
                <a:ea typeface="Aa花间辞楷书 (非商业使用)" panose="02010600010101010101" pitchFamily="2" charset="-122"/>
              </a:rPr>
              <a:t>出现过</a:t>
            </a:r>
          </a:p>
          <a:p>
            <a:endParaRPr lang="zh-CN" altLang="en-US" dirty="0"/>
          </a:p>
        </p:txBody>
      </p:sp>
      <mc:AlternateContent xmlns:mc="http://schemas.openxmlformats.org/markup-compatibility/2006">
        <mc:Choice xmlns:a14="http://schemas.microsoft.com/office/drawing/2010/main" Requires="a14">
          <p:sp>
            <p:nvSpPr>
              <p:cNvPr id="4" name="Object 72">
                <a:extLst>
                  <a:ext uri="{FF2B5EF4-FFF2-40B4-BE49-F238E27FC236}">
                    <a16:creationId xmlns:a16="http://schemas.microsoft.com/office/drawing/2014/main" id="{E08A287B-FCE8-9FAC-E959-302D144E5DAE}"/>
                  </a:ext>
                </a:extLst>
              </p:cNvPr>
              <p:cNvSpPr txBox="1"/>
              <p:nvPr/>
            </p:nvSpPr>
            <p:spPr bwMode="auto">
              <a:xfrm>
                <a:off x="4929672" y="1781447"/>
                <a:ext cx="2438400" cy="914400"/>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f>
                        <m:fPr>
                          <m:ctrlPr>
                            <a:rPr lang="zh-CN" altLang="en-US" sz="2800" i="1" smtClean="0">
                              <a:solidFill>
                                <a:srgbClr val="FFCC99"/>
                              </a:solidFill>
                              <a:latin typeface="Cambria Math" panose="02040503050406030204" pitchFamily="18" charset="0"/>
                            </a:rPr>
                          </m:ctrlPr>
                        </m:fPr>
                        <m:num>
                          <m:r>
                            <a:rPr lang="zh-CN" altLang="en-US" sz="2800" i="1">
                              <a:solidFill>
                                <a:srgbClr val="FFCC99"/>
                              </a:solidFill>
                              <a:latin typeface="Cambria Math" panose="02040503050406030204" pitchFamily="18" charset="0"/>
                            </a:rPr>
                            <m:t>∃</m:t>
                          </m:r>
                          <m:r>
                            <a:rPr lang="zh-CN" altLang="en-US" sz="2800" i="1">
                              <a:solidFill>
                                <a:srgbClr val="FFCC99"/>
                              </a:solidFill>
                              <a:latin typeface="Cambria Math" panose="02040503050406030204" pitchFamily="18" charset="0"/>
                            </a:rPr>
                            <m:t>𝑣</m:t>
                          </m:r>
                          <m:m>
                            <m:mPr>
                              <m:plcHide m:val="on"/>
                              <m:mcs>
                                <m:mc>
                                  <m:mcPr>
                                    <m:count m:val="1"/>
                                    <m:mcJc m:val="center"/>
                                  </m:mcPr>
                                </m:mc>
                              </m:mcs>
                              <m:ctrlPr>
                                <a:rPr lang="zh-CN" altLang="en-US" sz="2800" i="1">
                                  <a:solidFill>
                                    <a:srgbClr val="FFCC99"/>
                                  </a:solidFill>
                                  <a:latin typeface="Cambria Math" panose="02040503050406030204" pitchFamily="18" charset="0"/>
                                </a:rPr>
                              </m:ctrlPr>
                            </m:mPr>
                            <m:mr>
                              <m:e/>
                            </m:mr>
                          </m:m>
                          <m:r>
                            <a:rPr lang="zh-CN" altLang="en-US" sz="2800" i="1">
                              <a:solidFill>
                                <a:srgbClr val="FFCC99"/>
                              </a:solidFill>
                              <a:latin typeface="Cambria Math" panose="02040503050406030204" pitchFamily="18" charset="0"/>
                            </a:rPr>
                            <m:t>𝛼</m:t>
                          </m:r>
                        </m:num>
                        <m:den>
                          <m:r>
                            <a:rPr lang="zh-CN" altLang="en-US" sz="2800" i="1">
                              <a:solidFill>
                                <a:srgbClr val="FFCC99"/>
                              </a:solidFill>
                              <a:latin typeface="Cambria Math" panose="02040503050406030204" pitchFamily="18" charset="0"/>
                            </a:rPr>
                            <m:t>𝑆𝑈𝐵𝑆𝑇</m:t>
                          </m:r>
                          <m:d>
                            <m:dPr>
                              <m:ctrlPr>
                                <a:rPr lang="zh-CN" altLang="en-US" sz="2800" i="1">
                                  <a:solidFill>
                                    <a:srgbClr val="FFCC99"/>
                                  </a:solidFill>
                                  <a:latin typeface="Cambria Math" panose="02040503050406030204" pitchFamily="18" charset="0"/>
                                </a:rPr>
                              </m:ctrlPr>
                            </m:dPr>
                            <m:e>
                              <m:d>
                                <m:dPr>
                                  <m:begChr m:val="{"/>
                                  <m:endChr m:val="}"/>
                                  <m:ctrlPr>
                                    <a:rPr lang="zh-CN" altLang="en-US" sz="2800" i="1">
                                      <a:solidFill>
                                        <a:srgbClr val="FFCC99"/>
                                      </a:solidFill>
                                      <a:latin typeface="Cambria Math" panose="02040503050406030204" pitchFamily="18" charset="0"/>
                                    </a:rPr>
                                  </m:ctrlPr>
                                </m:dPr>
                                <m:e>
                                  <m:r>
                                    <a:rPr lang="zh-CN" altLang="en-US" sz="2800" i="1">
                                      <a:solidFill>
                                        <a:srgbClr val="FFCC99"/>
                                      </a:solidFill>
                                      <a:latin typeface="Cambria Math" panose="02040503050406030204" pitchFamily="18" charset="0"/>
                                    </a:rPr>
                                    <m:t>𝑣</m:t>
                                  </m:r>
                                  <m:r>
                                    <a:rPr lang="zh-CN" altLang="en-US" sz="2800" i="1">
                                      <a:solidFill>
                                        <a:srgbClr val="FFCC99"/>
                                      </a:solidFill>
                                      <a:latin typeface="Cambria Math" panose="02040503050406030204" pitchFamily="18" charset="0"/>
                                    </a:rPr>
                                    <m:t>/</m:t>
                                  </m:r>
                                  <m:r>
                                    <a:rPr lang="zh-CN" altLang="en-US" sz="2800" i="1">
                                      <a:solidFill>
                                        <a:srgbClr val="FFCC99"/>
                                      </a:solidFill>
                                      <a:latin typeface="Cambria Math" panose="02040503050406030204" pitchFamily="18" charset="0"/>
                                    </a:rPr>
                                    <m:t>𝑘</m:t>
                                  </m:r>
                                </m:e>
                              </m:d>
                              <m:r>
                                <a:rPr lang="zh-CN" altLang="en-US" sz="2800" i="1">
                                  <a:solidFill>
                                    <a:srgbClr val="FFCC99"/>
                                  </a:solidFill>
                                  <a:latin typeface="Cambria Math" panose="02040503050406030204" pitchFamily="18" charset="0"/>
                                </a:rPr>
                                <m:t>,</m:t>
                              </m:r>
                              <m:r>
                                <a:rPr lang="zh-CN" altLang="en-US" sz="2800" i="1">
                                  <a:solidFill>
                                    <a:srgbClr val="FFCC99"/>
                                  </a:solidFill>
                                  <a:latin typeface="Cambria Math" panose="02040503050406030204" pitchFamily="18" charset="0"/>
                                </a:rPr>
                                <m:t>𝛼</m:t>
                              </m:r>
                            </m:e>
                          </m:d>
                        </m:den>
                      </m:f>
                    </m:oMath>
                  </m:oMathPara>
                </a14:m>
                <a:endParaRPr lang="zh-CN" altLang="en-US" sz="2800" dirty="0">
                  <a:solidFill>
                    <a:srgbClr val="FFCC99"/>
                  </a:solidFill>
                </a:endParaRPr>
              </a:p>
            </p:txBody>
          </p:sp>
        </mc:Choice>
        <mc:Fallback>
          <p:sp>
            <p:nvSpPr>
              <p:cNvPr id="4" name="Object 72">
                <a:extLst>
                  <a:ext uri="{FF2B5EF4-FFF2-40B4-BE49-F238E27FC236}">
                    <a16:creationId xmlns:a16="http://schemas.microsoft.com/office/drawing/2014/main" id="{E08A287B-FCE8-9FAC-E959-302D144E5DAE}"/>
                  </a:ext>
                </a:extLst>
              </p:cNvPr>
              <p:cNvSpPr txBox="1">
                <a:spLocks noRot="1" noChangeAspect="1" noMove="1" noResize="1" noEditPoints="1" noAdjustHandles="1" noChangeArrowheads="1" noChangeShapeType="1" noTextEdit="1"/>
              </p:cNvSpPr>
              <p:nvPr/>
            </p:nvSpPr>
            <p:spPr bwMode="auto">
              <a:xfrm>
                <a:off x="4929672" y="1781447"/>
                <a:ext cx="2438400" cy="914400"/>
              </a:xfrm>
              <a:prstGeom prst="rect">
                <a:avLst/>
              </a:prstGeom>
              <a:blipFill>
                <a:blip r:embed="rId2"/>
                <a:stretch>
                  <a:fillRect r="-975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87454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8A426-A3A0-0616-6B07-4D2F2C8E3E74}"/>
              </a:ext>
            </a:extLst>
          </p:cNvPr>
          <p:cNvSpPr>
            <a:spLocks noGrp="1"/>
          </p:cNvSpPr>
          <p:nvPr>
            <p:ph type="title"/>
          </p:nvPr>
        </p:nvSpPr>
        <p:spPr/>
        <p:txBody>
          <a:bodyPr/>
          <a:lstStyle/>
          <a:p>
            <a:r>
              <a:rPr lang="en-US" altLang="zh-CN" dirty="0"/>
              <a:t>9.1 </a:t>
            </a:r>
            <a:r>
              <a:rPr lang="zh-CN" altLang="en-US" dirty="0"/>
              <a:t>一阶逻辑命题化</a:t>
            </a:r>
          </a:p>
        </p:txBody>
      </p:sp>
      <p:sp>
        <p:nvSpPr>
          <p:cNvPr id="3" name="内容占位符 2">
            <a:extLst>
              <a:ext uri="{FF2B5EF4-FFF2-40B4-BE49-F238E27FC236}">
                <a16:creationId xmlns:a16="http://schemas.microsoft.com/office/drawing/2014/main" id="{655496D2-D7D1-E390-CD75-E7F51B05DC8E}"/>
              </a:ext>
            </a:extLst>
          </p:cNvPr>
          <p:cNvSpPr>
            <a:spLocks noGrp="1"/>
          </p:cNvSpPr>
          <p:nvPr>
            <p:ph idx="1"/>
          </p:nvPr>
        </p:nvSpPr>
        <p:spPr/>
        <p:txBody>
          <a:bodyPr/>
          <a:lstStyle/>
          <a:p>
            <a:pPr>
              <a:lnSpc>
                <a:spcPct val="150000"/>
              </a:lnSpc>
            </a:pPr>
            <a:r>
              <a:rPr lang="en-US" altLang="zh-CN" dirty="0"/>
              <a:t>5.</a:t>
            </a:r>
            <a:r>
              <a:rPr lang="en-US" altLang="zh-CN" sz="2800" dirty="0">
                <a:solidFill>
                  <a:srgbClr val="FF0000"/>
                </a:solidFill>
              </a:rPr>
              <a:t> </a:t>
            </a:r>
            <a:r>
              <a:rPr lang="zh-CN" altLang="en-US" sz="2800" dirty="0"/>
              <a:t>一阶逻辑</a:t>
            </a:r>
            <a:r>
              <a:rPr lang="zh-CN" altLang="en-US" sz="2800" dirty="0">
                <a:solidFill>
                  <a:srgbClr val="FF0000"/>
                </a:solidFill>
              </a:rPr>
              <a:t>退化</a:t>
            </a:r>
            <a:r>
              <a:rPr lang="zh-CN" altLang="en-US" sz="2800" dirty="0"/>
              <a:t>为命题逻辑</a:t>
            </a:r>
            <a:endParaRPr lang="en-US" altLang="zh-CN" sz="2100" dirty="0"/>
          </a:p>
          <a:p>
            <a:pPr lvl="1"/>
            <a:r>
              <a:rPr lang="zh-CN" altLang="en-US" dirty="0"/>
              <a:t> </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假设知识库仅含下列语句：</a:t>
            </a:r>
            <a:endParaRPr lang="en-US" altLang="zh-CN" sz="2400" dirty="0">
              <a:solidFill>
                <a:srgbClr val="FFCC99"/>
              </a:solidFill>
              <a:latin typeface="Aa花间辞楷书 (非商业使用)" panose="02010600010101010101" pitchFamily="2" charset="-122"/>
              <a:ea typeface="Aa花间辞楷书 (非商业使用)" panose="02010600010101010101" pitchFamily="2" charset="-122"/>
            </a:endParaRPr>
          </a:p>
          <a:p>
            <a:pPr lvl="1">
              <a:lnSpc>
                <a:spcPct val="120000"/>
              </a:lnSpc>
              <a:buFontTx/>
              <a:buNone/>
            </a:pPr>
            <a:r>
              <a:rPr lang="en-US" altLang="zh-CN" sz="2400" dirty="0">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sz="2400" dirty="0">
                <a:latin typeface="Aa花间辞楷书 (非商业使用)" panose="02010600010101010101" pitchFamily="2" charset="-122"/>
                <a:ea typeface="Aa花间辞楷书 (非商业使用)" panose="02010600010101010101" pitchFamily="2" charset="-122"/>
              </a:rPr>
              <a:t>x King(x) </a:t>
            </a:r>
            <a:r>
              <a:rPr lang="en-US" altLang="zh-CN" sz="2400" dirty="0">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latin typeface="Aa花间辞楷书 (非商业使用)" panose="02010600010101010101" pitchFamily="2" charset="-122"/>
                <a:ea typeface="Aa花间辞楷书 (非商业使用)" panose="02010600010101010101" pitchFamily="2" charset="-122"/>
              </a:rPr>
              <a:t> Greedy(x) </a:t>
            </a:r>
            <a:r>
              <a:rPr lang="en-US" altLang="zh-CN" sz="2400" dirty="0">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latin typeface="Aa花间辞楷书 (非商业使用)" panose="02010600010101010101" pitchFamily="2" charset="-122"/>
                <a:ea typeface="Aa花间辞楷书 (非商业使用)" panose="02010600010101010101" pitchFamily="2" charset="-122"/>
              </a:rPr>
              <a:t> Evil(x)</a:t>
            </a:r>
          </a:p>
          <a:p>
            <a:pPr lvl="1">
              <a:lnSpc>
                <a:spcPct val="120000"/>
              </a:lnSpc>
              <a:buFontTx/>
              <a:buNone/>
            </a:pPr>
            <a:r>
              <a:rPr lang="en-US" altLang="zh-CN" sz="2400" dirty="0">
                <a:latin typeface="Aa花间辞楷书 (非商业使用)" panose="02010600010101010101" pitchFamily="2" charset="-122"/>
                <a:ea typeface="Aa花间辞楷书 (非商业使用)" panose="02010600010101010101" pitchFamily="2" charset="-122"/>
              </a:rPr>
              <a:t>  King(John)</a:t>
            </a:r>
            <a:r>
              <a:rPr lang="zh-CN" altLang="en-US" sz="2400" dirty="0">
                <a:latin typeface="Aa花间辞楷书 (非商业使用)" panose="02010600010101010101" pitchFamily="2" charset="-122"/>
                <a:ea typeface="Aa花间辞楷书 (非商业使用)" panose="02010600010101010101" pitchFamily="2" charset="-122"/>
              </a:rPr>
              <a:t>，</a:t>
            </a:r>
            <a:r>
              <a:rPr lang="en-US" altLang="zh-CN" sz="2400" dirty="0">
                <a:latin typeface="Aa花间辞楷书 (非商业使用)" panose="02010600010101010101" pitchFamily="2" charset="-122"/>
                <a:ea typeface="Aa花间辞楷书 (非商业使用)" panose="02010600010101010101" pitchFamily="2" charset="-122"/>
              </a:rPr>
              <a:t> Greedy(John)</a:t>
            </a:r>
            <a:r>
              <a:rPr lang="zh-CN" altLang="en-US" sz="2400" dirty="0">
                <a:latin typeface="Aa花间辞楷书 (非商业使用)" panose="02010600010101010101" pitchFamily="2" charset="-122"/>
                <a:ea typeface="Aa花间辞楷书 (非商业使用)" panose="02010600010101010101" pitchFamily="2" charset="-122"/>
              </a:rPr>
              <a:t>，</a:t>
            </a:r>
            <a:r>
              <a:rPr lang="en-US" altLang="zh-CN" sz="2400" dirty="0">
                <a:latin typeface="Aa花间辞楷书 (非商业使用)" panose="02010600010101010101" pitchFamily="2" charset="-122"/>
                <a:ea typeface="Aa花间辞楷书 (非商业使用)" panose="02010600010101010101" pitchFamily="2" charset="-122"/>
              </a:rPr>
              <a:t>Brother(Richard, John)</a:t>
            </a:r>
          </a:p>
          <a:p>
            <a:pPr lvl="1"/>
            <a:r>
              <a:rPr lang="zh-CN" altLang="en-US" dirty="0">
                <a:latin typeface="Aa花间辞楷书 (非商业使用)" panose="02010600010101010101" pitchFamily="2" charset="-122"/>
                <a:ea typeface="Aa花间辞楷书 (非商业使用)" panose="02010600010101010101" pitchFamily="2" charset="-122"/>
              </a:rPr>
              <a:t>（</a:t>
            </a:r>
            <a:r>
              <a:rPr lang="en-US" altLang="zh-CN" dirty="0">
                <a:latin typeface="Aa花间辞楷书 (非商业使用)" panose="02010600010101010101" pitchFamily="2" charset="-122"/>
                <a:ea typeface="Aa花间辞楷书 (非商业使用)" panose="02010600010101010101" pitchFamily="2" charset="-122"/>
              </a:rPr>
              <a:t>1</a:t>
            </a:r>
            <a:r>
              <a:rPr lang="zh-CN" altLang="en-US" dirty="0">
                <a:latin typeface="Aa花间辞楷书 (非商业使用)" panose="02010600010101010101" pitchFamily="2" charset="-122"/>
                <a:ea typeface="Aa花间辞楷书 (非商业使用)" panose="02010600010101010101" pitchFamily="2" charset="-122"/>
              </a:rPr>
              <a:t>）用</a:t>
            </a:r>
            <a:r>
              <a:rPr lang="zh-CN" altLang="en-US" dirty="0">
                <a:solidFill>
                  <a:srgbClr val="FF0000"/>
                </a:solidFill>
                <a:latin typeface="Aa花间辞楷书 (非商业使用)" panose="02010600010101010101" pitchFamily="2" charset="-122"/>
                <a:ea typeface="Aa花间辞楷书 (非商业使用)" panose="02010600010101010101" pitchFamily="2" charset="-122"/>
              </a:rPr>
              <a:t>知识库词汇表中所有可能的基项</a:t>
            </a:r>
            <a:r>
              <a:rPr lang="zh-CN" altLang="en-US" dirty="0">
                <a:latin typeface="Aa花间辞楷书 (非商业使用)" panose="02010600010101010101" pitchFamily="2" charset="-122"/>
                <a:ea typeface="Aa花间辞楷书 (非商业使用)" panose="02010600010101010101" pitchFamily="2" charset="-122"/>
              </a:rPr>
              <a:t>对全称量化语句实例化：</a:t>
            </a:r>
          </a:p>
          <a:p>
            <a:pPr lvl="2"/>
            <a:r>
              <a:rPr lang="en-US" altLang="zh-CN" dirty="0">
                <a:latin typeface="Aa花间辞楷书 (非商业使用)" panose="02010600010101010101" pitchFamily="2" charset="-122"/>
                <a:ea typeface="Aa花间辞楷书 (非商业使用)" panose="02010600010101010101" pitchFamily="2" charset="-122"/>
              </a:rPr>
              <a:t>        </a:t>
            </a:r>
            <a:r>
              <a:rPr lang="en-US" altLang="zh-CN" sz="2400" dirty="0">
                <a:latin typeface="Aa花间辞楷书 (非商业使用)" panose="02010600010101010101" pitchFamily="2" charset="-122"/>
                <a:ea typeface="Aa花间辞楷书 (非商业使用)" panose="02010600010101010101" pitchFamily="2" charset="-122"/>
              </a:rPr>
              <a:t>King(John) </a:t>
            </a:r>
            <a:r>
              <a:rPr lang="en-US" altLang="zh-CN" sz="2400" dirty="0">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latin typeface="Aa花间辞楷书 (非商业使用)" panose="02010600010101010101" pitchFamily="2" charset="-122"/>
                <a:ea typeface="Aa花间辞楷书 (非商业使用)" panose="02010600010101010101" pitchFamily="2" charset="-122"/>
              </a:rPr>
              <a:t> Greedy(John) </a:t>
            </a:r>
            <a:r>
              <a:rPr lang="en-US" altLang="zh-CN" sz="2400" dirty="0">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latin typeface="Aa花间辞楷书 (非商业使用)" panose="02010600010101010101" pitchFamily="2" charset="-122"/>
                <a:ea typeface="Aa花间辞楷书 (非商业使用)" panose="02010600010101010101" pitchFamily="2" charset="-122"/>
              </a:rPr>
              <a:t> Evil(John)</a:t>
            </a:r>
          </a:p>
          <a:p>
            <a:pPr lvl="1">
              <a:lnSpc>
                <a:spcPct val="120000"/>
              </a:lnSpc>
              <a:buFontTx/>
              <a:buNone/>
            </a:pPr>
            <a:r>
              <a:rPr lang="en-US" altLang="zh-CN" sz="2400" dirty="0">
                <a:latin typeface="Aa花间辞楷书 (非商业使用)" panose="02010600010101010101" pitchFamily="2" charset="-122"/>
                <a:ea typeface="Aa花间辞楷书 (非商业使用)" panose="02010600010101010101" pitchFamily="2" charset="-122"/>
              </a:rPr>
              <a:t>       King(Richard) </a:t>
            </a:r>
            <a:r>
              <a:rPr lang="en-US" altLang="zh-CN" sz="2400" dirty="0">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latin typeface="Aa花间辞楷书 (非商业使用)" panose="02010600010101010101" pitchFamily="2" charset="-122"/>
                <a:ea typeface="Aa花间辞楷书 (非商业使用)" panose="02010600010101010101" pitchFamily="2" charset="-122"/>
              </a:rPr>
              <a:t> Greedy(Richard) </a:t>
            </a:r>
            <a:r>
              <a:rPr lang="en-US" altLang="zh-CN" sz="2400" dirty="0">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latin typeface="Aa花间辞楷书 (非商业使用)" panose="02010600010101010101" pitchFamily="2" charset="-122"/>
                <a:ea typeface="Aa花间辞楷书 (非商业使用)" panose="02010600010101010101" pitchFamily="2" charset="-122"/>
              </a:rPr>
              <a:t> Evil(Richard)</a:t>
            </a:r>
          </a:p>
          <a:p>
            <a:pPr lvl="1">
              <a:lnSpc>
                <a:spcPct val="120000"/>
              </a:lnSpc>
              <a:buFontTx/>
              <a:buNone/>
            </a:pPr>
            <a:r>
              <a:rPr lang="en-US" altLang="zh-CN" sz="2400" dirty="0">
                <a:latin typeface="Aa花间辞楷书 (非商业使用)" panose="02010600010101010101" pitchFamily="2" charset="-122"/>
                <a:ea typeface="Aa花间辞楷书 (非商业使用)" panose="02010600010101010101" pitchFamily="2" charset="-122"/>
              </a:rPr>
              <a:t>   King(John)</a:t>
            </a:r>
            <a:r>
              <a:rPr lang="zh-CN" altLang="en-US" sz="2400" dirty="0">
                <a:latin typeface="Aa花间辞楷书 (非商业使用)" panose="02010600010101010101" pitchFamily="2" charset="-122"/>
                <a:ea typeface="Aa花间辞楷书 (非商业使用)" panose="02010600010101010101" pitchFamily="2" charset="-122"/>
              </a:rPr>
              <a:t>，</a:t>
            </a:r>
            <a:r>
              <a:rPr lang="en-US" altLang="zh-CN" sz="2400" dirty="0">
                <a:latin typeface="Aa花间辞楷书 (非商业使用)" panose="02010600010101010101" pitchFamily="2" charset="-122"/>
                <a:ea typeface="Aa花间辞楷书 (非商业使用)" panose="02010600010101010101" pitchFamily="2" charset="-122"/>
              </a:rPr>
              <a:t>Greedy(John)</a:t>
            </a:r>
            <a:r>
              <a:rPr lang="zh-CN" altLang="en-US" sz="2400" dirty="0">
                <a:latin typeface="Aa花间辞楷书 (非商业使用)" panose="02010600010101010101" pitchFamily="2" charset="-122"/>
                <a:ea typeface="Aa花间辞楷书 (非商业使用)" panose="02010600010101010101" pitchFamily="2" charset="-122"/>
              </a:rPr>
              <a:t>，</a:t>
            </a:r>
            <a:r>
              <a:rPr lang="en-US" altLang="zh-CN" sz="2400" dirty="0">
                <a:latin typeface="Aa花间辞楷书 (非商业使用)" panose="02010600010101010101" pitchFamily="2" charset="-122"/>
                <a:ea typeface="Aa花间辞楷书 (非商业使用)" panose="02010600010101010101" pitchFamily="2" charset="-122"/>
              </a:rPr>
              <a:t>Brother(Richard, John)</a:t>
            </a:r>
          </a:p>
          <a:p>
            <a:pPr lvl="1"/>
            <a:r>
              <a:rPr lang="zh-CN" altLang="en-US" dirty="0">
                <a:latin typeface="Aa花间辞楷书 (非商业使用)" panose="02010600010101010101" pitchFamily="2" charset="-122"/>
                <a:ea typeface="Aa花间辞楷书 (非商业使用)" panose="02010600010101010101" pitchFamily="2" charset="-122"/>
              </a:rPr>
              <a:t>（</a:t>
            </a:r>
            <a:r>
              <a:rPr lang="en-US" altLang="zh-CN" dirty="0">
                <a:latin typeface="Aa花间辞楷书 (非商业使用)" panose="02010600010101010101" pitchFamily="2" charset="-122"/>
                <a:ea typeface="Aa花间辞楷书 (非商业使用)" panose="02010600010101010101" pitchFamily="2" charset="-122"/>
              </a:rPr>
              <a:t>2</a:t>
            </a:r>
            <a:r>
              <a:rPr lang="zh-CN" altLang="en-US" dirty="0">
                <a:latin typeface="Aa花间辞楷书 (非商业使用)" panose="02010600010101010101" pitchFamily="2" charset="-122"/>
                <a:ea typeface="Aa花间辞楷书 (非商业使用)" panose="02010600010101010101" pitchFamily="2" charset="-122"/>
              </a:rPr>
              <a:t>）引入</a:t>
            </a:r>
            <a:r>
              <a:rPr lang="zh-CN" altLang="en-US" dirty="0">
                <a:solidFill>
                  <a:srgbClr val="FF0000"/>
                </a:solidFill>
                <a:latin typeface="Aa花间辞楷书 (非商业使用)" panose="02010600010101010101" pitchFamily="2" charset="-122"/>
                <a:ea typeface="Aa花间辞楷书 (非商业使用)" panose="02010600010101010101" pitchFamily="2" charset="-122"/>
              </a:rPr>
              <a:t>新常量</a:t>
            </a:r>
            <a:r>
              <a:rPr lang="zh-CN" altLang="en-US" dirty="0">
                <a:latin typeface="Aa花间辞楷书 (非商业使用)" panose="02010600010101010101" pitchFamily="2" charset="-122"/>
                <a:ea typeface="Aa花间辞楷书 (非商业使用)" panose="02010600010101010101" pitchFamily="2" charset="-122"/>
              </a:rPr>
              <a:t>，对存在量词的语句实例化，新知识库是命题化的，命题符号为：</a:t>
            </a:r>
          </a:p>
          <a:p>
            <a:pPr lvl="2" algn="ctr"/>
            <a:r>
              <a:rPr lang="en-US" altLang="zh-CN" sz="2400" dirty="0">
                <a:latin typeface="Aa花间辞楷书 (非商业使用)" panose="02010600010101010101" pitchFamily="2" charset="-122"/>
                <a:ea typeface="Aa花间辞楷书 (非商业使用)" panose="02010600010101010101" pitchFamily="2" charset="-122"/>
              </a:rPr>
              <a:t>King(Ada)，Greedy(Mike)，Evil(Tracy)，King(McGrady)</a:t>
            </a:r>
            <a:r>
              <a:rPr lang="zh-CN" altLang="en-US" sz="2400" dirty="0">
                <a:latin typeface="Aa花间辞楷书 (非商业使用)" panose="02010600010101010101" pitchFamily="2" charset="-122"/>
                <a:ea typeface="Aa花间辞楷书 (非商业使用)" panose="02010600010101010101" pitchFamily="2" charset="-122"/>
              </a:rPr>
              <a:t>等</a:t>
            </a:r>
            <a:endParaRPr lang="en-US" altLang="zh-CN" sz="2400" dirty="0">
              <a:latin typeface="Aa花间辞楷书 (非商业使用)" panose="02010600010101010101" pitchFamily="2" charset="-122"/>
              <a:ea typeface="Aa花间辞楷书 (非商业使用)" panose="02010600010101010101" pitchFamily="2" charset="-122"/>
            </a:endParaRPr>
          </a:p>
          <a:p>
            <a:endParaRPr lang="zh-CN" altLang="en-US" dirty="0"/>
          </a:p>
        </p:txBody>
      </p:sp>
    </p:spTree>
    <p:extLst>
      <p:ext uri="{BB962C8B-B14F-4D97-AF65-F5344CB8AC3E}">
        <p14:creationId xmlns:p14="http://schemas.microsoft.com/office/powerpoint/2010/main" val="1661148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8A426-A3A0-0616-6B07-4D2F2C8E3E74}"/>
              </a:ext>
            </a:extLst>
          </p:cNvPr>
          <p:cNvSpPr>
            <a:spLocks noGrp="1"/>
          </p:cNvSpPr>
          <p:nvPr>
            <p:ph type="title"/>
          </p:nvPr>
        </p:nvSpPr>
        <p:spPr/>
        <p:txBody>
          <a:bodyPr/>
          <a:lstStyle/>
          <a:p>
            <a:r>
              <a:rPr lang="en-US" altLang="zh-CN" dirty="0"/>
              <a:t>9.1 </a:t>
            </a:r>
            <a:r>
              <a:rPr lang="zh-CN" altLang="en-US" dirty="0"/>
              <a:t>一阶逻辑命题化</a:t>
            </a:r>
          </a:p>
        </p:txBody>
      </p:sp>
      <p:sp>
        <p:nvSpPr>
          <p:cNvPr id="3" name="内容占位符 2">
            <a:extLst>
              <a:ext uri="{FF2B5EF4-FFF2-40B4-BE49-F238E27FC236}">
                <a16:creationId xmlns:a16="http://schemas.microsoft.com/office/drawing/2014/main" id="{655496D2-D7D1-E390-CD75-E7F51B05DC8E}"/>
              </a:ext>
            </a:extLst>
          </p:cNvPr>
          <p:cNvSpPr>
            <a:spLocks noGrp="1"/>
          </p:cNvSpPr>
          <p:nvPr>
            <p:ph idx="1"/>
          </p:nvPr>
        </p:nvSpPr>
        <p:spPr/>
        <p:txBody>
          <a:bodyPr/>
          <a:lstStyle/>
          <a:p>
            <a:r>
              <a:rPr lang="zh-CN" altLang="en-US" dirty="0"/>
              <a:t>命题化需要注意：</a:t>
            </a:r>
            <a:endParaRPr lang="en-US" altLang="zh-CN" dirty="0"/>
          </a:p>
          <a:p>
            <a:pPr lvl="1"/>
            <a:r>
              <a:rPr lang="en-US" altLang="zh-CN" dirty="0">
                <a:latin typeface="Aa花间辞楷书 (非商业使用)" panose="02010600010101010101" pitchFamily="2" charset="-122"/>
                <a:ea typeface="Aa花间辞楷书 (非商业使用)" panose="02010600010101010101" pitchFamily="2" charset="-122"/>
              </a:rPr>
              <a:t>1</a:t>
            </a:r>
            <a:r>
              <a:rPr lang="zh-CN" altLang="en-US" dirty="0">
                <a:latin typeface="Aa花间辞楷书 (非商业使用)" panose="02010600010101010101" pitchFamily="2" charset="-122"/>
                <a:ea typeface="Aa花间辞楷书 (非商业使用)" panose="02010600010101010101" pitchFamily="2" charset="-122"/>
              </a:rPr>
              <a:t>）</a:t>
            </a:r>
            <a:r>
              <a:rPr lang="zh-CN" altLang="en-US" sz="2400" dirty="0">
                <a:latin typeface="Aa花间辞楷书 (非商业使用)" panose="02010600010101010101" pitchFamily="2" charset="-122"/>
                <a:ea typeface="Aa花间辞楷书 (非商业使用)" panose="02010600010101010101" pitchFamily="2" charset="-122"/>
              </a:rPr>
              <a:t>如果</a:t>
            </a:r>
            <a:r>
              <a:rPr lang="en-US" altLang="zh-CN" sz="2400" dirty="0">
                <a:latin typeface="Aa花间辞楷书 (非商业使用)" panose="02010600010101010101" pitchFamily="2" charset="-122"/>
                <a:ea typeface="Aa花间辞楷书 (非商业使用)" panose="02010600010101010101" pitchFamily="2" charset="-122"/>
              </a:rPr>
              <a:t>KB</a:t>
            </a:r>
            <a:r>
              <a:rPr lang="zh-CN" altLang="en-US" sz="2400" dirty="0">
                <a:latin typeface="Aa花间辞楷书 (非商业使用)" panose="02010600010101010101" pitchFamily="2" charset="-122"/>
                <a:ea typeface="Aa花间辞楷书 (非商业使用)" panose="02010600010101010101" pitchFamily="2" charset="-122"/>
              </a:rPr>
              <a:t>包含</a:t>
            </a:r>
            <a:r>
              <a:rPr lang="zh-CN" altLang="en-US" sz="2400" dirty="0">
                <a:solidFill>
                  <a:srgbClr val="FF0000"/>
                </a:solidFill>
                <a:latin typeface="Aa花间辞楷书 (非商业使用)" panose="02010600010101010101" pitchFamily="2" charset="-122"/>
                <a:ea typeface="Aa花间辞楷书 (非商业使用)" panose="02010600010101010101" pitchFamily="2" charset="-122"/>
              </a:rPr>
              <a:t>函数</a:t>
            </a:r>
            <a:r>
              <a:rPr lang="zh-CN" altLang="en-US" sz="2400" dirty="0">
                <a:latin typeface="Aa花间辞楷书 (非商业使用)" panose="02010600010101010101" pitchFamily="2" charset="-122"/>
                <a:ea typeface="Aa花间辞楷书 (非商业使用)" panose="02010600010101010101" pitchFamily="2" charset="-122"/>
              </a:rPr>
              <a:t>符号，则可产生无穷多个基础项</a:t>
            </a:r>
            <a:endParaRPr lang="en-US" altLang="zh-CN" sz="2400" dirty="0">
              <a:latin typeface="Aa花间辞楷书 (非商业使用)" panose="02010600010101010101" pitchFamily="2" charset="-122"/>
              <a:ea typeface="Aa花间辞楷书 (非商业使用)" panose="02010600010101010101" pitchFamily="2" charset="-122"/>
            </a:endParaRPr>
          </a:p>
          <a:p>
            <a:pPr lvl="1">
              <a:lnSpc>
                <a:spcPct val="120000"/>
              </a:lnSpc>
            </a:pPr>
            <a:r>
              <a:rPr lang="zh-CN" altLang="en-US" dirty="0">
                <a:latin typeface="Aa花间辞楷书 (非商业使用)" panose="02010600010101010101" pitchFamily="2" charset="-122"/>
                <a:ea typeface="Aa花间辞楷书 (非商业使用)" panose="02010600010101010101" pitchFamily="2" charset="-122"/>
              </a:rPr>
              <a:t>例如，</a:t>
            </a:r>
            <a:r>
              <a:rPr lang="en-US" altLang="zh-CN" i="1" dirty="0">
                <a:solidFill>
                  <a:srgbClr val="C00000"/>
                </a:solidFill>
                <a:latin typeface="Aa花间辞楷书 (非商业使用)" panose="02010600010101010101" pitchFamily="2" charset="-122"/>
                <a:ea typeface="Aa花间辞楷书 (非商业使用)" panose="02010600010101010101" pitchFamily="2" charset="-122"/>
              </a:rPr>
              <a:t>Father</a:t>
            </a:r>
            <a:r>
              <a:rPr lang="en-US" altLang="zh-CN" dirty="0">
                <a:solidFill>
                  <a:srgbClr val="C00000"/>
                </a:solidFill>
                <a:latin typeface="Aa花间辞楷书 (非商业使用)" panose="02010600010101010101" pitchFamily="2" charset="-122"/>
                <a:ea typeface="Aa花间辞楷书 (非商业使用)" panose="02010600010101010101" pitchFamily="2" charset="-122"/>
              </a:rPr>
              <a:t>(</a:t>
            </a:r>
            <a:r>
              <a:rPr lang="en-US" altLang="zh-CN" i="1" dirty="0">
                <a:solidFill>
                  <a:srgbClr val="C00000"/>
                </a:solidFill>
                <a:latin typeface="Aa花间辞楷书 (非商业使用)" panose="02010600010101010101" pitchFamily="2" charset="-122"/>
                <a:ea typeface="Aa花间辞楷书 (非商业使用)" panose="02010600010101010101" pitchFamily="2" charset="-122"/>
              </a:rPr>
              <a:t>Father</a:t>
            </a:r>
            <a:r>
              <a:rPr lang="en-US" altLang="zh-CN" dirty="0">
                <a:solidFill>
                  <a:srgbClr val="C00000"/>
                </a:solidFill>
                <a:latin typeface="Aa花间辞楷书 (非商业使用)" panose="02010600010101010101" pitchFamily="2" charset="-122"/>
                <a:ea typeface="Aa花间辞楷书 (非商业使用)" panose="02010600010101010101" pitchFamily="2" charset="-122"/>
              </a:rPr>
              <a:t>(</a:t>
            </a:r>
            <a:r>
              <a:rPr lang="en-US" altLang="zh-CN" i="1" dirty="0">
                <a:solidFill>
                  <a:srgbClr val="C00000"/>
                </a:solidFill>
                <a:latin typeface="Aa花间辞楷书 (非商业使用)" panose="02010600010101010101" pitchFamily="2" charset="-122"/>
                <a:ea typeface="Aa花间辞楷书 (非商业使用)" panose="02010600010101010101" pitchFamily="2" charset="-122"/>
              </a:rPr>
              <a:t>Father</a:t>
            </a:r>
            <a:r>
              <a:rPr lang="en-US" altLang="zh-CN" dirty="0">
                <a:solidFill>
                  <a:srgbClr val="C00000"/>
                </a:solidFill>
                <a:latin typeface="Aa花间辞楷书 (非商业使用)" panose="02010600010101010101" pitchFamily="2" charset="-122"/>
                <a:ea typeface="Aa花间辞楷书 (非商业使用)" panose="02010600010101010101" pitchFamily="2" charset="-122"/>
              </a:rPr>
              <a:t>(</a:t>
            </a:r>
            <a:r>
              <a:rPr lang="en-US" altLang="zh-CN" i="1" dirty="0">
                <a:solidFill>
                  <a:srgbClr val="C00000"/>
                </a:solidFill>
                <a:latin typeface="Aa花间辞楷书 (非商业使用)" panose="02010600010101010101" pitchFamily="2" charset="-122"/>
                <a:ea typeface="Aa花间辞楷书 (非商业使用)" panose="02010600010101010101" pitchFamily="2" charset="-122"/>
              </a:rPr>
              <a:t>John</a:t>
            </a:r>
            <a:r>
              <a:rPr lang="en-US" altLang="zh-CN" dirty="0">
                <a:solidFill>
                  <a:srgbClr val="C00000"/>
                </a:solidFill>
                <a:latin typeface="Aa花间辞楷书 (非商业使用)" panose="02010600010101010101" pitchFamily="2" charset="-122"/>
                <a:ea typeface="Aa花间辞楷书 (非商业使用)" panose="02010600010101010101" pitchFamily="2" charset="-122"/>
              </a:rPr>
              <a:t>)))</a:t>
            </a:r>
          </a:p>
          <a:p>
            <a:pPr lvl="1"/>
            <a:r>
              <a:rPr lang="en-US" altLang="zh-CN" dirty="0">
                <a:latin typeface="Aa花间辞楷书 (非商业使用)" panose="02010600010101010101" pitchFamily="2" charset="-122"/>
                <a:ea typeface="Aa花间辞楷书 (非商业使用)" panose="02010600010101010101" pitchFamily="2" charset="-122"/>
              </a:rPr>
              <a:t>2</a:t>
            </a:r>
            <a:r>
              <a:rPr lang="zh-CN" altLang="en-US" dirty="0">
                <a:latin typeface="Aa花间辞楷书 (非商业使用)" panose="02010600010101010101" pitchFamily="2" charset="-122"/>
                <a:ea typeface="Aa花间辞楷书 (非商业使用)" panose="02010600010101010101" pitchFamily="2" charset="-122"/>
              </a:rPr>
              <a:t>）</a:t>
            </a:r>
            <a:r>
              <a:rPr lang="zh-CN" altLang="en-US" sz="2400" dirty="0">
                <a:latin typeface="Aa花间辞楷书 (非商业使用)" panose="02010600010101010101" pitchFamily="2" charset="-122"/>
                <a:ea typeface="Aa花间辞楷书 (非商业使用)" panose="02010600010101010101" pitchFamily="2" charset="-122"/>
              </a:rPr>
              <a:t>命题化产生很多</a:t>
            </a:r>
            <a:r>
              <a:rPr lang="zh-CN" altLang="en-US" sz="2400" dirty="0">
                <a:solidFill>
                  <a:srgbClr val="FF0000"/>
                </a:solidFill>
                <a:latin typeface="Aa花间辞楷书 (非商业使用)" panose="02010600010101010101" pitchFamily="2" charset="-122"/>
                <a:ea typeface="Aa花间辞楷书 (非商业使用)" panose="02010600010101010101" pitchFamily="2" charset="-122"/>
              </a:rPr>
              <a:t>不相关</a:t>
            </a:r>
            <a:r>
              <a:rPr lang="zh-CN" altLang="en-US" sz="2400" dirty="0">
                <a:latin typeface="Aa花间辞楷书 (非商业使用)" panose="02010600010101010101" pitchFamily="2" charset="-122"/>
                <a:ea typeface="Aa花间辞楷书 (非商业使用)" panose="02010600010101010101" pitchFamily="2" charset="-122"/>
              </a:rPr>
              <a:t>的语句，如： </a:t>
            </a:r>
            <a:endParaRPr lang="en-US" altLang="zh-CN" sz="2400" dirty="0">
              <a:latin typeface="Aa花间辞楷书 (非商业使用)" panose="02010600010101010101" pitchFamily="2" charset="-122"/>
              <a:ea typeface="Aa花间辞楷书 (非商业使用)" panose="02010600010101010101" pitchFamily="2" charset="-122"/>
            </a:endParaRPr>
          </a:p>
          <a:p>
            <a:pPr lvl="2"/>
            <a:r>
              <a:rPr lang="en-US" altLang="zh-CN" dirty="0">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dirty="0">
                <a:latin typeface="Aa花间辞楷书 (非商业使用)" panose="02010600010101010101" pitchFamily="2" charset="-122"/>
                <a:ea typeface="Aa花间辞楷书 (非商业使用)" panose="02010600010101010101" pitchFamily="2" charset="-122"/>
              </a:rPr>
              <a:t>x King(x) </a:t>
            </a:r>
            <a:r>
              <a:rPr lang="en-US" altLang="zh-CN" dirty="0">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latin typeface="Aa花间辞楷书 (非商业使用)" panose="02010600010101010101" pitchFamily="2" charset="-122"/>
                <a:ea typeface="Aa花间辞楷书 (非商业使用)" panose="02010600010101010101" pitchFamily="2" charset="-122"/>
              </a:rPr>
              <a:t> Greedy(x) </a:t>
            </a:r>
            <a:r>
              <a:rPr lang="en-US" altLang="zh-CN" dirty="0">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latin typeface="Aa花间辞楷书 (非商业使用)" panose="02010600010101010101" pitchFamily="2" charset="-122"/>
                <a:ea typeface="Aa花间辞楷书 (非商业使用)" panose="02010600010101010101" pitchFamily="2" charset="-122"/>
              </a:rPr>
              <a:t> Evil(x)</a:t>
            </a:r>
          </a:p>
          <a:p>
            <a:pPr lvl="2"/>
            <a:r>
              <a:rPr lang="en-US" altLang="zh-CN" dirty="0">
                <a:latin typeface="Aa花间辞楷书 (非商业使用)" panose="02010600010101010101" pitchFamily="2" charset="-122"/>
                <a:ea typeface="Aa花间辞楷书 (非商业使用)" panose="02010600010101010101" pitchFamily="2" charset="-122"/>
              </a:rPr>
              <a:t>  King(John)</a:t>
            </a:r>
            <a:r>
              <a:rPr lang="zh-CN" altLang="en-US" dirty="0">
                <a:latin typeface="Aa花间辞楷书 (非商业使用)" panose="02010600010101010101" pitchFamily="2" charset="-122"/>
                <a:ea typeface="Aa花间辞楷书 (非商业使用)" panose="02010600010101010101" pitchFamily="2" charset="-122"/>
              </a:rPr>
              <a:t>、</a:t>
            </a:r>
            <a:r>
              <a:rPr lang="en-US" altLang="zh-CN" dirty="0">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dirty="0">
                <a:latin typeface="Aa花间辞楷书 (非商业使用)" panose="02010600010101010101" pitchFamily="2" charset="-122"/>
                <a:ea typeface="Aa花间辞楷书 (非商业使用)" panose="02010600010101010101" pitchFamily="2" charset="-122"/>
              </a:rPr>
              <a:t>y Greedy(y)</a:t>
            </a:r>
          </a:p>
          <a:p>
            <a:pPr lvl="2"/>
            <a:r>
              <a:rPr lang="en-US" altLang="zh-CN" dirty="0">
                <a:latin typeface="Aa花间辞楷书 (非商业使用)" panose="02010600010101010101" pitchFamily="2" charset="-122"/>
                <a:ea typeface="Aa花间辞楷书 (非商业使用)" panose="02010600010101010101" pitchFamily="2" charset="-122"/>
              </a:rPr>
              <a:t>  Brother(Richard, John)</a:t>
            </a:r>
          </a:p>
          <a:p>
            <a:pPr lvl="1"/>
            <a:r>
              <a:rPr lang="zh-CN" altLang="en-US" sz="2400" dirty="0">
                <a:latin typeface="Aa花间辞楷书 (非商业使用)" panose="02010600010101010101" pitchFamily="2" charset="-122"/>
                <a:ea typeface="Aa花间辞楷书 (非商业使用)" panose="02010600010101010101" pitchFamily="2" charset="-122"/>
              </a:rPr>
              <a:t>  蕴涵</a:t>
            </a:r>
            <a:r>
              <a:rPr lang="en-US" altLang="zh-CN" sz="2400" i="1" dirty="0">
                <a:latin typeface="Aa花间辞楷书 (非商业使用)" panose="02010600010101010101" pitchFamily="2" charset="-122"/>
                <a:ea typeface="Aa花间辞楷书 (非商业使用)" panose="02010600010101010101" pitchFamily="2" charset="-122"/>
              </a:rPr>
              <a:t>Evil</a:t>
            </a:r>
            <a:r>
              <a:rPr lang="en-US" altLang="zh-CN" sz="2400" dirty="0">
                <a:latin typeface="Aa花间辞楷书 (非商业使用)" panose="02010600010101010101" pitchFamily="2" charset="-122"/>
                <a:ea typeface="Aa花间辞楷书 (非商业使用)" panose="02010600010101010101" pitchFamily="2" charset="-122"/>
              </a:rPr>
              <a:t>(</a:t>
            </a:r>
            <a:r>
              <a:rPr lang="en-US" altLang="zh-CN" sz="2400" i="1" dirty="0">
                <a:latin typeface="Aa花间辞楷书 (非商业使用)" panose="02010600010101010101" pitchFamily="2" charset="-122"/>
                <a:ea typeface="Aa花间辞楷书 (非商业使用)" panose="02010600010101010101" pitchFamily="2" charset="-122"/>
              </a:rPr>
              <a:t>John</a:t>
            </a:r>
            <a:r>
              <a:rPr lang="en-US" altLang="zh-CN" sz="2400" dirty="0">
                <a:latin typeface="Aa花间辞楷书 (非商业使用)" panose="02010600010101010101" pitchFamily="2" charset="-122"/>
                <a:ea typeface="Aa花间辞楷书 (非商业使用)" panose="02010600010101010101" pitchFamily="2" charset="-122"/>
              </a:rPr>
              <a:t>)</a:t>
            </a:r>
            <a:r>
              <a:rPr lang="zh-CN" altLang="en-US" sz="2400" dirty="0">
                <a:latin typeface="Aa花间辞楷书 (非商业使用)" panose="02010600010101010101" pitchFamily="2" charset="-122"/>
                <a:ea typeface="Aa花间辞楷书 (非商业使用)" panose="02010600010101010101" pitchFamily="2" charset="-122"/>
              </a:rPr>
              <a:t>，也产生不相关事实</a:t>
            </a:r>
            <a:r>
              <a:rPr lang="en-US" altLang="zh-CN" sz="2400" i="1" dirty="0">
                <a:latin typeface="Aa花间辞楷书 (非商业使用)" panose="02010600010101010101" pitchFamily="2" charset="-122"/>
                <a:ea typeface="Aa花间辞楷书 (非商业使用)" panose="02010600010101010101" pitchFamily="2" charset="-122"/>
              </a:rPr>
              <a:t>Greedy</a:t>
            </a:r>
            <a:r>
              <a:rPr lang="en-US" altLang="zh-CN" sz="2400" dirty="0">
                <a:latin typeface="Aa花间辞楷书 (非商业使用)" panose="02010600010101010101" pitchFamily="2" charset="-122"/>
                <a:ea typeface="Aa花间辞楷书 (非商业使用)" panose="02010600010101010101" pitchFamily="2" charset="-122"/>
              </a:rPr>
              <a:t>(</a:t>
            </a:r>
            <a:r>
              <a:rPr lang="en-US" altLang="zh-CN" sz="2400" i="1" dirty="0">
                <a:latin typeface="Aa花间辞楷书 (非商业使用)" panose="02010600010101010101" pitchFamily="2" charset="-122"/>
                <a:ea typeface="Aa花间辞楷书 (非商业使用)" panose="02010600010101010101" pitchFamily="2" charset="-122"/>
              </a:rPr>
              <a:t>Richard</a:t>
            </a:r>
            <a:r>
              <a:rPr lang="en-US" altLang="zh-CN" sz="2400" dirty="0">
                <a:latin typeface="Aa花间辞楷书 (非商业使用)" panose="02010600010101010101" pitchFamily="2" charset="-122"/>
                <a:ea typeface="Aa花间辞楷书 (非商业使用)" panose="02010600010101010101" pitchFamily="2" charset="-122"/>
              </a:rPr>
              <a:t>)</a:t>
            </a:r>
            <a:endParaRPr lang="zh-CN" altLang="en-US" sz="2400" dirty="0">
              <a:latin typeface="Aa花间辞楷书 (非商业使用)" panose="02010600010101010101" pitchFamily="2" charset="-122"/>
              <a:ea typeface="Aa花间辞楷书 (非商业使用)" panose="02010600010101010101" pitchFamily="2" charset="-122"/>
            </a:endParaRPr>
          </a:p>
          <a:p>
            <a:pPr lvl="1">
              <a:lnSpc>
                <a:spcPct val="120000"/>
              </a:lnSpc>
            </a:pPr>
            <a:endParaRPr lang="en-US" altLang="zh-CN" dirty="0"/>
          </a:p>
          <a:p>
            <a:endParaRPr lang="zh-CN" altLang="en-US" dirty="0"/>
          </a:p>
        </p:txBody>
      </p:sp>
    </p:spTree>
    <p:extLst>
      <p:ext uri="{BB962C8B-B14F-4D97-AF65-F5344CB8AC3E}">
        <p14:creationId xmlns:p14="http://schemas.microsoft.com/office/powerpoint/2010/main" val="1579825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8A426-A3A0-0616-6B07-4D2F2C8E3E74}"/>
              </a:ext>
            </a:extLst>
          </p:cNvPr>
          <p:cNvSpPr>
            <a:spLocks noGrp="1"/>
          </p:cNvSpPr>
          <p:nvPr>
            <p:ph type="title"/>
          </p:nvPr>
        </p:nvSpPr>
        <p:spPr/>
        <p:txBody>
          <a:bodyPr/>
          <a:lstStyle/>
          <a:p>
            <a:r>
              <a:rPr lang="en-US" altLang="zh-CN" dirty="0"/>
              <a:t>9.1 </a:t>
            </a:r>
            <a:r>
              <a:rPr lang="zh-CN" altLang="en-US" dirty="0"/>
              <a:t>一阶逻辑命题化</a:t>
            </a:r>
          </a:p>
        </p:txBody>
      </p:sp>
      <p:sp>
        <p:nvSpPr>
          <p:cNvPr id="3" name="内容占位符 2">
            <a:extLst>
              <a:ext uri="{FF2B5EF4-FFF2-40B4-BE49-F238E27FC236}">
                <a16:creationId xmlns:a16="http://schemas.microsoft.com/office/drawing/2014/main" id="{655496D2-D7D1-E390-CD75-E7F51B05DC8E}"/>
              </a:ext>
            </a:extLst>
          </p:cNvPr>
          <p:cNvSpPr>
            <a:spLocks noGrp="1"/>
          </p:cNvSpPr>
          <p:nvPr>
            <p:ph idx="1"/>
          </p:nvPr>
        </p:nvSpPr>
        <p:spPr/>
        <p:txBody>
          <a:bodyPr/>
          <a:lstStyle/>
          <a:p>
            <a:r>
              <a:rPr lang="en-US" altLang="zh-CN" dirty="0"/>
              <a:t>6.</a:t>
            </a:r>
            <a:r>
              <a:rPr lang="zh-CN" altLang="en-US" dirty="0"/>
              <a:t>一阶逻辑的半可判定性</a:t>
            </a:r>
            <a:endParaRPr lang="en-US" altLang="zh-CN" dirty="0"/>
          </a:p>
          <a:p>
            <a:pPr lvl="1"/>
            <a:r>
              <a:rPr lang="zh-CN" altLang="en-US" dirty="0">
                <a:latin typeface="Aa花间辞楷书 (非商业使用)" panose="02010600010101010101" pitchFamily="2" charset="-122"/>
                <a:ea typeface="Aa花间辞楷书 (非商业使用)" panose="02010600010101010101" pitchFamily="2" charset="-122"/>
              </a:rPr>
              <a:t>（</a:t>
            </a:r>
            <a:r>
              <a:rPr lang="en-US" altLang="zh-CN" dirty="0">
                <a:latin typeface="Aa花间辞楷书 (非商业使用)" panose="02010600010101010101" pitchFamily="2" charset="-122"/>
                <a:ea typeface="Aa花间辞楷书 (非商业使用)" panose="02010600010101010101" pitchFamily="2" charset="-122"/>
              </a:rPr>
              <a:t>1</a:t>
            </a:r>
            <a:r>
              <a:rPr lang="zh-CN" altLang="en-US" dirty="0">
                <a:latin typeface="Aa花间辞楷书 (非商业使用)" panose="02010600010101010101" pitchFamily="2" charset="-122"/>
                <a:ea typeface="Aa花间辞楷书 (非商业使用)" panose="02010600010101010101" pitchFamily="2" charset="-122"/>
              </a:rPr>
              <a:t>）定理</a:t>
            </a:r>
            <a:r>
              <a:rPr lang="en-US" altLang="zh-CN" dirty="0">
                <a:latin typeface="Aa花间辞楷书 (非商业使用)" panose="02010600010101010101" pitchFamily="2" charset="-122"/>
                <a:ea typeface="Aa花间辞楷书 (非商业使用)" panose="02010600010101010101" pitchFamily="2" charset="-122"/>
              </a:rPr>
              <a:t>: </a:t>
            </a:r>
            <a:r>
              <a:rPr lang="en-US" altLang="zh-CN" dirty="0" err="1">
                <a:solidFill>
                  <a:srgbClr val="FF0000"/>
                </a:solidFill>
                <a:latin typeface="Aa花间辞楷书 (非商业使用)" panose="02010600010101010101" pitchFamily="2" charset="-122"/>
                <a:ea typeface="Aa花间辞楷书 (非商业使用)" panose="02010600010101010101" pitchFamily="2" charset="-122"/>
              </a:rPr>
              <a:t>Herbrand</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(1930). </a:t>
            </a:r>
            <a:r>
              <a:rPr lang="zh-CN" altLang="en-US" dirty="0">
                <a:latin typeface="Aa花间辞楷书 (非商业使用)" panose="02010600010101010101" pitchFamily="2" charset="-122"/>
                <a:ea typeface="Aa花间辞楷书 (非商业使用)" panose="02010600010101010101" pitchFamily="2" charset="-122"/>
              </a:rPr>
              <a:t>如果某个语句被原始的一阶逻辑知识库</a:t>
            </a:r>
            <a:r>
              <a:rPr lang="zh-CN" altLang="en-US" dirty="0">
                <a:solidFill>
                  <a:srgbClr val="FF0000"/>
                </a:solidFill>
                <a:latin typeface="Aa花间辞楷书 (非商业使用)" panose="02010600010101010101" pitchFamily="2" charset="-122"/>
                <a:ea typeface="Aa花间辞楷书 (非商业使用)" panose="02010600010101010101" pitchFamily="2" charset="-122"/>
              </a:rPr>
              <a:t>蕴涵</a:t>
            </a:r>
            <a:r>
              <a:rPr lang="zh-CN" altLang="en-US" dirty="0">
                <a:latin typeface="Aa花间辞楷书 (非商业使用)" panose="02010600010101010101" pitchFamily="2" charset="-122"/>
                <a:ea typeface="Aa花间辞楷书 (非商业使用)" panose="02010600010101010101" pitchFamily="2" charset="-122"/>
              </a:rPr>
              <a:t>，</a:t>
            </a:r>
            <a:r>
              <a:rPr lang="zh-CN" altLang="en-US" dirty="0">
                <a:solidFill>
                  <a:srgbClr val="FF0000"/>
                </a:solidFill>
                <a:latin typeface="Aa花间辞楷书 (非商业使用)" panose="02010600010101010101" pitchFamily="2" charset="-122"/>
                <a:ea typeface="Aa花间辞楷书 (非商业使用)" panose="02010600010101010101" pitchFamily="2" charset="-122"/>
              </a:rPr>
              <a:t>则</a:t>
            </a:r>
            <a:r>
              <a:rPr lang="zh-CN" altLang="en-US" dirty="0">
                <a:latin typeface="Aa花间辞楷书 (非商业使用)" panose="02010600010101010101" pitchFamily="2" charset="-122"/>
                <a:ea typeface="Aa花间辞楷书 (非商业使用)" panose="02010600010101010101" pitchFamily="2" charset="-122"/>
              </a:rPr>
              <a:t>存在一个只涉及命题化知识库的有限子集。</a:t>
            </a:r>
          </a:p>
          <a:p>
            <a:endParaRPr lang="zh-CN" altLang="en-US" dirty="0"/>
          </a:p>
        </p:txBody>
      </p:sp>
      <p:pic>
        <p:nvPicPr>
          <p:cNvPr id="4" name="图片 3">
            <a:extLst>
              <a:ext uri="{FF2B5EF4-FFF2-40B4-BE49-F238E27FC236}">
                <a16:creationId xmlns:a16="http://schemas.microsoft.com/office/drawing/2014/main" id="{C502FAC1-0419-A5A8-9507-7F86AC25E9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334" y="2611958"/>
            <a:ext cx="3264694" cy="3264694"/>
          </a:xfrm>
          <a:prstGeom prst="rect">
            <a:avLst/>
          </a:prstGeom>
        </p:spPr>
      </p:pic>
    </p:spTree>
    <p:extLst>
      <p:ext uri="{BB962C8B-B14F-4D97-AF65-F5344CB8AC3E}">
        <p14:creationId xmlns:p14="http://schemas.microsoft.com/office/powerpoint/2010/main" val="270119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8A426-A3A0-0616-6B07-4D2F2C8E3E74}"/>
              </a:ext>
            </a:extLst>
          </p:cNvPr>
          <p:cNvSpPr>
            <a:spLocks noGrp="1"/>
          </p:cNvSpPr>
          <p:nvPr>
            <p:ph type="title"/>
          </p:nvPr>
        </p:nvSpPr>
        <p:spPr/>
        <p:txBody>
          <a:bodyPr/>
          <a:lstStyle/>
          <a:p>
            <a:r>
              <a:rPr lang="en-US" altLang="zh-CN" dirty="0"/>
              <a:t>9.1 </a:t>
            </a:r>
            <a:r>
              <a:rPr lang="zh-CN" altLang="en-US" dirty="0"/>
              <a:t>一阶逻辑命题化</a:t>
            </a:r>
          </a:p>
        </p:txBody>
      </p:sp>
      <p:sp>
        <p:nvSpPr>
          <p:cNvPr id="3" name="内容占位符 2">
            <a:extLst>
              <a:ext uri="{FF2B5EF4-FFF2-40B4-BE49-F238E27FC236}">
                <a16:creationId xmlns:a16="http://schemas.microsoft.com/office/drawing/2014/main" id="{655496D2-D7D1-E390-CD75-E7F51B05DC8E}"/>
              </a:ext>
            </a:extLst>
          </p:cNvPr>
          <p:cNvSpPr>
            <a:spLocks noGrp="1"/>
          </p:cNvSpPr>
          <p:nvPr>
            <p:ph idx="1"/>
          </p:nvPr>
        </p:nvSpPr>
        <p:spPr/>
        <p:txBody>
          <a:bodyPr/>
          <a:lstStyle/>
          <a:p>
            <a:r>
              <a:rPr lang="en-US" altLang="zh-CN" dirty="0"/>
              <a:t>6.</a:t>
            </a:r>
            <a:r>
              <a:rPr lang="zh-CN" altLang="en-US" dirty="0"/>
              <a:t>一阶逻辑的半可判定性</a:t>
            </a:r>
            <a:endParaRPr lang="en-US" altLang="zh-CN" dirty="0"/>
          </a:p>
          <a:p>
            <a:pPr lvl="1"/>
            <a:r>
              <a:rPr lang="zh-CN" altLang="en-US" dirty="0">
                <a:latin typeface="Aa花间辞楷书 (非商业使用)" panose="02010600010101010101" pitchFamily="2" charset="-122"/>
                <a:ea typeface="Aa花间辞楷书 (非商业使用)" panose="02010600010101010101" pitchFamily="2" charset="-122"/>
              </a:rPr>
              <a:t>（</a:t>
            </a:r>
            <a:r>
              <a:rPr lang="en-US" altLang="zh-CN" dirty="0">
                <a:latin typeface="Aa花间辞楷书 (非商业使用)" panose="02010600010101010101" pitchFamily="2" charset="-122"/>
                <a:ea typeface="Aa花间辞楷书 (非商业使用)" panose="02010600010101010101" pitchFamily="2" charset="-122"/>
              </a:rPr>
              <a:t>2</a:t>
            </a:r>
            <a:r>
              <a:rPr lang="zh-CN" altLang="en-US" dirty="0">
                <a:latin typeface="Aa花间辞楷书 (非商业使用)" panose="02010600010101010101" pitchFamily="2" charset="-122"/>
                <a:ea typeface="Aa花间辞楷书 (非商业使用)" panose="02010600010101010101" pitchFamily="2" charset="-122"/>
              </a:rPr>
              <a:t>）（定理反过来呢？）</a:t>
            </a:r>
          </a:p>
          <a:p>
            <a:pPr lvl="1"/>
            <a:r>
              <a:rPr lang="zh-CN" altLang="en-US" dirty="0">
                <a:latin typeface="Aa花间辞楷书 (非商业使用)" panose="02010600010101010101" pitchFamily="2" charset="-122"/>
                <a:ea typeface="Aa花间辞楷书 (非商业使用)" panose="02010600010101010101" pitchFamily="2" charset="-122"/>
              </a:rPr>
              <a:t>上述思想对于一个语句是被蕴涵的情况可以构造出命题化知识库</a:t>
            </a:r>
            <a:r>
              <a:rPr lang="en-US" altLang="zh-CN" dirty="0">
                <a:latin typeface="Aa花间辞楷书 (非商业使用)" panose="02010600010101010101" pitchFamily="2" charset="-122"/>
                <a:ea typeface="Aa花间辞楷书 (非商业使用)" panose="02010600010101010101" pitchFamily="2" charset="-122"/>
              </a:rPr>
              <a:t>,</a:t>
            </a:r>
            <a:r>
              <a:rPr lang="zh-CN" altLang="en-US" dirty="0">
                <a:latin typeface="Aa花间辞楷书 (非商业使用)" panose="02010600010101010101" pitchFamily="2" charset="-122"/>
                <a:ea typeface="Aa花间辞楷书 (非商业使用)" panose="02010600010101010101" pitchFamily="2" charset="-122"/>
              </a:rPr>
              <a:t>但并</a:t>
            </a:r>
            <a:r>
              <a:rPr lang="zh-CN" altLang="en-US" dirty="0">
                <a:solidFill>
                  <a:srgbClr val="FF0000"/>
                </a:solidFill>
                <a:latin typeface="Aa花间辞楷书 (非商业使用)" panose="02010600010101010101" pitchFamily="2" charset="-122"/>
                <a:ea typeface="Aa花间辞楷书 (非商业使用)" panose="02010600010101010101" pitchFamily="2" charset="-122"/>
              </a:rPr>
              <a:t>不知道一个语句是否被蕴涵</a:t>
            </a:r>
            <a:r>
              <a:rPr lang="zh-CN" altLang="en-US" dirty="0">
                <a:latin typeface="Aa花间辞楷书 (非商业使用)" panose="02010600010101010101" pitchFamily="2" charset="-122"/>
                <a:ea typeface="Aa花间辞楷书 (非商业使用)" panose="02010600010101010101" pitchFamily="2" charset="-122"/>
              </a:rPr>
              <a:t>。如果语句不被蕴涵的情况呢？</a:t>
            </a:r>
          </a:p>
          <a:p>
            <a:endParaRPr lang="zh-CN" altLang="en-US" dirty="0"/>
          </a:p>
        </p:txBody>
      </p:sp>
      <p:pic>
        <p:nvPicPr>
          <p:cNvPr id="4" name="图片 3">
            <a:extLst>
              <a:ext uri="{FF2B5EF4-FFF2-40B4-BE49-F238E27FC236}">
                <a16:creationId xmlns:a16="http://schemas.microsoft.com/office/drawing/2014/main" id="{C7C0BE26-3786-5FF6-96EF-3F65ECAD5F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1379" y="3314592"/>
            <a:ext cx="3640039" cy="2672555"/>
          </a:xfrm>
          <a:prstGeom prst="rect">
            <a:avLst/>
          </a:prstGeom>
        </p:spPr>
      </p:pic>
      <p:pic>
        <p:nvPicPr>
          <p:cNvPr id="5" name="图片 4">
            <a:extLst>
              <a:ext uri="{FF2B5EF4-FFF2-40B4-BE49-F238E27FC236}">
                <a16:creationId xmlns:a16="http://schemas.microsoft.com/office/drawing/2014/main" id="{B870C00A-4E34-1A35-16AF-1BD18DE224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314591"/>
            <a:ext cx="4253404" cy="2672556"/>
          </a:xfrm>
          <a:prstGeom prst="rect">
            <a:avLst/>
          </a:prstGeom>
        </p:spPr>
      </p:pic>
    </p:spTree>
    <p:extLst>
      <p:ext uri="{BB962C8B-B14F-4D97-AF65-F5344CB8AC3E}">
        <p14:creationId xmlns:p14="http://schemas.microsoft.com/office/powerpoint/2010/main" val="1025411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8A426-A3A0-0616-6B07-4D2F2C8E3E74}"/>
              </a:ext>
            </a:extLst>
          </p:cNvPr>
          <p:cNvSpPr>
            <a:spLocks noGrp="1"/>
          </p:cNvSpPr>
          <p:nvPr>
            <p:ph type="title"/>
          </p:nvPr>
        </p:nvSpPr>
        <p:spPr/>
        <p:txBody>
          <a:bodyPr/>
          <a:lstStyle/>
          <a:p>
            <a:r>
              <a:rPr lang="en-US" altLang="zh-CN" dirty="0"/>
              <a:t>9.1 </a:t>
            </a:r>
            <a:r>
              <a:rPr lang="zh-CN" altLang="en-US" dirty="0"/>
              <a:t>一阶逻辑命题化</a:t>
            </a:r>
          </a:p>
        </p:txBody>
      </p:sp>
      <p:sp>
        <p:nvSpPr>
          <p:cNvPr id="3" name="内容占位符 2">
            <a:extLst>
              <a:ext uri="{FF2B5EF4-FFF2-40B4-BE49-F238E27FC236}">
                <a16:creationId xmlns:a16="http://schemas.microsoft.com/office/drawing/2014/main" id="{655496D2-D7D1-E390-CD75-E7F51B05DC8E}"/>
              </a:ext>
            </a:extLst>
          </p:cNvPr>
          <p:cNvSpPr>
            <a:spLocks noGrp="1"/>
          </p:cNvSpPr>
          <p:nvPr>
            <p:ph idx="1"/>
          </p:nvPr>
        </p:nvSpPr>
        <p:spPr/>
        <p:txBody>
          <a:bodyPr/>
          <a:lstStyle/>
          <a:p>
            <a:r>
              <a:rPr lang="en-US" altLang="zh-CN" dirty="0"/>
              <a:t>6.</a:t>
            </a:r>
            <a:r>
              <a:rPr lang="zh-CN" altLang="en-US" dirty="0"/>
              <a:t>一阶逻辑的半可判定性</a:t>
            </a:r>
            <a:endParaRPr lang="en-US" altLang="zh-CN" dirty="0"/>
          </a:p>
          <a:p>
            <a:pPr lvl="1"/>
            <a:r>
              <a:rPr lang="zh-CN" altLang="en-US" sz="2400" dirty="0">
                <a:solidFill>
                  <a:srgbClr val="FF0000"/>
                </a:solidFill>
                <a:latin typeface="Aa花间辞楷书 (非商业使用)" panose="02010600010101010101" pitchFamily="2" charset="-122"/>
                <a:ea typeface="Aa花间辞楷书 (非商业使用)" panose="02010600010101010101" pitchFamily="2" charset="-122"/>
              </a:rPr>
              <a:t>（</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3</a:t>
            </a:r>
            <a:r>
              <a:rPr lang="zh-CN" altLang="en-US" sz="2400" dirty="0">
                <a:solidFill>
                  <a:srgbClr val="FF0000"/>
                </a:solidFill>
                <a:latin typeface="Aa花间辞楷书 (非商业使用)" panose="02010600010101010101" pitchFamily="2" charset="-122"/>
                <a:ea typeface="Aa花间辞楷书 (非商业使用)" panose="02010600010101010101" pitchFamily="2" charset="-122"/>
              </a:rPr>
              <a:t>）</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Turing (1936) </a:t>
            </a:r>
            <a:r>
              <a:rPr lang="zh-CN" altLang="en-US" sz="2400" dirty="0">
                <a:latin typeface="Aa花间辞楷书 (非商业使用)" panose="02010600010101010101" pitchFamily="2" charset="-122"/>
                <a:ea typeface="Aa花间辞楷书 (非商业使用)" panose="02010600010101010101" pitchFamily="2" charset="-122"/>
              </a:rPr>
              <a:t>证明了一阶逻辑的蕴涵问题是半可判定的，</a:t>
            </a:r>
          </a:p>
          <a:p>
            <a:pPr lvl="2"/>
            <a:r>
              <a:rPr lang="zh-CN" altLang="en-US" sz="2400" dirty="0">
                <a:latin typeface="Aa花间辞楷书 (非商业使用)" panose="02010600010101010101" pitchFamily="2" charset="-122"/>
                <a:ea typeface="Aa花间辞楷书 (非商业使用)" panose="02010600010101010101" pitchFamily="2" charset="-122"/>
              </a:rPr>
              <a:t>即：存在肯定每个蕴涵语句的算法，而不存在还能否定每个非蕴涵语句的算法。</a:t>
            </a:r>
          </a:p>
          <a:p>
            <a:pPr lvl="1"/>
            <a:endParaRPr lang="en-US" altLang="zh-CN" sz="2400" dirty="0">
              <a:latin typeface="Aa花间辞楷书 (非商业使用)" panose="02010600010101010101" pitchFamily="2" charset="-122"/>
              <a:ea typeface="Aa花间辞楷书 (非商业使用)" panose="02010600010101010101" pitchFamily="2" charset="-122"/>
            </a:endParaRPr>
          </a:p>
          <a:p>
            <a:pPr lvl="1"/>
            <a:endParaRPr lang="en-US" altLang="zh-CN" sz="2400" dirty="0">
              <a:latin typeface="Aa花间辞楷书 (非商业使用)" panose="02010600010101010101" pitchFamily="2" charset="-122"/>
              <a:ea typeface="Aa花间辞楷书 (非商业使用)" panose="02010600010101010101" pitchFamily="2" charset="-122"/>
            </a:endParaRPr>
          </a:p>
          <a:p>
            <a:pPr lvl="1"/>
            <a:r>
              <a:rPr lang="zh-CN" altLang="en-US" sz="2400" dirty="0">
                <a:latin typeface="Aa花间辞楷书 (非商业使用)" panose="02010600010101010101" pitchFamily="2" charset="-122"/>
                <a:ea typeface="Aa花间辞楷书 (非商业使用)" panose="02010600010101010101" pitchFamily="2" charset="-122"/>
              </a:rPr>
              <a:t>请思考：</a:t>
            </a:r>
            <a:endParaRPr lang="en-US" altLang="zh-CN" sz="2400" dirty="0">
              <a:latin typeface="Aa花间辞楷书 (非商业使用)" panose="02010600010101010101" pitchFamily="2" charset="-122"/>
              <a:ea typeface="Aa花间辞楷书 (非商业使用)" panose="02010600010101010101" pitchFamily="2" charset="-122"/>
            </a:endParaRPr>
          </a:p>
          <a:p>
            <a:pPr lvl="1"/>
            <a:r>
              <a:rPr lang="zh-CN" altLang="en-US" sz="2400" dirty="0">
                <a:latin typeface="Aa花间辞楷书 (非商业使用)" panose="02010600010101010101" pitchFamily="2" charset="-122"/>
                <a:ea typeface="Aa花间辞楷书 (非商业使用)" panose="02010600010101010101" pitchFamily="2" charset="-122"/>
              </a:rPr>
              <a:t>（</a:t>
            </a:r>
            <a:r>
              <a:rPr lang="en-US" altLang="zh-CN" sz="2400" dirty="0">
                <a:latin typeface="Aa花间辞楷书 (非商业使用)" panose="02010600010101010101" pitchFamily="2" charset="-122"/>
                <a:ea typeface="Aa花间辞楷书 (非商业使用)" panose="02010600010101010101" pitchFamily="2" charset="-122"/>
              </a:rPr>
              <a:t>1</a:t>
            </a:r>
            <a:r>
              <a:rPr lang="zh-CN" altLang="en-US" sz="2400" dirty="0">
                <a:latin typeface="Aa花间辞楷书 (非商业使用)" panose="02010600010101010101" pitchFamily="2" charset="-122"/>
                <a:ea typeface="Aa花间辞楷书 (非商业使用)" panose="02010600010101010101" pitchFamily="2" charset="-122"/>
              </a:rPr>
              <a:t>）一阶逻辑的半可判定性，根源可能在哪里？</a:t>
            </a:r>
          </a:p>
          <a:p>
            <a:pPr lvl="1"/>
            <a:r>
              <a:rPr lang="zh-CN" altLang="en-US" sz="2400" dirty="0">
                <a:latin typeface="Aa花间辞楷书 (非商业使用)" panose="02010600010101010101" pitchFamily="2" charset="-122"/>
                <a:ea typeface="Aa花间辞楷书 (非商业使用)" panose="02010600010101010101" pitchFamily="2" charset="-122"/>
              </a:rPr>
              <a:t>（</a:t>
            </a:r>
            <a:r>
              <a:rPr lang="en-US" altLang="zh-CN" sz="2400" dirty="0">
                <a:latin typeface="Aa花间辞楷书 (非商业使用)" panose="02010600010101010101" pitchFamily="2" charset="-122"/>
                <a:ea typeface="Aa花间辞楷书 (非商业使用)" panose="02010600010101010101" pitchFamily="2" charset="-122"/>
              </a:rPr>
              <a:t>2</a:t>
            </a:r>
            <a:r>
              <a:rPr lang="zh-CN" altLang="en-US" sz="2400" dirty="0">
                <a:latin typeface="Aa花间辞楷书 (非商业使用)" panose="02010600010101010101" pitchFamily="2" charset="-122"/>
                <a:ea typeface="Aa花间辞楷书 (非商业使用)" panose="02010600010101010101" pitchFamily="2" charset="-122"/>
              </a:rPr>
              <a:t>）</a:t>
            </a:r>
            <a:r>
              <a:rPr lang="zh-CN" altLang="en-US" sz="2400" dirty="0">
                <a:solidFill>
                  <a:srgbClr val="C00000"/>
                </a:solidFill>
                <a:latin typeface="Aa花间辞楷书 (非商业使用)" panose="02010600010101010101" pitchFamily="2" charset="-122"/>
                <a:ea typeface="Aa花间辞楷书 (非商业使用)" panose="02010600010101010101" pitchFamily="2" charset="-122"/>
              </a:rPr>
              <a:t>可判定性与完备性有什么区别？</a:t>
            </a:r>
          </a:p>
          <a:p>
            <a:endParaRPr lang="zh-CN" altLang="en-US" dirty="0"/>
          </a:p>
        </p:txBody>
      </p:sp>
    </p:spTree>
    <p:extLst>
      <p:ext uri="{BB962C8B-B14F-4D97-AF65-F5344CB8AC3E}">
        <p14:creationId xmlns:p14="http://schemas.microsoft.com/office/powerpoint/2010/main" val="2327478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8A426-A3A0-0616-6B07-4D2F2C8E3E74}"/>
              </a:ext>
            </a:extLst>
          </p:cNvPr>
          <p:cNvSpPr>
            <a:spLocks noGrp="1"/>
          </p:cNvSpPr>
          <p:nvPr>
            <p:ph type="title"/>
          </p:nvPr>
        </p:nvSpPr>
        <p:spPr/>
        <p:txBody>
          <a:bodyPr/>
          <a:lstStyle/>
          <a:p>
            <a:r>
              <a:rPr lang="en-US" altLang="zh-CN" dirty="0"/>
              <a:t>9.2 </a:t>
            </a:r>
            <a:r>
              <a:rPr lang="zh-CN" altLang="en-US" dirty="0"/>
              <a:t>合一与</a:t>
            </a:r>
            <a:r>
              <a:rPr lang="en-US" altLang="zh-CN" dirty="0"/>
              <a:t>GMP</a:t>
            </a:r>
            <a:endParaRPr lang="zh-CN" altLang="en-US" dirty="0"/>
          </a:p>
        </p:txBody>
      </p:sp>
      <p:sp>
        <p:nvSpPr>
          <p:cNvPr id="3" name="内容占位符 2">
            <a:extLst>
              <a:ext uri="{FF2B5EF4-FFF2-40B4-BE49-F238E27FC236}">
                <a16:creationId xmlns:a16="http://schemas.microsoft.com/office/drawing/2014/main" id="{655496D2-D7D1-E390-CD75-E7F51B05DC8E}"/>
              </a:ext>
            </a:extLst>
          </p:cNvPr>
          <p:cNvSpPr>
            <a:spLocks noGrp="1"/>
          </p:cNvSpPr>
          <p:nvPr>
            <p:ph idx="1"/>
          </p:nvPr>
        </p:nvSpPr>
        <p:spPr/>
        <p:txBody>
          <a:bodyPr>
            <a:normAutofit/>
          </a:bodyPr>
          <a:lstStyle/>
          <a:p>
            <a:r>
              <a:rPr lang="en-US" altLang="zh-CN" dirty="0"/>
              <a:t>1.</a:t>
            </a:r>
            <a:r>
              <a:rPr lang="zh-CN" altLang="en-US" dirty="0"/>
              <a:t>重要算法：</a:t>
            </a:r>
            <a:r>
              <a:rPr lang="zh-CN" altLang="en-US" dirty="0">
                <a:solidFill>
                  <a:srgbClr val="C00000"/>
                </a:solidFill>
              </a:rPr>
              <a:t>合一（</a:t>
            </a:r>
            <a:r>
              <a:rPr lang="en-US" altLang="zh-CN" dirty="0">
                <a:solidFill>
                  <a:srgbClr val="C00000"/>
                </a:solidFill>
              </a:rPr>
              <a:t>UNIFY</a:t>
            </a:r>
            <a:r>
              <a:rPr lang="zh-CN" altLang="en-US" dirty="0">
                <a:solidFill>
                  <a:srgbClr val="C00000"/>
                </a:solidFill>
              </a:rPr>
              <a:t>）</a:t>
            </a:r>
          </a:p>
          <a:p>
            <a:pPr lvl="1"/>
            <a:r>
              <a:rPr lang="zh-CN" altLang="en-US" sz="2400" dirty="0">
                <a:latin typeface="Aa花间辞楷书 (非商业使用)" panose="02010600010101010101" pitchFamily="2" charset="-122"/>
                <a:ea typeface="Aa花间辞楷书 (非商业使用)" panose="02010600010101010101" pitchFamily="2" charset="-122"/>
              </a:rPr>
              <a:t>考虑</a:t>
            </a:r>
            <a:r>
              <a:rPr lang="en-US" altLang="zh-CN" sz="2400" dirty="0">
                <a:latin typeface="Aa花间辞楷书 (非商业使用)" panose="02010600010101010101" pitchFamily="2" charset="-122"/>
                <a:ea typeface="Aa花间辞楷书 (非商业使用)" panose="02010600010101010101" pitchFamily="2" charset="-122"/>
              </a:rPr>
              <a:t>KB</a:t>
            </a:r>
            <a:r>
              <a:rPr lang="zh-CN" altLang="en-US" sz="2400" dirty="0">
                <a:latin typeface="Aa花间辞楷书 (非商业使用)" panose="02010600010101010101" pitchFamily="2" charset="-122"/>
                <a:ea typeface="Aa花间辞楷书 (非商业使用)" panose="02010600010101010101" pitchFamily="2" charset="-122"/>
              </a:rPr>
              <a:t>：</a:t>
            </a:r>
          </a:p>
          <a:p>
            <a:pPr marL="342900" lvl="1" indent="0">
              <a:buNone/>
            </a:pPr>
            <a:r>
              <a:rPr lang="zh-CN" altLang="en-US" sz="2400" dirty="0">
                <a:latin typeface="Aa花间辞楷书 (非商业使用)" panose="02010600010101010101" pitchFamily="2" charset="-122"/>
                <a:ea typeface="Aa花间辞楷书 (非商业使用)" panose="02010600010101010101" pitchFamily="2" charset="-122"/>
              </a:rPr>
              <a:t>∀𝒙 𝑲𝒊𝒏𝒈</a:t>
            </a:r>
            <a:r>
              <a:rPr lang="en-US" altLang="zh-CN" sz="2400" dirty="0">
                <a:latin typeface="Aa花间辞楷书 (非商业使用)" panose="02010600010101010101" pitchFamily="2" charset="-122"/>
                <a:ea typeface="Aa花间辞楷书 (非商业使用)" panose="02010600010101010101" pitchFamily="2" charset="-122"/>
              </a:rPr>
              <a:t>(</a:t>
            </a:r>
            <a:r>
              <a:rPr lang="zh-CN" altLang="en-US" sz="2400" dirty="0">
                <a:latin typeface="Aa花间辞楷书 (非商业使用)" panose="02010600010101010101" pitchFamily="2" charset="-122"/>
                <a:ea typeface="Aa花间辞楷书 (非商业使用)" panose="02010600010101010101" pitchFamily="2" charset="-122"/>
              </a:rPr>
              <a:t>𝐱</a:t>
            </a:r>
            <a:r>
              <a:rPr lang="en-US" altLang="zh-CN" sz="2400" dirty="0">
                <a:latin typeface="Aa花间辞楷书 (非商业使用)" panose="02010600010101010101" pitchFamily="2" charset="-122"/>
                <a:ea typeface="Aa花间辞楷书 (非商业使用)" panose="02010600010101010101" pitchFamily="2" charset="-122"/>
              </a:rPr>
              <a:t>)∧</a:t>
            </a:r>
            <a:r>
              <a:rPr lang="zh-CN" altLang="en-US" sz="2400" dirty="0">
                <a:latin typeface="Aa花间辞楷书 (非商业使用)" panose="02010600010101010101" pitchFamily="2" charset="-122"/>
                <a:ea typeface="Aa花间辞楷书 (非商业使用)" panose="02010600010101010101" pitchFamily="2" charset="-122"/>
              </a:rPr>
              <a:t>𝐆𝐫𝐞𝐞𝐝𝐲</a:t>
            </a:r>
            <a:r>
              <a:rPr lang="en-US" altLang="zh-CN" sz="2400" dirty="0">
                <a:latin typeface="Aa花间辞楷书 (非商业使用)" panose="02010600010101010101" pitchFamily="2" charset="-122"/>
                <a:ea typeface="Aa花间辞楷书 (非商业使用)" panose="02010600010101010101" pitchFamily="2" charset="-122"/>
              </a:rPr>
              <a:t>(</a:t>
            </a:r>
            <a:r>
              <a:rPr lang="zh-CN" altLang="en-US" sz="2400" dirty="0">
                <a:latin typeface="Aa花间辞楷书 (非商业使用)" panose="02010600010101010101" pitchFamily="2" charset="-122"/>
                <a:ea typeface="Aa花间辞楷书 (非商业使用)" panose="02010600010101010101" pitchFamily="2" charset="-122"/>
              </a:rPr>
              <a:t>𝐱</a:t>
            </a:r>
            <a:r>
              <a:rPr lang="en-US" altLang="zh-CN" sz="2400" dirty="0">
                <a:latin typeface="Aa花间辞楷书 (非商业使用)" panose="02010600010101010101" pitchFamily="2" charset="-122"/>
                <a:ea typeface="Aa花间辞楷书 (非商业使用)" panose="02010600010101010101" pitchFamily="2" charset="-122"/>
              </a:rPr>
              <a:t>) ⇒ </a:t>
            </a:r>
            <a:r>
              <a:rPr lang="zh-CN" altLang="en-US" sz="2400" dirty="0">
                <a:latin typeface="Aa花间辞楷书 (非商业使用)" panose="02010600010101010101" pitchFamily="2" charset="-122"/>
                <a:ea typeface="Aa花间辞楷书 (非商业使用)" panose="02010600010101010101" pitchFamily="2" charset="-122"/>
              </a:rPr>
              <a:t>𝐄𝐯𝐢𝐥</a:t>
            </a:r>
            <a:r>
              <a:rPr lang="en-US" altLang="zh-CN" sz="2400" dirty="0">
                <a:latin typeface="Aa花间辞楷书 (非商业使用)" panose="02010600010101010101" pitchFamily="2" charset="-122"/>
                <a:ea typeface="Aa花间辞楷书 (非商业使用)" panose="02010600010101010101" pitchFamily="2" charset="-122"/>
              </a:rPr>
              <a:t>(</a:t>
            </a:r>
            <a:r>
              <a:rPr lang="zh-CN" altLang="en-US" sz="2400" dirty="0">
                <a:latin typeface="Aa花间辞楷书 (非商业使用)" panose="02010600010101010101" pitchFamily="2" charset="-122"/>
                <a:ea typeface="Aa花间辞楷书 (非商业使用)" panose="02010600010101010101" pitchFamily="2" charset="-122"/>
              </a:rPr>
              <a:t>𝐱</a:t>
            </a:r>
            <a:r>
              <a:rPr lang="en-US" altLang="zh-CN" sz="2400" dirty="0">
                <a:latin typeface="Aa花间辞楷书 (非商业使用)" panose="02010600010101010101" pitchFamily="2" charset="-122"/>
                <a:ea typeface="Aa花间辞楷书 (非商业使用)" panose="02010600010101010101" pitchFamily="2" charset="-122"/>
              </a:rPr>
              <a:t>)</a:t>
            </a:r>
          </a:p>
          <a:p>
            <a:pPr marL="342900" lvl="1" indent="0">
              <a:buNone/>
            </a:pPr>
            <a:r>
              <a:rPr lang="en-US" altLang="zh-CN" sz="2400" dirty="0">
                <a:latin typeface="Aa花间辞楷书 (非商业使用)" panose="02010600010101010101" pitchFamily="2" charset="-122"/>
                <a:ea typeface="Aa花间辞楷书 (非商业使用)" panose="02010600010101010101" pitchFamily="2" charset="-122"/>
              </a:rPr>
              <a:t>∀</a:t>
            </a:r>
            <a:r>
              <a:rPr lang="zh-CN" altLang="en-US" sz="2400" dirty="0">
                <a:latin typeface="Aa花间辞楷书 (非商业使用)" panose="02010600010101010101" pitchFamily="2" charset="-122"/>
                <a:ea typeface="Aa花间辞楷书 (非商业使用)" panose="02010600010101010101" pitchFamily="2" charset="-122"/>
              </a:rPr>
              <a:t>𝒚 𝐆𝐫𝐞𝐞𝐝𝐲</a:t>
            </a:r>
            <a:r>
              <a:rPr lang="en-US" altLang="zh-CN" sz="2400" dirty="0">
                <a:latin typeface="Aa花间辞楷书 (非商业使用)" panose="02010600010101010101" pitchFamily="2" charset="-122"/>
                <a:ea typeface="Aa花间辞楷书 (非商业使用)" panose="02010600010101010101" pitchFamily="2" charset="-122"/>
              </a:rPr>
              <a:t>(</a:t>
            </a:r>
            <a:r>
              <a:rPr lang="zh-CN" altLang="en-US" sz="2400" dirty="0">
                <a:latin typeface="Aa花间辞楷书 (非商业使用)" panose="02010600010101010101" pitchFamily="2" charset="-122"/>
                <a:ea typeface="Aa花间辞楷书 (非商业使用)" panose="02010600010101010101" pitchFamily="2" charset="-122"/>
              </a:rPr>
              <a:t>𝐲</a:t>
            </a:r>
            <a:r>
              <a:rPr lang="en-US" altLang="zh-CN" sz="2400" dirty="0">
                <a:latin typeface="Aa花间辞楷书 (非商业使用)" panose="02010600010101010101" pitchFamily="2" charset="-122"/>
                <a:ea typeface="Aa花间辞楷书 (非商业使用)" panose="02010600010101010101" pitchFamily="2" charset="-122"/>
              </a:rPr>
              <a:t>)</a:t>
            </a:r>
          </a:p>
          <a:p>
            <a:pPr marL="342900" lvl="1" indent="0">
              <a:buNone/>
            </a:pPr>
            <a:r>
              <a:rPr lang="zh-CN" altLang="en-US" sz="2400" dirty="0">
                <a:latin typeface="Aa花间辞楷书 (非商业使用)" panose="02010600010101010101" pitchFamily="2" charset="-122"/>
                <a:ea typeface="Aa花间辞楷书 (非商业使用)" panose="02010600010101010101" pitchFamily="2" charset="-122"/>
              </a:rPr>
              <a:t>𝑲𝒊𝒏𝒈</a:t>
            </a:r>
            <a:r>
              <a:rPr lang="en-US" altLang="zh-CN" sz="2400" dirty="0">
                <a:latin typeface="Aa花间辞楷书 (非商业使用)" panose="02010600010101010101" pitchFamily="2" charset="-122"/>
                <a:ea typeface="Aa花间辞楷书 (非商业使用)" panose="02010600010101010101" pitchFamily="2" charset="-122"/>
              </a:rPr>
              <a:t>(</a:t>
            </a:r>
            <a:r>
              <a:rPr lang="zh-CN" altLang="en-US" sz="2400" dirty="0">
                <a:latin typeface="Aa花间辞楷书 (非商业使用)" panose="02010600010101010101" pitchFamily="2" charset="-122"/>
                <a:ea typeface="Aa花间辞楷书 (非商业使用)" panose="02010600010101010101" pitchFamily="2" charset="-122"/>
              </a:rPr>
              <a:t>𝑱𝒐𝒉𝒏</a:t>
            </a:r>
            <a:r>
              <a:rPr lang="en-US" altLang="zh-CN" sz="2400" dirty="0">
                <a:latin typeface="Aa花间辞楷书 (非商业使用)" panose="02010600010101010101" pitchFamily="2" charset="-122"/>
                <a:ea typeface="Aa花间辞楷书 (非商业使用)" panose="02010600010101010101" pitchFamily="2" charset="-122"/>
              </a:rPr>
              <a:t>), </a:t>
            </a:r>
            <a:r>
              <a:rPr lang="zh-CN" altLang="en-US" sz="2400" dirty="0">
                <a:latin typeface="Aa花间辞楷书 (非商业使用)" panose="02010600010101010101" pitchFamily="2" charset="-122"/>
                <a:ea typeface="Aa花间辞楷书 (非商业使用)" panose="02010600010101010101" pitchFamily="2" charset="-122"/>
              </a:rPr>
              <a:t>𝑩𝒓𝒐𝒕𝒉𝒆𝒓</a:t>
            </a:r>
            <a:r>
              <a:rPr lang="en-US" altLang="zh-CN" sz="2400" dirty="0">
                <a:latin typeface="Aa花间辞楷书 (非商业使用)" panose="02010600010101010101" pitchFamily="2" charset="-122"/>
                <a:ea typeface="Aa花间辞楷书 (非商业使用)" panose="02010600010101010101" pitchFamily="2" charset="-122"/>
              </a:rPr>
              <a:t>(</a:t>
            </a:r>
            <a:r>
              <a:rPr lang="zh-CN" altLang="en-US" sz="2400" dirty="0">
                <a:latin typeface="Aa花间辞楷书 (非商业使用)" panose="02010600010101010101" pitchFamily="2" charset="-122"/>
                <a:ea typeface="Aa花间辞楷书 (非商业使用)" panose="02010600010101010101" pitchFamily="2" charset="-122"/>
              </a:rPr>
              <a:t>𝑹𝒊𝒄𝒉𝒂𝒓𝒅</a:t>
            </a:r>
            <a:r>
              <a:rPr lang="en-US" altLang="zh-CN" sz="2400" dirty="0">
                <a:latin typeface="Aa花间辞楷书 (非商业使用)" panose="02010600010101010101" pitchFamily="2" charset="-122"/>
                <a:ea typeface="Aa花间辞楷书 (非商业使用)" panose="02010600010101010101" pitchFamily="2" charset="-122"/>
              </a:rPr>
              <a:t>, </a:t>
            </a:r>
            <a:r>
              <a:rPr lang="zh-CN" altLang="en-US" sz="2400" dirty="0">
                <a:latin typeface="Aa花间辞楷书 (非商业使用)" panose="02010600010101010101" pitchFamily="2" charset="-122"/>
                <a:ea typeface="Aa花间辞楷书 (非商业使用)" panose="02010600010101010101" pitchFamily="2" charset="-122"/>
              </a:rPr>
              <a:t>𝑱𝒐𝒉𝒏</a:t>
            </a:r>
            <a:r>
              <a:rPr lang="en-US" altLang="zh-CN" sz="2400" dirty="0">
                <a:latin typeface="Aa花间辞楷书 (非商业使用)" panose="02010600010101010101" pitchFamily="2" charset="-122"/>
                <a:ea typeface="Aa花间辞楷书 (非商业使用)" panose="02010600010101010101" pitchFamily="2" charset="-122"/>
              </a:rPr>
              <a:t>)</a:t>
            </a:r>
          </a:p>
          <a:p>
            <a:pPr lvl="1"/>
            <a:r>
              <a:rPr lang="zh-CN" altLang="en-US" sz="2400" dirty="0">
                <a:latin typeface="Aa花间辞楷书 (非商业使用)" panose="02010600010101010101" pitchFamily="2" charset="-122"/>
                <a:ea typeface="Aa花间辞楷书 (非商业使用)" panose="02010600010101010101" pitchFamily="2" charset="-122"/>
              </a:rPr>
              <a:t>要求推导出</a:t>
            </a:r>
            <a:r>
              <a:rPr lang="en-US" altLang="zh-CN" sz="2400" i="1" dirty="0">
                <a:solidFill>
                  <a:srgbClr val="FF0000"/>
                </a:solidFill>
                <a:latin typeface="Aa花间辞楷书 (非商业使用)" panose="02010600010101010101" pitchFamily="2" charset="-122"/>
                <a:ea typeface="Aa花间辞楷书 (非商业使用)" panose="02010600010101010101" pitchFamily="2" charset="-122"/>
              </a:rPr>
              <a:t>Evil(John)</a:t>
            </a:r>
          </a:p>
          <a:p>
            <a:endParaRPr lang="en-US" altLang="zh-CN" dirty="0">
              <a:latin typeface="Aa花间辞楷书 (非商业使用)" panose="02010600010101010101" pitchFamily="2" charset="-122"/>
              <a:ea typeface="Aa花间辞楷书 (非商业使用)" panose="02010600010101010101" pitchFamily="2" charset="-122"/>
            </a:endParaRPr>
          </a:p>
          <a:p>
            <a:pPr lvl="1"/>
            <a:r>
              <a:rPr lang="el-GR" altLang="zh-CN" sz="2400" dirty="0">
                <a:solidFill>
                  <a:srgbClr val="FF0000"/>
                </a:solidFill>
                <a:ea typeface="Aa花间辞楷书 (非商业使用)" panose="02010600010101010101" pitchFamily="2" charset="-122"/>
              </a:rPr>
              <a:t>θ</a:t>
            </a:r>
            <a:r>
              <a:rPr lang="el-GR" altLang="zh-CN" sz="2400" dirty="0">
                <a:ea typeface="Aa花间辞楷书 (非商业使用)" panose="02010600010101010101" pitchFamily="2" charset="-122"/>
              </a:rPr>
              <a:t> = {</a:t>
            </a:r>
            <a:r>
              <a:rPr lang="en-US" altLang="zh-CN" sz="2400" dirty="0">
                <a:latin typeface="Aa花间辞楷书 (非商业使用)" panose="02010600010101010101" pitchFamily="2" charset="-122"/>
                <a:ea typeface="Aa花间辞楷书 (非商业使用)" panose="02010600010101010101" pitchFamily="2" charset="-122"/>
              </a:rPr>
              <a:t>x/John, y/John} </a:t>
            </a:r>
            <a:r>
              <a:rPr lang="zh-CN" altLang="en-US" sz="2400" dirty="0">
                <a:latin typeface="Aa花间辞楷书 (非商业使用)" panose="02010600010101010101" pitchFamily="2" charset="-122"/>
                <a:ea typeface="Aa花间辞楷书 (非商业使用)" panose="02010600010101010101" pitchFamily="2" charset="-122"/>
              </a:rPr>
              <a:t>就是这样一种置换</a:t>
            </a:r>
            <a:endParaRPr lang="en-US" altLang="zh-CN" sz="2400" dirty="0">
              <a:latin typeface="Aa花间辞楷书 (非商业使用)" panose="02010600010101010101" pitchFamily="2" charset="-122"/>
              <a:ea typeface="Aa花间辞楷书 (非商业使用)" panose="02010600010101010101" pitchFamily="2" charset="-122"/>
            </a:endParaRPr>
          </a:p>
          <a:p>
            <a:pPr lvl="1"/>
            <a:endParaRPr lang="en-US" altLang="zh-CN" sz="2400" dirty="0">
              <a:latin typeface="Aa花间辞楷书 (非商业使用)" panose="02010600010101010101" pitchFamily="2" charset="-122"/>
              <a:ea typeface="Aa花间辞楷书 (非商业使用)" panose="02010600010101010101" pitchFamily="2" charset="-122"/>
            </a:endParaRPr>
          </a:p>
          <a:p>
            <a:pPr lvl="1"/>
            <a:r>
              <a:rPr lang="zh-CN" altLang="en-US" sz="2400" dirty="0">
                <a:solidFill>
                  <a:srgbClr val="FF0000"/>
                </a:solidFill>
                <a:latin typeface="Aa花间辞楷书 (非商业使用)" panose="02010600010101010101" pitchFamily="2" charset="-122"/>
                <a:ea typeface="Aa花间辞楷书 (非商业使用)" panose="02010600010101010101" pitchFamily="2" charset="-122"/>
              </a:rPr>
              <a:t>合一</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(unification)</a:t>
            </a:r>
            <a:r>
              <a:rPr lang="zh-CN" altLang="en-US" sz="2400" dirty="0">
                <a:latin typeface="Aa花间辞楷书 (非商业使用)" panose="02010600010101010101" pitchFamily="2" charset="-122"/>
                <a:ea typeface="Aa花间辞楷书 (非商业使用)" panose="02010600010101010101" pitchFamily="2" charset="-122"/>
              </a:rPr>
              <a:t>：寻求项对变量的置换，以使两表达式一致</a:t>
            </a:r>
            <a:endParaRPr lang="zh-CN" altLang="en-US" dirty="0"/>
          </a:p>
        </p:txBody>
      </p:sp>
    </p:spTree>
    <p:extLst>
      <p:ext uri="{BB962C8B-B14F-4D97-AF65-F5344CB8AC3E}">
        <p14:creationId xmlns:p14="http://schemas.microsoft.com/office/powerpoint/2010/main" val="396547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35F80-96EA-8128-6E81-B2B832C72AE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0FB478B0-CAF9-D561-335F-2D8A6301CF01}"/>
              </a:ext>
            </a:extLst>
          </p:cNvPr>
          <p:cNvSpPr>
            <a:spLocks noGrp="1"/>
          </p:cNvSpPr>
          <p:nvPr>
            <p:ph idx="1"/>
          </p:nvPr>
        </p:nvSpPr>
        <p:spPr/>
        <p:txBody>
          <a:bodyPr/>
          <a:lstStyle/>
          <a:p>
            <a:r>
              <a:rPr lang="en-US" altLang="zh-CN" dirty="0"/>
              <a:t>1.</a:t>
            </a:r>
            <a:r>
              <a:rPr lang="zh-CN" altLang="en-US" dirty="0"/>
              <a:t>重要算法：</a:t>
            </a:r>
            <a:r>
              <a:rPr lang="zh-CN" altLang="en-US" dirty="0">
                <a:solidFill>
                  <a:srgbClr val="C00000"/>
                </a:solidFill>
              </a:rPr>
              <a:t>合一（</a:t>
            </a:r>
            <a:r>
              <a:rPr lang="en-US" altLang="zh-CN" dirty="0">
                <a:solidFill>
                  <a:srgbClr val="C00000"/>
                </a:solidFill>
              </a:rPr>
              <a:t>UNIFY</a:t>
            </a:r>
            <a:r>
              <a:rPr lang="zh-CN" altLang="en-US" dirty="0">
                <a:solidFill>
                  <a:srgbClr val="C00000"/>
                </a:solidFill>
              </a:rPr>
              <a:t>）</a:t>
            </a:r>
          </a:p>
          <a:p>
            <a:pPr lvl="2"/>
            <a:r>
              <a:rPr lang="zh-CN" altLang="en-US" sz="2400" dirty="0">
                <a:solidFill>
                  <a:srgbClr val="FF0000"/>
                </a:solidFill>
                <a:latin typeface="Aa花间辞楷书 (非商业使用)" panose="02010600010101010101" pitchFamily="2" charset="-122"/>
                <a:ea typeface="Aa花间辞楷书 (非商业使用)" panose="02010600010101010101" pitchFamily="2" charset="-122"/>
              </a:rPr>
              <a:t>输入</a:t>
            </a:r>
            <a:r>
              <a:rPr lang="zh-CN" altLang="en-US" sz="2400" dirty="0">
                <a:latin typeface="Aa花间辞楷书 (非商业使用)" panose="02010600010101010101" pitchFamily="2" charset="-122"/>
                <a:ea typeface="Aa花间辞楷书 (非商业使用)" panose="02010600010101010101" pitchFamily="2" charset="-122"/>
              </a:rPr>
              <a:t>：两条以上的表达式</a:t>
            </a:r>
          </a:p>
          <a:p>
            <a:pPr lvl="2"/>
            <a:r>
              <a:rPr lang="zh-CN" altLang="en-US" sz="2400" dirty="0">
                <a:solidFill>
                  <a:srgbClr val="FF0000"/>
                </a:solidFill>
                <a:latin typeface="Aa花间辞楷书 (非商业使用)" panose="02010600010101010101" pitchFamily="2" charset="-122"/>
                <a:ea typeface="Aa花间辞楷书 (非商业使用)" panose="02010600010101010101" pitchFamily="2" charset="-122"/>
              </a:rPr>
              <a:t>输出</a:t>
            </a:r>
            <a:r>
              <a:rPr lang="zh-CN" altLang="en-US" sz="2400" dirty="0">
                <a:latin typeface="Aa花间辞楷书 (非商业使用)" panose="02010600010101010101" pitchFamily="2" charset="-122"/>
                <a:ea typeface="Aa花间辞楷书 (非商业使用)" panose="02010600010101010101" pitchFamily="2" charset="-122"/>
              </a:rPr>
              <a:t>：返回一个置换</a:t>
            </a:r>
            <a:r>
              <a:rPr lang="en-US" altLang="zh-CN" sz="2400" dirty="0">
                <a:latin typeface="Aa花间辞楷书 (非商业使用)" panose="02010600010101010101" pitchFamily="2" charset="-122"/>
                <a:ea typeface="Aa花间辞楷书 (非商业使用)" panose="02010600010101010101" pitchFamily="2" charset="-122"/>
              </a:rPr>
              <a:t>θ</a:t>
            </a:r>
          </a:p>
          <a:p>
            <a:pPr lvl="2"/>
            <a:r>
              <a:rPr lang="zh-CN" altLang="en-US" sz="2400" dirty="0">
                <a:latin typeface="Aa花间辞楷书 (非商业使用)" panose="02010600010101010101" pitchFamily="2" charset="-122"/>
                <a:ea typeface="Aa花间辞楷书 (非商业使用)" panose="02010600010101010101" pitchFamily="2" charset="-122"/>
              </a:rPr>
              <a:t>（</a:t>
            </a:r>
            <a:r>
              <a:rPr lang="en-US" altLang="zh-CN" sz="2400" dirty="0">
                <a:latin typeface="Aa花间辞楷书 (非商业使用)" panose="02010600010101010101" pitchFamily="2" charset="-122"/>
                <a:ea typeface="Aa花间辞楷书 (非商业使用)" panose="02010600010101010101" pitchFamily="2" charset="-122"/>
              </a:rPr>
              <a:t>1</a:t>
            </a:r>
            <a:r>
              <a:rPr lang="zh-CN" altLang="en-US" sz="2400" dirty="0">
                <a:latin typeface="Aa花间辞楷书 (非商业使用)" panose="02010600010101010101" pitchFamily="2" charset="-122"/>
                <a:ea typeface="Aa花间辞楷书 (非商业使用)" panose="02010600010101010101" pitchFamily="2" charset="-122"/>
              </a:rPr>
              <a:t>）定义：设 </a:t>
            </a:r>
            <a:r>
              <a:rPr lang="zh-CN" altLang="en-US" sz="240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 </a:t>
            </a:r>
            <a:r>
              <a:rPr lang="zh-CN" altLang="en-US" sz="2400" dirty="0">
                <a:latin typeface="Aa花间辞楷书 (非商业使用)" panose="02010600010101010101" pitchFamily="2" charset="-122"/>
                <a:ea typeface="Aa花间辞楷书 (非商业使用)" panose="02010600010101010101" pitchFamily="2" charset="-122"/>
              </a:rPr>
              <a:t>是置换，将</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SUBST(θ, p)</a:t>
            </a:r>
            <a:r>
              <a:rPr lang="zh-CN" altLang="en-US" sz="2400" dirty="0">
                <a:latin typeface="Aa花间辞楷书 (非商业使用)" panose="02010600010101010101" pitchFamily="2" charset="-122"/>
                <a:ea typeface="Aa花间辞楷书 (非商业使用)" panose="02010600010101010101" pitchFamily="2" charset="-122"/>
              </a:rPr>
              <a:t>简写为</a:t>
            </a:r>
            <a:r>
              <a:rPr lang="en-US" altLang="zh-CN" sz="2400" dirty="0" err="1">
                <a:solidFill>
                  <a:srgbClr val="FF0000"/>
                </a:solidFill>
                <a:latin typeface="Aa花间辞楷书 (非商业使用)" panose="02010600010101010101" pitchFamily="2" charset="-122"/>
                <a:ea typeface="Aa花间辞楷书 (非商业使用)" panose="02010600010101010101" pitchFamily="2" charset="-122"/>
              </a:rPr>
              <a:t>pθ</a:t>
            </a:r>
            <a:r>
              <a:rPr lang="zh-CN" altLang="en-US" sz="2400" dirty="0">
                <a:latin typeface="Aa花间辞楷书 (非商业使用)" panose="02010600010101010101" pitchFamily="2" charset="-122"/>
                <a:ea typeface="Aa花间辞楷书 (非商业使用)" panose="02010600010101010101" pitchFamily="2" charset="-122"/>
              </a:rPr>
              <a:t>，意为将置换</a:t>
            </a:r>
            <a:r>
              <a:rPr lang="en-US" altLang="zh-CN" sz="2400" dirty="0">
                <a:latin typeface="Aa花间辞楷书 (非商业使用)" panose="02010600010101010101" pitchFamily="2" charset="-122"/>
                <a:ea typeface="Aa花间辞楷书 (非商业使用)" panose="02010600010101010101" pitchFamily="2" charset="-122"/>
              </a:rPr>
              <a:t>θ</a:t>
            </a:r>
            <a:r>
              <a:rPr lang="zh-CN" altLang="en-US" sz="2400" dirty="0">
                <a:latin typeface="Aa花间辞楷书 (非商业使用)" panose="02010600010101010101" pitchFamily="2" charset="-122"/>
                <a:ea typeface="Aa花间辞楷书 (非商业使用)" panose="02010600010101010101" pitchFamily="2" charset="-122"/>
              </a:rPr>
              <a:t>应用于</a:t>
            </a:r>
            <a:r>
              <a:rPr lang="en-US" altLang="zh-CN" sz="2400" dirty="0">
                <a:latin typeface="Aa花间辞楷书 (非商业使用)" panose="02010600010101010101" pitchFamily="2" charset="-122"/>
                <a:ea typeface="Aa花间辞楷书 (非商业使用)" panose="02010600010101010101" pitchFamily="2" charset="-122"/>
              </a:rPr>
              <a:t>p</a:t>
            </a:r>
          </a:p>
          <a:p>
            <a:pPr lvl="2"/>
            <a:r>
              <a:rPr lang="zh-CN" altLang="en-US" sz="2400" dirty="0">
                <a:latin typeface="Aa花间辞楷书 (非商业使用)" panose="02010600010101010101" pitchFamily="2" charset="-122"/>
                <a:ea typeface="Aa花间辞楷书 (非商业使用)" panose="02010600010101010101" pitchFamily="2" charset="-122"/>
              </a:rPr>
              <a:t>（</a:t>
            </a:r>
            <a:r>
              <a:rPr lang="en-US" altLang="zh-CN" sz="2400" dirty="0">
                <a:latin typeface="Aa花间辞楷书 (非商业使用)" panose="02010600010101010101" pitchFamily="2" charset="-122"/>
                <a:ea typeface="Aa花间辞楷书 (非商业使用)" panose="02010600010101010101" pitchFamily="2" charset="-122"/>
              </a:rPr>
              <a:t>2</a:t>
            </a:r>
            <a:r>
              <a:rPr lang="zh-CN" altLang="en-US" sz="2400" dirty="0">
                <a:latin typeface="Aa花间辞楷书 (非商业使用)" panose="02010600010101010101" pitchFamily="2" charset="-122"/>
                <a:ea typeface="Aa花间辞楷书 (非商业使用)" panose="02010600010101010101" pitchFamily="2" charset="-122"/>
              </a:rPr>
              <a:t>）表达式集合</a:t>
            </a:r>
            <a:r>
              <a:rPr lang="en-US" altLang="zh-CN" sz="2400" dirty="0">
                <a:latin typeface="Aa花间辞楷书 (非商业使用)" panose="02010600010101010101" pitchFamily="2" charset="-122"/>
                <a:ea typeface="Aa花间辞楷书 (非商业使用)" panose="02010600010101010101" pitchFamily="2" charset="-122"/>
              </a:rPr>
              <a:t>W={E1, ... , Ek}</a:t>
            </a:r>
            <a:r>
              <a:rPr lang="zh-CN" altLang="en-US" sz="2400" dirty="0">
                <a:latin typeface="Aa花间辞楷书 (非商业使用)" panose="02010600010101010101" pitchFamily="2" charset="-122"/>
                <a:ea typeface="Aa花间辞楷书 (非商业使用)" panose="02010600010101010101" pitchFamily="2" charset="-122"/>
              </a:rPr>
              <a:t>，</a:t>
            </a:r>
            <a:endParaRPr lang="en-US" altLang="zh-CN" sz="2400" dirty="0">
              <a:latin typeface="Aa花间辞楷书 (非商业使用)" panose="02010600010101010101" pitchFamily="2" charset="-122"/>
              <a:ea typeface="Aa花间辞楷书 (非商业使用)" panose="02010600010101010101" pitchFamily="2" charset="-122"/>
            </a:endParaRPr>
          </a:p>
          <a:p>
            <a:pPr lvl="2"/>
            <a:r>
              <a:rPr lang="zh-CN" altLang="en-US" sz="2400" dirty="0">
                <a:latin typeface="Aa花间辞楷书 (非商业使用)" panose="02010600010101010101" pitchFamily="2" charset="-122"/>
                <a:ea typeface="Aa花间辞楷书 (非商业使用)" panose="02010600010101010101" pitchFamily="2" charset="-122"/>
              </a:rPr>
              <a:t>若</a:t>
            </a:r>
            <a:r>
              <a:rPr lang="en-US" altLang="zh-CN" sz="2400" dirty="0">
                <a:latin typeface="Aa花间辞楷书 (非商业使用)" panose="02010600010101010101" pitchFamily="2" charset="-122"/>
                <a:ea typeface="Aa花间辞楷书 (非商业使用)" panose="02010600010101010101" pitchFamily="2" charset="-122"/>
              </a:rPr>
              <a:t>E1θ =  E2θ =  ...  =  </a:t>
            </a:r>
            <a:r>
              <a:rPr lang="en-US" altLang="zh-CN" sz="2400" dirty="0" err="1">
                <a:latin typeface="Aa花间辞楷书 (非商业使用)" panose="02010600010101010101" pitchFamily="2" charset="-122"/>
                <a:ea typeface="Aa花间辞楷书 (非商业使用)" panose="02010600010101010101" pitchFamily="2" charset="-122"/>
              </a:rPr>
              <a:t>Ekθ</a:t>
            </a:r>
            <a:r>
              <a:rPr lang="zh-CN" altLang="en-US" sz="2400" dirty="0">
                <a:latin typeface="Aa花间辞楷书 (非商业使用)" panose="02010600010101010101" pitchFamily="2" charset="-122"/>
                <a:ea typeface="Aa花间辞楷书 (非商业使用)" panose="02010600010101010101" pitchFamily="2" charset="-122"/>
              </a:rPr>
              <a:t>，则称</a:t>
            </a:r>
            <a:r>
              <a:rPr lang="en-US" altLang="zh-CN" sz="2400" dirty="0">
                <a:latin typeface="Aa花间辞楷书 (非商业使用)" panose="02010600010101010101" pitchFamily="2" charset="-122"/>
                <a:ea typeface="Aa花间辞楷书 (非商业使用)" panose="02010600010101010101" pitchFamily="2" charset="-122"/>
              </a:rPr>
              <a:t>θ</a:t>
            </a:r>
            <a:r>
              <a:rPr lang="zh-CN" altLang="en-US" sz="2400" dirty="0">
                <a:latin typeface="Aa花间辞楷书 (非商业使用)" panose="02010600010101010101" pitchFamily="2" charset="-122"/>
                <a:ea typeface="Aa花间辞楷书 (非商业使用)" panose="02010600010101010101" pitchFamily="2" charset="-122"/>
              </a:rPr>
              <a:t>为</a:t>
            </a:r>
            <a:r>
              <a:rPr lang="en-US" altLang="zh-CN" sz="2400" dirty="0">
                <a:latin typeface="Aa花间辞楷书 (非商业使用)" panose="02010600010101010101" pitchFamily="2" charset="-122"/>
                <a:ea typeface="Aa花间辞楷书 (非商业使用)" panose="02010600010101010101" pitchFamily="2" charset="-122"/>
              </a:rPr>
              <a:t>W</a:t>
            </a:r>
            <a:r>
              <a:rPr lang="zh-CN" altLang="en-US" sz="2400" dirty="0">
                <a:latin typeface="Aa花间辞楷书 (非商业使用)" panose="02010600010101010101" pitchFamily="2" charset="-122"/>
                <a:ea typeface="Aa花间辞楷书 (非商业使用)" panose="02010600010101010101" pitchFamily="2" charset="-122"/>
              </a:rPr>
              <a:t>的合一置换，称</a:t>
            </a:r>
            <a:r>
              <a:rPr lang="en-US" altLang="zh-CN" sz="2400" dirty="0">
                <a:latin typeface="Aa花间辞楷书 (非商业使用)" panose="02010600010101010101" pitchFamily="2" charset="-122"/>
                <a:ea typeface="Aa花间辞楷书 (非商业使用)" panose="02010600010101010101" pitchFamily="2" charset="-122"/>
              </a:rPr>
              <a:t>W</a:t>
            </a:r>
            <a:r>
              <a:rPr lang="zh-CN" altLang="en-US" sz="2400" dirty="0">
                <a:latin typeface="Aa花间辞楷书 (非商业使用)" panose="02010600010101010101" pitchFamily="2" charset="-122"/>
                <a:ea typeface="Aa花间辞楷书 (非商业使用)" panose="02010600010101010101" pitchFamily="2" charset="-122"/>
              </a:rPr>
              <a:t>为可合一的。 </a:t>
            </a:r>
          </a:p>
          <a:p>
            <a:r>
              <a:rPr lang="zh-CN" altLang="en-US" sz="3200" dirty="0">
                <a:latin typeface="Aa花间辞楷书 (非商业使用)" panose="02010600010101010101" pitchFamily="2" charset="-122"/>
                <a:ea typeface="Aa花间辞楷书 (非商业使用)" panose="02010600010101010101" pitchFamily="2" charset="-122"/>
              </a:rPr>
              <a:t>   </a:t>
            </a:r>
            <a:endParaRPr lang="en-US" altLang="zh-CN" sz="3200" dirty="0">
              <a:latin typeface="Aa花间辞楷书 (非商业使用)" panose="02010600010101010101" pitchFamily="2" charset="-122"/>
              <a:ea typeface="Aa花间辞楷书 (非商业使用)" panose="02010600010101010101" pitchFamily="2" charset="-122"/>
            </a:endParaRPr>
          </a:p>
          <a:p>
            <a:pPr algn="ctr"/>
            <a:r>
              <a:rPr lang="en-US" altLang="zh-CN" sz="3200" dirty="0">
                <a:solidFill>
                  <a:srgbClr val="FF0000"/>
                </a:solidFill>
                <a:latin typeface="Aa花间辞楷书 (非商业使用)" panose="02010600010101010101" pitchFamily="2" charset="-122"/>
                <a:ea typeface="Aa花间辞楷书 (非商业使用)" panose="02010600010101010101" pitchFamily="2" charset="-122"/>
              </a:rPr>
              <a:t>UNIFY( </a:t>
            </a:r>
            <a:r>
              <a:rPr lang="en-US" altLang="zh-CN" sz="3200" i="1"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320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sz="3200" i="1"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sz="3200" dirty="0">
                <a:solidFill>
                  <a:srgbClr val="FF0000"/>
                </a:solidFill>
                <a:latin typeface="Aa花间辞楷书 (非商业使用)" panose="02010600010101010101" pitchFamily="2" charset="-122"/>
                <a:ea typeface="Aa花间辞楷书 (非商业使用)" panose="02010600010101010101" pitchFamily="2" charset="-122"/>
              </a:rPr>
              <a:t>) = </a:t>
            </a:r>
            <a:r>
              <a:rPr lang="en-US" altLang="zh-CN" sz="3200" i="1"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sz="3200" dirty="0">
                <a:solidFill>
                  <a:srgbClr val="FF0000"/>
                </a:solidFill>
                <a:latin typeface="Aa花间辞楷书 (非商业使用)" panose="02010600010101010101" pitchFamily="2" charset="-122"/>
                <a:ea typeface="Aa花间辞楷书 (非商业使用)" panose="02010600010101010101" pitchFamily="2" charset="-122"/>
              </a:rPr>
              <a:t> if </a:t>
            </a:r>
            <a:r>
              <a:rPr lang="en-US" altLang="zh-CN" sz="3200" i="1"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3200" dirty="0">
                <a:solidFill>
                  <a:srgbClr val="FF0000"/>
                </a:solidFill>
                <a:latin typeface="Aa花间辞楷书 (非商业使用)" panose="02010600010101010101" pitchFamily="2" charset="-122"/>
                <a:ea typeface="Aa花间辞楷书 (非商业使用)" panose="02010600010101010101" pitchFamily="2" charset="-122"/>
              </a:rPr>
              <a:t> = </a:t>
            </a:r>
            <a:r>
              <a:rPr lang="en-US" altLang="zh-CN" sz="3200" i="1"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endParaRPr lang="en-US" altLang="zh-CN" sz="3200" dirty="0">
              <a:latin typeface="Aa花间辞楷书 (非商业使用)" panose="02010600010101010101" pitchFamily="2" charset="-122"/>
              <a:ea typeface="Aa花间辞楷书 (非商业使用)" panose="02010600010101010101" pitchFamily="2" charset="-122"/>
            </a:endParaRPr>
          </a:p>
          <a:p>
            <a:endParaRPr lang="zh-CN" altLang="en-US" dirty="0"/>
          </a:p>
        </p:txBody>
      </p:sp>
    </p:spTree>
    <p:extLst>
      <p:ext uri="{BB962C8B-B14F-4D97-AF65-F5344CB8AC3E}">
        <p14:creationId xmlns:p14="http://schemas.microsoft.com/office/powerpoint/2010/main" val="25925469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1695B4-5A5D-7F4A-D4CF-F8217DB0248C}"/>
              </a:ext>
            </a:extLst>
          </p:cNvPr>
          <p:cNvSpPr>
            <a:spLocks noGrp="1"/>
          </p:cNvSpPr>
          <p:nvPr>
            <p:ph type="title"/>
          </p:nvPr>
        </p:nvSpPr>
        <p:spPr/>
        <p:txBody>
          <a:bodyPr/>
          <a:lstStyle/>
          <a:p>
            <a:r>
              <a:rPr lang="en-US" altLang="zh-CN" dirty="0"/>
              <a:t>9.2 </a:t>
            </a:r>
            <a:r>
              <a:rPr lang="zh-CN" altLang="en-US" dirty="0"/>
              <a:t>合一与</a:t>
            </a:r>
            <a:r>
              <a:rPr lang="en-US" altLang="zh-CN" dirty="0"/>
              <a:t>GMP</a:t>
            </a:r>
            <a:endParaRPr lang="zh-CN" altLang="en-US" dirty="0"/>
          </a:p>
        </p:txBody>
      </p:sp>
      <p:sp>
        <p:nvSpPr>
          <p:cNvPr id="3" name="内容占位符 2">
            <a:extLst>
              <a:ext uri="{FF2B5EF4-FFF2-40B4-BE49-F238E27FC236}">
                <a16:creationId xmlns:a16="http://schemas.microsoft.com/office/drawing/2014/main" id="{3265A3AF-6EBF-D6D2-506F-FFD063E98E99}"/>
              </a:ext>
            </a:extLst>
          </p:cNvPr>
          <p:cNvSpPr>
            <a:spLocks noGrp="1"/>
          </p:cNvSpPr>
          <p:nvPr>
            <p:ph idx="1"/>
          </p:nvPr>
        </p:nvSpPr>
        <p:spPr/>
        <p:txBody>
          <a:bodyPr/>
          <a:lstStyle/>
          <a:p>
            <a:r>
              <a:rPr lang="en-US" altLang="zh-CN" dirty="0"/>
              <a:t>2.</a:t>
            </a:r>
            <a:r>
              <a:rPr lang="zh-CN" altLang="en-US" dirty="0"/>
              <a:t>合一举例</a:t>
            </a:r>
          </a:p>
          <a:p>
            <a:endParaRPr lang="zh-CN" altLang="en-US" dirty="0"/>
          </a:p>
        </p:txBody>
      </p:sp>
      <p:graphicFrame>
        <p:nvGraphicFramePr>
          <p:cNvPr id="4" name="Group 58">
            <a:extLst>
              <a:ext uri="{FF2B5EF4-FFF2-40B4-BE49-F238E27FC236}">
                <a16:creationId xmlns:a16="http://schemas.microsoft.com/office/drawing/2014/main" id="{1CD356BE-0303-5761-E603-EA9792A84C00}"/>
              </a:ext>
            </a:extLst>
          </p:cNvPr>
          <p:cNvGraphicFramePr>
            <a:graphicFrameLocks noGrp="1"/>
          </p:cNvGraphicFramePr>
          <p:nvPr>
            <p:extLst>
              <p:ext uri="{D42A27DB-BD31-4B8C-83A1-F6EECF244321}">
                <p14:modId xmlns:p14="http://schemas.microsoft.com/office/powerpoint/2010/main" val="2896383503"/>
              </p:ext>
            </p:extLst>
          </p:nvPr>
        </p:nvGraphicFramePr>
        <p:xfrm>
          <a:off x="2034072" y="1393838"/>
          <a:ext cx="8229600" cy="2724151"/>
        </p:xfrm>
        <a:graphic>
          <a:graphicData uri="http://schemas.openxmlformats.org/drawingml/2006/table">
            <a:tbl>
              <a:tblPr/>
              <a:tblGrid>
                <a:gridCol w="2076200">
                  <a:extLst>
                    <a:ext uri="{9D8B030D-6E8A-4147-A177-3AD203B41FA5}">
                      <a16:colId xmlns:a16="http://schemas.microsoft.com/office/drawing/2014/main" val="20000"/>
                    </a:ext>
                  </a:extLst>
                </a:gridCol>
                <a:gridCol w="2816766">
                  <a:extLst>
                    <a:ext uri="{9D8B030D-6E8A-4147-A177-3AD203B41FA5}">
                      <a16:colId xmlns:a16="http://schemas.microsoft.com/office/drawing/2014/main" val="20001"/>
                    </a:ext>
                  </a:extLst>
                </a:gridCol>
                <a:gridCol w="3336634">
                  <a:extLst>
                    <a:ext uri="{9D8B030D-6E8A-4147-A177-3AD203B41FA5}">
                      <a16:colId xmlns:a16="http://schemas.microsoft.com/office/drawing/2014/main" val="20002"/>
                    </a:ext>
                  </a:extLst>
                </a:gridCol>
              </a:tblGrid>
              <a:tr h="5635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p</a:t>
                      </a:r>
                    </a:p>
                  </a:txBody>
                  <a:tcPr horzOverflow="overflow">
                    <a:lnL w="28575"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28575"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a:ln>
                            <a:noFill/>
                          </a:ln>
                          <a:solidFill>
                            <a:srgbClr val="003153"/>
                          </a:solidFill>
                          <a:effectLst/>
                          <a:latin typeface="Times New Roman" pitchFamily="18" charset="0"/>
                          <a:ea typeface="宋体" pitchFamily="2" charset="-122"/>
                        </a:rPr>
                        <a:t>q</a:t>
                      </a:r>
                    </a:p>
                  </a:txBody>
                  <a:tcPr horzOverflow="overflow">
                    <a:lnL w="12700"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28575"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1" u="none" strike="noStrike" cap="none" normalizeH="0" baseline="0" dirty="0">
                          <a:ln>
                            <a:noFill/>
                          </a:ln>
                          <a:solidFill>
                            <a:srgbClr val="FF0000"/>
                          </a:solidFill>
                          <a:effectLst/>
                          <a:latin typeface="Times New Roman" pitchFamily="18" charset="0"/>
                          <a:ea typeface="宋体" pitchFamily="2" charset="-122"/>
                          <a:sym typeface="Symbol" pitchFamily="18" charset="2"/>
                        </a:rPr>
                        <a:t></a:t>
                      </a:r>
                    </a:p>
                  </a:txBody>
                  <a:tcPr horzOverflow="overflow">
                    <a:lnL w="12700" cap="flat" cmpd="sng" algn="ctr">
                      <a:solidFill>
                        <a:srgbClr val="003300"/>
                      </a:solidFill>
                      <a:prstDash val="solid"/>
                      <a:round/>
                      <a:headEnd type="none" w="med" len="med"/>
                      <a:tailEnd type="none" w="med" len="med"/>
                    </a:lnL>
                    <a:lnR w="28575" cap="flat" cmpd="sng" algn="ctr">
                      <a:solidFill>
                        <a:srgbClr val="003300"/>
                      </a:solidFill>
                      <a:prstDash val="solid"/>
                      <a:round/>
                      <a:headEnd type="none" w="med" len="med"/>
                      <a:tailEnd type="none" w="med" len="med"/>
                    </a:lnR>
                    <a:lnT w="28575"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0"/>
                  </a:ext>
                </a:extLst>
              </a:tr>
              <a:tr h="5762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err="1">
                          <a:ln>
                            <a:noFill/>
                          </a:ln>
                          <a:solidFill>
                            <a:srgbClr val="003153"/>
                          </a:solidFill>
                          <a:effectLst/>
                          <a:latin typeface="Times New Roman" pitchFamily="18" charset="0"/>
                          <a:ea typeface="宋体" pitchFamily="2" charset="-122"/>
                        </a:rPr>
                        <a:t>John</a:t>
                      </a:r>
                      <a:r>
                        <a:rPr kumimoji="1" lang="en-US" altLang="zh-CN" sz="2400" b="0" i="0" u="none" strike="noStrike" cap="none" normalizeH="0" baseline="0" dirty="0" err="1">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err="1">
                          <a:ln>
                            <a:noFill/>
                          </a:ln>
                          <a:solidFill>
                            <a:srgbClr val="003153"/>
                          </a:solidFill>
                          <a:effectLst/>
                          <a:latin typeface="Times New Roman" pitchFamily="18" charset="0"/>
                          <a:ea typeface="宋体" pitchFamily="2" charset="-122"/>
                        </a:rPr>
                        <a:t>x</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p>
                  </a:txBody>
                  <a:tcPr horzOverflow="overflow">
                    <a:lnL w="28575"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John</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 Jane</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p>
                  </a:txBody>
                  <a:tcPr horzOverflow="overflow">
                    <a:lnL w="12700"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400" b="1" i="1" u="none" strike="noStrike" cap="none" normalizeH="0" baseline="0" dirty="0">
                        <a:ln>
                          <a:noFill/>
                        </a:ln>
                        <a:solidFill>
                          <a:srgbClr val="003153"/>
                        </a:solidFill>
                        <a:effectLst/>
                        <a:latin typeface="Times New Roman" pitchFamily="18" charset="0"/>
                        <a:ea typeface="宋体" pitchFamily="2" charset="-122"/>
                      </a:endParaRPr>
                    </a:p>
                  </a:txBody>
                  <a:tcPr horzOverflow="overflow">
                    <a:lnL w="12700" cap="flat" cmpd="sng" algn="ctr">
                      <a:solidFill>
                        <a:srgbClr val="003300"/>
                      </a:solidFill>
                      <a:prstDash val="solid"/>
                      <a:round/>
                      <a:headEnd type="none" w="med" len="med"/>
                      <a:tailEnd type="none" w="med" len="med"/>
                    </a:lnL>
                    <a:lnR w="28575"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1"/>
                  </a:ext>
                </a:extLst>
              </a:tr>
              <a:tr h="574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a:ln>
                            <a:noFill/>
                          </a:ln>
                          <a:solidFill>
                            <a:srgbClr val="003153"/>
                          </a:solidFill>
                          <a:effectLst/>
                          <a:latin typeface="Times New Roman" pitchFamily="18" charset="0"/>
                          <a:ea typeface="宋体" pitchFamily="2" charset="-122"/>
                        </a:rPr>
                        <a:t>John</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a:ln>
                            <a:noFill/>
                          </a:ln>
                          <a:solidFill>
                            <a:srgbClr val="003153"/>
                          </a:solidFill>
                          <a:effectLst/>
                          <a:latin typeface="Times New Roman" pitchFamily="18" charset="0"/>
                          <a:ea typeface="宋体" pitchFamily="2" charset="-122"/>
                        </a:rPr>
                        <a:t>x</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p>
                  </a:txBody>
                  <a:tcPr horzOverflow="overflow">
                    <a:lnL w="28575"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y</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 </a:t>
                      </a: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OJ</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p>
                  </a:txBody>
                  <a:tcPr horzOverflow="overflow">
                    <a:lnL w="12700"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400" b="1" i="0" u="none" strike="noStrike" cap="none" normalizeH="0" baseline="0" dirty="0">
                        <a:ln>
                          <a:noFill/>
                        </a:ln>
                        <a:solidFill>
                          <a:srgbClr val="003153"/>
                        </a:solidFill>
                        <a:effectLst/>
                        <a:latin typeface="Times New Roman" pitchFamily="18" charset="0"/>
                        <a:ea typeface="宋体" pitchFamily="2" charset="-122"/>
                      </a:endParaRPr>
                    </a:p>
                  </a:txBody>
                  <a:tcPr horzOverflow="overflow">
                    <a:lnL w="12700" cap="flat" cmpd="sng" algn="ctr">
                      <a:solidFill>
                        <a:srgbClr val="003300"/>
                      </a:solidFill>
                      <a:prstDash val="solid"/>
                      <a:round/>
                      <a:headEnd type="none" w="med" len="med"/>
                      <a:tailEnd type="none" w="med" len="med"/>
                    </a:lnL>
                    <a:lnR w="28575"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2"/>
                  </a:ext>
                </a:extLst>
              </a:tr>
              <a:tr h="5048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a:ln>
                            <a:noFill/>
                          </a:ln>
                          <a:solidFill>
                            <a:srgbClr val="003153"/>
                          </a:solidFill>
                          <a:effectLst/>
                          <a:latin typeface="Times New Roman" pitchFamily="18" charset="0"/>
                          <a:ea typeface="宋体" pitchFamily="2" charset="-122"/>
                        </a:rPr>
                        <a:t>John</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a:ln>
                            <a:noFill/>
                          </a:ln>
                          <a:solidFill>
                            <a:srgbClr val="003153"/>
                          </a:solidFill>
                          <a:effectLst/>
                          <a:latin typeface="Times New Roman" pitchFamily="18" charset="0"/>
                          <a:ea typeface="宋体" pitchFamily="2" charset="-122"/>
                        </a:rPr>
                        <a:t>x</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p>
                  </a:txBody>
                  <a:tcPr horzOverflow="overflow">
                    <a:lnL w="28575"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a:ln>
                            <a:noFill/>
                          </a:ln>
                          <a:solidFill>
                            <a:srgbClr val="003153"/>
                          </a:solidFill>
                          <a:effectLst/>
                          <a:latin typeface="Times New Roman" pitchFamily="18" charset="0"/>
                          <a:ea typeface="宋体" pitchFamily="2" charset="-122"/>
                        </a:rPr>
                        <a:t>y</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 </a:t>
                      </a:r>
                      <a:r>
                        <a:rPr kumimoji="1" lang="en-US" altLang="zh-CN" sz="2400" b="0" i="1" u="none" strike="noStrike" cap="none" normalizeH="0" baseline="0">
                          <a:ln>
                            <a:noFill/>
                          </a:ln>
                          <a:solidFill>
                            <a:srgbClr val="003153"/>
                          </a:solidFill>
                          <a:effectLst/>
                          <a:latin typeface="Times New Roman" pitchFamily="18" charset="0"/>
                          <a:ea typeface="宋体" pitchFamily="2" charset="-122"/>
                        </a:rPr>
                        <a:t>Mother</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a:ln>
                            <a:noFill/>
                          </a:ln>
                          <a:solidFill>
                            <a:srgbClr val="003153"/>
                          </a:solidFill>
                          <a:effectLst/>
                          <a:latin typeface="Times New Roman" pitchFamily="18" charset="0"/>
                          <a:ea typeface="宋体" pitchFamily="2" charset="-122"/>
                        </a:rPr>
                        <a:t>y</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p>
                  </a:txBody>
                  <a:tcPr horzOverflow="overflow">
                    <a:lnL w="12700"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400" b="1" i="0" u="none" strike="noStrike" cap="none" normalizeH="0" baseline="0" dirty="0">
                        <a:ln>
                          <a:noFill/>
                        </a:ln>
                        <a:solidFill>
                          <a:srgbClr val="003153"/>
                        </a:solidFill>
                        <a:effectLst/>
                        <a:latin typeface="Times New Roman" pitchFamily="18" charset="0"/>
                        <a:ea typeface="宋体" pitchFamily="2" charset="-122"/>
                      </a:endParaRPr>
                    </a:p>
                  </a:txBody>
                  <a:tcPr horzOverflow="overflow">
                    <a:lnL w="12700" cap="flat" cmpd="sng" algn="ctr">
                      <a:solidFill>
                        <a:srgbClr val="003300"/>
                      </a:solidFill>
                      <a:prstDash val="solid"/>
                      <a:round/>
                      <a:headEnd type="none" w="med" len="med"/>
                      <a:tailEnd type="none" w="med" len="med"/>
                    </a:lnL>
                    <a:lnR w="28575"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3"/>
                  </a:ext>
                </a:extLst>
              </a:tr>
              <a:tr h="5048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err="1">
                          <a:ln>
                            <a:noFill/>
                          </a:ln>
                          <a:solidFill>
                            <a:srgbClr val="003153"/>
                          </a:solidFill>
                          <a:effectLst/>
                          <a:latin typeface="Times New Roman" pitchFamily="18" charset="0"/>
                          <a:ea typeface="宋体" pitchFamily="2" charset="-122"/>
                        </a:rPr>
                        <a:t>John</a:t>
                      </a:r>
                      <a:r>
                        <a:rPr kumimoji="1" lang="en-US" altLang="zh-CN" sz="2400" b="0" i="0" u="none" strike="noStrike" cap="none" normalizeH="0" baseline="0" dirty="0" err="1">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err="1">
                          <a:ln>
                            <a:noFill/>
                          </a:ln>
                          <a:solidFill>
                            <a:srgbClr val="003153"/>
                          </a:solidFill>
                          <a:effectLst/>
                          <a:latin typeface="Times New Roman" pitchFamily="18" charset="0"/>
                          <a:ea typeface="宋体" pitchFamily="2" charset="-122"/>
                        </a:rPr>
                        <a:t>x</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p>
                  </a:txBody>
                  <a:tcPr horzOverflow="overflow">
                    <a:lnL w="28575"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28575"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x</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 </a:t>
                      </a: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OJ</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p>
                  </a:txBody>
                  <a:tcPr horzOverflow="overflow">
                    <a:lnL w="12700"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28575"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400" b="1" i="1" u="none" strike="noStrike" cap="none" normalizeH="0" baseline="0" dirty="0">
                        <a:ln>
                          <a:noFill/>
                        </a:ln>
                        <a:solidFill>
                          <a:srgbClr val="003153"/>
                        </a:solidFill>
                        <a:effectLst/>
                        <a:latin typeface="Times New Roman" pitchFamily="18" charset="0"/>
                        <a:ea typeface="宋体" pitchFamily="2" charset="-122"/>
                      </a:endParaRPr>
                    </a:p>
                  </a:txBody>
                  <a:tcPr horzOverflow="overflow">
                    <a:lnL w="12700" cap="flat" cmpd="sng" algn="ctr">
                      <a:solidFill>
                        <a:srgbClr val="003300"/>
                      </a:solidFill>
                      <a:prstDash val="solid"/>
                      <a:round/>
                      <a:headEnd type="none" w="med" len="med"/>
                      <a:tailEnd type="none" w="med" len="med"/>
                    </a:lnL>
                    <a:lnR w="28575"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28575" cap="flat" cmpd="sng" algn="ctr">
                      <a:solidFill>
                        <a:srgbClr val="0033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51519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1695B4-5A5D-7F4A-D4CF-F8217DB0248C}"/>
              </a:ext>
            </a:extLst>
          </p:cNvPr>
          <p:cNvSpPr>
            <a:spLocks noGrp="1"/>
          </p:cNvSpPr>
          <p:nvPr>
            <p:ph type="title"/>
          </p:nvPr>
        </p:nvSpPr>
        <p:spPr/>
        <p:txBody>
          <a:bodyPr/>
          <a:lstStyle/>
          <a:p>
            <a:r>
              <a:rPr lang="en-US" altLang="zh-CN" dirty="0"/>
              <a:t>9.2 </a:t>
            </a:r>
            <a:r>
              <a:rPr lang="zh-CN" altLang="en-US" dirty="0"/>
              <a:t>合一与</a:t>
            </a:r>
            <a:r>
              <a:rPr lang="en-US" altLang="zh-CN" dirty="0"/>
              <a:t>GMP</a:t>
            </a:r>
            <a:endParaRPr lang="zh-CN" altLang="en-US" dirty="0"/>
          </a:p>
        </p:txBody>
      </p:sp>
      <p:sp>
        <p:nvSpPr>
          <p:cNvPr id="3" name="内容占位符 2">
            <a:extLst>
              <a:ext uri="{FF2B5EF4-FFF2-40B4-BE49-F238E27FC236}">
                <a16:creationId xmlns:a16="http://schemas.microsoft.com/office/drawing/2014/main" id="{3265A3AF-6EBF-D6D2-506F-FFD063E98E99}"/>
              </a:ext>
            </a:extLst>
          </p:cNvPr>
          <p:cNvSpPr>
            <a:spLocks noGrp="1"/>
          </p:cNvSpPr>
          <p:nvPr>
            <p:ph idx="1"/>
          </p:nvPr>
        </p:nvSpPr>
        <p:spPr/>
        <p:txBody>
          <a:bodyPr/>
          <a:lstStyle/>
          <a:p>
            <a:r>
              <a:rPr lang="en-US" altLang="zh-CN" dirty="0"/>
              <a:t>2.</a:t>
            </a:r>
            <a:r>
              <a:rPr lang="zh-CN" altLang="en-US" dirty="0"/>
              <a:t>合一举例</a:t>
            </a:r>
          </a:p>
          <a:p>
            <a:endParaRPr lang="zh-CN" altLang="en-US" dirty="0"/>
          </a:p>
        </p:txBody>
      </p:sp>
      <p:graphicFrame>
        <p:nvGraphicFramePr>
          <p:cNvPr id="4" name="Group 58">
            <a:extLst>
              <a:ext uri="{FF2B5EF4-FFF2-40B4-BE49-F238E27FC236}">
                <a16:creationId xmlns:a16="http://schemas.microsoft.com/office/drawing/2014/main" id="{1CD356BE-0303-5761-E603-EA9792A84C00}"/>
              </a:ext>
            </a:extLst>
          </p:cNvPr>
          <p:cNvGraphicFramePr>
            <a:graphicFrameLocks noGrp="1"/>
          </p:cNvGraphicFramePr>
          <p:nvPr>
            <p:extLst>
              <p:ext uri="{D42A27DB-BD31-4B8C-83A1-F6EECF244321}">
                <p14:modId xmlns:p14="http://schemas.microsoft.com/office/powerpoint/2010/main" val="95274919"/>
              </p:ext>
            </p:extLst>
          </p:nvPr>
        </p:nvGraphicFramePr>
        <p:xfrm>
          <a:off x="2034072" y="1393838"/>
          <a:ext cx="8229600" cy="2724151"/>
        </p:xfrm>
        <a:graphic>
          <a:graphicData uri="http://schemas.openxmlformats.org/drawingml/2006/table">
            <a:tbl>
              <a:tblPr/>
              <a:tblGrid>
                <a:gridCol w="2076200">
                  <a:extLst>
                    <a:ext uri="{9D8B030D-6E8A-4147-A177-3AD203B41FA5}">
                      <a16:colId xmlns:a16="http://schemas.microsoft.com/office/drawing/2014/main" val="20000"/>
                    </a:ext>
                  </a:extLst>
                </a:gridCol>
                <a:gridCol w="2816766">
                  <a:extLst>
                    <a:ext uri="{9D8B030D-6E8A-4147-A177-3AD203B41FA5}">
                      <a16:colId xmlns:a16="http://schemas.microsoft.com/office/drawing/2014/main" val="20001"/>
                    </a:ext>
                  </a:extLst>
                </a:gridCol>
                <a:gridCol w="3336634">
                  <a:extLst>
                    <a:ext uri="{9D8B030D-6E8A-4147-A177-3AD203B41FA5}">
                      <a16:colId xmlns:a16="http://schemas.microsoft.com/office/drawing/2014/main" val="20002"/>
                    </a:ext>
                  </a:extLst>
                </a:gridCol>
              </a:tblGrid>
              <a:tr h="5635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p</a:t>
                      </a:r>
                    </a:p>
                  </a:txBody>
                  <a:tcPr horzOverflow="overflow">
                    <a:lnL w="28575"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28575"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a:ln>
                            <a:noFill/>
                          </a:ln>
                          <a:solidFill>
                            <a:srgbClr val="003153"/>
                          </a:solidFill>
                          <a:effectLst/>
                          <a:latin typeface="Times New Roman" pitchFamily="18" charset="0"/>
                          <a:ea typeface="宋体" pitchFamily="2" charset="-122"/>
                        </a:rPr>
                        <a:t>q</a:t>
                      </a:r>
                    </a:p>
                  </a:txBody>
                  <a:tcPr horzOverflow="overflow">
                    <a:lnL w="12700"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28575"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1" u="none" strike="noStrike" cap="none" normalizeH="0" baseline="0">
                          <a:ln>
                            <a:noFill/>
                          </a:ln>
                          <a:solidFill>
                            <a:srgbClr val="003153"/>
                          </a:solidFill>
                          <a:effectLst/>
                          <a:latin typeface="Times New Roman" pitchFamily="18" charset="0"/>
                          <a:ea typeface="宋体" pitchFamily="2" charset="-122"/>
                          <a:sym typeface="Symbol" pitchFamily="18" charset="2"/>
                        </a:rPr>
                        <a:t></a:t>
                      </a:r>
                    </a:p>
                  </a:txBody>
                  <a:tcPr horzOverflow="overflow">
                    <a:lnL w="12700" cap="flat" cmpd="sng" algn="ctr">
                      <a:solidFill>
                        <a:srgbClr val="003300"/>
                      </a:solidFill>
                      <a:prstDash val="solid"/>
                      <a:round/>
                      <a:headEnd type="none" w="med" len="med"/>
                      <a:tailEnd type="none" w="med" len="med"/>
                    </a:lnL>
                    <a:lnR w="28575" cap="flat" cmpd="sng" algn="ctr">
                      <a:solidFill>
                        <a:srgbClr val="003300"/>
                      </a:solidFill>
                      <a:prstDash val="solid"/>
                      <a:round/>
                      <a:headEnd type="none" w="med" len="med"/>
                      <a:tailEnd type="none" w="med" len="med"/>
                    </a:lnR>
                    <a:lnT w="28575"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0"/>
                  </a:ext>
                </a:extLst>
              </a:tr>
              <a:tr h="5762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err="1">
                          <a:ln>
                            <a:noFill/>
                          </a:ln>
                          <a:solidFill>
                            <a:srgbClr val="003153"/>
                          </a:solidFill>
                          <a:effectLst/>
                          <a:latin typeface="Times New Roman" pitchFamily="18" charset="0"/>
                          <a:ea typeface="宋体" pitchFamily="2" charset="-122"/>
                        </a:rPr>
                        <a:t>John</a:t>
                      </a:r>
                      <a:r>
                        <a:rPr kumimoji="1" lang="en-US" altLang="zh-CN" sz="2400" b="0" i="0" u="none" strike="noStrike" cap="none" normalizeH="0" baseline="0" dirty="0" err="1">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err="1">
                          <a:ln>
                            <a:noFill/>
                          </a:ln>
                          <a:solidFill>
                            <a:srgbClr val="003153"/>
                          </a:solidFill>
                          <a:effectLst/>
                          <a:latin typeface="Times New Roman" pitchFamily="18" charset="0"/>
                          <a:ea typeface="宋体" pitchFamily="2" charset="-122"/>
                        </a:rPr>
                        <a:t>x</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p>
                  </a:txBody>
                  <a:tcPr horzOverflow="overflow">
                    <a:lnL w="28575"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John</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 Jane</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p>
                  </a:txBody>
                  <a:tcPr horzOverflow="overflow">
                    <a:lnL w="12700"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400" b="1" i="1" u="none" strike="noStrike" cap="none" normalizeH="0" baseline="0" dirty="0">
                          <a:ln>
                            <a:noFill/>
                          </a:ln>
                          <a:solidFill>
                            <a:srgbClr val="FF0000"/>
                          </a:solidFill>
                          <a:effectLst/>
                          <a:latin typeface="Times New Roman" pitchFamily="18" charset="0"/>
                          <a:ea typeface="+mn-ea"/>
                        </a:rPr>
                        <a:t>{x/Jane}</a:t>
                      </a:r>
                      <a:endParaRPr kumimoji="1" lang="en-US" altLang="zh-CN" sz="2400" b="1" i="1" u="none" strike="noStrike" cap="none" normalizeH="0" baseline="0" dirty="0">
                        <a:ln>
                          <a:noFill/>
                        </a:ln>
                        <a:solidFill>
                          <a:srgbClr val="FF0000"/>
                        </a:solidFill>
                        <a:effectLst/>
                        <a:latin typeface="Times New Roman" pitchFamily="18" charset="0"/>
                        <a:ea typeface="宋体" pitchFamily="2" charset="-122"/>
                      </a:endParaRPr>
                    </a:p>
                  </a:txBody>
                  <a:tcPr horzOverflow="overflow">
                    <a:lnL w="12700" cap="flat" cmpd="sng" algn="ctr">
                      <a:solidFill>
                        <a:srgbClr val="003300"/>
                      </a:solidFill>
                      <a:prstDash val="solid"/>
                      <a:round/>
                      <a:headEnd type="none" w="med" len="med"/>
                      <a:tailEnd type="none" w="med" len="med"/>
                    </a:lnL>
                    <a:lnR w="28575"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1"/>
                  </a:ext>
                </a:extLst>
              </a:tr>
              <a:tr h="574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a:ln>
                            <a:noFill/>
                          </a:ln>
                          <a:solidFill>
                            <a:srgbClr val="003153"/>
                          </a:solidFill>
                          <a:effectLst/>
                          <a:latin typeface="Times New Roman" pitchFamily="18" charset="0"/>
                          <a:ea typeface="宋体" pitchFamily="2" charset="-122"/>
                        </a:rPr>
                        <a:t>John</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a:ln>
                            <a:noFill/>
                          </a:ln>
                          <a:solidFill>
                            <a:srgbClr val="003153"/>
                          </a:solidFill>
                          <a:effectLst/>
                          <a:latin typeface="Times New Roman" pitchFamily="18" charset="0"/>
                          <a:ea typeface="宋体" pitchFamily="2" charset="-122"/>
                        </a:rPr>
                        <a:t>x</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p>
                  </a:txBody>
                  <a:tcPr horzOverflow="overflow">
                    <a:lnL w="28575"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y</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 </a:t>
                      </a: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OJ</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p>
                  </a:txBody>
                  <a:tcPr horzOverflow="overflow">
                    <a:lnL w="12700"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400" b="1" i="0" u="none" strike="noStrike" cap="none" normalizeH="0" baseline="0" dirty="0">
                        <a:ln>
                          <a:noFill/>
                        </a:ln>
                        <a:solidFill>
                          <a:srgbClr val="003153"/>
                        </a:solidFill>
                        <a:effectLst/>
                        <a:latin typeface="Times New Roman" pitchFamily="18" charset="0"/>
                        <a:ea typeface="宋体" pitchFamily="2" charset="-122"/>
                      </a:endParaRPr>
                    </a:p>
                  </a:txBody>
                  <a:tcPr horzOverflow="overflow">
                    <a:lnL w="12700" cap="flat" cmpd="sng" algn="ctr">
                      <a:solidFill>
                        <a:srgbClr val="003300"/>
                      </a:solidFill>
                      <a:prstDash val="solid"/>
                      <a:round/>
                      <a:headEnd type="none" w="med" len="med"/>
                      <a:tailEnd type="none" w="med" len="med"/>
                    </a:lnL>
                    <a:lnR w="28575"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2"/>
                  </a:ext>
                </a:extLst>
              </a:tr>
              <a:tr h="5048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a:ln>
                            <a:noFill/>
                          </a:ln>
                          <a:solidFill>
                            <a:srgbClr val="003153"/>
                          </a:solidFill>
                          <a:effectLst/>
                          <a:latin typeface="Times New Roman" pitchFamily="18" charset="0"/>
                          <a:ea typeface="宋体" pitchFamily="2" charset="-122"/>
                        </a:rPr>
                        <a:t>John</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a:ln>
                            <a:noFill/>
                          </a:ln>
                          <a:solidFill>
                            <a:srgbClr val="003153"/>
                          </a:solidFill>
                          <a:effectLst/>
                          <a:latin typeface="Times New Roman" pitchFamily="18" charset="0"/>
                          <a:ea typeface="宋体" pitchFamily="2" charset="-122"/>
                        </a:rPr>
                        <a:t>x</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p>
                  </a:txBody>
                  <a:tcPr horzOverflow="overflow">
                    <a:lnL w="28575"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a:ln>
                            <a:noFill/>
                          </a:ln>
                          <a:solidFill>
                            <a:srgbClr val="003153"/>
                          </a:solidFill>
                          <a:effectLst/>
                          <a:latin typeface="Times New Roman" pitchFamily="18" charset="0"/>
                          <a:ea typeface="宋体" pitchFamily="2" charset="-122"/>
                        </a:rPr>
                        <a:t>y</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 </a:t>
                      </a:r>
                      <a:r>
                        <a:rPr kumimoji="1" lang="en-US" altLang="zh-CN" sz="2400" b="0" i="1" u="none" strike="noStrike" cap="none" normalizeH="0" baseline="0">
                          <a:ln>
                            <a:noFill/>
                          </a:ln>
                          <a:solidFill>
                            <a:srgbClr val="003153"/>
                          </a:solidFill>
                          <a:effectLst/>
                          <a:latin typeface="Times New Roman" pitchFamily="18" charset="0"/>
                          <a:ea typeface="宋体" pitchFamily="2" charset="-122"/>
                        </a:rPr>
                        <a:t>Mother</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a:ln>
                            <a:noFill/>
                          </a:ln>
                          <a:solidFill>
                            <a:srgbClr val="003153"/>
                          </a:solidFill>
                          <a:effectLst/>
                          <a:latin typeface="Times New Roman" pitchFamily="18" charset="0"/>
                          <a:ea typeface="宋体" pitchFamily="2" charset="-122"/>
                        </a:rPr>
                        <a:t>y</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p>
                  </a:txBody>
                  <a:tcPr horzOverflow="overflow">
                    <a:lnL w="12700"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400" b="1" i="0" u="none" strike="noStrike" cap="none" normalizeH="0" baseline="0" dirty="0">
                        <a:ln>
                          <a:noFill/>
                        </a:ln>
                        <a:solidFill>
                          <a:srgbClr val="003153"/>
                        </a:solidFill>
                        <a:effectLst/>
                        <a:latin typeface="Times New Roman" pitchFamily="18" charset="0"/>
                        <a:ea typeface="宋体" pitchFamily="2" charset="-122"/>
                      </a:endParaRPr>
                    </a:p>
                  </a:txBody>
                  <a:tcPr horzOverflow="overflow">
                    <a:lnL w="12700" cap="flat" cmpd="sng" algn="ctr">
                      <a:solidFill>
                        <a:srgbClr val="003300"/>
                      </a:solidFill>
                      <a:prstDash val="solid"/>
                      <a:round/>
                      <a:headEnd type="none" w="med" len="med"/>
                      <a:tailEnd type="none" w="med" len="med"/>
                    </a:lnL>
                    <a:lnR w="28575"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3"/>
                  </a:ext>
                </a:extLst>
              </a:tr>
              <a:tr h="5048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err="1">
                          <a:ln>
                            <a:noFill/>
                          </a:ln>
                          <a:solidFill>
                            <a:srgbClr val="003153"/>
                          </a:solidFill>
                          <a:effectLst/>
                          <a:latin typeface="Times New Roman" pitchFamily="18" charset="0"/>
                          <a:ea typeface="宋体" pitchFamily="2" charset="-122"/>
                        </a:rPr>
                        <a:t>John</a:t>
                      </a:r>
                      <a:r>
                        <a:rPr kumimoji="1" lang="en-US" altLang="zh-CN" sz="2400" b="0" i="0" u="none" strike="noStrike" cap="none" normalizeH="0" baseline="0" dirty="0" err="1">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err="1">
                          <a:ln>
                            <a:noFill/>
                          </a:ln>
                          <a:solidFill>
                            <a:srgbClr val="003153"/>
                          </a:solidFill>
                          <a:effectLst/>
                          <a:latin typeface="Times New Roman" pitchFamily="18" charset="0"/>
                          <a:ea typeface="宋体" pitchFamily="2" charset="-122"/>
                        </a:rPr>
                        <a:t>x</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p>
                  </a:txBody>
                  <a:tcPr horzOverflow="overflow">
                    <a:lnL w="28575"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28575"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x</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 </a:t>
                      </a: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OJ</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p>
                  </a:txBody>
                  <a:tcPr horzOverflow="overflow">
                    <a:lnL w="12700"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28575"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400" b="1" i="1" u="none" strike="noStrike" cap="none" normalizeH="0" baseline="0" dirty="0">
                        <a:ln>
                          <a:noFill/>
                        </a:ln>
                        <a:solidFill>
                          <a:srgbClr val="003153"/>
                        </a:solidFill>
                        <a:effectLst/>
                        <a:latin typeface="Times New Roman" pitchFamily="18" charset="0"/>
                        <a:ea typeface="宋体" pitchFamily="2" charset="-122"/>
                      </a:endParaRPr>
                    </a:p>
                  </a:txBody>
                  <a:tcPr horzOverflow="overflow">
                    <a:lnL w="12700" cap="flat" cmpd="sng" algn="ctr">
                      <a:solidFill>
                        <a:srgbClr val="003300"/>
                      </a:solidFill>
                      <a:prstDash val="solid"/>
                      <a:round/>
                      <a:headEnd type="none" w="med" len="med"/>
                      <a:tailEnd type="none" w="med" len="med"/>
                    </a:lnL>
                    <a:lnR w="28575"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28575" cap="flat" cmpd="sng" algn="ctr">
                      <a:solidFill>
                        <a:srgbClr val="0033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967536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1695B4-5A5D-7F4A-D4CF-F8217DB0248C}"/>
              </a:ext>
            </a:extLst>
          </p:cNvPr>
          <p:cNvSpPr>
            <a:spLocks noGrp="1"/>
          </p:cNvSpPr>
          <p:nvPr>
            <p:ph type="title"/>
          </p:nvPr>
        </p:nvSpPr>
        <p:spPr/>
        <p:txBody>
          <a:bodyPr/>
          <a:lstStyle/>
          <a:p>
            <a:r>
              <a:rPr lang="en-US" altLang="zh-CN" dirty="0"/>
              <a:t>9.2 </a:t>
            </a:r>
            <a:r>
              <a:rPr lang="zh-CN" altLang="en-US" dirty="0"/>
              <a:t>合一与</a:t>
            </a:r>
            <a:r>
              <a:rPr lang="en-US" altLang="zh-CN" dirty="0"/>
              <a:t>GMP</a:t>
            </a:r>
            <a:endParaRPr lang="zh-CN" altLang="en-US" dirty="0"/>
          </a:p>
        </p:txBody>
      </p:sp>
      <p:sp>
        <p:nvSpPr>
          <p:cNvPr id="3" name="内容占位符 2">
            <a:extLst>
              <a:ext uri="{FF2B5EF4-FFF2-40B4-BE49-F238E27FC236}">
                <a16:creationId xmlns:a16="http://schemas.microsoft.com/office/drawing/2014/main" id="{3265A3AF-6EBF-D6D2-506F-FFD063E98E99}"/>
              </a:ext>
            </a:extLst>
          </p:cNvPr>
          <p:cNvSpPr>
            <a:spLocks noGrp="1"/>
          </p:cNvSpPr>
          <p:nvPr>
            <p:ph idx="1"/>
          </p:nvPr>
        </p:nvSpPr>
        <p:spPr/>
        <p:txBody>
          <a:bodyPr/>
          <a:lstStyle/>
          <a:p>
            <a:r>
              <a:rPr lang="en-US" altLang="zh-CN" dirty="0"/>
              <a:t>2.</a:t>
            </a:r>
            <a:r>
              <a:rPr lang="zh-CN" altLang="en-US" dirty="0"/>
              <a:t>合一举例</a:t>
            </a:r>
          </a:p>
          <a:p>
            <a:endParaRPr lang="zh-CN" altLang="en-US" dirty="0"/>
          </a:p>
        </p:txBody>
      </p:sp>
      <p:graphicFrame>
        <p:nvGraphicFramePr>
          <p:cNvPr id="4" name="Group 58">
            <a:extLst>
              <a:ext uri="{FF2B5EF4-FFF2-40B4-BE49-F238E27FC236}">
                <a16:creationId xmlns:a16="http://schemas.microsoft.com/office/drawing/2014/main" id="{1CD356BE-0303-5761-E603-EA9792A84C00}"/>
              </a:ext>
            </a:extLst>
          </p:cNvPr>
          <p:cNvGraphicFramePr>
            <a:graphicFrameLocks noGrp="1"/>
          </p:cNvGraphicFramePr>
          <p:nvPr>
            <p:extLst>
              <p:ext uri="{D42A27DB-BD31-4B8C-83A1-F6EECF244321}">
                <p14:modId xmlns:p14="http://schemas.microsoft.com/office/powerpoint/2010/main" val="1690487676"/>
              </p:ext>
            </p:extLst>
          </p:nvPr>
        </p:nvGraphicFramePr>
        <p:xfrm>
          <a:off x="2034072" y="1393838"/>
          <a:ext cx="8633928" cy="2724151"/>
        </p:xfrm>
        <a:graphic>
          <a:graphicData uri="http://schemas.openxmlformats.org/drawingml/2006/table">
            <a:tbl>
              <a:tblPr/>
              <a:tblGrid>
                <a:gridCol w="2178206">
                  <a:extLst>
                    <a:ext uri="{9D8B030D-6E8A-4147-A177-3AD203B41FA5}">
                      <a16:colId xmlns:a16="http://schemas.microsoft.com/office/drawing/2014/main" val="20000"/>
                    </a:ext>
                  </a:extLst>
                </a:gridCol>
                <a:gridCol w="2955156">
                  <a:extLst>
                    <a:ext uri="{9D8B030D-6E8A-4147-A177-3AD203B41FA5}">
                      <a16:colId xmlns:a16="http://schemas.microsoft.com/office/drawing/2014/main" val="20001"/>
                    </a:ext>
                  </a:extLst>
                </a:gridCol>
                <a:gridCol w="3500566">
                  <a:extLst>
                    <a:ext uri="{9D8B030D-6E8A-4147-A177-3AD203B41FA5}">
                      <a16:colId xmlns:a16="http://schemas.microsoft.com/office/drawing/2014/main" val="20002"/>
                    </a:ext>
                  </a:extLst>
                </a:gridCol>
              </a:tblGrid>
              <a:tr h="5635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p</a:t>
                      </a:r>
                    </a:p>
                  </a:txBody>
                  <a:tcPr horzOverflow="overflow">
                    <a:lnL w="28575"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28575"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a:ln>
                            <a:noFill/>
                          </a:ln>
                          <a:solidFill>
                            <a:srgbClr val="003153"/>
                          </a:solidFill>
                          <a:effectLst/>
                          <a:latin typeface="Times New Roman" pitchFamily="18" charset="0"/>
                          <a:ea typeface="宋体" pitchFamily="2" charset="-122"/>
                        </a:rPr>
                        <a:t>q</a:t>
                      </a:r>
                    </a:p>
                  </a:txBody>
                  <a:tcPr horzOverflow="overflow">
                    <a:lnL w="12700"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28575"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1" u="none" strike="noStrike" cap="none" normalizeH="0" baseline="0">
                          <a:ln>
                            <a:noFill/>
                          </a:ln>
                          <a:solidFill>
                            <a:srgbClr val="003153"/>
                          </a:solidFill>
                          <a:effectLst/>
                          <a:latin typeface="Times New Roman" pitchFamily="18" charset="0"/>
                          <a:ea typeface="宋体" pitchFamily="2" charset="-122"/>
                          <a:sym typeface="Symbol" pitchFamily="18" charset="2"/>
                        </a:rPr>
                        <a:t></a:t>
                      </a:r>
                    </a:p>
                  </a:txBody>
                  <a:tcPr horzOverflow="overflow">
                    <a:lnL w="12700" cap="flat" cmpd="sng" algn="ctr">
                      <a:solidFill>
                        <a:srgbClr val="003300"/>
                      </a:solidFill>
                      <a:prstDash val="solid"/>
                      <a:round/>
                      <a:headEnd type="none" w="med" len="med"/>
                      <a:tailEnd type="none" w="med" len="med"/>
                    </a:lnL>
                    <a:lnR w="28575" cap="flat" cmpd="sng" algn="ctr">
                      <a:solidFill>
                        <a:srgbClr val="003300"/>
                      </a:solidFill>
                      <a:prstDash val="solid"/>
                      <a:round/>
                      <a:headEnd type="none" w="med" len="med"/>
                      <a:tailEnd type="none" w="med" len="med"/>
                    </a:lnR>
                    <a:lnT w="28575"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0"/>
                  </a:ext>
                </a:extLst>
              </a:tr>
              <a:tr h="5762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err="1">
                          <a:ln>
                            <a:noFill/>
                          </a:ln>
                          <a:solidFill>
                            <a:srgbClr val="003153"/>
                          </a:solidFill>
                          <a:effectLst/>
                          <a:latin typeface="Times New Roman" pitchFamily="18" charset="0"/>
                          <a:ea typeface="宋体" pitchFamily="2" charset="-122"/>
                        </a:rPr>
                        <a:t>John</a:t>
                      </a:r>
                      <a:r>
                        <a:rPr kumimoji="1" lang="en-US" altLang="zh-CN" sz="2400" b="0" i="0" u="none" strike="noStrike" cap="none" normalizeH="0" baseline="0" dirty="0" err="1">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err="1">
                          <a:ln>
                            <a:noFill/>
                          </a:ln>
                          <a:solidFill>
                            <a:srgbClr val="003153"/>
                          </a:solidFill>
                          <a:effectLst/>
                          <a:latin typeface="Times New Roman" pitchFamily="18" charset="0"/>
                          <a:ea typeface="宋体" pitchFamily="2" charset="-122"/>
                        </a:rPr>
                        <a:t>x</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p>
                  </a:txBody>
                  <a:tcPr horzOverflow="overflow">
                    <a:lnL w="28575"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John</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 Jane</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p>
                  </a:txBody>
                  <a:tcPr horzOverflow="overflow">
                    <a:lnL w="12700"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400" b="1" i="1" u="none" strike="noStrike" cap="none" normalizeH="0" baseline="0" dirty="0">
                          <a:ln>
                            <a:noFill/>
                          </a:ln>
                          <a:solidFill>
                            <a:srgbClr val="FF0000"/>
                          </a:solidFill>
                          <a:effectLst/>
                          <a:latin typeface="Times New Roman" pitchFamily="18" charset="0"/>
                          <a:ea typeface="+mn-ea"/>
                        </a:rPr>
                        <a:t>{x/Jane}</a:t>
                      </a:r>
                      <a:endParaRPr kumimoji="1" lang="en-US" altLang="zh-CN" sz="2400" b="1" i="1" u="none" strike="noStrike" cap="none" normalizeH="0" baseline="0" dirty="0">
                        <a:ln>
                          <a:noFill/>
                        </a:ln>
                        <a:solidFill>
                          <a:srgbClr val="FF0000"/>
                        </a:solidFill>
                        <a:effectLst/>
                        <a:latin typeface="Times New Roman" pitchFamily="18" charset="0"/>
                        <a:ea typeface="宋体" pitchFamily="2" charset="-122"/>
                      </a:endParaRPr>
                    </a:p>
                  </a:txBody>
                  <a:tcPr horzOverflow="overflow">
                    <a:lnL w="12700" cap="flat" cmpd="sng" algn="ctr">
                      <a:solidFill>
                        <a:srgbClr val="003300"/>
                      </a:solidFill>
                      <a:prstDash val="solid"/>
                      <a:round/>
                      <a:headEnd type="none" w="med" len="med"/>
                      <a:tailEnd type="none" w="med" len="med"/>
                    </a:lnL>
                    <a:lnR w="28575"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1"/>
                  </a:ext>
                </a:extLst>
              </a:tr>
              <a:tr h="574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a:ln>
                            <a:noFill/>
                          </a:ln>
                          <a:solidFill>
                            <a:srgbClr val="003153"/>
                          </a:solidFill>
                          <a:effectLst/>
                          <a:latin typeface="Times New Roman" pitchFamily="18" charset="0"/>
                          <a:ea typeface="宋体" pitchFamily="2" charset="-122"/>
                        </a:rPr>
                        <a:t>John</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a:ln>
                            <a:noFill/>
                          </a:ln>
                          <a:solidFill>
                            <a:srgbClr val="003153"/>
                          </a:solidFill>
                          <a:effectLst/>
                          <a:latin typeface="Times New Roman" pitchFamily="18" charset="0"/>
                          <a:ea typeface="宋体" pitchFamily="2" charset="-122"/>
                        </a:rPr>
                        <a:t>x</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p>
                  </a:txBody>
                  <a:tcPr horzOverflow="overflow">
                    <a:lnL w="28575"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y</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 </a:t>
                      </a: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OJ</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p>
                  </a:txBody>
                  <a:tcPr horzOverflow="overflow">
                    <a:lnL w="12700"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400" b="1" i="0" u="none" strike="noStrike" cap="none" normalizeH="0" baseline="0" dirty="0">
                          <a:ln>
                            <a:noFill/>
                          </a:ln>
                          <a:solidFill>
                            <a:srgbClr val="FF0000"/>
                          </a:solidFill>
                          <a:effectLst/>
                          <a:latin typeface="Times New Roman" pitchFamily="18" charset="0"/>
                          <a:ea typeface="+mn-ea"/>
                        </a:rPr>
                        <a:t>{x/OJ, y/John}</a:t>
                      </a:r>
                      <a:endParaRPr kumimoji="1" lang="en-US" altLang="zh-CN" sz="2400" b="1" i="0" u="none" strike="noStrike" cap="none" normalizeH="0" baseline="0" dirty="0">
                        <a:ln>
                          <a:noFill/>
                        </a:ln>
                        <a:solidFill>
                          <a:srgbClr val="FF0000"/>
                        </a:solidFill>
                        <a:effectLst/>
                        <a:latin typeface="Times New Roman" pitchFamily="18" charset="0"/>
                        <a:ea typeface="宋体" pitchFamily="2" charset="-122"/>
                      </a:endParaRPr>
                    </a:p>
                  </a:txBody>
                  <a:tcPr horzOverflow="overflow">
                    <a:lnL w="12700" cap="flat" cmpd="sng" algn="ctr">
                      <a:solidFill>
                        <a:srgbClr val="003300"/>
                      </a:solidFill>
                      <a:prstDash val="solid"/>
                      <a:round/>
                      <a:headEnd type="none" w="med" len="med"/>
                      <a:tailEnd type="none" w="med" len="med"/>
                    </a:lnL>
                    <a:lnR w="28575"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2"/>
                  </a:ext>
                </a:extLst>
              </a:tr>
              <a:tr h="5048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a:ln>
                            <a:noFill/>
                          </a:ln>
                          <a:solidFill>
                            <a:srgbClr val="003153"/>
                          </a:solidFill>
                          <a:effectLst/>
                          <a:latin typeface="Times New Roman" pitchFamily="18" charset="0"/>
                          <a:ea typeface="宋体" pitchFamily="2" charset="-122"/>
                        </a:rPr>
                        <a:t>John</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a:ln>
                            <a:noFill/>
                          </a:ln>
                          <a:solidFill>
                            <a:srgbClr val="003153"/>
                          </a:solidFill>
                          <a:effectLst/>
                          <a:latin typeface="Times New Roman" pitchFamily="18" charset="0"/>
                          <a:ea typeface="宋体" pitchFamily="2" charset="-122"/>
                        </a:rPr>
                        <a:t>x</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p>
                  </a:txBody>
                  <a:tcPr horzOverflow="overflow">
                    <a:lnL w="28575"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a:ln>
                            <a:noFill/>
                          </a:ln>
                          <a:solidFill>
                            <a:srgbClr val="003153"/>
                          </a:solidFill>
                          <a:effectLst/>
                          <a:latin typeface="Times New Roman" pitchFamily="18" charset="0"/>
                          <a:ea typeface="宋体" pitchFamily="2" charset="-122"/>
                        </a:rPr>
                        <a:t>y</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 </a:t>
                      </a:r>
                      <a:r>
                        <a:rPr kumimoji="1" lang="en-US" altLang="zh-CN" sz="2400" b="0" i="1" u="none" strike="noStrike" cap="none" normalizeH="0" baseline="0">
                          <a:ln>
                            <a:noFill/>
                          </a:ln>
                          <a:solidFill>
                            <a:srgbClr val="003153"/>
                          </a:solidFill>
                          <a:effectLst/>
                          <a:latin typeface="Times New Roman" pitchFamily="18" charset="0"/>
                          <a:ea typeface="宋体" pitchFamily="2" charset="-122"/>
                        </a:rPr>
                        <a:t>Mother</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a:ln>
                            <a:noFill/>
                          </a:ln>
                          <a:solidFill>
                            <a:srgbClr val="003153"/>
                          </a:solidFill>
                          <a:effectLst/>
                          <a:latin typeface="Times New Roman" pitchFamily="18" charset="0"/>
                          <a:ea typeface="宋体" pitchFamily="2" charset="-122"/>
                        </a:rPr>
                        <a:t>y</a:t>
                      </a:r>
                      <a:r>
                        <a:rPr kumimoji="1" lang="en-US" altLang="zh-CN" sz="2400" b="0" i="0" u="none" strike="noStrike" cap="none" normalizeH="0" baseline="0">
                          <a:ln>
                            <a:noFill/>
                          </a:ln>
                          <a:solidFill>
                            <a:srgbClr val="003153"/>
                          </a:solidFill>
                          <a:effectLst/>
                          <a:latin typeface="Times New Roman" pitchFamily="18" charset="0"/>
                          <a:ea typeface="宋体" pitchFamily="2" charset="-122"/>
                        </a:rPr>
                        <a:t>))</a:t>
                      </a:r>
                    </a:p>
                  </a:txBody>
                  <a:tcPr horzOverflow="overflow">
                    <a:lnL w="12700"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400" b="1" i="0" u="none" strike="noStrike" cap="none" normalizeH="0" baseline="0" dirty="0">
                          <a:ln>
                            <a:noFill/>
                          </a:ln>
                          <a:solidFill>
                            <a:srgbClr val="FF0000"/>
                          </a:solidFill>
                          <a:effectLst/>
                          <a:latin typeface="Times New Roman" pitchFamily="18" charset="0"/>
                          <a:ea typeface="+mn-ea"/>
                        </a:rPr>
                        <a:t>{y/John, x/Mother(John)}</a:t>
                      </a:r>
                      <a:endParaRPr kumimoji="1" lang="en-US" altLang="zh-CN" sz="2400" b="1" i="0" u="none" strike="noStrike" cap="none" normalizeH="0" baseline="0" dirty="0">
                        <a:ln>
                          <a:noFill/>
                        </a:ln>
                        <a:solidFill>
                          <a:srgbClr val="FF0000"/>
                        </a:solidFill>
                        <a:effectLst/>
                        <a:latin typeface="Times New Roman" pitchFamily="18" charset="0"/>
                        <a:ea typeface="宋体" pitchFamily="2" charset="-122"/>
                      </a:endParaRPr>
                    </a:p>
                  </a:txBody>
                  <a:tcPr horzOverflow="overflow">
                    <a:lnL w="12700" cap="flat" cmpd="sng" algn="ctr">
                      <a:solidFill>
                        <a:srgbClr val="003300"/>
                      </a:solidFill>
                      <a:prstDash val="solid"/>
                      <a:round/>
                      <a:headEnd type="none" w="med" len="med"/>
                      <a:tailEnd type="none" w="med" len="med"/>
                    </a:lnL>
                    <a:lnR w="28575"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12700" cap="flat" cmpd="sng" algn="ctr">
                      <a:solidFill>
                        <a:srgbClr val="0033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3"/>
                  </a:ext>
                </a:extLst>
              </a:tr>
              <a:tr h="5048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err="1">
                          <a:ln>
                            <a:noFill/>
                          </a:ln>
                          <a:solidFill>
                            <a:srgbClr val="003153"/>
                          </a:solidFill>
                          <a:effectLst/>
                          <a:latin typeface="Times New Roman" pitchFamily="18" charset="0"/>
                          <a:ea typeface="宋体" pitchFamily="2" charset="-122"/>
                        </a:rPr>
                        <a:t>John</a:t>
                      </a:r>
                      <a:r>
                        <a:rPr kumimoji="1" lang="en-US" altLang="zh-CN" sz="2400" b="0" i="0" u="none" strike="noStrike" cap="none" normalizeH="0" baseline="0" dirty="0" err="1">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err="1">
                          <a:ln>
                            <a:noFill/>
                          </a:ln>
                          <a:solidFill>
                            <a:srgbClr val="003153"/>
                          </a:solidFill>
                          <a:effectLst/>
                          <a:latin typeface="Times New Roman" pitchFamily="18" charset="0"/>
                          <a:ea typeface="宋体" pitchFamily="2" charset="-122"/>
                        </a:rPr>
                        <a:t>x</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p>
                  </a:txBody>
                  <a:tcPr horzOverflow="overflow">
                    <a:lnL w="28575"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28575"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Knows</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x</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 </a:t>
                      </a:r>
                      <a:r>
                        <a:rPr kumimoji="1" lang="en-US" altLang="zh-CN" sz="2400" b="0" i="1" u="none" strike="noStrike" cap="none" normalizeH="0" baseline="0" dirty="0">
                          <a:ln>
                            <a:noFill/>
                          </a:ln>
                          <a:solidFill>
                            <a:srgbClr val="003153"/>
                          </a:solidFill>
                          <a:effectLst/>
                          <a:latin typeface="Times New Roman" pitchFamily="18" charset="0"/>
                          <a:ea typeface="宋体" pitchFamily="2" charset="-122"/>
                        </a:rPr>
                        <a:t>OJ</a:t>
                      </a:r>
                      <a:r>
                        <a:rPr kumimoji="1" lang="en-US" altLang="zh-CN" sz="2400" b="0" i="0" u="none" strike="noStrike" cap="none" normalizeH="0" baseline="0" dirty="0">
                          <a:ln>
                            <a:noFill/>
                          </a:ln>
                          <a:solidFill>
                            <a:srgbClr val="003153"/>
                          </a:solidFill>
                          <a:effectLst/>
                          <a:latin typeface="Times New Roman" pitchFamily="18" charset="0"/>
                          <a:ea typeface="宋体" pitchFamily="2" charset="-122"/>
                        </a:rPr>
                        <a:t>)</a:t>
                      </a:r>
                    </a:p>
                  </a:txBody>
                  <a:tcPr horzOverflow="overflow">
                    <a:lnL w="12700"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28575" cap="flat" cmpd="sng" algn="ctr">
                      <a:solidFill>
                        <a:srgbClr val="0033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400" b="1" i="1" u="none" strike="noStrike" cap="none" normalizeH="0" baseline="0" dirty="0">
                          <a:ln>
                            <a:noFill/>
                          </a:ln>
                          <a:solidFill>
                            <a:srgbClr val="FF0000"/>
                          </a:solidFill>
                          <a:effectLst/>
                          <a:latin typeface="Times New Roman" pitchFamily="18" charset="0"/>
                          <a:ea typeface="+mn-ea"/>
                        </a:rPr>
                        <a:t>{}</a:t>
                      </a:r>
                      <a:r>
                        <a:rPr kumimoji="1" lang="zh-CN" altLang="en-US" sz="2400" b="1" i="1" u="none" strike="noStrike" cap="none" normalizeH="0" baseline="0" dirty="0">
                          <a:ln>
                            <a:noFill/>
                          </a:ln>
                          <a:solidFill>
                            <a:srgbClr val="FF0000"/>
                          </a:solidFill>
                          <a:effectLst/>
                          <a:latin typeface="Times New Roman" pitchFamily="18" charset="0"/>
                          <a:ea typeface="+mn-ea"/>
                        </a:rPr>
                        <a:t>？？</a:t>
                      </a:r>
                      <a:endParaRPr kumimoji="1" lang="en-US" altLang="zh-CN" sz="2400" b="1" i="1" u="none" strike="noStrike" cap="none" normalizeH="0" baseline="0" dirty="0">
                        <a:ln>
                          <a:noFill/>
                        </a:ln>
                        <a:solidFill>
                          <a:srgbClr val="FF0000"/>
                        </a:solidFill>
                        <a:effectLst/>
                        <a:latin typeface="Times New Roman" pitchFamily="18" charset="0"/>
                        <a:ea typeface="宋体" pitchFamily="2" charset="-122"/>
                      </a:endParaRPr>
                    </a:p>
                  </a:txBody>
                  <a:tcPr horzOverflow="overflow">
                    <a:lnL w="12700" cap="flat" cmpd="sng" algn="ctr">
                      <a:solidFill>
                        <a:srgbClr val="003300"/>
                      </a:solidFill>
                      <a:prstDash val="solid"/>
                      <a:round/>
                      <a:headEnd type="none" w="med" len="med"/>
                      <a:tailEnd type="none" w="med" len="med"/>
                    </a:lnL>
                    <a:lnR w="28575" cap="flat" cmpd="sng" algn="ctr">
                      <a:solidFill>
                        <a:srgbClr val="003300"/>
                      </a:solidFill>
                      <a:prstDash val="solid"/>
                      <a:round/>
                      <a:headEnd type="none" w="med" len="med"/>
                      <a:tailEnd type="none" w="med" len="med"/>
                    </a:lnR>
                    <a:lnT w="12700" cap="flat" cmpd="sng" algn="ctr">
                      <a:solidFill>
                        <a:srgbClr val="003300"/>
                      </a:solidFill>
                      <a:prstDash val="solid"/>
                      <a:round/>
                      <a:headEnd type="none" w="med" len="med"/>
                      <a:tailEnd type="none" w="med" len="med"/>
                    </a:lnT>
                    <a:lnB w="28575" cap="flat" cmpd="sng" algn="ctr">
                      <a:solidFill>
                        <a:srgbClr val="0033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28043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1695B4-5A5D-7F4A-D4CF-F8217DB0248C}"/>
              </a:ext>
            </a:extLst>
          </p:cNvPr>
          <p:cNvSpPr>
            <a:spLocks noGrp="1"/>
          </p:cNvSpPr>
          <p:nvPr>
            <p:ph type="title"/>
          </p:nvPr>
        </p:nvSpPr>
        <p:spPr/>
        <p:txBody>
          <a:bodyPr/>
          <a:lstStyle/>
          <a:p>
            <a:r>
              <a:rPr lang="en-US" altLang="zh-CN" dirty="0"/>
              <a:t>9.2 </a:t>
            </a:r>
            <a:r>
              <a:rPr lang="zh-CN" altLang="en-US" dirty="0"/>
              <a:t>合一与</a:t>
            </a:r>
            <a:r>
              <a:rPr lang="en-US" altLang="zh-CN" dirty="0"/>
              <a:t>GMP</a:t>
            </a:r>
            <a:endParaRPr lang="zh-CN" altLang="en-US" dirty="0"/>
          </a:p>
        </p:txBody>
      </p:sp>
      <p:sp>
        <p:nvSpPr>
          <p:cNvPr id="3" name="内容占位符 2">
            <a:extLst>
              <a:ext uri="{FF2B5EF4-FFF2-40B4-BE49-F238E27FC236}">
                <a16:creationId xmlns:a16="http://schemas.microsoft.com/office/drawing/2014/main" id="{3265A3AF-6EBF-D6D2-506F-FFD063E98E99}"/>
              </a:ext>
            </a:extLst>
          </p:cNvPr>
          <p:cNvSpPr>
            <a:spLocks noGrp="1"/>
          </p:cNvSpPr>
          <p:nvPr>
            <p:ph idx="1"/>
          </p:nvPr>
        </p:nvSpPr>
        <p:spPr/>
        <p:txBody>
          <a:bodyPr/>
          <a:lstStyle/>
          <a:p>
            <a:pPr>
              <a:lnSpc>
                <a:spcPct val="150000"/>
              </a:lnSpc>
            </a:pPr>
            <a:r>
              <a:rPr lang="en-US" altLang="zh-CN" dirty="0"/>
              <a:t>3.</a:t>
            </a:r>
            <a:r>
              <a:rPr lang="zh-CN" altLang="en-US" dirty="0"/>
              <a:t>最一般合一（</a:t>
            </a:r>
            <a:r>
              <a:rPr lang="en-US" altLang="zh-CN" dirty="0"/>
              <a:t>Most General Unifier</a:t>
            </a:r>
            <a:r>
              <a:rPr lang="zh-CN" altLang="en-US" dirty="0"/>
              <a:t>）</a:t>
            </a:r>
          </a:p>
          <a:p>
            <a:pPr lvl="1">
              <a:lnSpc>
                <a:spcPct val="125000"/>
              </a:lnSpc>
            </a:pP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1</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）表达式集合{</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E</a:t>
            </a:r>
            <a:r>
              <a:rPr lang="en-US" altLang="zh-CN" sz="2400" baseline="-30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 ... , E</a:t>
            </a:r>
            <a:r>
              <a:rPr lang="en-US" altLang="zh-CN" sz="2400" baseline="-30000" dirty="0">
                <a:solidFill>
                  <a:srgbClr val="FFCC99"/>
                </a:solidFill>
                <a:latin typeface="Aa花间辞楷书 (非商业使用)" panose="02010600010101010101" pitchFamily="2" charset="-122"/>
                <a:ea typeface="Aa花间辞楷书 (非商业使用)" panose="02010600010101010101" pitchFamily="2" charset="-122"/>
              </a:rPr>
              <a:t>k</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的合一置换 </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是</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MGU，</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当且仅当对该集合的任意合一置换</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θ，</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都存在置换</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，使得</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θ=λ</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 </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，即</a:t>
            </a:r>
            <a:endParaRPr lang="en-US" altLang="zh-CN" sz="2400" dirty="0">
              <a:solidFill>
                <a:srgbClr val="FFCC99"/>
              </a:solidFill>
              <a:latin typeface="Aa花间辞楷书 (非商业使用)" panose="02010600010101010101" pitchFamily="2" charset="-122"/>
              <a:ea typeface="Aa花间辞楷书 (非商业使用)" panose="02010600010101010101" pitchFamily="2" charset="-122"/>
            </a:endParaRPr>
          </a:p>
          <a:p>
            <a:pPr lvl="1">
              <a:lnSpc>
                <a:spcPct val="125000"/>
              </a:lnSpc>
            </a:pP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W λ</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 = </a:t>
            </a:r>
            <a:r>
              <a:rPr lang="en-US" altLang="zh-CN" sz="2400" dirty="0" err="1">
                <a:solidFill>
                  <a:srgbClr val="FFCC99"/>
                </a:solidFill>
                <a:latin typeface="Aa花间辞楷书 (非商业使用)" panose="02010600010101010101" pitchFamily="2" charset="-122"/>
                <a:ea typeface="Aa花间辞楷书 (非商业使用)" panose="02010600010101010101" pitchFamily="2" charset="-122"/>
              </a:rPr>
              <a:t>Wθ</a:t>
            </a:r>
            <a:endParaRPr lang="en-US" altLang="zh-CN" sz="2400" dirty="0">
              <a:solidFill>
                <a:srgbClr val="FFCC99"/>
              </a:solidFill>
              <a:latin typeface="Aa花间辞楷书 (非商业使用)" panose="02010600010101010101" pitchFamily="2" charset="-122"/>
              <a:ea typeface="Aa花间辞楷书 (非商业使用)" panose="02010600010101010101" pitchFamily="2" charset="-122"/>
            </a:endParaRPr>
          </a:p>
          <a:p>
            <a:endParaRPr lang="zh-CN" altLang="en-US" dirty="0"/>
          </a:p>
        </p:txBody>
      </p:sp>
    </p:spTree>
    <p:extLst>
      <p:ext uri="{BB962C8B-B14F-4D97-AF65-F5344CB8AC3E}">
        <p14:creationId xmlns:p14="http://schemas.microsoft.com/office/powerpoint/2010/main" val="3622419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1695B4-5A5D-7F4A-D4CF-F8217DB0248C}"/>
              </a:ext>
            </a:extLst>
          </p:cNvPr>
          <p:cNvSpPr>
            <a:spLocks noGrp="1"/>
          </p:cNvSpPr>
          <p:nvPr>
            <p:ph type="title"/>
          </p:nvPr>
        </p:nvSpPr>
        <p:spPr/>
        <p:txBody>
          <a:bodyPr/>
          <a:lstStyle/>
          <a:p>
            <a:r>
              <a:rPr lang="en-US" altLang="zh-CN" dirty="0"/>
              <a:t>9.2 </a:t>
            </a:r>
            <a:r>
              <a:rPr lang="zh-CN" altLang="en-US" dirty="0"/>
              <a:t>合一与</a:t>
            </a:r>
            <a:r>
              <a:rPr lang="en-US" altLang="zh-CN" dirty="0"/>
              <a:t>GMP</a:t>
            </a:r>
            <a:endParaRPr lang="zh-CN" altLang="en-US" dirty="0"/>
          </a:p>
        </p:txBody>
      </p:sp>
      <p:sp>
        <p:nvSpPr>
          <p:cNvPr id="3" name="内容占位符 2">
            <a:extLst>
              <a:ext uri="{FF2B5EF4-FFF2-40B4-BE49-F238E27FC236}">
                <a16:creationId xmlns:a16="http://schemas.microsoft.com/office/drawing/2014/main" id="{3265A3AF-6EBF-D6D2-506F-FFD063E98E99}"/>
              </a:ext>
            </a:extLst>
          </p:cNvPr>
          <p:cNvSpPr>
            <a:spLocks noGrp="1"/>
          </p:cNvSpPr>
          <p:nvPr>
            <p:ph idx="1"/>
          </p:nvPr>
        </p:nvSpPr>
        <p:spPr/>
        <p:txBody>
          <a:bodyPr>
            <a:normAutofit lnSpcReduction="10000"/>
          </a:bodyPr>
          <a:lstStyle/>
          <a:p>
            <a:pPr>
              <a:lnSpc>
                <a:spcPct val="150000"/>
              </a:lnSpc>
            </a:pPr>
            <a:r>
              <a:rPr lang="en-US" altLang="zh-CN" dirty="0"/>
              <a:t>3.</a:t>
            </a:r>
            <a:r>
              <a:rPr lang="zh-CN" altLang="en-US" dirty="0"/>
              <a:t>最一般合一（</a:t>
            </a:r>
            <a:r>
              <a:rPr lang="en-US" altLang="zh-CN" dirty="0"/>
              <a:t>Most General Unifier</a:t>
            </a:r>
            <a:r>
              <a:rPr lang="zh-CN" altLang="en-US" dirty="0"/>
              <a:t>）</a:t>
            </a:r>
          </a:p>
          <a:p>
            <a:pPr lvl="1">
              <a:lnSpc>
                <a:spcPct val="125000"/>
              </a:lnSpc>
            </a:pP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2</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）考虑表达式 ：</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Knows(</a:t>
            </a:r>
            <a:r>
              <a:rPr lang="en-US" altLang="zh-CN" sz="2400" dirty="0" err="1">
                <a:solidFill>
                  <a:srgbClr val="FFCC99"/>
                </a:solidFill>
                <a:latin typeface="Aa花间辞楷书 (非商业使用)" panose="02010600010101010101" pitchFamily="2" charset="-122"/>
                <a:ea typeface="Aa花间辞楷书 (非商业使用)" panose="02010600010101010101" pitchFamily="2" charset="-122"/>
              </a:rPr>
              <a:t>John,x</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 </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和</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Knows(</a:t>
            </a:r>
            <a:r>
              <a:rPr lang="en-US" altLang="zh-CN" sz="2400" dirty="0" err="1">
                <a:solidFill>
                  <a:srgbClr val="FFCC99"/>
                </a:solidFill>
                <a:latin typeface="Aa花间辞楷书 (非商业使用)" panose="02010600010101010101" pitchFamily="2" charset="-122"/>
                <a:ea typeface="Aa花间辞楷书 (非商业使用)" panose="02010600010101010101" pitchFamily="2" charset="-122"/>
              </a:rPr>
              <a:t>y,z</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a:t>
            </a:r>
          </a:p>
          <a:p>
            <a:pPr lvl="1">
              <a:lnSpc>
                <a:spcPct val="125000"/>
              </a:lnSpc>
            </a:pP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可返回合一 </a:t>
            </a:r>
            <a:r>
              <a:rPr lang="el-GR" altLang="zh-CN" sz="2400" dirty="0">
                <a:solidFill>
                  <a:srgbClr val="FFCC99"/>
                </a:solidFill>
                <a:latin typeface="Aa花间辞楷书 (非商业使用)" panose="02010600010101010101" pitchFamily="2" charset="-122"/>
                <a:ea typeface="Aa花间辞楷书 (非商业使用)" panose="02010600010101010101" pitchFamily="2" charset="-122"/>
              </a:rPr>
              <a:t>θ1</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 </a:t>
            </a:r>
            <a:r>
              <a:rPr lang="el-GR" altLang="zh-CN" sz="2400" dirty="0">
                <a:solidFill>
                  <a:srgbClr val="FFCC99"/>
                </a:solidFill>
                <a:latin typeface="Aa花间辞楷书 (非商业使用)" panose="02010600010101010101" pitchFamily="2" charset="-122"/>
                <a:ea typeface="Aa花间辞楷书 (非商业使用)" panose="02010600010101010101" pitchFamily="2" charset="-122"/>
              </a:rPr>
              <a:t>=</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 </a:t>
            </a:r>
            <a:r>
              <a:rPr lang="el-GR" altLang="zh-CN" sz="2400" dirty="0">
                <a:solidFill>
                  <a:srgbClr val="FFCC99"/>
                </a:solidFill>
                <a:latin typeface="Aa花间辞楷书 (非商业使用)" panose="02010600010101010101" pitchFamily="2" charset="-122"/>
                <a:ea typeface="Aa花间辞楷书 (非商业使用)" panose="02010600010101010101" pitchFamily="2" charset="-122"/>
              </a:rPr>
              <a:t>{</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y/John, x/z } </a:t>
            </a:r>
          </a:p>
          <a:p>
            <a:pPr lvl="1">
              <a:lnSpc>
                <a:spcPct val="125000"/>
              </a:lnSpc>
            </a:pP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第一个合一得到的结果为</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Knows(</a:t>
            </a:r>
            <a:r>
              <a:rPr lang="en-US" altLang="zh-CN" sz="2400" dirty="0" err="1">
                <a:solidFill>
                  <a:srgbClr val="FFCC99"/>
                </a:solidFill>
                <a:latin typeface="Aa花间辞楷书 (非商业使用)" panose="02010600010101010101" pitchFamily="2" charset="-122"/>
                <a:ea typeface="Aa花间辞楷书 (非商业使用)" panose="02010600010101010101" pitchFamily="2" charset="-122"/>
              </a:rPr>
              <a:t>John,z</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a:t>
            </a:r>
          </a:p>
          <a:p>
            <a:pPr lvl="1">
              <a:lnSpc>
                <a:spcPct val="125000"/>
              </a:lnSpc>
            </a:pPr>
            <a:endParaRPr lang="en-US" altLang="zh-CN" sz="2400" dirty="0">
              <a:solidFill>
                <a:srgbClr val="FFCC99"/>
              </a:solidFill>
              <a:latin typeface="Aa花间辞楷书 (非商业使用)" panose="02010600010101010101" pitchFamily="2" charset="-122"/>
              <a:ea typeface="Aa花间辞楷书 (非商业使用)" panose="02010600010101010101" pitchFamily="2" charset="-122"/>
            </a:endParaRPr>
          </a:p>
          <a:p>
            <a:pPr lvl="1">
              <a:lnSpc>
                <a:spcPct val="125000"/>
              </a:lnSpc>
            </a:pP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如果增加置换</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{z/John}</a:t>
            </a:r>
          </a:p>
          <a:p>
            <a:pPr lvl="1">
              <a:lnSpc>
                <a:spcPct val="125000"/>
              </a:lnSpc>
            </a:pP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第二个合一得到的结果为</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Knows(</a:t>
            </a:r>
            <a:r>
              <a:rPr lang="en-US" altLang="zh-CN" sz="2400" dirty="0" err="1">
                <a:solidFill>
                  <a:srgbClr val="FFCC99"/>
                </a:solidFill>
                <a:latin typeface="Aa花间辞楷书 (非商业使用)" panose="02010600010101010101" pitchFamily="2" charset="-122"/>
                <a:ea typeface="Aa花间辞楷书 (非商业使用)" panose="02010600010101010101" pitchFamily="2" charset="-122"/>
              </a:rPr>
              <a:t>John,John</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a:t>
            </a:r>
          </a:p>
          <a:p>
            <a:pPr lvl="1">
              <a:lnSpc>
                <a:spcPct val="125000"/>
              </a:lnSpc>
            </a:pPr>
            <a:endParaRPr lang="en-US" altLang="zh-CN" sz="2400" dirty="0">
              <a:solidFill>
                <a:srgbClr val="FFCC99"/>
              </a:solidFill>
              <a:latin typeface="Aa花间辞楷书 (非商业使用)" panose="02010600010101010101" pitchFamily="2" charset="-122"/>
              <a:ea typeface="Aa花间辞楷书 (非商业使用)" panose="02010600010101010101" pitchFamily="2" charset="-122"/>
            </a:endParaRPr>
          </a:p>
          <a:p>
            <a:pPr lvl="1">
              <a:lnSpc>
                <a:spcPct val="125000"/>
              </a:lnSpc>
            </a:pP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其中</a:t>
            </a:r>
            <a:r>
              <a:rPr lang="el-GR" altLang="zh-CN" sz="2400" dirty="0">
                <a:solidFill>
                  <a:srgbClr val="FFCC99"/>
                </a:solidFill>
                <a:latin typeface="Aa花间辞楷书 (非商业使用)" panose="02010600010101010101" pitchFamily="2" charset="-122"/>
                <a:ea typeface="Aa花间辞楷书 (非商业使用)" panose="02010600010101010101" pitchFamily="2" charset="-122"/>
              </a:rPr>
              <a:t>θ1</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为</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MGU</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 因为</a:t>
            </a:r>
          </a:p>
          <a:p>
            <a:pPr lvl="1">
              <a:lnSpc>
                <a:spcPct val="125000"/>
              </a:lnSpc>
            </a:pP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     </a:t>
            </a:r>
            <a:r>
              <a:rPr lang="el-GR" altLang="zh-CN" sz="2400" dirty="0">
                <a:solidFill>
                  <a:srgbClr val="FFCC99"/>
                </a:solidFill>
                <a:latin typeface="Aa花间辞楷书 (非商业使用)" panose="02010600010101010101" pitchFamily="2" charset="-122"/>
                <a:ea typeface="Aa花间辞楷书 (非商业使用)" panose="02010600010101010101" pitchFamily="2" charset="-122"/>
              </a:rPr>
              <a:t>θ2 = θ1 </a:t>
            </a:r>
            <a:r>
              <a:rPr lang="en-US" altLang="zh-CN" sz="2200" dirty="0">
                <a:solidFill>
                  <a:srgbClr val="FFCC99"/>
                </a:solidFill>
                <a:latin typeface="Times New Roman" pitchFamily="18" charset="0"/>
                <a:sym typeface="Symbol" pitchFamily="18" charset="2"/>
              </a:rPr>
              <a:t></a:t>
            </a:r>
            <a:r>
              <a:rPr lang="el-GR" altLang="zh-CN" sz="240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z/John} </a:t>
            </a:r>
          </a:p>
          <a:p>
            <a:pPr lvl="1">
              <a:lnSpc>
                <a:spcPct val="125000"/>
              </a:lnSpc>
            </a:pP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一般地，每对表达式的合一者存在一个唯一的最一般合一者</a:t>
            </a:r>
          </a:p>
          <a:p>
            <a:endParaRPr lang="zh-CN" altLang="en-US" dirty="0"/>
          </a:p>
        </p:txBody>
      </p:sp>
    </p:spTree>
    <p:extLst>
      <p:ext uri="{BB962C8B-B14F-4D97-AF65-F5344CB8AC3E}">
        <p14:creationId xmlns:p14="http://schemas.microsoft.com/office/powerpoint/2010/main" val="23548259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1695B4-5A5D-7F4A-D4CF-F8217DB0248C}"/>
              </a:ext>
            </a:extLst>
          </p:cNvPr>
          <p:cNvSpPr>
            <a:spLocks noGrp="1"/>
          </p:cNvSpPr>
          <p:nvPr>
            <p:ph type="title"/>
          </p:nvPr>
        </p:nvSpPr>
        <p:spPr/>
        <p:txBody>
          <a:bodyPr/>
          <a:lstStyle/>
          <a:p>
            <a:r>
              <a:rPr lang="en-US" altLang="zh-CN" dirty="0"/>
              <a:t>9.2 </a:t>
            </a:r>
            <a:r>
              <a:rPr lang="zh-CN" altLang="en-US" dirty="0"/>
              <a:t>合一与</a:t>
            </a:r>
            <a:r>
              <a:rPr lang="en-US" altLang="zh-CN" dirty="0"/>
              <a:t>GMP</a:t>
            </a:r>
            <a:endParaRPr lang="zh-CN" altLang="en-US" dirty="0"/>
          </a:p>
        </p:txBody>
      </p:sp>
      <p:sp>
        <p:nvSpPr>
          <p:cNvPr id="3" name="内容占位符 2">
            <a:extLst>
              <a:ext uri="{FF2B5EF4-FFF2-40B4-BE49-F238E27FC236}">
                <a16:creationId xmlns:a16="http://schemas.microsoft.com/office/drawing/2014/main" id="{3265A3AF-6EBF-D6D2-506F-FFD063E98E99}"/>
              </a:ext>
            </a:extLst>
          </p:cNvPr>
          <p:cNvSpPr>
            <a:spLocks noGrp="1"/>
          </p:cNvSpPr>
          <p:nvPr>
            <p:ph idx="1"/>
          </p:nvPr>
        </p:nvSpPr>
        <p:spPr/>
        <p:txBody>
          <a:bodyPr/>
          <a:lstStyle/>
          <a:p>
            <a:r>
              <a:rPr lang="en-US" altLang="zh-CN" dirty="0"/>
              <a:t>4.</a:t>
            </a:r>
            <a:r>
              <a:rPr lang="zh-CN" altLang="en-US" dirty="0"/>
              <a:t>重要概念：</a:t>
            </a:r>
            <a:r>
              <a:rPr lang="en-US" altLang="zh-CN" dirty="0"/>
              <a:t>GMP——</a:t>
            </a:r>
            <a:r>
              <a:rPr lang="zh-CN" altLang="en-US" dirty="0">
                <a:solidFill>
                  <a:srgbClr val="FF0000"/>
                </a:solidFill>
              </a:rPr>
              <a:t>一般假言推理规则</a:t>
            </a:r>
            <a:endParaRPr lang="en-US" altLang="zh-CN" dirty="0">
              <a:solidFill>
                <a:srgbClr val="FF0000"/>
              </a:solidFill>
            </a:endParaRPr>
          </a:p>
          <a:p>
            <a:endParaRPr lang="en-US" altLang="zh-CN" dirty="0">
              <a:solidFill>
                <a:srgbClr val="FF0000"/>
              </a:solidFill>
            </a:endParaRPr>
          </a:p>
          <a:p>
            <a:endParaRPr lang="en-US" altLang="zh-CN" dirty="0">
              <a:solidFill>
                <a:srgbClr val="FF0000"/>
              </a:solidFill>
            </a:endParaRPr>
          </a:p>
          <a:p>
            <a:endParaRPr lang="zh-CN" altLang="en-US" dirty="0"/>
          </a:p>
        </p:txBody>
      </p:sp>
      <mc:AlternateContent xmlns:mc="http://schemas.openxmlformats.org/markup-compatibility/2006">
        <mc:Choice xmlns:a14="http://schemas.microsoft.com/office/drawing/2010/main" Requires="a14">
          <p:sp>
            <p:nvSpPr>
              <p:cNvPr id="4" name="Object 5">
                <a:extLst>
                  <a:ext uri="{FF2B5EF4-FFF2-40B4-BE49-F238E27FC236}">
                    <a16:creationId xmlns:a16="http://schemas.microsoft.com/office/drawing/2014/main" id="{9633235D-691A-5865-A0A1-C8D34C1BAA88}"/>
                  </a:ext>
                </a:extLst>
              </p:cNvPr>
              <p:cNvSpPr txBox="1"/>
              <p:nvPr/>
            </p:nvSpPr>
            <p:spPr bwMode="auto">
              <a:xfrm>
                <a:off x="3159624" y="1680754"/>
                <a:ext cx="5872752" cy="109034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f>
                        <m:fPr>
                          <m:ctrlPr>
                            <a:rPr lang="zh-CN" altLang="en-US" sz="3200" i="1" smtClean="0">
                              <a:solidFill>
                                <a:srgbClr val="FEDD7E"/>
                              </a:solidFill>
                              <a:latin typeface="Cambria Math" panose="02040503050406030204" pitchFamily="18" charset="0"/>
                            </a:rPr>
                          </m:ctrlPr>
                        </m:fPr>
                        <m:num>
                          <m:sSubSup>
                            <m:sSubSupPr>
                              <m:ctrlPr>
                                <a:rPr lang="zh-CN" altLang="en-US" sz="3200" i="1">
                                  <a:solidFill>
                                    <a:srgbClr val="FEDD7E"/>
                                  </a:solidFill>
                                  <a:latin typeface="Cambria Math" panose="02040503050406030204" pitchFamily="18" charset="0"/>
                                </a:rPr>
                              </m:ctrlPr>
                            </m:sSubSupPr>
                            <m:e>
                              <m:r>
                                <a:rPr lang="zh-CN" altLang="en-US" sz="3200" i="1">
                                  <a:solidFill>
                                    <a:srgbClr val="FEDD7E"/>
                                  </a:solidFill>
                                  <a:latin typeface="Cambria Math" panose="02040503050406030204" pitchFamily="18" charset="0"/>
                                </a:rPr>
                                <m:t>𝑝</m:t>
                              </m:r>
                            </m:e>
                            <m:sub>
                              <m:r>
                                <a:rPr lang="zh-CN" altLang="en-US" sz="3200" i="1">
                                  <a:solidFill>
                                    <a:srgbClr val="FEDD7E"/>
                                  </a:solidFill>
                                  <a:latin typeface="Cambria Math" panose="02040503050406030204" pitchFamily="18" charset="0"/>
                                </a:rPr>
                                <m:t>1</m:t>
                              </m:r>
                            </m:sub>
                            <m:sup>
                              <m:r>
                                <a:rPr lang="zh-CN" altLang="en-US" sz="3200" i="1">
                                  <a:solidFill>
                                    <a:srgbClr val="FEDD7E"/>
                                  </a:solidFill>
                                  <a:latin typeface="Cambria Math" panose="02040503050406030204" pitchFamily="18" charset="0"/>
                                </a:rPr>
                                <m:t>′</m:t>
                              </m:r>
                            </m:sup>
                          </m:sSubSup>
                          <m:r>
                            <a:rPr lang="zh-CN" altLang="en-US" sz="3200" i="1">
                              <a:solidFill>
                                <a:srgbClr val="FEDD7E"/>
                              </a:solidFill>
                              <a:latin typeface="Cambria Math" panose="02040503050406030204" pitchFamily="18" charset="0"/>
                            </a:rPr>
                            <m:t>,</m:t>
                          </m:r>
                          <m:sSubSup>
                            <m:sSubSupPr>
                              <m:ctrlPr>
                                <a:rPr lang="zh-CN" altLang="en-US" sz="3200" i="1">
                                  <a:solidFill>
                                    <a:srgbClr val="FEDD7E"/>
                                  </a:solidFill>
                                  <a:latin typeface="Cambria Math" panose="02040503050406030204" pitchFamily="18" charset="0"/>
                                </a:rPr>
                              </m:ctrlPr>
                            </m:sSubSupPr>
                            <m:e>
                              <m:r>
                                <a:rPr lang="zh-CN" altLang="en-US" sz="3200" i="1">
                                  <a:solidFill>
                                    <a:srgbClr val="FEDD7E"/>
                                  </a:solidFill>
                                  <a:latin typeface="Cambria Math" panose="02040503050406030204" pitchFamily="18" charset="0"/>
                                </a:rPr>
                                <m:t>𝑝</m:t>
                              </m:r>
                            </m:e>
                            <m:sub>
                              <m:r>
                                <a:rPr lang="zh-CN" altLang="en-US" sz="3200" i="1">
                                  <a:solidFill>
                                    <a:srgbClr val="FEDD7E"/>
                                  </a:solidFill>
                                  <a:latin typeface="Cambria Math" panose="02040503050406030204" pitchFamily="18" charset="0"/>
                                </a:rPr>
                                <m:t>2</m:t>
                              </m:r>
                            </m:sub>
                            <m:sup>
                              <m:r>
                                <a:rPr lang="zh-CN" altLang="en-US" sz="3200" i="1">
                                  <a:solidFill>
                                    <a:srgbClr val="FEDD7E"/>
                                  </a:solidFill>
                                  <a:latin typeface="Cambria Math" panose="02040503050406030204" pitchFamily="18" charset="0"/>
                                </a:rPr>
                                <m:t>′</m:t>
                              </m:r>
                            </m:sup>
                          </m:sSubSup>
                          <m:r>
                            <a:rPr lang="zh-CN" altLang="en-US" sz="3200" i="1">
                              <a:solidFill>
                                <a:srgbClr val="FEDD7E"/>
                              </a:solidFill>
                              <a:latin typeface="Cambria Math" panose="02040503050406030204" pitchFamily="18" charset="0"/>
                            </a:rPr>
                            <m:t>,...,</m:t>
                          </m:r>
                          <m:sSubSup>
                            <m:sSubSupPr>
                              <m:ctrlPr>
                                <a:rPr lang="zh-CN" altLang="en-US" sz="3200" i="1">
                                  <a:solidFill>
                                    <a:srgbClr val="FEDD7E"/>
                                  </a:solidFill>
                                  <a:latin typeface="Cambria Math" panose="02040503050406030204" pitchFamily="18" charset="0"/>
                                </a:rPr>
                              </m:ctrlPr>
                            </m:sSubSupPr>
                            <m:e>
                              <m:r>
                                <a:rPr lang="zh-CN" altLang="en-US" sz="3200" i="1">
                                  <a:solidFill>
                                    <a:srgbClr val="FEDD7E"/>
                                  </a:solidFill>
                                  <a:latin typeface="Cambria Math" panose="02040503050406030204" pitchFamily="18" charset="0"/>
                                </a:rPr>
                                <m:t>𝑝</m:t>
                              </m:r>
                            </m:e>
                            <m:sub>
                              <m:r>
                                <a:rPr lang="zh-CN" altLang="en-US" sz="3200" i="1">
                                  <a:solidFill>
                                    <a:srgbClr val="FEDD7E"/>
                                  </a:solidFill>
                                  <a:latin typeface="Cambria Math" panose="02040503050406030204" pitchFamily="18" charset="0"/>
                                </a:rPr>
                                <m:t>𝑛</m:t>
                              </m:r>
                            </m:sub>
                            <m:sup>
                              <m:r>
                                <a:rPr lang="zh-CN" altLang="en-US" sz="3200" i="1">
                                  <a:solidFill>
                                    <a:srgbClr val="FEDD7E"/>
                                  </a:solidFill>
                                  <a:latin typeface="Cambria Math" panose="02040503050406030204" pitchFamily="18" charset="0"/>
                                </a:rPr>
                                <m:t>′</m:t>
                              </m:r>
                            </m:sup>
                          </m:sSubSup>
                          <m:r>
                            <a:rPr lang="zh-CN" altLang="en-US" sz="3200" i="1">
                              <a:solidFill>
                                <a:srgbClr val="FEDD7E"/>
                              </a:solidFill>
                              <a:latin typeface="Cambria Math" panose="02040503050406030204" pitchFamily="18" charset="0"/>
                            </a:rPr>
                            <m:t>,(</m:t>
                          </m:r>
                          <m:sSub>
                            <m:sSubPr>
                              <m:ctrlPr>
                                <a:rPr lang="zh-CN" altLang="en-US" sz="3200" i="1">
                                  <a:solidFill>
                                    <a:srgbClr val="FEDD7E"/>
                                  </a:solidFill>
                                  <a:latin typeface="Cambria Math" panose="02040503050406030204" pitchFamily="18" charset="0"/>
                                </a:rPr>
                              </m:ctrlPr>
                            </m:sSubPr>
                            <m:e>
                              <m:r>
                                <a:rPr lang="zh-CN" altLang="en-US" sz="3200" i="1">
                                  <a:solidFill>
                                    <a:srgbClr val="FEDD7E"/>
                                  </a:solidFill>
                                  <a:latin typeface="Cambria Math" panose="02040503050406030204" pitchFamily="18" charset="0"/>
                                </a:rPr>
                                <m:t>𝑝</m:t>
                              </m:r>
                            </m:e>
                            <m:sub>
                              <m:r>
                                <a:rPr lang="zh-CN" altLang="en-US" sz="3200" i="1">
                                  <a:solidFill>
                                    <a:srgbClr val="FEDD7E"/>
                                  </a:solidFill>
                                  <a:latin typeface="Cambria Math" panose="02040503050406030204" pitchFamily="18" charset="0"/>
                                </a:rPr>
                                <m:t>1</m:t>
                              </m:r>
                            </m:sub>
                          </m:sSub>
                          <m:r>
                            <a:rPr lang="zh-CN" altLang="en-US" sz="3200" i="1">
                              <a:solidFill>
                                <a:srgbClr val="FEDD7E"/>
                              </a:solidFill>
                              <a:latin typeface="Cambria Math" panose="02040503050406030204" pitchFamily="18" charset="0"/>
                            </a:rPr>
                            <m:t>∧</m:t>
                          </m:r>
                          <m:sSub>
                            <m:sSubPr>
                              <m:ctrlPr>
                                <a:rPr lang="zh-CN" altLang="en-US" sz="3200" i="1">
                                  <a:solidFill>
                                    <a:srgbClr val="FEDD7E"/>
                                  </a:solidFill>
                                  <a:latin typeface="Cambria Math" panose="02040503050406030204" pitchFamily="18" charset="0"/>
                                </a:rPr>
                              </m:ctrlPr>
                            </m:sSubPr>
                            <m:e>
                              <m:r>
                                <a:rPr lang="zh-CN" altLang="en-US" sz="3200" i="1">
                                  <a:solidFill>
                                    <a:srgbClr val="FEDD7E"/>
                                  </a:solidFill>
                                  <a:latin typeface="Cambria Math" panose="02040503050406030204" pitchFamily="18" charset="0"/>
                                </a:rPr>
                                <m:t>𝑝</m:t>
                              </m:r>
                            </m:e>
                            <m:sub>
                              <m:r>
                                <a:rPr lang="zh-CN" altLang="en-US" sz="3200" i="1">
                                  <a:solidFill>
                                    <a:srgbClr val="FEDD7E"/>
                                  </a:solidFill>
                                  <a:latin typeface="Cambria Math" panose="02040503050406030204" pitchFamily="18" charset="0"/>
                                </a:rPr>
                                <m:t>2</m:t>
                              </m:r>
                            </m:sub>
                          </m:sSub>
                          <m:r>
                            <a:rPr lang="zh-CN" altLang="en-US" sz="3200" i="1">
                              <a:solidFill>
                                <a:srgbClr val="FEDD7E"/>
                              </a:solidFill>
                              <a:latin typeface="Cambria Math" panose="02040503050406030204" pitchFamily="18" charset="0"/>
                            </a:rPr>
                            <m:t>∧...∧</m:t>
                          </m:r>
                          <m:sSub>
                            <m:sSubPr>
                              <m:ctrlPr>
                                <a:rPr lang="zh-CN" altLang="en-US" sz="3200" i="1">
                                  <a:solidFill>
                                    <a:srgbClr val="FEDD7E"/>
                                  </a:solidFill>
                                  <a:latin typeface="Cambria Math" panose="02040503050406030204" pitchFamily="18" charset="0"/>
                                </a:rPr>
                              </m:ctrlPr>
                            </m:sSubPr>
                            <m:e>
                              <m:r>
                                <a:rPr lang="zh-CN" altLang="en-US" sz="3200" i="1">
                                  <a:solidFill>
                                    <a:srgbClr val="FEDD7E"/>
                                  </a:solidFill>
                                  <a:latin typeface="Cambria Math" panose="02040503050406030204" pitchFamily="18" charset="0"/>
                                </a:rPr>
                                <m:t>𝑝</m:t>
                              </m:r>
                            </m:e>
                            <m:sub>
                              <m:r>
                                <a:rPr lang="zh-CN" altLang="en-US" sz="3200" i="1">
                                  <a:solidFill>
                                    <a:srgbClr val="FEDD7E"/>
                                  </a:solidFill>
                                  <a:latin typeface="Cambria Math" panose="02040503050406030204" pitchFamily="18" charset="0"/>
                                </a:rPr>
                                <m:t>𝑛</m:t>
                              </m:r>
                            </m:sub>
                          </m:sSub>
                          <m:r>
                            <a:rPr lang="zh-CN" altLang="en-US" sz="3200" i="1">
                              <a:solidFill>
                                <a:srgbClr val="FEDD7E"/>
                              </a:solidFill>
                              <a:latin typeface="Cambria Math" panose="02040503050406030204" pitchFamily="18" charset="0"/>
                            </a:rPr>
                            <m:t>⇒</m:t>
                          </m:r>
                          <m:r>
                            <a:rPr lang="zh-CN" altLang="en-US" sz="3200" i="1">
                              <a:solidFill>
                                <a:srgbClr val="FEDD7E"/>
                              </a:solidFill>
                              <a:latin typeface="Cambria Math" panose="02040503050406030204" pitchFamily="18" charset="0"/>
                            </a:rPr>
                            <m:t>𝑞</m:t>
                          </m:r>
                          <m:r>
                            <a:rPr lang="zh-CN" altLang="en-US" sz="3200" i="1">
                              <a:solidFill>
                                <a:srgbClr val="FEDD7E"/>
                              </a:solidFill>
                              <a:latin typeface="Cambria Math" panose="02040503050406030204" pitchFamily="18" charset="0"/>
                            </a:rPr>
                            <m:t>)</m:t>
                          </m:r>
                        </m:num>
                        <m:den>
                          <m:r>
                            <a:rPr lang="zh-CN" altLang="en-US" sz="3200" i="1">
                              <a:solidFill>
                                <a:srgbClr val="FEDD7E"/>
                              </a:solidFill>
                              <a:latin typeface="Cambria Math" panose="02040503050406030204" pitchFamily="18" charset="0"/>
                            </a:rPr>
                            <m:t>𝑆𝑈𝐵𝑆𝑇</m:t>
                          </m:r>
                          <m:r>
                            <a:rPr lang="zh-CN" altLang="en-US" sz="3200" i="1">
                              <a:solidFill>
                                <a:srgbClr val="FEDD7E"/>
                              </a:solidFill>
                              <a:latin typeface="Cambria Math" panose="02040503050406030204" pitchFamily="18" charset="0"/>
                            </a:rPr>
                            <m:t>(</m:t>
                          </m:r>
                          <m:r>
                            <a:rPr lang="zh-CN" altLang="en-US" sz="3200" i="1">
                              <a:solidFill>
                                <a:srgbClr val="FEDD7E"/>
                              </a:solidFill>
                              <a:latin typeface="Cambria Math" panose="02040503050406030204" pitchFamily="18" charset="0"/>
                            </a:rPr>
                            <m:t>𝜃</m:t>
                          </m:r>
                          <m:r>
                            <a:rPr lang="zh-CN" altLang="en-US" sz="3200" i="1">
                              <a:solidFill>
                                <a:srgbClr val="FEDD7E"/>
                              </a:solidFill>
                              <a:latin typeface="Cambria Math" panose="02040503050406030204" pitchFamily="18" charset="0"/>
                            </a:rPr>
                            <m:t>,</m:t>
                          </m:r>
                          <m:r>
                            <a:rPr lang="zh-CN" altLang="en-US" sz="3200" i="1">
                              <a:solidFill>
                                <a:srgbClr val="FEDD7E"/>
                              </a:solidFill>
                              <a:latin typeface="Cambria Math" panose="02040503050406030204" pitchFamily="18" charset="0"/>
                            </a:rPr>
                            <m:t>𝑞</m:t>
                          </m:r>
                          <m:r>
                            <a:rPr lang="zh-CN" altLang="en-US" sz="3200" i="1">
                              <a:solidFill>
                                <a:srgbClr val="FEDD7E"/>
                              </a:solidFill>
                              <a:latin typeface="Cambria Math" panose="02040503050406030204" pitchFamily="18" charset="0"/>
                            </a:rPr>
                            <m:t>)</m:t>
                          </m:r>
                        </m:den>
                      </m:f>
                    </m:oMath>
                  </m:oMathPara>
                </a14:m>
                <a:endParaRPr lang="zh-CN" altLang="en-US" sz="2400" dirty="0">
                  <a:solidFill>
                    <a:srgbClr val="FEDD7E"/>
                  </a:solidFill>
                </a:endParaRPr>
              </a:p>
            </p:txBody>
          </p:sp>
        </mc:Choice>
        <mc:Fallback>
          <p:sp>
            <p:nvSpPr>
              <p:cNvPr id="4" name="Object 5">
                <a:extLst>
                  <a:ext uri="{FF2B5EF4-FFF2-40B4-BE49-F238E27FC236}">
                    <a16:creationId xmlns:a16="http://schemas.microsoft.com/office/drawing/2014/main" id="{9633235D-691A-5865-A0A1-C8D34C1BAA88}"/>
                  </a:ext>
                </a:extLst>
              </p:cNvPr>
              <p:cNvSpPr txBox="1">
                <a:spLocks noRot="1" noChangeAspect="1" noMove="1" noResize="1" noEditPoints="1" noAdjustHandles="1" noChangeArrowheads="1" noChangeShapeType="1" noTextEdit="1"/>
              </p:cNvSpPr>
              <p:nvPr/>
            </p:nvSpPr>
            <p:spPr bwMode="auto">
              <a:xfrm>
                <a:off x="3159624" y="1680754"/>
                <a:ext cx="5872752" cy="1090341"/>
              </a:xfrm>
              <a:prstGeom prst="rect">
                <a:avLst/>
              </a:prstGeom>
              <a:blipFill>
                <a:blip r:embed="rId2"/>
                <a:stretch>
                  <a:fillRect r="-5809"/>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7BC8C5F3-9EF1-2670-C97B-C22C148B3DEE}"/>
              </a:ext>
            </a:extLst>
          </p:cNvPr>
          <p:cNvPicPr>
            <a:picLocks noChangeAspect="1"/>
          </p:cNvPicPr>
          <p:nvPr/>
        </p:nvPicPr>
        <p:blipFill>
          <a:blip r:embed="rId3"/>
          <a:stretch>
            <a:fillRect/>
          </a:stretch>
        </p:blipFill>
        <p:spPr>
          <a:xfrm>
            <a:off x="0" y="2948350"/>
            <a:ext cx="12192000" cy="1832157"/>
          </a:xfrm>
          <a:prstGeom prst="rect">
            <a:avLst/>
          </a:prstGeom>
        </p:spPr>
      </p:pic>
    </p:spTree>
    <p:extLst>
      <p:ext uri="{BB962C8B-B14F-4D97-AF65-F5344CB8AC3E}">
        <p14:creationId xmlns:p14="http://schemas.microsoft.com/office/powerpoint/2010/main" val="17182464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1695B4-5A5D-7F4A-D4CF-F8217DB0248C}"/>
              </a:ext>
            </a:extLst>
          </p:cNvPr>
          <p:cNvSpPr>
            <a:spLocks noGrp="1"/>
          </p:cNvSpPr>
          <p:nvPr>
            <p:ph type="title"/>
          </p:nvPr>
        </p:nvSpPr>
        <p:spPr/>
        <p:txBody>
          <a:bodyPr/>
          <a:lstStyle/>
          <a:p>
            <a:r>
              <a:rPr lang="en-US" altLang="zh-CN" dirty="0"/>
              <a:t>9.2 </a:t>
            </a:r>
            <a:r>
              <a:rPr lang="zh-CN" altLang="en-US" dirty="0"/>
              <a:t>合一与</a:t>
            </a:r>
            <a:r>
              <a:rPr lang="en-US" altLang="zh-CN" dirty="0"/>
              <a:t>GMP</a:t>
            </a:r>
            <a:endParaRPr lang="zh-CN" altLang="en-US" dirty="0"/>
          </a:p>
        </p:txBody>
      </p:sp>
      <p:sp>
        <p:nvSpPr>
          <p:cNvPr id="3" name="内容占位符 2">
            <a:extLst>
              <a:ext uri="{FF2B5EF4-FFF2-40B4-BE49-F238E27FC236}">
                <a16:creationId xmlns:a16="http://schemas.microsoft.com/office/drawing/2014/main" id="{3265A3AF-6EBF-D6D2-506F-FFD063E98E99}"/>
              </a:ext>
            </a:extLst>
          </p:cNvPr>
          <p:cNvSpPr>
            <a:spLocks noGrp="1"/>
          </p:cNvSpPr>
          <p:nvPr>
            <p:ph idx="1"/>
          </p:nvPr>
        </p:nvSpPr>
        <p:spPr/>
        <p:txBody>
          <a:bodyPr>
            <a:normAutofit lnSpcReduction="10000"/>
          </a:bodyPr>
          <a:lstStyle/>
          <a:p>
            <a:r>
              <a:rPr lang="en-US" altLang="zh-CN" dirty="0"/>
              <a:t>5.GMP</a:t>
            </a:r>
            <a:r>
              <a:rPr lang="zh-CN" altLang="en-US" dirty="0"/>
              <a:t>实例</a:t>
            </a:r>
            <a:endParaRPr lang="en-US" altLang="zh-CN" dirty="0"/>
          </a:p>
          <a:p>
            <a:pPr>
              <a:lnSpc>
                <a:spcPct val="130000"/>
              </a:lnSpc>
            </a:pPr>
            <a:r>
              <a:rPr lang="zh-CN" altLang="en-US" sz="2800" dirty="0">
                <a:latin typeface="Aa花间辞楷书 (非商业使用)" panose="02010600010101010101" pitchFamily="2" charset="-122"/>
                <a:ea typeface="Aa花间辞楷书 (非商业使用)" panose="02010600010101010101" pitchFamily="2" charset="-122"/>
              </a:rPr>
              <a:t>设</a:t>
            </a:r>
            <a:r>
              <a:rPr lang="en-US" altLang="zh-CN" sz="2800" dirty="0">
                <a:latin typeface="Aa花间辞楷书 (非商业使用)" panose="02010600010101010101" pitchFamily="2" charset="-122"/>
                <a:ea typeface="Aa花间辞楷书 (非商业使用)" panose="02010600010101010101" pitchFamily="2" charset="-122"/>
              </a:rPr>
              <a:t>KB</a:t>
            </a:r>
            <a:r>
              <a:rPr lang="zh-CN" altLang="en-US" sz="2800" dirty="0">
                <a:latin typeface="Aa花间辞楷书 (非商业使用)" panose="02010600010101010101" pitchFamily="2" charset="-122"/>
                <a:ea typeface="Aa花间辞楷书 (非商业使用)" panose="02010600010101010101" pitchFamily="2" charset="-122"/>
              </a:rPr>
              <a:t>包含下列语句：</a:t>
            </a:r>
          </a:p>
          <a:p>
            <a:pPr lvl="2">
              <a:lnSpc>
                <a:spcPct val="130000"/>
              </a:lnSpc>
            </a:pPr>
            <a:r>
              <a:rPr lang="en-US" altLang="zh-CN" sz="2800" dirty="0">
                <a:latin typeface="Aa花间辞楷书 (非商业使用)" panose="02010600010101010101" pitchFamily="2" charset="-122"/>
                <a:ea typeface="Aa花间辞楷书 (非商业使用)" panose="02010600010101010101" pitchFamily="2" charset="-122"/>
              </a:rPr>
              <a:t>     </a:t>
            </a:r>
            <a:r>
              <a:rPr lang="en-US" altLang="zh-CN" sz="2800" dirty="0">
                <a:solidFill>
                  <a:srgbClr val="FEDD7E"/>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800" dirty="0">
                <a:solidFill>
                  <a:srgbClr val="FEDD7E"/>
                </a:solidFill>
                <a:latin typeface="Aa花间辞楷书 (非商业使用)" panose="02010600010101010101" pitchFamily="2" charset="-122"/>
                <a:ea typeface="Aa花间辞楷书 (非商业使用)" panose="02010600010101010101" pitchFamily="2" charset="-122"/>
              </a:rPr>
              <a:t>x King(x) </a:t>
            </a:r>
            <a:r>
              <a:rPr lang="en-US" altLang="zh-CN" sz="2800" dirty="0">
                <a:solidFill>
                  <a:srgbClr val="FEDD7E"/>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800" dirty="0">
                <a:solidFill>
                  <a:srgbClr val="FEDD7E"/>
                </a:solidFill>
                <a:latin typeface="Aa花间辞楷书 (非商业使用)" panose="02010600010101010101" pitchFamily="2" charset="-122"/>
                <a:ea typeface="Aa花间辞楷书 (非商业使用)" panose="02010600010101010101" pitchFamily="2" charset="-122"/>
              </a:rPr>
              <a:t> Greedy(x) </a:t>
            </a:r>
            <a:r>
              <a:rPr lang="en-US" altLang="zh-CN" sz="2800" dirty="0">
                <a:solidFill>
                  <a:srgbClr val="FEDD7E"/>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800" dirty="0">
                <a:solidFill>
                  <a:srgbClr val="FEDD7E"/>
                </a:solidFill>
                <a:latin typeface="Aa花间辞楷书 (非商业使用)" panose="02010600010101010101" pitchFamily="2" charset="-122"/>
                <a:ea typeface="Aa花间辞楷书 (非商业使用)" panose="02010600010101010101" pitchFamily="2" charset="-122"/>
              </a:rPr>
              <a:t> Evil(x)</a:t>
            </a:r>
            <a:r>
              <a:rPr lang="zh-CN" altLang="en-US" sz="2800" dirty="0">
                <a:solidFill>
                  <a:srgbClr val="FEDD7E"/>
                </a:solidFill>
                <a:latin typeface="Aa花间辞楷书 (非商业使用)" panose="02010600010101010101" pitchFamily="2" charset="-122"/>
                <a:ea typeface="Aa花间辞楷书 (非商业使用)" panose="02010600010101010101" pitchFamily="2" charset="-122"/>
              </a:rPr>
              <a:t>，</a:t>
            </a:r>
            <a:r>
              <a:rPr lang="en-US" altLang="zh-CN" sz="2800" b="0" dirty="0">
                <a:solidFill>
                  <a:srgbClr val="FEDD7E"/>
                </a:solidFill>
                <a:latin typeface="Aa花间辞楷书 (非商业使用)" panose="02010600010101010101" pitchFamily="2" charset="-122"/>
                <a:ea typeface="Aa花间辞楷书 (非商业使用)" panose="02010600010101010101" pitchFamily="2" charset="-122"/>
              </a:rPr>
              <a:t>King(John)</a:t>
            </a:r>
            <a:r>
              <a:rPr lang="zh-CN" altLang="en-US" sz="2800" b="0" dirty="0">
                <a:solidFill>
                  <a:srgbClr val="FEDD7E"/>
                </a:solidFill>
                <a:latin typeface="Aa花间辞楷书 (非商业使用)" panose="02010600010101010101" pitchFamily="2" charset="-122"/>
                <a:ea typeface="Aa花间辞楷书 (非商业使用)" panose="02010600010101010101" pitchFamily="2" charset="-122"/>
              </a:rPr>
              <a:t>，</a:t>
            </a:r>
            <a:r>
              <a:rPr lang="en-US" altLang="zh-CN" sz="2800" b="0" dirty="0">
                <a:solidFill>
                  <a:srgbClr val="FEDD7E"/>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800" b="0" dirty="0">
                <a:solidFill>
                  <a:srgbClr val="FEDD7E"/>
                </a:solidFill>
                <a:latin typeface="Aa花间辞楷书 (非商业使用)" panose="02010600010101010101" pitchFamily="2" charset="-122"/>
                <a:ea typeface="Aa花间辞楷书 (非商业使用)" panose="02010600010101010101" pitchFamily="2" charset="-122"/>
              </a:rPr>
              <a:t>y Greedy(y)</a:t>
            </a:r>
          </a:p>
          <a:p>
            <a:pPr>
              <a:lnSpc>
                <a:spcPct val="130000"/>
              </a:lnSpc>
            </a:pPr>
            <a:r>
              <a:rPr lang="zh-CN" altLang="en-US" sz="2800" dirty="0">
                <a:latin typeface="Aa花间辞楷书 (非商业使用)" panose="02010600010101010101" pitchFamily="2" charset="-122"/>
                <a:ea typeface="Aa花间辞楷书 (非商业使用)" panose="02010600010101010101" pitchFamily="2" charset="-122"/>
              </a:rPr>
              <a:t>   其子句形式为：</a:t>
            </a:r>
          </a:p>
          <a:p>
            <a:pPr>
              <a:lnSpc>
                <a:spcPct val="130000"/>
              </a:lnSpc>
            </a:pPr>
            <a:r>
              <a:rPr lang="en-US" altLang="zh-CN" sz="2800" dirty="0">
                <a:latin typeface="Aa花间辞楷书 (非商业使用)" panose="02010600010101010101" pitchFamily="2" charset="-122"/>
                <a:ea typeface="Aa花间辞楷书 (非商业使用)" panose="02010600010101010101" pitchFamily="2" charset="-122"/>
              </a:rPr>
              <a:t>          </a:t>
            </a:r>
            <a:r>
              <a:rPr lang="en-US" altLang="zh-CN" sz="2800" dirty="0">
                <a:solidFill>
                  <a:srgbClr val="FEDD7E"/>
                </a:solidFill>
                <a:latin typeface="Aa花间辞楷书 (非商业使用)" panose="02010600010101010101" pitchFamily="2" charset="-122"/>
                <a:ea typeface="Aa花间辞楷书 (非商业使用)" panose="02010600010101010101" pitchFamily="2" charset="-122"/>
              </a:rPr>
              <a:t>King(x) </a:t>
            </a:r>
            <a:r>
              <a:rPr lang="en-US" altLang="zh-CN" sz="2800" dirty="0">
                <a:solidFill>
                  <a:srgbClr val="FEDD7E"/>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800" dirty="0">
                <a:solidFill>
                  <a:srgbClr val="FEDD7E"/>
                </a:solidFill>
                <a:latin typeface="Aa花间辞楷书 (非商业使用)" panose="02010600010101010101" pitchFamily="2" charset="-122"/>
                <a:ea typeface="Aa花间辞楷书 (非商业使用)" panose="02010600010101010101" pitchFamily="2" charset="-122"/>
              </a:rPr>
              <a:t> Greedy(x) </a:t>
            </a:r>
            <a:r>
              <a:rPr lang="en-US" altLang="zh-CN" sz="2800" dirty="0">
                <a:solidFill>
                  <a:srgbClr val="FEDD7E"/>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800" dirty="0">
                <a:solidFill>
                  <a:srgbClr val="FEDD7E"/>
                </a:solidFill>
                <a:latin typeface="Aa花间辞楷书 (非商业使用)" panose="02010600010101010101" pitchFamily="2" charset="-122"/>
                <a:ea typeface="Aa花间辞楷书 (非商业使用)" panose="02010600010101010101" pitchFamily="2" charset="-122"/>
              </a:rPr>
              <a:t> Evil(x)</a:t>
            </a:r>
            <a:r>
              <a:rPr lang="zh-CN" altLang="en-US" sz="2800" dirty="0">
                <a:solidFill>
                  <a:srgbClr val="FEDD7E"/>
                </a:solidFill>
                <a:latin typeface="Aa花间辞楷书 (非商业使用)" panose="02010600010101010101" pitchFamily="2" charset="-122"/>
                <a:ea typeface="Aa花间辞楷书 (非商业使用)" panose="02010600010101010101" pitchFamily="2" charset="-122"/>
              </a:rPr>
              <a:t>，</a:t>
            </a:r>
            <a:r>
              <a:rPr lang="en-US" altLang="zh-CN" sz="2800" dirty="0">
                <a:solidFill>
                  <a:srgbClr val="FEDD7E"/>
                </a:solidFill>
                <a:latin typeface="Aa花间辞楷书 (非商业使用)" panose="02010600010101010101" pitchFamily="2" charset="-122"/>
                <a:ea typeface="Aa花间辞楷书 (非商业使用)" panose="02010600010101010101" pitchFamily="2" charset="-122"/>
              </a:rPr>
              <a:t>King(John)</a:t>
            </a:r>
            <a:r>
              <a:rPr lang="zh-CN" altLang="en-US" sz="2800" dirty="0">
                <a:solidFill>
                  <a:srgbClr val="FEDD7E"/>
                </a:solidFill>
                <a:latin typeface="Aa花间辞楷书 (非商业使用)" panose="02010600010101010101" pitchFamily="2" charset="-122"/>
                <a:ea typeface="Aa花间辞楷书 (非商业使用)" panose="02010600010101010101" pitchFamily="2" charset="-122"/>
              </a:rPr>
              <a:t>，</a:t>
            </a:r>
            <a:r>
              <a:rPr lang="en-US" altLang="zh-CN" sz="2800" dirty="0">
                <a:solidFill>
                  <a:srgbClr val="FEDD7E"/>
                </a:solidFill>
                <a:latin typeface="Aa花间辞楷书 (非商业使用)" panose="02010600010101010101" pitchFamily="2" charset="-122"/>
                <a:ea typeface="Aa花间辞楷书 (非商业使用)" panose="02010600010101010101" pitchFamily="2" charset="-122"/>
              </a:rPr>
              <a:t>Greedy(y)</a:t>
            </a:r>
          </a:p>
          <a:p>
            <a:pPr lvl="1">
              <a:lnSpc>
                <a:spcPct val="130000"/>
              </a:lnSpc>
            </a:pPr>
            <a:r>
              <a:rPr lang="zh-CN" altLang="en-US" dirty="0">
                <a:latin typeface="Aa花间辞楷书 (非商业使用)" panose="02010600010101010101" pitchFamily="2" charset="-122"/>
                <a:ea typeface="Aa花间辞楷书 (非商业使用)" panose="02010600010101010101" pitchFamily="2" charset="-122"/>
              </a:rPr>
              <a:t>   </a:t>
            </a:r>
            <a:r>
              <a:rPr lang="zh-CN" altLang="en-US" sz="2400" dirty="0">
                <a:latin typeface="Aa花间辞楷书 (非商业使用)" panose="02010600010101010101" pitchFamily="2" charset="-122"/>
                <a:ea typeface="Aa花间辞楷书 (非商业使用)" panose="02010600010101010101" pitchFamily="2" charset="-122"/>
              </a:rPr>
              <a:t>采用合一置换 </a:t>
            </a:r>
            <a:r>
              <a:rPr lang="en-US" altLang="zh-CN" sz="2400" dirty="0">
                <a:solidFill>
                  <a:srgbClr val="C00000"/>
                </a:solidFill>
                <a:latin typeface="Aa花间辞楷书 (非商业使用)" panose="02010600010101010101" pitchFamily="2" charset="-122"/>
                <a:ea typeface="Aa花间辞楷书 (非商业使用)" panose="02010600010101010101" pitchFamily="2" charset="-122"/>
              </a:rPr>
              <a:t>θ</a:t>
            </a:r>
            <a:r>
              <a:rPr lang="zh-CN" altLang="en-US" sz="2400" dirty="0">
                <a:solidFill>
                  <a:srgbClr val="C00000"/>
                </a:solidFill>
                <a:latin typeface="Aa花间辞楷书 (非商业使用)" panose="02010600010101010101" pitchFamily="2" charset="-122"/>
                <a:ea typeface="Aa花间辞楷书 (非商业使用)" panose="02010600010101010101" pitchFamily="2" charset="-122"/>
              </a:rPr>
              <a:t> </a:t>
            </a:r>
            <a:r>
              <a:rPr lang="en-US" altLang="zh-CN" sz="2400" dirty="0">
                <a:solidFill>
                  <a:srgbClr val="C00000"/>
                </a:solidFill>
                <a:latin typeface="Aa花间辞楷书 (非商业使用)" panose="02010600010101010101" pitchFamily="2" charset="-122"/>
                <a:ea typeface="Aa花间辞楷书 (非商业使用)" panose="02010600010101010101" pitchFamily="2" charset="-122"/>
              </a:rPr>
              <a:t>={ x/John, y/John}</a:t>
            </a:r>
            <a:r>
              <a:rPr lang="zh-CN" altLang="en-US" sz="2400" dirty="0">
                <a:solidFill>
                  <a:srgbClr val="C00000"/>
                </a:solidFill>
                <a:latin typeface="Aa花间辞楷书 (非商业使用)" panose="02010600010101010101" pitchFamily="2" charset="-122"/>
                <a:ea typeface="Aa花间辞楷书 (非商业使用)" panose="02010600010101010101" pitchFamily="2" charset="-122"/>
              </a:rPr>
              <a:t>，应用</a:t>
            </a:r>
            <a:r>
              <a:rPr lang="en-US" altLang="zh-CN" sz="2400" dirty="0">
                <a:solidFill>
                  <a:srgbClr val="C00000"/>
                </a:solidFill>
                <a:latin typeface="Aa花间辞楷书 (非商业使用)" panose="02010600010101010101" pitchFamily="2" charset="-122"/>
                <a:ea typeface="Aa花间辞楷书 (非商业使用)" panose="02010600010101010101" pitchFamily="2" charset="-122"/>
              </a:rPr>
              <a:t>GMP</a:t>
            </a:r>
            <a:endParaRPr lang="en-US" altLang="zh-CN" sz="2400" dirty="0">
              <a:latin typeface="Aa花间辞楷书 (非商业使用)" panose="02010600010101010101" pitchFamily="2" charset="-122"/>
              <a:ea typeface="Aa花间辞楷书 (非商业使用)" panose="02010600010101010101" pitchFamily="2" charset="-122"/>
            </a:endParaRPr>
          </a:p>
          <a:p>
            <a:pPr>
              <a:lnSpc>
                <a:spcPct val="130000"/>
              </a:lnSpc>
            </a:pPr>
            <a:r>
              <a:rPr lang="en-US" altLang="zh-CN" sz="2800" dirty="0">
                <a:latin typeface="Aa花间辞楷书 (非商业使用)" panose="02010600010101010101" pitchFamily="2" charset="-122"/>
                <a:ea typeface="Aa花间辞楷书 (非商业使用)" panose="02010600010101010101" pitchFamily="2" charset="-122"/>
              </a:rPr>
              <a:t>   King(</a:t>
            </a:r>
            <a:r>
              <a:rPr lang="en-US" altLang="zh-CN" sz="2800" dirty="0">
                <a:solidFill>
                  <a:srgbClr val="C00000"/>
                </a:solidFill>
                <a:latin typeface="Aa花间辞楷书 (非商业使用)" panose="02010600010101010101" pitchFamily="2" charset="-122"/>
                <a:ea typeface="Aa花间辞楷书 (非商业使用)" panose="02010600010101010101" pitchFamily="2" charset="-122"/>
              </a:rPr>
              <a:t>John</a:t>
            </a:r>
            <a:r>
              <a:rPr lang="en-US" altLang="zh-CN" sz="2800" dirty="0">
                <a:latin typeface="Aa花间辞楷书 (非商业使用)" panose="02010600010101010101" pitchFamily="2" charset="-122"/>
                <a:ea typeface="Aa花间辞楷书 (非商业使用)" panose="02010600010101010101" pitchFamily="2" charset="-122"/>
              </a:rPr>
              <a:t>), Greedy(</a:t>
            </a:r>
            <a:r>
              <a:rPr lang="en-US" altLang="zh-CN" sz="2800" dirty="0">
                <a:solidFill>
                  <a:srgbClr val="C00000"/>
                </a:solidFill>
                <a:latin typeface="Aa花间辞楷书 (非商业使用)" panose="02010600010101010101" pitchFamily="2" charset="-122"/>
                <a:ea typeface="Aa花间辞楷书 (非商业使用)" panose="02010600010101010101" pitchFamily="2" charset="-122"/>
              </a:rPr>
              <a:t>John</a:t>
            </a:r>
            <a:r>
              <a:rPr lang="en-US" altLang="zh-CN" sz="2800" dirty="0">
                <a:latin typeface="Aa花间辞楷书 (非商业使用)" panose="02010600010101010101" pitchFamily="2" charset="-122"/>
                <a:ea typeface="Aa花间辞楷书 (非商业使用)" panose="02010600010101010101" pitchFamily="2" charset="-122"/>
              </a:rPr>
              <a:t>),</a:t>
            </a:r>
          </a:p>
          <a:p>
            <a:pPr>
              <a:lnSpc>
                <a:spcPct val="130000"/>
              </a:lnSpc>
            </a:pPr>
            <a:r>
              <a:rPr lang="en-US" altLang="zh-CN" sz="2800" dirty="0">
                <a:latin typeface="Aa花间辞楷书 (非商业使用)" panose="02010600010101010101" pitchFamily="2" charset="-122"/>
                <a:ea typeface="Aa花间辞楷书 (非商业使用)" panose="02010600010101010101" pitchFamily="2" charset="-122"/>
              </a:rPr>
              <a:t>   King(</a:t>
            </a:r>
            <a:r>
              <a:rPr lang="en-US" altLang="zh-CN" sz="2800" dirty="0">
                <a:solidFill>
                  <a:srgbClr val="C00000"/>
                </a:solidFill>
                <a:latin typeface="Aa花间辞楷书 (非商业使用)" panose="02010600010101010101" pitchFamily="2" charset="-122"/>
                <a:ea typeface="Aa花间辞楷书 (非商业使用)" panose="02010600010101010101" pitchFamily="2" charset="-122"/>
              </a:rPr>
              <a:t>John</a:t>
            </a:r>
            <a:r>
              <a:rPr lang="en-US" altLang="zh-CN" sz="2800" dirty="0">
                <a:latin typeface="Aa花间辞楷书 (非商业使用)" panose="02010600010101010101" pitchFamily="2" charset="-122"/>
                <a:ea typeface="Aa花间辞楷书 (非商业使用)" panose="02010600010101010101" pitchFamily="2" charset="-122"/>
              </a:rPr>
              <a:t>)</a:t>
            </a:r>
            <a:r>
              <a:rPr lang="en-US" altLang="zh-CN" sz="2800" dirty="0">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800" dirty="0">
                <a:latin typeface="Aa花间辞楷书 (非商业使用)" panose="02010600010101010101" pitchFamily="2" charset="-122"/>
                <a:ea typeface="Aa花间辞楷书 (非商业使用)" panose="02010600010101010101" pitchFamily="2" charset="-122"/>
              </a:rPr>
              <a:t>Greedy(</a:t>
            </a:r>
            <a:r>
              <a:rPr lang="en-US" altLang="zh-CN" sz="2800" dirty="0">
                <a:solidFill>
                  <a:srgbClr val="C00000"/>
                </a:solidFill>
                <a:latin typeface="Aa花间辞楷书 (非商业使用)" panose="02010600010101010101" pitchFamily="2" charset="-122"/>
                <a:ea typeface="Aa花间辞楷书 (非商业使用)" panose="02010600010101010101" pitchFamily="2" charset="-122"/>
              </a:rPr>
              <a:t>John</a:t>
            </a:r>
            <a:r>
              <a:rPr lang="en-US" altLang="zh-CN" sz="2800" dirty="0">
                <a:latin typeface="Aa花间辞楷书 (非商业使用)" panose="02010600010101010101" pitchFamily="2" charset="-122"/>
                <a:ea typeface="Aa花间辞楷书 (非商业使用)" panose="02010600010101010101" pitchFamily="2" charset="-122"/>
              </a:rPr>
              <a:t>) </a:t>
            </a:r>
            <a:r>
              <a:rPr lang="en-US" altLang="zh-CN" sz="2800" dirty="0">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800" dirty="0">
                <a:latin typeface="Aa花间辞楷书 (非商业使用)" panose="02010600010101010101" pitchFamily="2" charset="-122"/>
                <a:ea typeface="Aa花间辞楷书 (非商业使用)" panose="02010600010101010101" pitchFamily="2" charset="-122"/>
              </a:rPr>
              <a:t> </a:t>
            </a:r>
            <a:r>
              <a:rPr lang="en-US" altLang="zh-CN" sz="2800" dirty="0">
                <a:solidFill>
                  <a:srgbClr val="FF0000"/>
                </a:solidFill>
                <a:latin typeface="Aa花间辞楷书 (非商业使用)" panose="02010600010101010101" pitchFamily="2" charset="-122"/>
                <a:ea typeface="Aa花间辞楷书 (非商业使用)" panose="02010600010101010101" pitchFamily="2" charset="-122"/>
              </a:rPr>
              <a:t>Evil(John)</a:t>
            </a:r>
            <a:endParaRPr lang="zh-CN" altLang="en-US" sz="2800" dirty="0">
              <a:solidFill>
                <a:srgbClr val="FF0000"/>
              </a:solidFill>
              <a:latin typeface="Aa花间辞楷书 (非商业使用)" panose="02010600010101010101" pitchFamily="2" charset="-122"/>
              <a:ea typeface="Aa花间辞楷书 (非商业使用)" panose="02010600010101010101" pitchFamily="2" charset="-122"/>
            </a:endParaRPr>
          </a:p>
          <a:p>
            <a:pPr lvl="1">
              <a:lnSpc>
                <a:spcPct val="130000"/>
              </a:lnSpc>
            </a:pPr>
            <a:r>
              <a:rPr lang="zh-CN" altLang="en-US" dirty="0">
                <a:latin typeface="Aa花间辞楷书 (非商业使用)" panose="02010600010101010101" pitchFamily="2" charset="-122"/>
                <a:ea typeface="Aa花间辞楷书 (非商业使用)" panose="02010600010101010101" pitchFamily="2" charset="-122"/>
              </a:rPr>
              <a:t>                                         </a:t>
            </a:r>
            <a:endParaRPr lang="en-US" altLang="zh-CN" dirty="0">
              <a:solidFill>
                <a:srgbClr val="FF0000"/>
              </a:solidFill>
              <a:latin typeface="Aa花间辞楷书 (非商业使用)" panose="02010600010101010101" pitchFamily="2" charset="-122"/>
              <a:ea typeface="Aa花间辞楷书 (非商业使用)" panose="02010600010101010101" pitchFamily="2" charset="-122"/>
            </a:endParaRPr>
          </a:p>
        </p:txBody>
      </p:sp>
    </p:spTree>
    <p:extLst>
      <p:ext uri="{BB962C8B-B14F-4D97-AF65-F5344CB8AC3E}">
        <p14:creationId xmlns:p14="http://schemas.microsoft.com/office/powerpoint/2010/main" val="2491997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1695B4-5A5D-7F4A-D4CF-F8217DB0248C}"/>
              </a:ext>
            </a:extLst>
          </p:cNvPr>
          <p:cNvSpPr>
            <a:spLocks noGrp="1"/>
          </p:cNvSpPr>
          <p:nvPr>
            <p:ph type="title"/>
          </p:nvPr>
        </p:nvSpPr>
        <p:spPr/>
        <p:txBody>
          <a:bodyPr/>
          <a:lstStyle/>
          <a:p>
            <a:r>
              <a:rPr lang="en-US" altLang="zh-CN" dirty="0"/>
              <a:t>9.2 </a:t>
            </a:r>
            <a:r>
              <a:rPr lang="zh-CN" altLang="en-US" dirty="0"/>
              <a:t>合一与</a:t>
            </a:r>
            <a:r>
              <a:rPr lang="en-US" altLang="zh-CN" dirty="0"/>
              <a:t>GMP</a:t>
            </a:r>
            <a:endParaRPr lang="zh-CN" altLang="en-US" dirty="0"/>
          </a:p>
        </p:txBody>
      </p:sp>
      <p:sp>
        <p:nvSpPr>
          <p:cNvPr id="4" name="矩形: 圆角 3">
            <a:extLst>
              <a:ext uri="{FF2B5EF4-FFF2-40B4-BE49-F238E27FC236}">
                <a16:creationId xmlns:a16="http://schemas.microsoft.com/office/drawing/2014/main" id="{7649F8DB-0322-440B-4A42-CF0582C1E44D}"/>
              </a:ext>
            </a:extLst>
          </p:cNvPr>
          <p:cNvSpPr/>
          <p:nvPr/>
        </p:nvSpPr>
        <p:spPr>
          <a:xfrm>
            <a:off x="4442368" y="1180131"/>
            <a:ext cx="2666156" cy="622005"/>
          </a:xfrm>
          <a:prstGeom prst="roundRect">
            <a:avLst/>
          </a:prstGeom>
          <a:solidFill>
            <a:schemeClr val="accent2">
              <a:lumMod val="20000"/>
              <a:lumOff val="80000"/>
            </a:schemeClr>
          </a:solid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3153"/>
                </a:solidFill>
                <a:latin typeface="Aa花间辞楷书 (非商业使用)" panose="02010600010101010101" pitchFamily="2" charset="-122"/>
                <a:ea typeface="Aa花间辞楷书 (非商业使用)" panose="02010600010101010101" pitchFamily="2" charset="-122"/>
              </a:rPr>
              <a:t>一阶逻辑</a:t>
            </a:r>
          </a:p>
        </p:txBody>
      </p:sp>
      <p:sp>
        <p:nvSpPr>
          <p:cNvPr id="5" name="矩形 4">
            <a:extLst>
              <a:ext uri="{FF2B5EF4-FFF2-40B4-BE49-F238E27FC236}">
                <a16:creationId xmlns:a16="http://schemas.microsoft.com/office/drawing/2014/main" id="{CCE5E30F-BBD7-96F0-0EF9-85F557169A87}"/>
              </a:ext>
            </a:extLst>
          </p:cNvPr>
          <p:cNvSpPr/>
          <p:nvPr/>
        </p:nvSpPr>
        <p:spPr>
          <a:xfrm>
            <a:off x="7819233" y="1199591"/>
            <a:ext cx="2539675" cy="622005"/>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b="1" dirty="0">
                <a:solidFill>
                  <a:srgbClr val="FFCC99"/>
                </a:solidFill>
                <a:latin typeface="Aa花间辞楷书 (非商业使用)" panose="02010600010101010101" pitchFamily="2" charset="-122"/>
                <a:ea typeface="Aa花间辞楷书 (非商业使用)" panose="02010600010101010101" pitchFamily="2" charset="-122"/>
              </a:rPr>
              <a:t>引入对象、关系、函数</a:t>
            </a:r>
            <a:endParaRPr lang="el-GR" altLang="zh-CN" b="1" dirty="0">
              <a:solidFill>
                <a:srgbClr val="FFCC99"/>
              </a:solidFill>
              <a:latin typeface="微软雅黑" panose="020B0503020204020204" pitchFamily="34" charset="-122"/>
              <a:ea typeface="Aa花间辞楷书 (非商业使用)" panose="02010600010101010101" pitchFamily="2" charset="-122"/>
            </a:endParaRPr>
          </a:p>
        </p:txBody>
      </p:sp>
      <p:cxnSp>
        <p:nvCxnSpPr>
          <p:cNvPr id="6" name="直接箭头连接符 5">
            <a:extLst>
              <a:ext uri="{FF2B5EF4-FFF2-40B4-BE49-F238E27FC236}">
                <a16:creationId xmlns:a16="http://schemas.microsoft.com/office/drawing/2014/main" id="{AF93B760-56F1-ECC1-6D10-ED36B41F841B}"/>
              </a:ext>
            </a:extLst>
          </p:cNvPr>
          <p:cNvCxnSpPr>
            <a:cxnSpLocks/>
          </p:cNvCxnSpPr>
          <p:nvPr/>
        </p:nvCxnSpPr>
        <p:spPr>
          <a:xfrm>
            <a:off x="7121197" y="1581379"/>
            <a:ext cx="698037" cy="0"/>
          </a:xfrm>
          <a:prstGeom prst="straightConnector1">
            <a:avLst/>
          </a:prstGeom>
          <a:ln w="38100">
            <a:solidFill>
              <a:srgbClr val="FFCC99"/>
            </a:solidFill>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7" name="直接箭头连接符 6">
            <a:extLst>
              <a:ext uri="{FF2B5EF4-FFF2-40B4-BE49-F238E27FC236}">
                <a16:creationId xmlns:a16="http://schemas.microsoft.com/office/drawing/2014/main" id="{BE8A25D2-9A5A-C332-FB1D-BE45A7D3B388}"/>
              </a:ext>
            </a:extLst>
          </p:cNvPr>
          <p:cNvCxnSpPr>
            <a:cxnSpLocks/>
          </p:cNvCxnSpPr>
          <p:nvPr/>
        </p:nvCxnSpPr>
        <p:spPr>
          <a:xfrm>
            <a:off x="3744331" y="1533242"/>
            <a:ext cx="698037" cy="0"/>
          </a:xfrm>
          <a:prstGeom prst="straightConnector1">
            <a:avLst/>
          </a:prstGeom>
          <a:ln w="38100">
            <a:solidFill>
              <a:srgbClr val="FFCC99"/>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8" name="矩形 7">
            <a:extLst>
              <a:ext uri="{FF2B5EF4-FFF2-40B4-BE49-F238E27FC236}">
                <a16:creationId xmlns:a16="http://schemas.microsoft.com/office/drawing/2014/main" id="{E7FF4B94-4A7D-9EDC-7CB5-57594ADC2D0E}"/>
              </a:ext>
            </a:extLst>
          </p:cNvPr>
          <p:cNvSpPr/>
          <p:nvPr/>
        </p:nvSpPr>
        <p:spPr>
          <a:xfrm>
            <a:off x="1821509" y="1199591"/>
            <a:ext cx="1910149" cy="622005"/>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b="1" dirty="0">
                <a:solidFill>
                  <a:srgbClr val="FFCC99"/>
                </a:solidFill>
                <a:latin typeface="Aa花间辞楷书 (非商业使用)" panose="02010600010101010101" pitchFamily="2" charset="-122"/>
                <a:ea typeface="Aa花间辞楷书 (非商业使用)" panose="02010600010101010101" pitchFamily="2" charset="-122"/>
              </a:rPr>
              <a:t>一阶逻辑的推理</a:t>
            </a:r>
            <a:endParaRPr lang="el-GR" altLang="zh-CN" b="1" dirty="0">
              <a:solidFill>
                <a:srgbClr val="FFCC99"/>
              </a:solidFill>
              <a:latin typeface="微软雅黑" panose="020B0503020204020204" pitchFamily="34" charset="-122"/>
              <a:ea typeface="Aa花间辞楷书 (非商业使用)" panose="02010600010101010101" pitchFamily="2" charset="-122"/>
            </a:endParaRPr>
          </a:p>
        </p:txBody>
      </p:sp>
      <p:grpSp>
        <p:nvGrpSpPr>
          <p:cNvPr id="9" name="组合 8">
            <a:extLst>
              <a:ext uri="{FF2B5EF4-FFF2-40B4-BE49-F238E27FC236}">
                <a16:creationId xmlns:a16="http://schemas.microsoft.com/office/drawing/2014/main" id="{ABCF5A0C-354D-2030-8563-5E9C51BF40F1}"/>
              </a:ext>
            </a:extLst>
          </p:cNvPr>
          <p:cNvGrpSpPr/>
          <p:nvPr/>
        </p:nvGrpSpPr>
        <p:grpSpPr>
          <a:xfrm>
            <a:off x="1435318" y="2293849"/>
            <a:ext cx="8938186" cy="3857811"/>
            <a:chOff x="-205562" y="2735863"/>
            <a:chExt cx="8938186" cy="3857811"/>
          </a:xfrm>
        </p:grpSpPr>
        <p:sp>
          <p:nvSpPr>
            <p:cNvPr id="10" name="矩形: 圆角 9">
              <a:extLst>
                <a:ext uri="{FF2B5EF4-FFF2-40B4-BE49-F238E27FC236}">
                  <a16:creationId xmlns:a16="http://schemas.microsoft.com/office/drawing/2014/main" id="{6ABC6B9F-F0B1-4B28-CFEA-9FDD2CDB6846}"/>
                </a:ext>
              </a:extLst>
            </p:cNvPr>
            <p:cNvSpPr/>
            <p:nvPr/>
          </p:nvSpPr>
          <p:spPr>
            <a:xfrm>
              <a:off x="2153516" y="4302543"/>
              <a:ext cx="2535798" cy="692325"/>
            </a:xfrm>
            <a:prstGeom prst="roundRect">
              <a:avLst/>
            </a:prstGeom>
            <a:solidFill>
              <a:schemeClr val="accent2">
                <a:lumMod val="20000"/>
                <a:lumOff val="80000"/>
              </a:schemeClr>
            </a:solid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3153"/>
                  </a:solidFill>
                  <a:latin typeface="Aa花间辞楷书 (非商业使用)" panose="02010600010101010101" pitchFamily="2" charset="-122"/>
                  <a:ea typeface="Aa花间辞楷书 (非商业使用)" panose="02010600010101010101" pitchFamily="2" charset="-122"/>
                </a:rPr>
                <a:t>合一算法确保找到所有可能地置换</a:t>
              </a:r>
            </a:p>
          </p:txBody>
        </p:sp>
        <p:sp>
          <p:nvSpPr>
            <p:cNvPr id="11" name="矩形: 圆角 10">
              <a:extLst>
                <a:ext uri="{FF2B5EF4-FFF2-40B4-BE49-F238E27FC236}">
                  <a16:creationId xmlns:a16="http://schemas.microsoft.com/office/drawing/2014/main" id="{D81B7D5E-E940-D3B2-EC1F-E70D11D1BA37}"/>
                </a:ext>
              </a:extLst>
            </p:cNvPr>
            <p:cNvSpPr/>
            <p:nvPr/>
          </p:nvSpPr>
          <p:spPr>
            <a:xfrm>
              <a:off x="-205562" y="2735863"/>
              <a:ext cx="2535798" cy="692325"/>
            </a:xfrm>
            <a:prstGeom prst="roundRect">
              <a:avLst/>
            </a:prstGeom>
            <a:solidFill>
              <a:schemeClr val="accent2">
                <a:lumMod val="20000"/>
                <a:lumOff val="80000"/>
              </a:schemeClr>
            </a:solid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3153"/>
                  </a:solidFill>
                  <a:latin typeface="Aa花间辞楷书 (非商业使用)" panose="02010600010101010101" pitchFamily="2" charset="-122"/>
                  <a:ea typeface="Aa花间辞楷书 (非商业使用)" panose="02010600010101010101" pitchFamily="2" charset="-122"/>
                </a:rPr>
                <a:t>通过置换判定关系地存在</a:t>
              </a:r>
            </a:p>
          </p:txBody>
        </p:sp>
        <p:sp>
          <p:nvSpPr>
            <p:cNvPr id="12" name="矩形: 圆角 11">
              <a:extLst>
                <a:ext uri="{FF2B5EF4-FFF2-40B4-BE49-F238E27FC236}">
                  <a16:creationId xmlns:a16="http://schemas.microsoft.com/office/drawing/2014/main" id="{C0DCF21C-21B4-2BF7-FCDD-D212291AD69A}"/>
                </a:ext>
              </a:extLst>
            </p:cNvPr>
            <p:cNvSpPr/>
            <p:nvPr/>
          </p:nvSpPr>
          <p:spPr>
            <a:xfrm>
              <a:off x="4570307" y="5901349"/>
              <a:ext cx="2535798" cy="692325"/>
            </a:xfrm>
            <a:prstGeom prst="roundRect">
              <a:avLst/>
            </a:prstGeom>
            <a:solidFill>
              <a:schemeClr val="accent2">
                <a:lumMod val="20000"/>
                <a:lumOff val="80000"/>
              </a:schemeClr>
            </a:solid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3153"/>
                  </a:solidFill>
                  <a:latin typeface="Aa花间辞楷书 (非商业使用)" panose="02010600010101010101" pitchFamily="2" charset="-122"/>
                  <a:ea typeface="Aa花间辞楷书 (非商业使用)" panose="02010600010101010101" pitchFamily="2" charset="-122"/>
                </a:rPr>
                <a:t>确保关系判定的完备性，半可判定性</a:t>
              </a:r>
            </a:p>
          </p:txBody>
        </p:sp>
        <p:cxnSp>
          <p:nvCxnSpPr>
            <p:cNvPr id="13" name="直接箭头连接符 12">
              <a:extLst>
                <a:ext uri="{FF2B5EF4-FFF2-40B4-BE49-F238E27FC236}">
                  <a16:creationId xmlns:a16="http://schemas.microsoft.com/office/drawing/2014/main" id="{D3E05944-9855-07DD-8BE7-DEF4A389FCAD}"/>
                </a:ext>
              </a:extLst>
            </p:cNvPr>
            <p:cNvCxnSpPr>
              <a:cxnSpLocks/>
            </p:cNvCxnSpPr>
            <p:nvPr/>
          </p:nvCxnSpPr>
          <p:spPr>
            <a:xfrm>
              <a:off x="2206028" y="3548739"/>
              <a:ext cx="1108184" cy="536059"/>
            </a:xfrm>
            <a:prstGeom prst="straightConnector1">
              <a:avLst/>
            </a:prstGeom>
            <a:ln w="76200">
              <a:solidFill>
                <a:srgbClr val="FFCC99"/>
              </a:solidFill>
              <a:tailEnd type="triangle"/>
            </a:ln>
          </p:spPr>
          <p:style>
            <a:lnRef idx="1">
              <a:schemeClr val="accent2"/>
            </a:lnRef>
            <a:fillRef idx="0">
              <a:schemeClr val="accent2"/>
            </a:fillRef>
            <a:effectRef idx="0">
              <a:schemeClr val="accent2"/>
            </a:effectRef>
            <a:fontRef idx="minor">
              <a:schemeClr val="tx1"/>
            </a:fontRef>
          </p:style>
        </p:cxnSp>
        <p:cxnSp>
          <p:nvCxnSpPr>
            <p:cNvPr id="14" name="直接箭头连接符 13">
              <a:extLst>
                <a:ext uri="{FF2B5EF4-FFF2-40B4-BE49-F238E27FC236}">
                  <a16:creationId xmlns:a16="http://schemas.microsoft.com/office/drawing/2014/main" id="{E432B10F-4F19-B79F-CC0F-3614A77E8354}"/>
                </a:ext>
              </a:extLst>
            </p:cNvPr>
            <p:cNvCxnSpPr>
              <a:cxnSpLocks/>
            </p:cNvCxnSpPr>
            <p:nvPr/>
          </p:nvCxnSpPr>
          <p:spPr>
            <a:xfrm>
              <a:off x="4606013" y="5183132"/>
              <a:ext cx="1080614" cy="454763"/>
            </a:xfrm>
            <a:prstGeom prst="straightConnector1">
              <a:avLst/>
            </a:prstGeom>
            <a:ln w="76200">
              <a:solidFill>
                <a:srgbClr val="FFCC99"/>
              </a:solidFill>
              <a:tailEnd type="triangle"/>
            </a:ln>
          </p:spPr>
          <p:style>
            <a:lnRef idx="1">
              <a:schemeClr val="accent2"/>
            </a:lnRef>
            <a:fillRef idx="0">
              <a:schemeClr val="accent2"/>
            </a:fillRef>
            <a:effectRef idx="0">
              <a:schemeClr val="accent2"/>
            </a:effectRef>
            <a:fontRef idx="minor">
              <a:schemeClr val="tx1"/>
            </a:fontRef>
          </p:style>
        </p:cxnSp>
        <p:sp>
          <p:nvSpPr>
            <p:cNvPr id="15" name="矩形 14">
              <a:extLst>
                <a:ext uri="{FF2B5EF4-FFF2-40B4-BE49-F238E27FC236}">
                  <a16:creationId xmlns:a16="http://schemas.microsoft.com/office/drawing/2014/main" id="{8C57A9A1-1D61-A172-A890-8095E2A94DB1}"/>
                </a:ext>
              </a:extLst>
            </p:cNvPr>
            <p:cNvSpPr/>
            <p:nvPr/>
          </p:nvSpPr>
          <p:spPr>
            <a:xfrm>
              <a:off x="3337606" y="2785744"/>
              <a:ext cx="3331364" cy="524742"/>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置换把表达式之间或对象之间的关系提取出来</a:t>
              </a:r>
              <a:endParaRPr lang="el-GR" altLang="zh-CN" sz="1400" b="1" dirty="0">
                <a:solidFill>
                  <a:srgbClr val="FFCC99"/>
                </a:solidFill>
                <a:latin typeface="微软雅黑" panose="020B0503020204020204" pitchFamily="34" charset="-122"/>
                <a:ea typeface="Aa花间辞楷书 (非商业使用)" panose="02010600010101010101" pitchFamily="2" charset="-122"/>
              </a:endParaRPr>
            </a:p>
          </p:txBody>
        </p:sp>
        <p:sp>
          <p:nvSpPr>
            <p:cNvPr id="16" name="矩形 15">
              <a:extLst>
                <a:ext uri="{FF2B5EF4-FFF2-40B4-BE49-F238E27FC236}">
                  <a16:creationId xmlns:a16="http://schemas.microsoft.com/office/drawing/2014/main" id="{7E0381C7-320D-23BE-02E5-7F27E66A9760}"/>
                </a:ext>
              </a:extLst>
            </p:cNvPr>
            <p:cNvSpPr/>
            <p:nvPr/>
          </p:nvSpPr>
          <p:spPr>
            <a:xfrm>
              <a:off x="5401260" y="4210024"/>
              <a:ext cx="3331364" cy="524742"/>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通过枚举置换，只要关系存在，就一定能找到，</a:t>
              </a:r>
              <a:endParaRPr lang="el-GR" altLang="zh-CN" sz="1400" b="1" dirty="0">
                <a:solidFill>
                  <a:srgbClr val="FFCC99"/>
                </a:solidFill>
                <a:latin typeface="微软雅黑" panose="020B0503020204020204" pitchFamily="34" charset="-122"/>
                <a:ea typeface="Aa花间辞楷书 (非商业使用)" panose="02010600010101010101" pitchFamily="2" charset="-122"/>
              </a:endParaRPr>
            </a:p>
          </p:txBody>
        </p:sp>
      </p:grpSp>
      <p:sp>
        <p:nvSpPr>
          <p:cNvPr id="17" name="矩形 16">
            <a:extLst>
              <a:ext uri="{FF2B5EF4-FFF2-40B4-BE49-F238E27FC236}">
                <a16:creationId xmlns:a16="http://schemas.microsoft.com/office/drawing/2014/main" id="{48C62E0E-A2EB-DA47-E08B-A7EDDF290F84}"/>
              </a:ext>
            </a:extLst>
          </p:cNvPr>
          <p:cNvSpPr/>
          <p:nvPr/>
        </p:nvSpPr>
        <p:spPr>
          <a:xfrm>
            <a:off x="2372509" y="5543126"/>
            <a:ext cx="3331364" cy="524742"/>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合一与一般假言推理，是可靠的</a:t>
            </a:r>
            <a:endParaRPr lang="el-GR" altLang="zh-CN" sz="1400" b="1" dirty="0">
              <a:solidFill>
                <a:srgbClr val="FFCC99"/>
              </a:solidFill>
              <a:latin typeface="微软雅黑" panose="020B0503020204020204" pitchFamily="34" charset="-122"/>
              <a:ea typeface="Aa花间辞楷书 (非商业使用)" panose="02010600010101010101" pitchFamily="2" charset="-122"/>
            </a:endParaRPr>
          </a:p>
        </p:txBody>
      </p:sp>
    </p:spTree>
    <p:extLst>
      <p:ext uri="{BB962C8B-B14F-4D97-AF65-F5344CB8AC3E}">
        <p14:creationId xmlns:p14="http://schemas.microsoft.com/office/powerpoint/2010/main" val="35949830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D85330-8BD0-B183-53B7-5616E997A824}"/>
              </a:ext>
            </a:extLst>
          </p:cNvPr>
          <p:cNvSpPr>
            <a:spLocks noGrp="1"/>
          </p:cNvSpPr>
          <p:nvPr>
            <p:ph type="title"/>
          </p:nvPr>
        </p:nvSpPr>
        <p:spPr/>
        <p:txBody>
          <a:bodyPr/>
          <a:lstStyle/>
          <a:p>
            <a:r>
              <a:rPr lang="en-US" altLang="zh-CN" dirty="0"/>
              <a:t>9.3 </a:t>
            </a:r>
            <a:r>
              <a:rPr lang="zh-CN" altLang="en-US" dirty="0"/>
              <a:t>前向链接</a:t>
            </a:r>
          </a:p>
        </p:txBody>
      </p:sp>
      <p:sp>
        <p:nvSpPr>
          <p:cNvPr id="3" name="内容占位符 2">
            <a:extLst>
              <a:ext uri="{FF2B5EF4-FFF2-40B4-BE49-F238E27FC236}">
                <a16:creationId xmlns:a16="http://schemas.microsoft.com/office/drawing/2014/main" id="{07BA1ABF-22CA-BA84-D124-1E6B68144B11}"/>
              </a:ext>
            </a:extLst>
          </p:cNvPr>
          <p:cNvSpPr>
            <a:spLocks noGrp="1"/>
          </p:cNvSpPr>
          <p:nvPr>
            <p:ph idx="1"/>
          </p:nvPr>
        </p:nvSpPr>
        <p:spPr/>
        <p:txBody>
          <a:bodyPr/>
          <a:lstStyle/>
          <a:p>
            <a:r>
              <a:rPr lang="zh-CN" altLang="en-US" dirty="0">
                <a:latin typeface="Courier Prime" panose="02000409000000000000" pitchFamily="49" charset="0"/>
              </a:rPr>
              <a:t>例题：</a:t>
            </a:r>
            <a:endParaRPr lang="en-US" altLang="zh-CN" dirty="0">
              <a:latin typeface="Courier Prime" panose="02000409000000000000" pitchFamily="49" charset="0"/>
            </a:endParaRPr>
          </a:p>
          <a:p>
            <a:pPr marL="0" indent="0">
              <a:buNone/>
            </a:pPr>
            <a:r>
              <a:rPr lang="zh-CN" altLang="en-US" b="0" dirty="0">
                <a:latin typeface="Courier Prime" panose="02000409000000000000" pitchFamily="49" charset="0"/>
              </a:rPr>
              <a:t> </a:t>
            </a:r>
            <a:r>
              <a:rPr lang="en-US" altLang="zh-CN" b="0" dirty="0">
                <a:solidFill>
                  <a:srgbClr val="FFCC99"/>
                </a:solidFill>
                <a:latin typeface="Aa花间辞楷书 (非商业使用)" panose="02010600010101010101" pitchFamily="2" charset="-122"/>
                <a:ea typeface="Aa花间辞楷书 (非商业使用)" panose="02010600010101010101" pitchFamily="2" charset="-122"/>
              </a:rPr>
              <a:t>The law says that it is a crime for an American to sell weapons to hostile nations.  The country Nono, an enemy of America, has some missiles, and all of its missiles were sold to it by Colonel West, who is American.</a:t>
            </a:r>
          </a:p>
          <a:p>
            <a:r>
              <a:rPr lang="zh-CN" altLang="en-US" dirty="0">
                <a:latin typeface="Aa花间辞楷书 (非商业使用)" panose="02010600010101010101" pitchFamily="2" charset="-122"/>
                <a:ea typeface="Aa花间辞楷书 (非商业使用)" panose="02010600010101010101" pitchFamily="2" charset="-122"/>
              </a:rPr>
              <a:t>证明：</a:t>
            </a:r>
            <a:r>
              <a:rPr lang="en-US" altLang="zh-CN" dirty="0">
                <a:solidFill>
                  <a:srgbClr val="C00000"/>
                </a:solidFill>
                <a:latin typeface="Aa花间辞楷书 (非商业使用)" panose="02010600010101010101" pitchFamily="2" charset="-122"/>
                <a:ea typeface="Aa花间辞楷书 (非商业使用)" panose="02010600010101010101" pitchFamily="2" charset="-122"/>
              </a:rPr>
              <a:t>Colonel  West is a crime</a:t>
            </a:r>
            <a:r>
              <a:rPr lang="zh-CN" altLang="en-US" dirty="0">
                <a:solidFill>
                  <a:srgbClr val="C00000"/>
                </a:solidFill>
                <a:latin typeface="Aa花间辞楷书 (非商业使用)" panose="02010600010101010101" pitchFamily="2" charset="-122"/>
                <a:ea typeface="Aa花间辞楷书 (非商业使用)" panose="02010600010101010101" pitchFamily="2" charset="-122"/>
              </a:rPr>
              <a:t>？</a:t>
            </a:r>
          </a:p>
          <a:p>
            <a:pPr marL="0" indent="0">
              <a:buNone/>
            </a:pPr>
            <a:endParaRPr lang="en-US" altLang="zh-CN" b="0" dirty="0">
              <a:latin typeface="Aa花间辞楷书 (非商业使用)" panose="02010600010101010101" pitchFamily="2" charset="-122"/>
              <a:ea typeface="Aa花间辞楷书 (非商业使用)" panose="02010600010101010101" pitchFamily="2" charset="-122"/>
            </a:endParaRPr>
          </a:p>
          <a:p>
            <a:endParaRPr lang="zh-CN" altLang="en-US" dirty="0"/>
          </a:p>
        </p:txBody>
      </p:sp>
    </p:spTree>
    <p:extLst>
      <p:ext uri="{BB962C8B-B14F-4D97-AF65-F5344CB8AC3E}">
        <p14:creationId xmlns:p14="http://schemas.microsoft.com/office/powerpoint/2010/main" val="20263108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FBD6FA-6C76-745B-9A4C-1E401EFDC87B}"/>
              </a:ext>
            </a:extLst>
          </p:cNvPr>
          <p:cNvSpPr>
            <a:spLocks noGrp="1"/>
          </p:cNvSpPr>
          <p:nvPr>
            <p:ph type="title"/>
          </p:nvPr>
        </p:nvSpPr>
        <p:spPr/>
        <p:txBody>
          <a:bodyPr/>
          <a:lstStyle/>
          <a:p>
            <a:r>
              <a:rPr lang="en-US" altLang="zh-CN" dirty="0"/>
              <a:t>9.3 </a:t>
            </a:r>
            <a:r>
              <a:rPr lang="zh-CN" altLang="en-US" dirty="0"/>
              <a:t>前向链接</a:t>
            </a:r>
          </a:p>
        </p:txBody>
      </p:sp>
      <p:sp>
        <p:nvSpPr>
          <p:cNvPr id="3" name="内容占位符 2">
            <a:extLst>
              <a:ext uri="{FF2B5EF4-FFF2-40B4-BE49-F238E27FC236}">
                <a16:creationId xmlns:a16="http://schemas.microsoft.com/office/drawing/2014/main" id="{EE141366-761C-0EB8-0583-6BEBF94F479D}"/>
              </a:ext>
            </a:extLst>
          </p:cNvPr>
          <p:cNvSpPr>
            <a:spLocks noGrp="1"/>
          </p:cNvSpPr>
          <p:nvPr>
            <p:ph idx="1"/>
          </p:nvPr>
        </p:nvSpPr>
        <p:spPr/>
        <p:txBody>
          <a:bodyPr/>
          <a:lstStyle/>
          <a:p>
            <a:pPr>
              <a:lnSpc>
                <a:spcPct val="150000"/>
              </a:lnSpc>
            </a:pPr>
            <a:r>
              <a:rPr lang="zh-CN" altLang="en-US" dirty="0"/>
              <a:t>分析建模</a:t>
            </a:r>
            <a:endParaRPr lang="en-US" altLang="zh-CN" dirty="0"/>
          </a:p>
          <a:p>
            <a:pPr marL="0" indent="0">
              <a:lnSpc>
                <a:spcPct val="150000"/>
              </a:lnSpc>
              <a:buNone/>
            </a:pP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it is a crime for an American to sell weapons to hostile nations:</a:t>
            </a:r>
          </a:p>
          <a:p>
            <a:pPr>
              <a:lnSpc>
                <a:spcPct val="150000"/>
              </a:lnSpc>
            </a:pP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American(x)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Weapon(y)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Sells(</a:t>
            </a:r>
            <a:r>
              <a:rPr lang="en-US" altLang="zh-CN" dirty="0" err="1">
                <a:solidFill>
                  <a:srgbClr val="FF0000"/>
                </a:solidFill>
                <a:latin typeface="Aa花间辞楷书 (非商业使用)" panose="02010600010101010101" pitchFamily="2" charset="-122"/>
                <a:ea typeface="Aa花间辞楷书 (非商业使用)" panose="02010600010101010101" pitchFamily="2" charset="-122"/>
              </a:rPr>
              <a:t>x,y,z</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Hostile(z)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Criminal(x)</a:t>
            </a:r>
          </a:p>
          <a:p>
            <a:pPr marL="0" indent="0">
              <a:lnSpc>
                <a:spcPct val="150000"/>
              </a:lnSpc>
              <a:buNone/>
            </a:pPr>
            <a:endParaRPr lang="en-US" altLang="zh-CN" i="1" dirty="0">
              <a:solidFill>
                <a:srgbClr val="FF0000"/>
              </a:solidFill>
              <a:latin typeface="Aa花间辞楷书 (非商业使用)" panose="02010600010101010101" pitchFamily="2" charset="-122"/>
              <a:ea typeface="Aa花间辞楷书 (非商业使用)" panose="02010600010101010101" pitchFamily="2" charset="-122"/>
            </a:endParaRPr>
          </a:p>
          <a:p>
            <a:endParaRPr lang="zh-CN" altLang="en-US" dirty="0"/>
          </a:p>
        </p:txBody>
      </p:sp>
    </p:spTree>
    <p:extLst>
      <p:ext uri="{BB962C8B-B14F-4D97-AF65-F5344CB8AC3E}">
        <p14:creationId xmlns:p14="http://schemas.microsoft.com/office/powerpoint/2010/main" val="209780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FBD6FA-6C76-745B-9A4C-1E401EFDC87B}"/>
              </a:ext>
            </a:extLst>
          </p:cNvPr>
          <p:cNvSpPr>
            <a:spLocks noGrp="1"/>
          </p:cNvSpPr>
          <p:nvPr>
            <p:ph type="title"/>
          </p:nvPr>
        </p:nvSpPr>
        <p:spPr/>
        <p:txBody>
          <a:bodyPr/>
          <a:lstStyle/>
          <a:p>
            <a:r>
              <a:rPr lang="en-US" altLang="zh-CN" dirty="0"/>
              <a:t>9.3 </a:t>
            </a:r>
            <a:r>
              <a:rPr lang="zh-CN" altLang="en-US" dirty="0"/>
              <a:t>前向链接</a:t>
            </a:r>
          </a:p>
        </p:txBody>
      </p:sp>
      <p:sp>
        <p:nvSpPr>
          <p:cNvPr id="3" name="内容占位符 2">
            <a:extLst>
              <a:ext uri="{FF2B5EF4-FFF2-40B4-BE49-F238E27FC236}">
                <a16:creationId xmlns:a16="http://schemas.microsoft.com/office/drawing/2014/main" id="{EE141366-761C-0EB8-0583-6BEBF94F479D}"/>
              </a:ext>
            </a:extLst>
          </p:cNvPr>
          <p:cNvSpPr>
            <a:spLocks noGrp="1"/>
          </p:cNvSpPr>
          <p:nvPr>
            <p:ph idx="1"/>
          </p:nvPr>
        </p:nvSpPr>
        <p:spPr/>
        <p:txBody>
          <a:bodyPr/>
          <a:lstStyle/>
          <a:p>
            <a:pPr>
              <a:lnSpc>
                <a:spcPct val="150000"/>
              </a:lnSpc>
            </a:pPr>
            <a:r>
              <a:rPr lang="zh-CN" altLang="en-US" dirty="0"/>
              <a:t>分析建模</a:t>
            </a:r>
            <a:endParaRPr lang="en-US" altLang="zh-CN" dirty="0"/>
          </a:p>
          <a:p>
            <a:pPr>
              <a:lnSpc>
                <a:spcPct val="150000"/>
              </a:lnSpc>
            </a:pP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American(x)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Weapon(y)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Sells(</a:t>
            </a:r>
            <a:r>
              <a:rPr lang="en-US" altLang="zh-CN" dirty="0" err="1">
                <a:solidFill>
                  <a:srgbClr val="FF0000"/>
                </a:solidFill>
                <a:latin typeface="Aa花间辞楷书 (非商业使用)" panose="02010600010101010101" pitchFamily="2" charset="-122"/>
                <a:ea typeface="Aa花间辞楷书 (非商业使用)" panose="02010600010101010101" pitchFamily="2" charset="-122"/>
              </a:rPr>
              <a:t>x,y,z</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Hostile(z)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Criminal(x)</a:t>
            </a:r>
          </a:p>
          <a:p>
            <a:pPr>
              <a:lnSpc>
                <a:spcPct val="130000"/>
              </a:lnSpc>
              <a:buNone/>
            </a:pP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Nono … has some missiles：</a:t>
            </a:r>
          </a:p>
          <a:p>
            <a:pPr>
              <a:lnSpc>
                <a:spcPct val="130000"/>
              </a:lnSpc>
              <a:buNone/>
            </a:pPr>
            <a:r>
              <a:rPr lang="zh-CN" altLang="en-US" sz="2400" dirty="0">
                <a:solidFill>
                  <a:srgbClr val="FF0000"/>
                </a:solidFill>
                <a:latin typeface="Aa花间辞楷书 (非商业使用)" panose="02010600010101010101" pitchFamily="2" charset="-122"/>
                <a:ea typeface="Aa花间辞楷书 (非商业使用)" panose="02010600010101010101" pitchFamily="2" charset="-122"/>
              </a:rPr>
              <a:t>     </a:t>
            </a:r>
            <a:r>
              <a:rPr lang="zh-CN" altLang="el-GR" sz="2400" dirty="0">
                <a:solidFill>
                  <a:srgbClr val="FF0000"/>
                </a:solidFill>
                <a:latin typeface="Aa花间辞楷书 (非商业使用)" panose="02010600010101010101" pitchFamily="2" charset="-122"/>
                <a:ea typeface="Aa花间辞楷书 (非商业使用)" panose="02010600010101010101" pitchFamily="2" charset="-122"/>
                <a:cs typeface="Arial" pitchFamily="34" charset="0"/>
                <a:sym typeface="Symbol" pitchFamily="18" charset="2"/>
              </a:rPr>
              <a:t></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x Owns(Nono, x) </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 Missile(x)</a:t>
            </a:r>
          </a:p>
          <a:p>
            <a:pPr marL="0" indent="0">
              <a:lnSpc>
                <a:spcPct val="150000"/>
              </a:lnSpc>
              <a:buNone/>
            </a:pPr>
            <a:endParaRPr lang="en-US" altLang="zh-CN" i="1" dirty="0">
              <a:solidFill>
                <a:srgbClr val="FF0000"/>
              </a:solidFill>
              <a:latin typeface="Aa花间辞楷书 (非商业使用)" panose="02010600010101010101" pitchFamily="2" charset="-122"/>
              <a:ea typeface="Aa花间辞楷书 (非商业使用)" panose="02010600010101010101" pitchFamily="2" charset="-122"/>
            </a:endParaRPr>
          </a:p>
          <a:p>
            <a:endParaRPr lang="zh-CN" altLang="en-US" dirty="0"/>
          </a:p>
        </p:txBody>
      </p:sp>
    </p:spTree>
    <p:extLst>
      <p:ext uri="{BB962C8B-B14F-4D97-AF65-F5344CB8AC3E}">
        <p14:creationId xmlns:p14="http://schemas.microsoft.com/office/powerpoint/2010/main" val="4680854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FBD6FA-6C76-745B-9A4C-1E401EFDC87B}"/>
              </a:ext>
            </a:extLst>
          </p:cNvPr>
          <p:cNvSpPr>
            <a:spLocks noGrp="1"/>
          </p:cNvSpPr>
          <p:nvPr>
            <p:ph type="title"/>
          </p:nvPr>
        </p:nvSpPr>
        <p:spPr/>
        <p:txBody>
          <a:bodyPr/>
          <a:lstStyle/>
          <a:p>
            <a:r>
              <a:rPr lang="en-US" altLang="zh-CN" dirty="0"/>
              <a:t>9.3 </a:t>
            </a:r>
            <a:r>
              <a:rPr lang="zh-CN" altLang="en-US" dirty="0"/>
              <a:t>前向链接</a:t>
            </a:r>
          </a:p>
        </p:txBody>
      </p:sp>
      <p:sp>
        <p:nvSpPr>
          <p:cNvPr id="3" name="内容占位符 2">
            <a:extLst>
              <a:ext uri="{FF2B5EF4-FFF2-40B4-BE49-F238E27FC236}">
                <a16:creationId xmlns:a16="http://schemas.microsoft.com/office/drawing/2014/main" id="{EE141366-761C-0EB8-0583-6BEBF94F479D}"/>
              </a:ext>
            </a:extLst>
          </p:cNvPr>
          <p:cNvSpPr>
            <a:spLocks noGrp="1"/>
          </p:cNvSpPr>
          <p:nvPr>
            <p:ph idx="1"/>
          </p:nvPr>
        </p:nvSpPr>
        <p:spPr/>
        <p:txBody>
          <a:bodyPr/>
          <a:lstStyle/>
          <a:p>
            <a:pPr>
              <a:lnSpc>
                <a:spcPct val="150000"/>
              </a:lnSpc>
            </a:pPr>
            <a:r>
              <a:rPr lang="zh-CN" altLang="en-US" dirty="0"/>
              <a:t>分析建模</a:t>
            </a:r>
            <a:endParaRPr lang="en-US" altLang="zh-CN" dirty="0"/>
          </a:p>
          <a:p>
            <a:pPr marL="0" indent="0">
              <a:lnSpc>
                <a:spcPct val="150000"/>
              </a:lnSpc>
              <a:buNone/>
            </a:pP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it is a crime for an American to sell weapons to hostile nations:</a:t>
            </a:r>
          </a:p>
          <a:p>
            <a:pPr>
              <a:lnSpc>
                <a:spcPct val="150000"/>
              </a:lnSpc>
            </a:pP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American(x)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Weapon(y)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Sells(</a:t>
            </a:r>
            <a:r>
              <a:rPr lang="en-US" altLang="zh-CN" dirty="0" err="1">
                <a:solidFill>
                  <a:srgbClr val="FF0000"/>
                </a:solidFill>
                <a:latin typeface="Aa花间辞楷书 (非商业使用)" panose="02010600010101010101" pitchFamily="2" charset="-122"/>
                <a:ea typeface="Aa花间辞楷书 (非商业使用)" panose="02010600010101010101" pitchFamily="2" charset="-122"/>
              </a:rPr>
              <a:t>x,y,z</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Hostile(z)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Criminal(x)</a:t>
            </a:r>
          </a:p>
          <a:p>
            <a:pPr>
              <a:lnSpc>
                <a:spcPct val="130000"/>
              </a:lnSpc>
              <a:buNone/>
            </a:pP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Nono … has some missiles：</a:t>
            </a:r>
          </a:p>
          <a:p>
            <a:pPr>
              <a:lnSpc>
                <a:spcPct val="130000"/>
              </a:lnSpc>
              <a:buNone/>
            </a:pPr>
            <a:r>
              <a:rPr lang="zh-CN" altLang="en-US" sz="2400" dirty="0">
                <a:solidFill>
                  <a:srgbClr val="FF0000"/>
                </a:solidFill>
                <a:latin typeface="Aa花间辞楷书 (非商业使用)" panose="02010600010101010101" pitchFamily="2" charset="-122"/>
                <a:ea typeface="Aa花间辞楷书 (非商业使用)" panose="02010600010101010101" pitchFamily="2" charset="-122"/>
              </a:rPr>
              <a:t>     </a:t>
            </a:r>
            <a:r>
              <a:rPr lang="zh-CN" altLang="el-GR" sz="2400" dirty="0">
                <a:solidFill>
                  <a:srgbClr val="FF0000"/>
                </a:solidFill>
                <a:latin typeface="Aa花间辞楷书 (非商业使用)" panose="02010600010101010101" pitchFamily="2" charset="-122"/>
                <a:ea typeface="Aa花间辞楷书 (非商业使用)" panose="02010600010101010101" pitchFamily="2" charset="-122"/>
                <a:cs typeface="Arial" pitchFamily="34" charset="0"/>
                <a:sym typeface="Symbol" pitchFamily="18" charset="2"/>
              </a:rPr>
              <a:t></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x Owns(Nono, x) </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 Missile(x)</a:t>
            </a:r>
          </a:p>
          <a:p>
            <a:pPr>
              <a:lnSpc>
                <a:spcPct val="130000"/>
              </a:lnSpc>
              <a:buNone/>
            </a:pPr>
            <a:r>
              <a:rPr lang="zh-CN" altLang="en-US" sz="2400" dirty="0">
                <a:latin typeface="Aa花间辞楷书 (非商业使用)" panose="02010600010101010101" pitchFamily="2" charset="-122"/>
                <a:ea typeface="Aa花间辞楷书 (非商业使用)" panose="02010600010101010101" pitchFamily="2" charset="-122"/>
              </a:rPr>
              <a:t>消去存在量词，即</a:t>
            </a:r>
          </a:p>
          <a:p>
            <a:pPr>
              <a:lnSpc>
                <a:spcPct val="130000"/>
              </a:lnSpc>
              <a:buNone/>
            </a:pP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Owns(Nono, M1) </a:t>
            </a:r>
            <a:r>
              <a:rPr lang="zh-CN" altLang="en-US" sz="2400" dirty="0">
                <a:solidFill>
                  <a:srgbClr val="FF0000"/>
                </a:solidFill>
                <a:latin typeface="Aa花间辞楷书 (非商业使用)" panose="02010600010101010101" pitchFamily="2" charset="-122"/>
                <a:ea typeface="Aa花间辞楷书 (非商业使用)" panose="02010600010101010101" pitchFamily="2" charset="-122"/>
              </a:rPr>
              <a:t>， </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Missile(M1)</a:t>
            </a:r>
          </a:p>
          <a:p>
            <a:pPr>
              <a:lnSpc>
                <a:spcPct val="130000"/>
              </a:lnSpc>
              <a:buNone/>
            </a:pPr>
            <a:endParaRPr lang="en-US" altLang="zh-CN" sz="2400" dirty="0">
              <a:solidFill>
                <a:srgbClr val="FF0000"/>
              </a:solidFill>
              <a:latin typeface="Aa花间辞楷书 (非商业使用)" panose="02010600010101010101" pitchFamily="2" charset="-122"/>
              <a:ea typeface="Aa花间辞楷书 (非商业使用)" panose="02010600010101010101" pitchFamily="2" charset="-122"/>
            </a:endParaRPr>
          </a:p>
          <a:p>
            <a:pPr marL="0" indent="0">
              <a:lnSpc>
                <a:spcPct val="150000"/>
              </a:lnSpc>
              <a:buNone/>
            </a:pPr>
            <a:endParaRPr lang="en-US" altLang="zh-CN" i="1" dirty="0">
              <a:solidFill>
                <a:srgbClr val="FF0000"/>
              </a:solidFill>
              <a:latin typeface="Aa花间辞楷书 (非商业使用)" panose="02010600010101010101" pitchFamily="2" charset="-122"/>
              <a:ea typeface="Aa花间辞楷书 (非商业使用)" panose="02010600010101010101" pitchFamily="2" charset="-122"/>
            </a:endParaRPr>
          </a:p>
          <a:p>
            <a:endParaRPr lang="zh-CN" altLang="en-US" dirty="0"/>
          </a:p>
        </p:txBody>
      </p:sp>
    </p:spTree>
    <p:extLst>
      <p:ext uri="{BB962C8B-B14F-4D97-AF65-F5344CB8AC3E}">
        <p14:creationId xmlns:p14="http://schemas.microsoft.com/office/powerpoint/2010/main" val="12838682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FBD6FA-6C76-745B-9A4C-1E401EFDC87B}"/>
              </a:ext>
            </a:extLst>
          </p:cNvPr>
          <p:cNvSpPr>
            <a:spLocks noGrp="1"/>
          </p:cNvSpPr>
          <p:nvPr>
            <p:ph type="title"/>
          </p:nvPr>
        </p:nvSpPr>
        <p:spPr/>
        <p:txBody>
          <a:bodyPr/>
          <a:lstStyle/>
          <a:p>
            <a:r>
              <a:rPr lang="en-US" altLang="zh-CN" dirty="0"/>
              <a:t>9.3 </a:t>
            </a:r>
            <a:r>
              <a:rPr lang="zh-CN" altLang="en-US" dirty="0"/>
              <a:t>前向链接</a:t>
            </a:r>
          </a:p>
        </p:txBody>
      </p:sp>
      <p:sp>
        <p:nvSpPr>
          <p:cNvPr id="3" name="内容占位符 2">
            <a:extLst>
              <a:ext uri="{FF2B5EF4-FFF2-40B4-BE49-F238E27FC236}">
                <a16:creationId xmlns:a16="http://schemas.microsoft.com/office/drawing/2014/main" id="{EE141366-761C-0EB8-0583-6BEBF94F479D}"/>
              </a:ext>
            </a:extLst>
          </p:cNvPr>
          <p:cNvSpPr>
            <a:spLocks noGrp="1"/>
          </p:cNvSpPr>
          <p:nvPr>
            <p:ph idx="1"/>
          </p:nvPr>
        </p:nvSpPr>
        <p:spPr/>
        <p:txBody>
          <a:bodyPr/>
          <a:lstStyle/>
          <a:p>
            <a:pPr>
              <a:lnSpc>
                <a:spcPct val="150000"/>
              </a:lnSpc>
            </a:pPr>
            <a:r>
              <a:rPr lang="zh-CN" altLang="en-US" dirty="0"/>
              <a:t>分析建模</a:t>
            </a:r>
            <a:endParaRPr lang="en-US" altLang="zh-CN" dirty="0"/>
          </a:p>
          <a:p>
            <a:pPr>
              <a:lnSpc>
                <a:spcPct val="150000"/>
              </a:lnSpc>
            </a:pP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American(x)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Weapon(y)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Sells(</a:t>
            </a:r>
            <a:r>
              <a:rPr lang="en-US" altLang="zh-CN" dirty="0" err="1">
                <a:solidFill>
                  <a:srgbClr val="FF0000"/>
                </a:solidFill>
                <a:latin typeface="Aa花间辞楷书 (非商业使用)" panose="02010600010101010101" pitchFamily="2" charset="-122"/>
                <a:ea typeface="Aa花间辞楷书 (非商业使用)" panose="02010600010101010101" pitchFamily="2" charset="-122"/>
              </a:rPr>
              <a:t>x,y,z</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Hostile(z)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Criminal(x)</a:t>
            </a:r>
          </a:p>
          <a:p>
            <a:pPr>
              <a:lnSpc>
                <a:spcPct val="130000"/>
              </a:lnSpc>
              <a:buNone/>
            </a:pP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Owns(Nono, M1) </a:t>
            </a:r>
            <a:r>
              <a:rPr lang="zh-CN" altLang="en-US" sz="2400" dirty="0">
                <a:solidFill>
                  <a:srgbClr val="FF0000"/>
                </a:solidFill>
                <a:latin typeface="Aa花间辞楷书 (非商业使用)" panose="02010600010101010101" pitchFamily="2" charset="-122"/>
                <a:ea typeface="Aa花间辞楷书 (非商业使用)" panose="02010600010101010101" pitchFamily="2" charset="-122"/>
              </a:rPr>
              <a:t>， </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Missile(M1)</a:t>
            </a:r>
          </a:p>
          <a:p>
            <a:pPr>
              <a:lnSpc>
                <a:spcPct val="130000"/>
              </a:lnSpc>
              <a:buNone/>
            </a:pP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 all of its missiles were sold to it by Colonel West</a:t>
            </a: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a:t>
            </a:r>
            <a:endParaRPr lang="en-US" altLang="zh-CN" dirty="0">
              <a:solidFill>
                <a:srgbClr val="FFCC99"/>
              </a:solidFill>
              <a:latin typeface="Aa花间辞楷书 (非商业使用)" panose="02010600010101010101" pitchFamily="2" charset="-122"/>
              <a:ea typeface="Aa花间辞楷书 (非商业使用)" panose="02010600010101010101" pitchFamily="2" charset="-122"/>
            </a:endParaRPr>
          </a:p>
          <a:p>
            <a:pPr>
              <a:lnSpc>
                <a:spcPct val="130000"/>
              </a:lnSpc>
              <a:buNone/>
            </a:pP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Missile(x) </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 Owns(Nono, x) </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 Sells(West, x, Nono)</a:t>
            </a:r>
          </a:p>
          <a:p>
            <a:pPr>
              <a:lnSpc>
                <a:spcPct val="130000"/>
              </a:lnSpc>
              <a:buNone/>
            </a:pPr>
            <a:endParaRPr lang="en-US" altLang="zh-CN" sz="2400" dirty="0">
              <a:solidFill>
                <a:srgbClr val="FF0000"/>
              </a:solidFill>
              <a:latin typeface="Aa花间辞楷书 (非商业使用)" panose="02010600010101010101" pitchFamily="2" charset="-122"/>
              <a:ea typeface="Aa花间辞楷书 (非商业使用)" panose="02010600010101010101" pitchFamily="2" charset="-122"/>
            </a:endParaRPr>
          </a:p>
          <a:p>
            <a:pPr marL="0" indent="0">
              <a:lnSpc>
                <a:spcPct val="150000"/>
              </a:lnSpc>
              <a:buNone/>
            </a:pPr>
            <a:endParaRPr lang="en-US" altLang="zh-CN" i="1" dirty="0">
              <a:solidFill>
                <a:srgbClr val="FF0000"/>
              </a:solidFill>
              <a:latin typeface="Aa花间辞楷书 (非商业使用)" panose="02010600010101010101" pitchFamily="2" charset="-122"/>
              <a:ea typeface="Aa花间辞楷书 (非商业使用)" panose="02010600010101010101" pitchFamily="2" charset="-122"/>
            </a:endParaRPr>
          </a:p>
          <a:p>
            <a:endParaRPr lang="zh-CN" altLang="en-US" dirty="0"/>
          </a:p>
        </p:txBody>
      </p:sp>
    </p:spTree>
    <p:extLst>
      <p:ext uri="{BB962C8B-B14F-4D97-AF65-F5344CB8AC3E}">
        <p14:creationId xmlns:p14="http://schemas.microsoft.com/office/powerpoint/2010/main" val="9552931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FBD6FA-6C76-745B-9A4C-1E401EFDC87B}"/>
              </a:ext>
            </a:extLst>
          </p:cNvPr>
          <p:cNvSpPr>
            <a:spLocks noGrp="1"/>
          </p:cNvSpPr>
          <p:nvPr>
            <p:ph type="title"/>
          </p:nvPr>
        </p:nvSpPr>
        <p:spPr/>
        <p:txBody>
          <a:bodyPr/>
          <a:lstStyle/>
          <a:p>
            <a:r>
              <a:rPr lang="en-US" altLang="zh-CN" dirty="0"/>
              <a:t>9.3 </a:t>
            </a:r>
            <a:r>
              <a:rPr lang="zh-CN" altLang="en-US" dirty="0"/>
              <a:t>前向链接</a:t>
            </a:r>
          </a:p>
        </p:txBody>
      </p:sp>
      <p:sp>
        <p:nvSpPr>
          <p:cNvPr id="3" name="内容占位符 2">
            <a:extLst>
              <a:ext uri="{FF2B5EF4-FFF2-40B4-BE49-F238E27FC236}">
                <a16:creationId xmlns:a16="http://schemas.microsoft.com/office/drawing/2014/main" id="{EE141366-761C-0EB8-0583-6BEBF94F479D}"/>
              </a:ext>
            </a:extLst>
          </p:cNvPr>
          <p:cNvSpPr>
            <a:spLocks noGrp="1"/>
          </p:cNvSpPr>
          <p:nvPr>
            <p:ph idx="1"/>
          </p:nvPr>
        </p:nvSpPr>
        <p:spPr/>
        <p:txBody>
          <a:bodyPr/>
          <a:lstStyle/>
          <a:p>
            <a:pPr>
              <a:lnSpc>
                <a:spcPct val="150000"/>
              </a:lnSpc>
            </a:pPr>
            <a:r>
              <a:rPr lang="zh-CN" altLang="en-US" dirty="0"/>
              <a:t>分析建模</a:t>
            </a:r>
            <a:endParaRPr lang="en-US" altLang="zh-CN" dirty="0"/>
          </a:p>
          <a:p>
            <a:pPr>
              <a:lnSpc>
                <a:spcPct val="150000"/>
              </a:lnSpc>
            </a:pP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American(x)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Weapon(y)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Sells(</a:t>
            </a:r>
            <a:r>
              <a:rPr lang="en-US" altLang="zh-CN" dirty="0" err="1">
                <a:solidFill>
                  <a:srgbClr val="FF0000"/>
                </a:solidFill>
                <a:latin typeface="Aa花间辞楷书 (非商业使用)" panose="02010600010101010101" pitchFamily="2" charset="-122"/>
                <a:ea typeface="Aa花间辞楷书 (非商业使用)" panose="02010600010101010101" pitchFamily="2" charset="-122"/>
              </a:rPr>
              <a:t>x,y,z</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Hostile(z)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Criminal(x)</a:t>
            </a:r>
          </a:p>
          <a:p>
            <a:pPr>
              <a:lnSpc>
                <a:spcPct val="130000"/>
              </a:lnSpc>
              <a:buNone/>
            </a:pP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Owns(Nono, M1) </a:t>
            </a:r>
            <a:r>
              <a:rPr lang="zh-CN" altLang="en-US" sz="2400" dirty="0">
                <a:solidFill>
                  <a:srgbClr val="FF0000"/>
                </a:solidFill>
                <a:latin typeface="Aa花间辞楷书 (非商业使用)" panose="02010600010101010101" pitchFamily="2" charset="-122"/>
                <a:ea typeface="Aa花间辞楷书 (非商业使用)" panose="02010600010101010101" pitchFamily="2" charset="-122"/>
              </a:rPr>
              <a:t>， </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Missile(M1)</a:t>
            </a:r>
          </a:p>
          <a:p>
            <a:pPr>
              <a:lnSpc>
                <a:spcPct val="130000"/>
              </a:lnSpc>
              <a:buNone/>
            </a:pP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Missile(x) </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 Owns(Nono, x) </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 Sells(West, x, Nono)</a:t>
            </a:r>
          </a:p>
          <a:p>
            <a:pPr>
              <a:lnSpc>
                <a:spcPct val="130000"/>
              </a:lnSpc>
              <a:buNone/>
            </a:pP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West, who is American …</a:t>
            </a: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a:t>
            </a:r>
          </a:p>
          <a:p>
            <a:pPr lvl="1">
              <a:lnSpc>
                <a:spcPct val="130000"/>
              </a:lnSpc>
              <a:buFontTx/>
              <a:buNone/>
            </a:pP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A(West)</a:t>
            </a:r>
          </a:p>
          <a:p>
            <a:pPr>
              <a:lnSpc>
                <a:spcPct val="130000"/>
              </a:lnSpc>
              <a:buNone/>
            </a:pPr>
            <a:endParaRPr lang="en-US" altLang="zh-CN" sz="2400" dirty="0">
              <a:solidFill>
                <a:srgbClr val="FF0000"/>
              </a:solidFill>
              <a:latin typeface="Aa花间辞楷书 (非商业使用)" panose="02010600010101010101" pitchFamily="2" charset="-122"/>
              <a:ea typeface="Aa花间辞楷书 (非商业使用)" panose="02010600010101010101" pitchFamily="2" charset="-122"/>
            </a:endParaRPr>
          </a:p>
          <a:p>
            <a:pPr marL="0" indent="0">
              <a:lnSpc>
                <a:spcPct val="150000"/>
              </a:lnSpc>
              <a:buNone/>
            </a:pPr>
            <a:endParaRPr lang="en-US" altLang="zh-CN" i="1" dirty="0">
              <a:solidFill>
                <a:srgbClr val="FF0000"/>
              </a:solidFill>
              <a:latin typeface="Aa花间辞楷书 (非商业使用)" panose="02010600010101010101" pitchFamily="2" charset="-122"/>
              <a:ea typeface="Aa花间辞楷书 (非商业使用)" panose="02010600010101010101" pitchFamily="2" charset="-122"/>
            </a:endParaRPr>
          </a:p>
          <a:p>
            <a:endParaRPr lang="zh-CN" altLang="en-US" dirty="0"/>
          </a:p>
        </p:txBody>
      </p:sp>
    </p:spTree>
    <p:extLst>
      <p:ext uri="{BB962C8B-B14F-4D97-AF65-F5344CB8AC3E}">
        <p14:creationId xmlns:p14="http://schemas.microsoft.com/office/powerpoint/2010/main" val="867482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FBD6FA-6C76-745B-9A4C-1E401EFDC87B}"/>
              </a:ext>
            </a:extLst>
          </p:cNvPr>
          <p:cNvSpPr>
            <a:spLocks noGrp="1"/>
          </p:cNvSpPr>
          <p:nvPr>
            <p:ph type="title"/>
          </p:nvPr>
        </p:nvSpPr>
        <p:spPr/>
        <p:txBody>
          <a:bodyPr/>
          <a:lstStyle/>
          <a:p>
            <a:r>
              <a:rPr lang="en-US" altLang="zh-CN" dirty="0"/>
              <a:t>9.3 </a:t>
            </a:r>
            <a:r>
              <a:rPr lang="zh-CN" altLang="en-US" dirty="0"/>
              <a:t>前向链接</a:t>
            </a:r>
          </a:p>
        </p:txBody>
      </p:sp>
      <p:sp>
        <p:nvSpPr>
          <p:cNvPr id="3" name="内容占位符 2">
            <a:extLst>
              <a:ext uri="{FF2B5EF4-FFF2-40B4-BE49-F238E27FC236}">
                <a16:creationId xmlns:a16="http://schemas.microsoft.com/office/drawing/2014/main" id="{EE141366-761C-0EB8-0583-6BEBF94F479D}"/>
              </a:ext>
            </a:extLst>
          </p:cNvPr>
          <p:cNvSpPr>
            <a:spLocks noGrp="1"/>
          </p:cNvSpPr>
          <p:nvPr>
            <p:ph idx="1"/>
          </p:nvPr>
        </p:nvSpPr>
        <p:spPr/>
        <p:txBody>
          <a:bodyPr/>
          <a:lstStyle/>
          <a:p>
            <a:pPr>
              <a:lnSpc>
                <a:spcPct val="150000"/>
              </a:lnSpc>
            </a:pPr>
            <a:r>
              <a:rPr lang="zh-CN" altLang="en-US" dirty="0"/>
              <a:t>分析建模</a:t>
            </a:r>
            <a:endParaRPr lang="en-US" altLang="zh-CN" dirty="0"/>
          </a:p>
          <a:p>
            <a:pPr>
              <a:lnSpc>
                <a:spcPct val="150000"/>
              </a:lnSpc>
            </a:pP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American(x)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Weapon(y)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Sells(</a:t>
            </a:r>
            <a:r>
              <a:rPr lang="en-US" altLang="zh-CN" dirty="0" err="1">
                <a:solidFill>
                  <a:srgbClr val="FF0000"/>
                </a:solidFill>
                <a:latin typeface="Aa花间辞楷书 (非商业使用)" panose="02010600010101010101" pitchFamily="2" charset="-122"/>
                <a:ea typeface="Aa花间辞楷书 (非商业使用)" panose="02010600010101010101" pitchFamily="2" charset="-122"/>
              </a:rPr>
              <a:t>x,y,z</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Hostile(z)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Criminal(x)</a:t>
            </a:r>
          </a:p>
          <a:p>
            <a:pPr>
              <a:lnSpc>
                <a:spcPct val="130000"/>
              </a:lnSpc>
              <a:buNone/>
            </a:pP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Owns(Nono, M1) </a:t>
            </a:r>
            <a:r>
              <a:rPr lang="zh-CN" altLang="en-US" sz="2400" dirty="0">
                <a:solidFill>
                  <a:srgbClr val="FF0000"/>
                </a:solidFill>
                <a:latin typeface="Aa花间辞楷书 (非商业使用)" panose="02010600010101010101" pitchFamily="2" charset="-122"/>
                <a:ea typeface="Aa花间辞楷书 (非商业使用)" panose="02010600010101010101" pitchFamily="2" charset="-122"/>
              </a:rPr>
              <a:t>， </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Missile(M1)</a:t>
            </a:r>
          </a:p>
          <a:p>
            <a:pPr>
              <a:lnSpc>
                <a:spcPct val="130000"/>
              </a:lnSpc>
              <a:buNone/>
            </a:pP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Missile(x) </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 Owns(Nono, x) </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 Sells(West, x, Nono)</a:t>
            </a:r>
          </a:p>
          <a:p>
            <a:pPr>
              <a:lnSpc>
                <a:spcPct val="130000"/>
              </a:lnSpc>
              <a:buNone/>
            </a:pP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A(West)</a:t>
            </a:r>
          </a:p>
          <a:p>
            <a:pPr>
              <a:lnSpc>
                <a:spcPct val="130000"/>
              </a:lnSpc>
              <a:buNone/>
            </a:pPr>
            <a:r>
              <a:rPr lang="en-US" altLang="zh-CN" dirty="0">
                <a:solidFill>
                  <a:srgbClr val="FFCC99"/>
                </a:solidFill>
                <a:latin typeface="Aa花间辞楷书 (非商业使用)" panose="02010600010101010101" pitchFamily="2" charset="-122"/>
                <a:ea typeface="Aa花间辞楷书 (非商业使用)" panose="02010600010101010101" pitchFamily="2" charset="-122"/>
              </a:rPr>
              <a:t>The country Nono, an enemy of America …</a:t>
            </a: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a:t>
            </a:r>
            <a:endParaRPr lang="zh-CN" altLang="en-US" i="1" dirty="0">
              <a:solidFill>
                <a:srgbClr val="FFCC99"/>
              </a:solidFill>
              <a:latin typeface="Aa花间辞楷书 (非商业使用)" panose="02010600010101010101" pitchFamily="2" charset="-122"/>
              <a:ea typeface="Aa花间辞楷书 (非商业使用)" panose="02010600010101010101" pitchFamily="2" charset="-122"/>
            </a:endParaRPr>
          </a:p>
          <a:p>
            <a:pPr>
              <a:lnSpc>
                <a:spcPct val="130000"/>
              </a:lnSpc>
              <a:buNone/>
            </a:pP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Enemy(Nono, America)</a:t>
            </a:r>
          </a:p>
          <a:p>
            <a:pPr>
              <a:lnSpc>
                <a:spcPct val="130000"/>
              </a:lnSpc>
              <a:buNone/>
            </a:pPr>
            <a:endParaRPr lang="en-US" altLang="zh-CN" sz="2400" dirty="0">
              <a:solidFill>
                <a:srgbClr val="FF0000"/>
              </a:solidFill>
              <a:latin typeface="Aa花间辞楷书 (非商业使用)" panose="02010600010101010101" pitchFamily="2" charset="-122"/>
              <a:ea typeface="Aa花间辞楷书 (非商业使用)" panose="02010600010101010101" pitchFamily="2" charset="-122"/>
            </a:endParaRPr>
          </a:p>
          <a:p>
            <a:pPr marL="0" indent="0">
              <a:lnSpc>
                <a:spcPct val="150000"/>
              </a:lnSpc>
              <a:buNone/>
            </a:pPr>
            <a:endParaRPr lang="en-US" altLang="zh-CN" i="1" dirty="0">
              <a:solidFill>
                <a:srgbClr val="FF0000"/>
              </a:solidFill>
              <a:latin typeface="Aa花间辞楷书 (非商业使用)" panose="02010600010101010101" pitchFamily="2" charset="-122"/>
              <a:ea typeface="Aa花间辞楷书 (非商业使用)" panose="02010600010101010101" pitchFamily="2" charset="-122"/>
            </a:endParaRPr>
          </a:p>
          <a:p>
            <a:endParaRPr lang="zh-CN" altLang="en-US" dirty="0"/>
          </a:p>
        </p:txBody>
      </p:sp>
    </p:spTree>
    <p:extLst>
      <p:ext uri="{BB962C8B-B14F-4D97-AF65-F5344CB8AC3E}">
        <p14:creationId xmlns:p14="http://schemas.microsoft.com/office/powerpoint/2010/main" val="37372843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FBD6FA-6C76-745B-9A4C-1E401EFDC87B}"/>
              </a:ext>
            </a:extLst>
          </p:cNvPr>
          <p:cNvSpPr>
            <a:spLocks noGrp="1"/>
          </p:cNvSpPr>
          <p:nvPr>
            <p:ph type="title"/>
          </p:nvPr>
        </p:nvSpPr>
        <p:spPr/>
        <p:txBody>
          <a:bodyPr/>
          <a:lstStyle/>
          <a:p>
            <a:r>
              <a:rPr lang="en-US" altLang="zh-CN" dirty="0"/>
              <a:t>9.3 </a:t>
            </a:r>
            <a:r>
              <a:rPr lang="zh-CN" altLang="en-US" dirty="0"/>
              <a:t>前向链接</a:t>
            </a:r>
          </a:p>
        </p:txBody>
      </p:sp>
      <p:sp>
        <p:nvSpPr>
          <p:cNvPr id="3" name="内容占位符 2">
            <a:extLst>
              <a:ext uri="{FF2B5EF4-FFF2-40B4-BE49-F238E27FC236}">
                <a16:creationId xmlns:a16="http://schemas.microsoft.com/office/drawing/2014/main" id="{EE141366-761C-0EB8-0583-6BEBF94F479D}"/>
              </a:ext>
            </a:extLst>
          </p:cNvPr>
          <p:cNvSpPr>
            <a:spLocks noGrp="1"/>
          </p:cNvSpPr>
          <p:nvPr>
            <p:ph idx="1"/>
          </p:nvPr>
        </p:nvSpPr>
        <p:spPr/>
        <p:txBody>
          <a:bodyPr>
            <a:normAutofit lnSpcReduction="10000"/>
          </a:bodyPr>
          <a:lstStyle/>
          <a:p>
            <a:pPr>
              <a:lnSpc>
                <a:spcPct val="150000"/>
              </a:lnSpc>
            </a:pPr>
            <a:r>
              <a:rPr lang="zh-CN" altLang="en-US" dirty="0"/>
              <a:t>分析建模</a:t>
            </a:r>
            <a:endParaRPr lang="en-US" altLang="zh-CN" dirty="0"/>
          </a:p>
          <a:p>
            <a:pPr>
              <a:lnSpc>
                <a:spcPct val="150000"/>
              </a:lnSpc>
            </a:pP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American(x)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Weapon(y)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Sells(</a:t>
            </a:r>
            <a:r>
              <a:rPr lang="en-US" altLang="zh-CN" dirty="0" err="1">
                <a:solidFill>
                  <a:srgbClr val="FF0000"/>
                </a:solidFill>
                <a:latin typeface="Aa花间辞楷书 (非商业使用)" panose="02010600010101010101" pitchFamily="2" charset="-122"/>
                <a:ea typeface="Aa花间辞楷书 (非商业使用)" panose="02010600010101010101" pitchFamily="2" charset="-122"/>
              </a:rPr>
              <a:t>x,y,z</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Hostile(z)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Criminal(x)</a:t>
            </a:r>
          </a:p>
          <a:p>
            <a:pPr>
              <a:lnSpc>
                <a:spcPct val="130000"/>
              </a:lnSpc>
              <a:buNone/>
            </a:pP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Owns(Nono, M1) </a:t>
            </a:r>
            <a:r>
              <a:rPr lang="zh-CN" altLang="en-US" sz="2400" dirty="0">
                <a:solidFill>
                  <a:srgbClr val="FF0000"/>
                </a:solidFill>
                <a:latin typeface="Aa花间辞楷书 (非商业使用)" panose="02010600010101010101" pitchFamily="2" charset="-122"/>
                <a:ea typeface="Aa花间辞楷书 (非商业使用)" panose="02010600010101010101" pitchFamily="2" charset="-122"/>
              </a:rPr>
              <a:t>， </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Missile(M1)</a:t>
            </a:r>
          </a:p>
          <a:p>
            <a:pPr>
              <a:lnSpc>
                <a:spcPct val="130000"/>
              </a:lnSpc>
              <a:buNone/>
            </a:pP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Missile(x) </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 Owns(Nono, x) </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 Sells(West, x, Nono)</a:t>
            </a:r>
          </a:p>
          <a:p>
            <a:pPr>
              <a:lnSpc>
                <a:spcPct val="130000"/>
              </a:lnSpc>
              <a:buNone/>
            </a:pP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A(West)</a:t>
            </a:r>
          </a:p>
          <a:p>
            <a:pPr>
              <a:lnSpc>
                <a:spcPct val="130000"/>
              </a:lnSpc>
              <a:buNone/>
            </a:pP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Enemy(Nono, America)</a:t>
            </a:r>
          </a:p>
          <a:p>
            <a:pPr>
              <a:lnSpc>
                <a:spcPct val="130000"/>
              </a:lnSpc>
              <a:buNone/>
            </a:pP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隐含：</a:t>
            </a:r>
            <a:endParaRPr lang="en-US" altLang="zh-CN" sz="2400" dirty="0">
              <a:solidFill>
                <a:srgbClr val="FFCC99"/>
              </a:solidFill>
              <a:latin typeface="Aa花间辞楷书 (非商业使用)" panose="02010600010101010101" pitchFamily="2" charset="-122"/>
              <a:ea typeface="Aa花间辞楷书 (非商业使用)" panose="02010600010101010101" pitchFamily="2" charset="-122"/>
            </a:endParaRPr>
          </a:p>
          <a:p>
            <a:pPr>
              <a:lnSpc>
                <a:spcPct val="130000"/>
              </a:lnSpc>
              <a:buNone/>
            </a:pP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1</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enemy of America is Hostile</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Enemy(x, America)</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sz="2400" dirty="0">
                <a:solidFill>
                  <a:srgbClr val="FF0000"/>
                </a:solidFill>
                <a:latin typeface="Aa花间辞楷书 (非商业使用)" panose="02010600010101010101" pitchFamily="2" charset="-122"/>
                <a:ea typeface="Aa花间辞楷书 (非商业使用)" panose="02010600010101010101" pitchFamily="2" charset="-122"/>
              </a:rPr>
              <a:t> Hostile(x)</a:t>
            </a:r>
          </a:p>
          <a:p>
            <a:pPr>
              <a:lnSpc>
                <a:spcPct val="130000"/>
              </a:lnSpc>
              <a:buNone/>
            </a:pP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2</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Missiles are weapons:</a:t>
            </a:r>
            <a:r>
              <a:rPr lang="en-US" altLang="zh-CN" i="1" dirty="0"/>
              <a:t>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Missile(x) </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dirty="0">
                <a:solidFill>
                  <a:srgbClr val="FF0000"/>
                </a:solidFill>
                <a:latin typeface="Aa花间辞楷书 (非商业使用)" panose="02010600010101010101" pitchFamily="2" charset="-122"/>
                <a:ea typeface="Aa花间辞楷书 (非商业使用)" panose="02010600010101010101" pitchFamily="2" charset="-122"/>
              </a:rPr>
              <a:t> Weapon(x)</a:t>
            </a:r>
            <a:endParaRPr lang="en-US" altLang="zh-CN" sz="2400" dirty="0">
              <a:solidFill>
                <a:srgbClr val="FF0000"/>
              </a:solidFill>
              <a:latin typeface="Aa花间辞楷书 (非商业使用)" panose="02010600010101010101" pitchFamily="2" charset="-122"/>
              <a:ea typeface="Aa花间辞楷书 (非商业使用)" panose="02010600010101010101" pitchFamily="2" charset="-122"/>
            </a:endParaRPr>
          </a:p>
          <a:p>
            <a:pPr marL="0" indent="0">
              <a:lnSpc>
                <a:spcPct val="150000"/>
              </a:lnSpc>
              <a:buNone/>
            </a:pPr>
            <a:endParaRPr lang="en-US" altLang="zh-CN" i="1" dirty="0">
              <a:solidFill>
                <a:srgbClr val="FF0000"/>
              </a:solidFill>
              <a:latin typeface="Aa花间辞楷书 (非商业使用)" panose="02010600010101010101" pitchFamily="2" charset="-122"/>
              <a:ea typeface="Aa花间辞楷书 (非商业使用)" panose="02010600010101010101" pitchFamily="2" charset="-122"/>
            </a:endParaRPr>
          </a:p>
          <a:p>
            <a:endParaRPr lang="zh-CN" altLang="en-US" dirty="0"/>
          </a:p>
        </p:txBody>
      </p:sp>
    </p:spTree>
    <p:extLst>
      <p:ext uri="{BB962C8B-B14F-4D97-AF65-F5344CB8AC3E}">
        <p14:creationId xmlns:p14="http://schemas.microsoft.com/office/powerpoint/2010/main" val="15921778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FBD6FA-6C76-745B-9A4C-1E401EFDC87B}"/>
              </a:ext>
            </a:extLst>
          </p:cNvPr>
          <p:cNvSpPr>
            <a:spLocks noGrp="1"/>
          </p:cNvSpPr>
          <p:nvPr>
            <p:ph type="title"/>
          </p:nvPr>
        </p:nvSpPr>
        <p:spPr/>
        <p:txBody>
          <a:bodyPr/>
          <a:lstStyle/>
          <a:p>
            <a:r>
              <a:rPr lang="en-US" altLang="zh-CN" dirty="0"/>
              <a:t>9.3 </a:t>
            </a:r>
            <a:r>
              <a:rPr lang="zh-CN" altLang="en-US" dirty="0"/>
              <a:t>前向链接</a:t>
            </a:r>
          </a:p>
        </p:txBody>
      </p:sp>
      <p:sp>
        <p:nvSpPr>
          <p:cNvPr id="3" name="内容占位符 2">
            <a:extLst>
              <a:ext uri="{FF2B5EF4-FFF2-40B4-BE49-F238E27FC236}">
                <a16:creationId xmlns:a16="http://schemas.microsoft.com/office/drawing/2014/main" id="{EE141366-761C-0EB8-0583-6BEBF94F479D}"/>
              </a:ext>
            </a:extLst>
          </p:cNvPr>
          <p:cNvSpPr>
            <a:spLocks noGrp="1"/>
          </p:cNvSpPr>
          <p:nvPr>
            <p:ph idx="1"/>
          </p:nvPr>
        </p:nvSpPr>
        <p:spPr/>
        <p:txBody>
          <a:bodyPr>
            <a:normAutofit/>
          </a:bodyPr>
          <a:lstStyle/>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KB</a:t>
            </a:r>
            <a:r>
              <a:rPr lang="zh-CN" altLang="en-US" kern="0" dirty="0">
                <a:solidFill>
                  <a:srgbClr val="FFCC99"/>
                </a:solidFill>
                <a:latin typeface="Aa花间辞楷书 (非商业使用)" panose="02010600010101010101" pitchFamily="2" charset="-122"/>
                <a:ea typeface="Aa花间辞楷书 (非商业使用)" panose="02010600010101010101" pitchFamily="2" charset="-122"/>
              </a:rPr>
              <a:t>如下：</a:t>
            </a:r>
            <a:endParaRPr lang="en-US" altLang="zh-CN" kern="0" dirty="0">
              <a:solidFill>
                <a:srgbClr val="FFCC99"/>
              </a:solidFill>
              <a:latin typeface="Aa花间辞楷书 (非商业使用)" panose="02010600010101010101" pitchFamily="2" charset="-122"/>
              <a:ea typeface="Aa花间辞楷书 (非商业使用)" panose="02010600010101010101" pitchFamily="2" charset="-122"/>
            </a:endParaRP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1）Owns(Nono, 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2）Missile(M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3）American(West)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4）Enemy(Nono, America)</a:t>
            </a:r>
          </a:p>
          <a:p>
            <a:pPr marL="0" indent="0" eaLnBrk="0" hangingPunct="0">
              <a:lnSpc>
                <a:spcPct val="120000"/>
              </a:lnSpc>
              <a:spcBef>
                <a:spcPct val="20000"/>
              </a:spcBef>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5）Missile(x)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Weapon(x)</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6）Missile(x)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Owns(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Nono,x</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West,x,Nono</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7）Enemy(x, America)</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Hostile(x)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8）American(x)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Weapon(y)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x,y,z</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Hostile(z)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Criminal(x)</a:t>
            </a:r>
          </a:p>
        </p:txBody>
      </p:sp>
      <p:sp>
        <p:nvSpPr>
          <p:cNvPr id="4" name="矩形 3">
            <a:extLst>
              <a:ext uri="{FF2B5EF4-FFF2-40B4-BE49-F238E27FC236}">
                <a16:creationId xmlns:a16="http://schemas.microsoft.com/office/drawing/2014/main" id="{8B48A03E-6778-C400-5CBA-E40398936E8B}"/>
              </a:ext>
            </a:extLst>
          </p:cNvPr>
          <p:cNvSpPr/>
          <p:nvPr/>
        </p:nvSpPr>
        <p:spPr>
          <a:xfrm>
            <a:off x="4316769" y="5601502"/>
            <a:ext cx="3664205" cy="572464"/>
          </a:xfrm>
          <a:prstGeom prst="rect">
            <a:avLst/>
          </a:prstGeom>
        </p:spPr>
        <p:txBody>
          <a:bodyPr wrap="square">
            <a:spAutoFit/>
          </a:bodyPr>
          <a:lstStyle/>
          <a:p>
            <a:pPr marL="342900" lvl="0" indent="-342900" eaLnBrk="0" hangingPunct="0">
              <a:lnSpc>
                <a:spcPct val="120000"/>
              </a:lnSpc>
              <a:spcBef>
                <a:spcPct val="20000"/>
              </a:spcBef>
              <a:defRPr/>
            </a:pPr>
            <a:r>
              <a:rPr lang="el-GR" altLang="zh-CN" sz="2800" kern="0" dirty="0">
                <a:solidFill>
                  <a:srgbClr val="FF0000"/>
                </a:solidFill>
                <a:latin typeface="香萃等粗宋" panose="02020700000000000000" pitchFamily="18" charset="-122"/>
                <a:ea typeface="香萃等粗宋" panose="02020700000000000000" pitchFamily="18" charset="-122"/>
                <a:cs typeface="Calibri" panose="020F0502020204030204" pitchFamily="34" charset="0"/>
              </a:rPr>
              <a:t>α</a:t>
            </a:r>
            <a:r>
              <a:rPr lang="en-US" altLang="zh-CN" sz="2800" kern="0" dirty="0">
                <a:solidFill>
                  <a:srgbClr val="FF0000"/>
                </a:solidFill>
                <a:latin typeface="香萃等粗宋" panose="02020700000000000000" pitchFamily="18" charset="-122"/>
                <a:ea typeface="香萃等粗宋" panose="02020700000000000000" pitchFamily="18" charset="-122"/>
                <a:cs typeface="Calibri" panose="020F0502020204030204" pitchFamily="34" charset="0"/>
              </a:rPr>
              <a:t> = Criminal(West)</a:t>
            </a:r>
          </a:p>
        </p:txBody>
      </p:sp>
    </p:spTree>
    <p:extLst>
      <p:ext uri="{BB962C8B-B14F-4D97-AF65-F5344CB8AC3E}">
        <p14:creationId xmlns:p14="http://schemas.microsoft.com/office/powerpoint/2010/main" val="39123176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FBD6FA-6C76-745B-9A4C-1E401EFDC87B}"/>
              </a:ext>
            </a:extLst>
          </p:cNvPr>
          <p:cNvSpPr>
            <a:spLocks noGrp="1"/>
          </p:cNvSpPr>
          <p:nvPr>
            <p:ph type="title"/>
          </p:nvPr>
        </p:nvSpPr>
        <p:spPr/>
        <p:txBody>
          <a:bodyPr/>
          <a:lstStyle/>
          <a:p>
            <a:r>
              <a:rPr lang="en-US" altLang="zh-CN" dirty="0"/>
              <a:t>9.3 </a:t>
            </a:r>
            <a:r>
              <a:rPr lang="zh-CN" altLang="en-US" dirty="0"/>
              <a:t>前向链接</a:t>
            </a:r>
          </a:p>
        </p:txBody>
      </p:sp>
      <p:sp>
        <p:nvSpPr>
          <p:cNvPr id="3" name="内容占位符 2">
            <a:extLst>
              <a:ext uri="{FF2B5EF4-FFF2-40B4-BE49-F238E27FC236}">
                <a16:creationId xmlns:a16="http://schemas.microsoft.com/office/drawing/2014/main" id="{EE141366-761C-0EB8-0583-6BEBF94F479D}"/>
              </a:ext>
            </a:extLst>
          </p:cNvPr>
          <p:cNvSpPr>
            <a:spLocks noGrp="1"/>
          </p:cNvSpPr>
          <p:nvPr>
            <p:ph idx="1"/>
          </p:nvPr>
        </p:nvSpPr>
        <p:spPr/>
        <p:txBody>
          <a:bodyPr>
            <a:normAutofit/>
          </a:bodyPr>
          <a:lstStyle/>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KB</a:t>
            </a:r>
            <a:r>
              <a:rPr lang="zh-CN" altLang="en-US" kern="0" dirty="0">
                <a:solidFill>
                  <a:srgbClr val="FFCC99"/>
                </a:solidFill>
                <a:latin typeface="Aa花间辞楷书 (非商业使用)" panose="02010600010101010101" pitchFamily="2" charset="-122"/>
                <a:ea typeface="Aa花间辞楷书 (非商业使用)" panose="02010600010101010101" pitchFamily="2" charset="-122"/>
              </a:rPr>
              <a:t>如下：</a:t>
            </a:r>
            <a:endParaRPr lang="en-US" altLang="zh-CN" kern="0" dirty="0">
              <a:solidFill>
                <a:srgbClr val="FFCC99"/>
              </a:solidFill>
              <a:latin typeface="Aa花间辞楷书 (非商业使用)" panose="02010600010101010101" pitchFamily="2" charset="-122"/>
              <a:ea typeface="Aa花间辞楷书 (非商业使用)" panose="02010600010101010101" pitchFamily="2" charset="-122"/>
            </a:endParaRPr>
          </a:p>
          <a:p>
            <a:pPr marL="342900" lvl="0" indent="-342900" defTabSz="914400" eaLnBrk="0" fontAlgn="base" hangingPunct="0">
              <a:lnSpc>
                <a:spcPct val="120000"/>
              </a:lnSpc>
              <a:spcBef>
                <a:spcPct val="20000"/>
              </a:spcBef>
              <a:spcAft>
                <a:spcPct val="0"/>
              </a:spcAft>
              <a:buNone/>
              <a:defRPr/>
            </a:pP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1）Owns(Nono, M</a:t>
            </a:r>
            <a:r>
              <a:rPr lang="en-US" altLang="zh-CN" kern="0" baseline="-25000" dirty="0">
                <a:solidFill>
                  <a:srgbClr val="FF0000"/>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2）Missile(M</a:t>
            </a:r>
            <a:r>
              <a:rPr lang="en-US" altLang="zh-CN" kern="0" baseline="-25000" dirty="0">
                <a:solidFill>
                  <a:srgbClr val="FF0000"/>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3）American(West)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4）Enemy(Nono, America)</a:t>
            </a:r>
          </a:p>
          <a:p>
            <a:pPr marL="0" indent="0" eaLnBrk="0" hangingPunct="0">
              <a:lnSpc>
                <a:spcPct val="120000"/>
              </a:lnSpc>
              <a:spcBef>
                <a:spcPct val="20000"/>
              </a:spcBef>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5）Missile(x)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Weapon(x)</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6）Missile(x)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Owns(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Nono,x</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West,x,Nono</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7）Enemy(x, America)</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Hostile(x)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8）American(x)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Weapon(y)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x,y,z</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Hostile(z)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Criminal(x)</a:t>
            </a:r>
          </a:p>
        </p:txBody>
      </p:sp>
      <p:sp>
        <p:nvSpPr>
          <p:cNvPr id="4" name="矩形 3">
            <a:extLst>
              <a:ext uri="{FF2B5EF4-FFF2-40B4-BE49-F238E27FC236}">
                <a16:creationId xmlns:a16="http://schemas.microsoft.com/office/drawing/2014/main" id="{8B48A03E-6778-C400-5CBA-E40398936E8B}"/>
              </a:ext>
            </a:extLst>
          </p:cNvPr>
          <p:cNvSpPr/>
          <p:nvPr/>
        </p:nvSpPr>
        <p:spPr>
          <a:xfrm>
            <a:off x="4316769" y="5601502"/>
            <a:ext cx="3664205" cy="572464"/>
          </a:xfrm>
          <a:prstGeom prst="rect">
            <a:avLst/>
          </a:prstGeom>
        </p:spPr>
        <p:txBody>
          <a:bodyPr wrap="square">
            <a:spAutoFit/>
          </a:bodyPr>
          <a:lstStyle/>
          <a:p>
            <a:pPr marL="342900" lvl="0" indent="-342900" eaLnBrk="0" hangingPunct="0">
              <a:lnSpc>
                <a:spcPct val="120000"/>
              </a:lnSpc>
              <a:spcBef>
                <a:spcPct val="20000"/>
              </a:spcBef>
              <a:defRPr/>
            </a:pPr>
            <a:r>
              <a:rPr lang="el-GR" altLang="zh-CN" sz="2800" kern="0" dirty="0">
                <a:solidFill>
                  <a:srgbClr val="FF0000"/>
                </a:solidFill>
                <a:latin typeface="香萃等粗宋" panose="02020700000000000000" pitchFamily="18" charset="-122"/>
                <a:ea typeface="香萃等粗宋" panose="02020700000000000000" pitchFamily="18" charset="-122"/>
                <a:cs typeface="Calibri" panose="020F0502020204030204" pitchFamily="34" charset="0"/>
              </a:rPr>
              <a:t>α</a:t>
            </a:r>
            <a:r>
              <a:rPr lang="en-US" altLang="zh-CN" sz="2800" kern="0" dirty="0">
                <a:solidFill>
                  <a:srgbClr val="FF0000"/>
                </a:solidFill>
                <a:latin typeface="香萃等粗宋" panose="02020700000000000000" pitchFamily="18" charset="-122"/>
                <a:ea typeface="香萃等粗宋" panose="02020700000000000000" pitchFamily="18" charset="-122"/>
                <a:cs typeface="Calibri" panose="020F0502020204030204" pitchFamily="34" charset="0"/>
              </a:rPr>
              <a:t> = Criminal(West)</a:t>
            </a:r>
          </a:p>
        </p:txBody>
      </p:sp>
      <p:pic>
        <p:nvPicPr>
          <p:cNvPr id="5" name="Picture 7">
            <a:extLst>
              <a:ext uri="{FF2B5EF4-FFF2-40B4-BE49-F238E27FC236}">
                <a16:creationId xmlns:a16="http://schemas.microsoft.com/office/drawing/2014/main" id="{D93F1BEE-39F8-DC65-EDBA-35CB389FC09D}"/>
              </a:ext>
            </a:extLst>
          </p:cNvPr>
          <p:cNvPicPr>
            <a:picLocks noChangeAspect="1" noChangeArrowheads="1"/>
          </p:cNvPicPr>
          <p:nvPr/>
        </p:nvPicPr>
        <p:blipFill>
          <a:blip r:embed="rId2"/>
          <a:srcRect/>
          <a:stretch>
            <a:fillRect/>
          </a:stretch>
        </p:blipFill>
        <p:spPr bwMode="auto">
          <a:xfrm>
            <a:off x="1756410" y="5656966"/>
            <a:ext cx="8191500" cy="457200"/>
          </a:xfrm>
          <a:prstGeom prst="rect">
            <a:avLst/>
          </a:prstGeom>
          <a:noFill/>
          <a:ln w="12700" cap="sq">
            <a:noFill/>
            <a:miter lim="800000"/>
            <a:headEnd/>
            <a:tailEnd/>
          </a:ln>
        </p:spPr>
      </p:pic>
      <p:sp>
        <p:nvSpPr>
          <p:cNvPr id="6" name="Text Box 8">
            <a:extLst>
              <a:ext uri="{FF2B5EF4-FFF2-40B4-BE49-F238E27FC236}">
                <a16:creationId xmlns:a16="http://schemas.microsoft.com/office/drawing/2014/main" id="{0D59B7FB-EB84-3116-422C-6730C31272DC}"/>
              </a:ext>
            </a:extLst>
          </p:cNvPr>
          <p:cNvSpPr txBox="1">
            <a:spLocks noChangeArrowheads="1"/>
          </p:cNvSpPr>
          <p:nvPr/>
        </p:nvSpPr>
        <p:spPr bwMode="auto">
          <a:xfrm>
            <a:off x="1756410" y="5716941"/>
            <a:ext cx="1559379" cy="329588"/>
          </a:xfrm>
          <a:prstGeom prst="rect">
            <a:avLst/>
          </a:prstGeom>
          <a:solidFill>
            <a:schemeClr val="tx1"/>
          </a:solidFill>
          <a:ln w="25400" cap="sq">
            <a:solidFill>
              <a:srgbClr val="000000"/>
            </a:solidFill>
            <a:miter lim="800000"/>
            <a:headEnd/>
            <a:tailEnd/>
          </a:ln>
        </p:spPr>
        <p:txBody>
          <a:bodyPr wrap="square" lIns="54000" tIns="10800" rIns="54000" bIns="10800">
            <a:spAutoFit/>
          </a:bodyPr>
          <a:lstStyle/>
          <a:p>
            <a:pPr algn="ctr"/>
            <a:r>
              <a:rPr lang="en-US" altLang="zh-CN" sz="2000" b="1" i="1" dirty="0">
                <a:solidFill>
                  <a:schemeClr val="bg1"/>
                </a:solidFill>
              </a:rPr>
              <a:t>A(West)</a:t>
            </a:r>
          </a:p>
        </p:txBody>
      </p:sp>
      <p:sp>
        <p:nvSpPr>
          <p:cNvPr id="7" name="Text Box 9">
            <a:extLst>
              <a:ext uri="{FF2B5EF4-FFF2-40B4-BE49-F238E27FC236}">
                <a16:creationId xmlns:a16="http://schemas.microsoft.com/office/drawing/2014/main" id="{AFDEA167-9795-2863-BF0E-4F29E2CFF661}"/>
              </a:ext>
            </a:extLst>
          </p:cNvPr>
          <p:cNvSpPr txBox="1">
            <a:spLocks noChangeArrowheads="1"/>
          </p:cNvSpPr>
          <p:nvPr/>
        </p:nvSpPr>
        <p:spPr bwMode="auto">
          <a:xfrm>
            <a:off x="7860348" y="5690304"/>
            <a:ext cx="2087562" cy="329588"/>
          </a:xfrm>
          <a:prstGeom prst="rect">
            <a:avLst/>
          </a:prstGeom>
          <a:solidFill>
            <a:schemeClr val="tx1"/>
          </a:solidFill>
          <a:ln w="25400" cap="sq">
            <a:solidFill>
              <a:srgbClr val="000000"/>
            </a:solidFill>
            <a:miter lim="800000"/>
            <a:headEnd/>
            <a:tailEnd/>
          </a:ln>
        </p:spPr>
        <p:txBody>
          <a:bodyPr lIns="54000" tIns="10800" rIns="54000" bIns="10800">
            <a:spAutoFit/>
          </a:bodyPr>
          <a:lstStyle/>
          <a:p>
            <a:pPr algn="ctr"/>
            <a:r>
              <a:rPr lang="en-US" altLang="zh-CN" sz="2000" b="1" i="1">
                <a:solidFill>
                  <a:schemeClr val="bg1"/>
                </a:solidFill>
              </a:rPr>
              <a:t>Enemy</a:t>
            </a:r>
            <a:r>
              <a:rPr lang="en-US" altLang="zh-CN" sz="2000" b="1">
                <a:solidFill>
                  <a:schemeClr val="bg1"/>
                </a:solidFill>
              </a:rPr>
              <a:t>(</a:t>
            </a:r>
            <a:r>
              <a:rPr lang="en-US" altLang="zh-CN" sz="2000" b="1" i="1">
                <a:solidFill>
                  <a:schemeClr val="bg1"/>
                </a:solidFill>
              </a:rPr>
              <a:t>N</a:t>
            </a:r>
            <a:r>
              <a:rPr lang="en-US" altLang="zh-CN" sz="2000" b="1">
                <a:solidFill>
                  <a:schemeClr val="bg1"/>
                </a:solidFill>
              </a:rPr>
              <a:t>,</a:t>
            </a:r>
            <a:r>
              <a:rPr lang="en-US" altLang="zh-CN" sz="2000" b="1" i="1">
                <a:solidFill>
                  <a:schemeClr val="bg1"/>
                </a:solidFill>
              </a:rPr>
              <a:t>A</a:t>
            </a:r>
            <a:r>
              <a:rPr lang="en-US" altLang="zh-CN" sz="2000" b="1">
                <a:solidFill>
                  <a:schemeClr val="bg1"/>
                </a:solidFill>
              </a:rPr>
              <a:t>)</a:t>
            </a:r>
          </a:p>
        </p:txBody>
      </p:sp>
      <p:sp>
        <p:nvSpPr>
          <p:cNvPr id="8" name="Text Box 10">
            <a:extLst>
              <a:ext uri="{FF2B5EF4-FFF2-40B4-BE49-F238E27FC236}">
                <a16:creationId xmlns:a16="http://schemas.microsoft.com/office/drawing/2014/main" id="{58832C1D-981F-76C0-F885-9F46810E2AB5}"/>
              </a:ext>
            </a:extLst>
          </p:cNvPr>
          <p:cNvSpPr txBox="1">
            <a:spLocks noChangeArrowheads="1"/>
          </p:cNvSpPr>
          <p:nvPr/>
        </p:nvSpPr>
        <p:spPr bwMode="auto">
          <a:xfrm>
            <a:off x="5558444" y="5716941"/>
            <a:ext cx="1793421" cy="329588"/>
          </a:xfrm>
          <a:prstGeom prst="rect">
            <a:avLst/>
          </a:prstGeom>
          <a:solidFill>
            <a:schemeClr val="tx1"/>
          </a:solidFill>
          <a:ln w="25400" cap="sq">
            <a:solidFill>
              <a:srgbClr val="000000"/>
            </a:solidFill>
            <a:miter lim="800000"/>
            <a:headEnd/>
            <a:tailEnd/>
          </a:ln>
        </p:spPr>
        <p:txBody>
          <a:bodyPr wrap="square" lIns="54000" tIns="10800" rIns="54000" bIns="10800">
            <a:spAutoFit/>
          </a:bodyPr>
          <a:lstStyle/>
          <a:p>
            <a:pPr algn="ctr"/>
            <a:r>
              <a:rPr lang="en-US" altLang="zh-CN" sz="2000" b="1" i="1" dirty="0">
                <a:solidFill>
                  <a:schemeClr val="bg1"/>
                </a:solidFill>
              </a:rPr>
              <a:t>Owns(N,M1)</a:t>
            </a:r>
          </a:p>
        </p:txBody>
      </p:sp>
      <p:sp>
        <p:nvSpPr>
          <p:cNvPr id="9" name="矩形: 圆角 8">
            <a:extLst>
              <a:ext uri="{FF2B5EF4-FFF2-40B4-BE49-F238E27FC236}">
                <a16:creationId xmlns:a16="http://schemas.microsoft.com/office/drawing/2014/main" id="{E4298367-3FC3-11DC-C986-50F0CD8E64E1}"/>
              </a:ext>
            </a:extLst>
          </p:cNvPr>
          <p:cNvSpPr/>
          <p:nvPr/>
        </p:nvSpPr>
        <p:spPr>
          <a:xfrm>
            <a:off x="3836606" y="5601502"/>
            <a:ext cx="1376311" cy="591348"/>
          </a:xfrm>
          <a:custGeom>
            <a:avLst/>
            <a:gdLst>
              <a:gd name="connsiteX0" fmla="*/ 0 w 1376311"/>
              <a:gd name="connsiteY0" fmla="*/ 98560 h 591348"/>
              <a:gd name="connsiteX1" fmla="*/ 98560 w 1376311"/>
              <a:gd name="connsiteY1" fmla="*/ 0 h 591348"/>
              <a:gd name="connsiteX2" fmla="*/ 1277751 w 1376311"/>
              <a:gd name="connsiteY2" fmla="*/ 0 h 591348"/>
              <a:gd name="connsiteX3" fmla="*/ 1376311 w 1376311"/>
              <a:gd name="connsiteY3" fmla="*/ 98560 h 591348"/>
              <a:gd name="connsiteX4" fmla="*/ 1376311 w 1376311"/>
              <a:gd name="connsiteY4" fmla="*/ 492788 h 591348"/>
              <a:gd name="connsiteX5" fmla="*/ 1277751 w 1376311"/>
              <a:gd name="connsiteY5" fmla="*/ 591348 h 591348"/>
              <a:gd name="connsiteX6" fmla="*/ 98560 w 1376311"/>
              <a:gd name="connsiteY6" fmla="*/ 591348 h 591348"/>
              <a:gd name="connsiteX7" fmla="*/ 0 w 1376311"/>
              <a:gd name="connsiteY7" fmla="*/ 492788 h 591348"/>
              <a:gd name="connsiteX8" fmla="*/ 0 w 1376311"/>
              <a:gd name="connsiteY8" fmla="*/ 98560 h 59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6311" h="591348" extrusionOk="0">
                <a:moveTo>
                  <a:pt x="0" y="98560"/>
                </a:moveTo>
                <a:cubicBezTo>
                  <a:pt x="560" y="35741"/>
                  <a:pt x="41073" y="4384"/>
                  <a:pt x="98560" y="0"/>
                </a:cubicBezTo>
                <a:cubicBezTo>
                  <a:pt x="687323" y="30810"/>
                  <a:pt x="978588" y="-66879"/>
                  <a:pt x="1277751" y="0"/>
                </a:cubicBezTo>
                <a:cubicBezTo>
                  <a:pt x="1323905" y="6243"/>
                  <a:pt x="1375571" y="43883"/>
                  <a:pt x="1376311" y="98560"/>
                </a:cubicBezTo>
                <a:cubicBezTo>
                  <a:pt x="1392679" y="197941"/>
                  <a:pt x="1410295" y="349501"/>
                  <a:pt x="1376311" y="492788"/>
                </a:cubicBezTo>
                <a:cubicBezTo>
                  <a:pt x="1381516" y="548591"/>
                  <a:pt x="1335525" y="600758"/>
                  <a:pt x="1277751" y="591348"/>
                </a:cubicBezTo>
                <a:cubicBezTo>
                  <a:pt x="875617" y="547991"/>
                  <a:pt x="439613" y="523725"/>
                  <a:pt x="98560" y="591348"/>
                </a:cubicBezTo>
                <a:cubicBezTo>
                  <a:pt x="50512" y="590501"/>
                  <a:pt x="-943" y="547808"/>
                  <a:pt x="0" y="492788"/>
                </a:cubicBezTo>
                <a:cubicBezTo>
                  <a:pt x="-33776" y="311961"/>
                  <a:pt x="26118" y="258712"/>
                  <a:pt x="0" y="98560"/>
                </a:cubicBezTo>
                <a:close/>
              </a:path>
            </a:pathLst>
          </a:custGeom>
          <a:noFill/>
          <a:ln w="57150">
            <a:solidFill>
              <a:srgbClr val="FF0000"/>
            </a:solidFill>
            <a:prstDash val="dash"/>
            <a:extLst>
              <a:ext uri="{C807C97D-BFC1-408E-A445-0C87EB9F89A2}">
                <ask:lineSketchStyleProps xmlns:ask="http://schemas.microsoft.com/office/drawing/2018/sketchyshapes" sd="3503869149">
                  <a:prstGeom prst="round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016512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FBD6FA-6C76-745B-9A4C-1E401EFDC87B}"/>
              </a:ext>
            </a:extLst>
          </p:cNvPr>
          <p:cNvSpPr>
            <a:spLocks noGrp="1"/>
          </p:cNvSpPr>
          <p:nvPr>
            <p:ph type="title"/>
          </p:nvPr>
        </p:nvSpPr>
        <p:spPr/>
        <p:txBody>
          <a:bodyPr/>
          <a:lstStyle/>
          <a:p>
            <a:r>
              <a:rPr lang="en-US" altLang="zh-CN" dirty="0"/>
              <a:t>9.3 </a:t>
            </a:r>
            <a:r>
              <a:rPr lang="zh-CN" altLang="en-US" dirty="0"/>
              <a:t>前向链接</a:t>
            </a:r>
          </a:p>
        </p:txBody>
      </p:sp>
      <p:sp>
        <p:nvSpPr>
          <p:cNvPr id="3" name="内容占位符 2">
            <a:extLst>
              <a:ext uri="{FF2B5EF4-FFF2-40B4-BE49-F238E27FC236}">
                <a16:creationId xmlns:a16="http://schemas.microsoft.com/office/drawing/2014/main" id="{EE141366-761C-0EB8-0583-6BEBF94F479D}"/>
              </a:ext>
            </a:extLst>
          </p:cNvPr>
          <p:cNvSpPr>
            <a:spLocks noGrp="1"/>
          </p:cNvSpPr>
          <p:nvPr>
            <p:ph idx="1"/>
          </p:nvPr>
        </p:nvSpPr>
        <p:spPr/>
        <p:txBody>
          <a:bodyPr>
            <a:normAutofit/>
          </a:bodyPr>
          <a:lstStyle/>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KB</a:t>
            </a:r>
            <a:r>
              <a:rPr lang="zh-CN" altLang="en-US" kern="0" dirty="0">
                <a:solidFill>
                  <a:srgbClr val="FFCC99"/>
                </a:solidFill>
                <a:latin typeface="Aa花间辞楷书 (非商业使用)" panose="02010600010101010101" pitchFamily="2" charset="-122"/>
                <a:ea typeface="Aa花间辞楷书 (非商业使用)" panose="02010600010101010101" pitchFamily="2" charset="-122"/>
              </a:rPr>
              <a:t>如下：</a:t>
            </a:r>
            <a:endParaRPr lang="en-US" altLang="zh-CN" kern="0" dirty="0">
              <a:solidFill>
                <a:srgbClr val="FFCC99"/>
              </a:solidFill>
              <a:latin typeface="Aa花间辞楷书 (非商业使用)" panose="02010600010101010101" pitchFamily="2" charset="-122"/>
              <a:ea typeface="Aa花间辞楷书 (非商业使用)" panose="02010600010101010101" pitchFamily="2" charset="-122"/>
            </a:endParaRPr>
          </a:p>
          <a:p>
            <a:pPr marL="342900" lvl="0" indent="-342900" defTabSz="914400" eaLnBrk="0" fontAlgn="base" hangingPunct="0">
              <a:lnSpc>
                <a:spcPct val="120000"/>
              </a:lnSpc>
              <a:spcBef>
                <a:spcPct val="20000"/>
              </a:spcBef>
              <a:spcAft>
                <a:spcPct val="0"/>
              </a:spcAft>
              <a:buNone/>
              <a:defRPr/>
            </a:pP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1）Owns(Nono, M</a:t>
            </a:r>
            <a:r>
              <a:rPr lang="en-US" altLang="zh-CN" kern="0" baseline="-25000" dirty="0">
                <a:solidFill>
                  <a:srgbClr val="FF0000"/>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2）Missile(M</a:t>
            </a:r>
            <a:r>
              <a:rPr lang="en-US" altLang="zh-CN" kern="0" baseline="-25000" dirty="0">
                <a:solidFill>
                  <a:srgbClr val="FF0000"/>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3）American(West)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4）Enemy(Nono, America)</a:t>
            </a:r>
          </a:p>
          <a:p>
            <a:pPr marL="0" indent="0" eaLnBrk="0" hangingPunct="0">
              <a:lnSpc>
                <a:spcPct val="120000"/>
              </a:lnSpc>
              <a:spcBef>
                <a:spcPct val="20000"/>
              </a:spcBef>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5）Missile(x)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Weapon(x)</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6）Missile(x)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Owns(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Nono,x</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West,x,Nono</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7）Enemy(x, America)</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Hostile(x)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8）American(x)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Weapon(y)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x,y,z</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Hostile(z)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Criminal(x)</a:t>
            </a:r>
          </a:p>
        </p:txBody>
      </p:sp>
      <p:sp>
        <p:nvSpPr>
          <p:cNvPr id="4" name="矩形 3">
            <a:extLst>
              <a:ext uri="{FF2B5EF4-FFF2-40B4-BE49-F238E27FC236}">
                <a16:creationId xmlns:a16="http://schemas.microsoft.com/office/drawing/2014/main" id="{8B48A03E-6778-C400-5CBA-E40398936E8B}"/>
              </a:ext>
            </a:extLst>
          </p:cNvPr>
          <p:cNvSpPr/>
          <p:nvPr/>
        </p:nvSpPr>
        <p:spPr>
          <a:xfrm>
            <a:off x="4316769" y="5601502"/>
            <a:ext cx="3664205" cy="572464"/>
          </a:xfrm>
          <a:prstGeom prst="rect">
            <a:avLst/>
          </a:prstGeom>
        </p:spPr>
        <p:txBody>
          <a:bodyPr wrap="square">
            <a:spAutoFit/>
          </a:bodyPr>
          <a:lstStyle/>
          <a:p>
            <a:pPr marL="342900" lvl="0" indent="-342900" eaLnBrk="0" hangingPunct="0">
              <a:lnSpc>
                <a:spcPct val="120000"/>
              </a:lnSpc>
              <a:spcBef>
                <a:spcPct val="20000"/>
              </a:spcBef>
              <a:defRPr/>
            </a:pPr>
            <a:r>
              <a:rPr lang="el-GR" altLang="zh-CN" sz="2800" kern="0" dirty="0">
                <a:solidFill>
                  <a:srgbClr val="FF0000"/>
                </a:solidFill>
                <a:latin typeface="香萃等粗宋" panose="02020700000000000000" pitchFamily="18" charset="-122"/>
                <a:ea typeface="香萃等粗宋" panose="02020700000000000000" pitchFamily="18" charset="-122"/>
                <a:cs typeface="Calibri" panose="020F0502020204030204" pitchFamily="34" charset="0"/>
              </a:rPr>
              <a:t>α</a:t>
            </a:r>
            <a:r>
              <a:rPr lang="en-US" altLang="zh-CN" sz="2800" kern="0" dirty="0">
                <a:solidFill>
                  <a:srgbClr val="FF0000"/>
                </a:solidFill>
                <a:latin typeface="香萃等粗宋" panose="02020700000000000000" pitchFamily="18" charset="-122"/>
                <a:ea typeface="香萃等粗宋" panose="02020700000000000000" pitchFamily="18" charset="-122"/>
                <a:cs typeface="Calibri" panose="020F0502020204030204" pitchFamily="34" charset="0"/>
              </a:rPr>
              <a:t> = Criminal(West)</a:t>
            </a:r>
          </a:p>
        </p:txBody>
      </p:sp>
      <p:pic>
        <p:nvPicPr>
          <p:cNvPr id="5" name="Picture 7">
            <a:extLst>
              <a:ext uri="{FF2B5EF4-FFF2-40B4-BE49-F238E27FC236}">
                <a16:creationId xmlns:a16="http://schemas.microsoft.com/office/drawing/2014/main" id="{D93F1BEE-39F8-DC65-EDBA-35CB389FC09D}"/>
              </a:ext>
            </a:extLst>
          </p:cNvPr>
          <p:cNvPicPr>
            <a:picLocks noChangeAspect="1" noChangeArrowheads="1"/>
          </p:cNvPicPr>
          <p:nvPr/>
        </p:nvPicPr>
        <p:blipFill>
          <a:blip r:embed="rId2"/>
          <a:srcRect/>
          <a:stretch>
            <a:fillRect/>
          </a:stretch>
        </p:blipFill>
        <p:spPr bwMode="auto">
          <a:xfrm>
            <a:off x="1756410" y="5656966"/>
            <a:ext cx="8191500" cy="457200"/>
          </a:xfrm>
          <a:prstGeom prst="rect">
            <a:avLst/>
          </a:prstGeom>
          <a:noFill/>
          <a:ln w="12700" cap="sq">
            <a:noFill/>
            <a:miter lim="800000"/>
            <a:headEnd/>
            <a:tailEnd/>
          </a:ln>
        </p:spPr>
      </p:pic>
      <p:sp>
        <p:nvSpPr>
          <p:cNvPr id="6" name="Text Box 8">
            <a:extLst>
              <a:ext uri="{FF2B5EF4-FFF2-40B4-BE49-F238E27FC236}">
                <a16:creationId xmlns:a16="http://schemas.microsoft.com/office/drawing/2014/main" id="{0D59B7FB-EB84-3116-422C-6730C31272DC}"/>
              </a:ext>
            </a:extLst>
          </p:cNvPr>
          <p:cNvSpPr txBox="1">
            <a:spLocks noChangeArrowheads="1"/>
          </p:cNvSpPr>
          <p:nvPr/>
        </p:nvSpPr>
        <p:spPr bwMode="auto">
          <a:xfrm>
            <a:off x="1756410" y="5716941"/>
            <a:ext cx="1559379" cy="329588"/>
          </a:xfrm>
          <a:prstGeom prst="rect">
            <a:avLst/>
          </a:prstGeom>
          <a:solidFill>
            <a:schemeClr val="tx1"/>
          </a:solidFill>
          <a:ln w="25400" cap="sq">
            <a:solidFill>
              <a:srgbClr val="000000"/>
            </a:solidFill>
            <a:miter lim="800000"/>
            <a:headEnd/>
            <a:tailEnd/>
          </a:ln>
        </p:spPr>
        <p:txBody>
          <a:bodyPr wrap="square" lIns="54000" tIns="10800" rIns="54000" bIns="10800">
            <a:spAutoFit/>
          </a:bodyPr>
          <a:lstStyle/>
          <a:p>
            <a:pPr algn="ctr"/>
            <a:r>
              <a:rPr lang="en-US" altLang="zh-CN" sz="2000" b="1" i="1" dirty="0">
                <a:solidFill>
                  <a:schemeClr val="bg1"/>
                </a:solidFill>
              </a:rPr>
              <a:t>A(West)</a:t>
            </a:r>
          </a:p>
        </p:txBody>
      </p:sp>
      <p:sp>
        <p:nvSpPr>
          <p:cNvPr id="7" name="Text Box 9">
            <a:extLst>
              <a:ext uri="{FF2B5EF4-FFF2-40B4-BE49-F238E27FC236}">
                <a16:creationId xmlns:a16="http://schemas.microsoft.com/office/drawing/2014/main" id="{AFDEA167-9795-2863-BF0E-4F29E2CFF661}"/>
              </a:ext>
            </a:extLst>
          </p:cNvPr>
          <p:cNvSpPr txBox="1">
            <a:spLocks noChangeArrowheads="1"/>
          </p:cNvSpPr>
          <p:nvPr/>
        </p:nvSpPr>
        <p:spPr bwMode="auto">
          <a:xfrm>
            <a:off x="7860348" y="5690304"/>
            <a:ext cx="2087562" cy="329588"/>
          </a:xfrm>
          <a:prstGeom prst="rect">
            <a:avLst/>
          </a:prstGeom>
          <a:solidFill>
            <a:schemeClr val="tx1"/>
          </a:solidFill>
          <a:ln w="25400" cap="sq">
            <a:solidFill>
              <a:srgbClr val="000000"/>
            </a:solidFill>
            <a:miter lim="800000"/>
            <a:headEnd/>
            <a:tailEnd/>
          </a:ln>
        </p:spPr>
        <p:txBody>
          <a:bodyPr lIns="54000" tIns="10800" rIns="54000" bIns="10800">
            <a:spAutoFit/>
          </a:bodyPr>
          <a:lstStyle/>
          <a:p>
            <a:pPr algn="ctr"/>
            <a:r>
              <a:rPr lang="en-US" altLang="zh-CN" sz="2000" b="1" i="1">
                <a:solidFill>
                  <a:schemeClr val="bg1"/>
                </a:solidFill>
              </a:rPr>
              <a:t>Enemy</a:t>
            </a:r>
            <a:r>
              <a:rPr lang="en-US" altLang="zh-CN" sz="2000" b="1">
                <a:solidFill>
                  <a:schemeClr val="bg1"/>
                </a:solidFill>
              </a:rPr>
              <a:t>(</a:t>
            </a:r>
            <a:r>
              <a:rPr lang="en-US" altLang="zh-CN" sz="2000" b="1" i="1">
                <a:solidFill>
                  <a:schemeClr val="bg1"/>
                </a:solidFill>
              </a:rPr>
              <a:t>N</a:t>
            </a:r>
            <a:r>
              <a:rPr lang="en-US" altLang="zh-CN" sz="2000" b="1">
                <a:solidFill>
                  <a:schemeClr val="bg1"/>
                </a:solidFill>
              </a:rPr>
              <a:t>,</a:t>
            </a:r>
            <a:r>
              <a:rPr lang="en-US" altLang="zh-CN" sz="2000" b="1" i="1">
                <a:solidFill>
                  <a:schemeClr val="bg1"/>
                </a:solidFill>
              </a:rPr>
              <a:t>A</a:t>
            </a:r>
            <a:r>
              <a:rPr lang="en-US" altLang="zh-CN" sz="2000" b="1">
                <a:solidFill>
                  <a:schemeClr val="bg1"/>
                </a:solidFill>
              </a:rPr>
              <a:t>)</a:t>
            </a:r>
          </a:p>
        </p:txBody>
      </p:sp>
      <p:sp>
        <p:nvSpPr>
          <p:cNvPr id="8" name="Text Box 10">
            <a:extLst>
              <a:ext uri="{FF2B5EF4-FFF2-40B4-BE49-F238E27FC236}">
                <a16:creationId xmlns:a16="http://schemas.microsoft.com/office/drawing/2014/main" id="{58832C1D-981F-76C0-F885-9F46810E2AB5}"/>
              </a:ext>
            </a:extLst>
          </p:cNvPr>
          <p:cNvSpPr txBox="1">
            <a:spLocks noChangeArrowheads="1"/>
          </p:cNvSpPr>
          <p:nvPr/>
        </p:nvSpPr>
        <p:spPr bwMode="auto">
          <a:xfrm>
            <a:off x="5558444" y="5716941"/>
            <a:ext cx="1793421" cy="329588"/>
          </a:xfrm>
          <a:prstGeom prst="rect">
            <a:avLst/>
          </a:prstGeom>
          <a:solidFill>
            <a:schemeClr val="tx1"/>
          </a:solidFill>
          <a:ln w="25400" cap="sq">
            <a:solidFill>
              <a:srgbClr val="000000"/>
            </a:solidFill>
            <a:miter lim="800000"/>
            <a:headEnd/>
            <a:tailEnd/>
          </a:ln>
        </p:spPr>
        <p:txBody>
          <a:bodyPr wrap="square" lIns="54000" tIns="10800" rIns="54000" bIns="10800">
            <a:spAutoFit/>
          </a:bodyPr>
          <a:lstStyle/>
          <a:p>
            <a:pPr algn="ctr"/>
            <a:r>
              <a:rPr lang="en-US" altLang="zh-CN" sz="2000" b="1" i="1" dirty="0">
                <a:solidFill>
                  <a:schemeClr val="bg1"/>
                </a:solidFill>
              </a:rPr>
              <a:t>Owns(N,M1)</a:t>
            </a:r>
          </a:p>
        </p:txBody>
      </p:sp>
      <p:sp>
        <p:nvSpPr>
          <p:cNvPr id="9" name="矩形: 圆角 8">
            <a:extLst>
              <a:ext uri="{FF2B5EF4-FFF2-40B4-BE49-F238E27FC236}">
                <a16:creationId xmlns:a16="http://schemas.microsoft.com/office/drawing/2014/main" id="{E4298367-3FC3-11DC-C986-50F0CD8E64E1}"/>
              </a:ext>
            </a:extLst>
          </p:cNvPr>
          <p:cNvSpPr/>
          <p:nvPr/>
        </p:nvSpPr>
        <p:spPr>
          <a:xfrm>
            <a:off x="3836606" y="5601502"/>
            <a:ext cx="3664205" cy="591348"/>
          </a:xfrm>
          <a:custGeom>
            <a:avLst/>
            <a:gdLst>
              <a:gd name="connsiteX0" fmla="*/ 0 w 3664205"/>
              <a:gd name="connsiteY0" fmla="*/ 98560 h 591348"/>
              <a:gd name="connsiteX1" fmla="*/ 98560 w 3664205"/>
              <a:gd name="connsiteY1" fmla="*/ 0 h 591348"/>
              <a:gd name="connsiteX2" fmla="*/ 3565645 w 3664205"/>
              <a:gd name="connsiteY2" fmla="*/ 0 h 591348"/>
              <a:gd name="connsiteX3" fmla="*/ 3664205 w 3664205"/>
              <a:gd name="connsiteY3" fmla="*/ 98560 h 591348"/>
              <a:gd name="connsiteX4" fmla="*/ 3664205 w 3664205"/>
              <a:gd name="connsiteY4" fmla="*/ 492788 h 591348"/>
              <a:gd name="connsiteX5" fmla="*/ 3565645 w 3664205"/>
              <a:gd name="connsiteY5" fmla="*/ 591348 h 591348"/>
              <a:gd name="connsiteX6" fmla="*/ 98560 w 3664205"/>
              <a:gd name="connsiteY6" fmla="*/ 591348 h 591348"/>
              <a:gd name="connsiteX7" fmla="*/ 0 w 3664205"/>
              <a:gd name="connsiteY7" fmla="*/ 492788 h 591348"/>
              <a:gd name="connsiteX8" fmla="*/ 0 w 3664205"/>
              <a:gd name="connsiteY8" fmla="*/ 98560 h 59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64205" h="591348" extrusionOk="0">
                <a:moveTo>
                  <a:pt x="0" y="98560"/>
                </a:moveTo>
                <a:cubicBezTo>
                  <a:pt x="560" y="35741"/>
                  <a:pt x="41073" y="4384"/>
                  <a:pt x="98560" y="0"/>
                </a:cubicBezTo>
                <a:cubicBezTo>
                  <a:pt x="1720818" y="-51830"/>
                  <a:pt x="2659786" y="-108332"/>
                  <a:pt x="3565645" y="0"/>
                </a:cubicBezTo>
                <a:cubicBezTo>
                  <a:pt x="3611799" y="6243"/>
                  <a:pt x="3663465" y="43883"/>
                  <a:pt x="3664205" y="98560"/>
                </a:cubicBezTo>
                <a:cubicBezTo>
                  <a:pt x="3680573" y="197941"/>
                  <a:pt x="3698189" y="349501"/>
                  <a:pt x="3664205" y="492788"/>
                </a:cubicBezTo>
                <a:cubicBezTo>
                  <a:pt x="3669410" y="548591"/>
                  <a:pt x="3623419" y="600758"/>
                  <a:pt x="3565645" y="591348"/>
                </a:cubicBezTo>
                <a:cubicBezTo>
                  <a:pt x="3047007" y="621619"/>
                  <a:pt x="1326446" y="559918"/>
                  <a:pt x="98560" y="591348"/>
                </a:cubicBezTo>
                <a:cubicBezTo>
                  <a:pt x="50512" y="590501"/>
                  <a:pt x="-943" y="547808"/>
                  <a:pt x="0" y="492788"/>
                </a:cubicBezTo>
                <a:cubicBezTo>
                  <a:pt x="-33776" y="311961"/>
                  <a:pt x="26118" y="258712"/>
                  <a:pt x="0" y="98560"/>
                </a:cubicBezTo>
                <a:close/>
              </a:path>
            </a:pathLst>
          </a:custGeom>
          <a:noFill/>
          <a:ln w="57150">
            <a:solidFill>
              <a:srgbClr val="FF0000"/>
            </a:solidFill>
            <a:prstDash val="dash"/>
            <a:extLst>
              <a:ext uri="{C807C97D-BFC1-408E-A445-0C87EB9F89A2}">
                <ask:lineSketchStyleProps xmlns:ask="http://schemas.microsoft.com/office/drawing/2018/sketchyshapes" sd="3503869149">
                  <a:prstGeom prst="round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980530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FBD6FA-6C76-745B-9A4C-1E401EFDC87B}"/>
              </a:ext>
            </a:extLst>
          </p:cNvPr>
          <p:cNvSpPr>
            <a:spLocks noGrp="1"/>
          </p:cNvSpPr>
          <p:nvPr>
            <p:ph type="title"/>
          </p:nvPr>
        </p:nvSpPr>
        <p:spPr/>
        <p:txBody>
          <a:bodyPr/>
          <a:lstStyle/>
          <a:p>
            <a:r>
              <a:rPr lang="en-US" altLang="zh-CN" dirty="0"/>
              <a:t>9.3 </a:t>
            </a:r>
            <a:r>
              <a:rPr lang="zh-CN" altLang="en-US" dirty="0"/>
              <a:t>前向链接</a:t>
            </a:r>
          </a:p>
        </p:txBody>
      </p:sp>
      <p:sp>
        <p:nvSpPr>
          <p:cNvPr id="3" name="内容占位符 2">
            <a:extLst>
              <a:ext uri="{FF2B5EF4-FFF2-40B4-BE49-F238E27FC236}">
                <a16:creationId xmlns:a16="http://schemas.microsoft.com/office/drawing/2014/main" id="{EE141366-761C-0EB8-0583-6BEBF94F479D}"/>
              </a:ext>
            </a:extLst>
          </p:cNvPr>
          <p:cNvSpPr>
            <a:spLocks noGrp="1"/>
          </p:cNvSpPr>
          <p:nvPr>
            <p:ph idx="1"/>
          </p:nvPr>
        </p:nvSpPr>
        <p:spPr/>
        <p:txBody>
          <a:bodyPr>
            <a:normAutofit/>
          </a:bodyPr>
          <a:lstStyle/>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KB</a:t>
            </a:r>
            <a:r>
              <a:rPr lang="zh-CN" altLang="en-US" kern="0" dirty="0">
                <a:solidFill>
                  <a:srgbClr val="FFCC99"/>
                </a:solidFill>
                <a:latin typeface="Aa花间辞楷书 (非商业使用)" panose="02010600010101010101" pitchFamily="2" charset="-122"/>
                <a:ea typeface="Aa花间辞楷书 (非商业使用)" panose="02010600010101010101" pitchFamily="2" charset="-122"/>
              </a:rPr>
              <a:t>如下：</a:t>
            </a:r>
            <a:endParaRPr lang="en-US" altLang="zh-CN" kern="0" dirty="0">
              <a:solidFill>
                <a:srgbClr val="FFCC99"/>
              </a:solidFill>
              <a:latin typeface="Aa花间辞楷书 (非商业使用)" panose="02010600010101010101" pitchFamily="2" charset="-122"/>
              <a:ea typeface="Aa花间辞楷书 (非商业使用)" panose="02010600010101010101" pitchFamily="2" charset="-122"/>
            </a:endParaRP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1）Owns(Nono, 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2）Missile(M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3）American(West)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4）Enemy(Nono, America)</a:t>
            </a:r>
          </a:p>
          <a:p>
            <a:pPr marL="0" indent="0" eaLnBrk="0" hangingPunct="0">
              <a:lnSpc>
                <a:spcPct val="120000"/>
              </a:lnSpc>
              <a:spcBef>
                <a:spcPct val="20000"/>
              </a:spcBef>
              <a:buNone/>
              <a:defRPr/>
            </a:pP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5）Missile(x) </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 Weapon(x)</a:t>
            </a:r>
          </a:p>
          <a:p>
            <a:pPr marL="342900" lvl="0" indent="-342900" defTabSz="914400" eaLnBrk="0" fontAlgn="base" hangingPunct="0">
              <a:lnSpc>
                <a:spcPct val="120000"/>
              </a:lnSpc>
              <a:spcBef>
                <a:spcPct val="20000"/>
              </a:spcBef>
              <a:spcAft>
                <a:spcPct val="0"/>
              </a:spcAft>
              <a:buNone/>
              <a:defRPr/>
            </a:pP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6）Missile(x) </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 Owns(</a:t>
            </a:r>
            <a:r>
              <a:rPr lang="en-US" altLang="zh-CN" kern="0" dirty="0" err="1">
                <a:solidFill>
                  <a:srgbClr val="FF0000"/>
                </a:solidFill>
                <a:latin typeface="Aa花间辞楷书 (非商业使用)" panose="02010600010101010101" pitchFamily="2" charset="-122"/>
                <a:ea typeface="Aa花间辞楷书 (非商业使用)" panose="02010600010101010101" pitchFamily="2" charset="-122"/>
              </a:rPr>
              <a:t>Nono,x</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0000"/>
                </a:solidFill>
                <a:latin typeface="Aa花间辞楷书 (非商业使用)" panose="02010600010101010101" pitchFamily="2" charset="-122"/>
                <a:ea typeface="Aa花间辞楷书 (非商业使用)" panose="02010600010101010101" pitchFamily="2" charset="-122"/>
              </a:rPr>
              <a:t>West,x,Nono</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7）Enemy(x, America)</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Hostile(x)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8）American(x)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Weapon(y)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x,y,z</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Hostile(z)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Criminal(x)</a:t>
            </a:r>
          </a:p>
        </p:txBody>
      </p:sp>
      <p:pic>
        <p:nvPicPr>
          <p:cNvPr id="10" name="Picture 7">
            <a:extLst>
              <a:ext uri="{FF2B5EF4-FFF2-40B4-BE49-F238E27FC236}">
                <a16:creationId xmlns:a16="http://schemas.microsoft.com/office/drawing/2014/main" id="{FAFB1E32-88ED-1046-13BC-64D0823DA3D8}"/>
              </a:ext>
            </a:extLst>
          </p:cNvPr>
          <p:cNvPicPr>
            <a:picLocks noChangeAspect="1" noChangeArrowheads="1"/>
          </p:cNvPicPr>
          <p:nvPr/>
        </p:nvPicPr>
        <p:blipFill>
          <a:blip r:embed="rId2"/>
          <a:srcRect/>
          <a:stretch>
            <a:fillRect/>
          </a:stretch>
        </p:blipFill>
        <p:spPr bwMode="auto">
          <a:xfrm>
            <a:off x="2163536" y="4467224"/>
            <a:ext cx="8248650" cy="1819275"/>
          </a:xfrm>
          <a:prstGeom prst="rect">
            <a:avLst/>
          </a:prstGeom>
          <a:noFill/>
          <a:ln w="12700" cap="sq">
            <a:noFill/>
            <a:miter lim="800000"/>
            <a:headEnd/>
            <a:tailEnd/>
          </a:ln>
        </p:spPr>
      </p:pic>
      <p:sp>
        <p:nvSpPr>
          <p:cNvPr id="11" name="Text Box 8">
            <a:extLst>
              <a:ext uri="{FF2B5EF4-FFF2-40B4-BE49-F238E27FC236}">
                <a16:creationId xmlns:a16="http://schemas.microsoft.com/office/drawing/2014/main" id="{1675EEF6-8722-9B9C-CD35-8BB7A209FED8}"/>
              </a:ext>
            </a:extLst>
          </p:cNvPr>
          <p:cNvSpPr txBox="1">
            <a:spLocks noChangeArrowheads="1"/>
          </p:cNvSpPr>
          <p:nvPr/>
        </p:nvSpPr>
        <p:spPr bwMode="auto">
          <a:xfrm>
            <a:off x="2182586" y="5915024"/>
            <a:ext cx="1531938" cy="329588"/>
          </a:xfrm>
          <a:prstGeom prst="rect">
            <a:avLst/>
          </a:prstGeom>
          <a:solidFill>
            <a:schemeClr val="tx1"/>
          </a:solidFill>
          <a:ln w="25400" cap="sq">
            <a:solidFill>
              <a:srgbClr val="000000"/>
            </a:solidFill>
            <a:miter lim="800000"/>
            <a:headEnd/>
            <a:tailEnd/>
          </a:ln>
        </p:spPr>
        <p:txBody>
          <a:bodyPr lIns="54000" tIns="10800" rIns="54000" bIns="10800">
            <a:spAutoFit/>
          </a:bodyPr>
          <a:lstStyle/>
          <a:p>
            <a:pPr algn="ctr"/>
            <a:r>
              <a:rPr lang="en-US" altLang="zh-CN" sz="2000" b="1" i="1">
                <a:solidFill>
                  <a:schemeClr val="bg1"/>
                </a:solidFill>
              </a:rPr>
              <a:t>A(West)</a:t>
            </a:r>
          </a:p>
        </p:txBody>
      </p:sp>
      <p:sp>
        <p:nvSpPr>
          <p:cNvPr id="12" name="Text Box 9">
            <a:extLst>
              <a:ext uri="{FF2B5EF4-FFF2-40B4-BE49-F238E27FC236}">
                <a16:creationId xmlns:a16="http://schemas.microsoft.com/office/drawing/2014/main" id="{E0C85019-4010-3C1C-3888-D7E465B40E69}"/>
              </a:ext>
            </a:extLst>
          </p:cNvPr>
          <p:cNvSpPr txBox="1">
            <a:spLocks noChangeArrowheads="1"/>
          </p:cNvSpPr>
          <p:nvPr/>
        </p:nvSpPr>
        <p:spPr bwMode="auto">
          <a:xfrm>
            <a:off x="8251598" y="5915024"/>
            <a:ext cx="2160587" cy="329588"/>
          </a:xfrm>
          <a:prstGeom prst="rect">
            <a:avLst/>
          </a:prstGeom>
          <a:solidFill>
            <a:schemeClr val="tx1"/>
          </a:solidFill>
          <a:ln w="25400" cap="sq">
            <a:solidFill>
              <a:srgbClr val="000000"/>
            </a:solidFill>
            <a:miter lim="800000"/>
            <a:headEnd/>
            <a:tailEnd/>
          </a:ln>
        </p:spPr>
        <p:txBody>
          <a:bodyPr wrap="square" lIns="54000" tIns="10800" rIns="54000" bIns="10800">
            <a:spAutoFit/>
          </a:bodyPr>
          <a:lstStyle/>
          <a:p>
            <a:pPr algn="ctr"/>
            <a:r>
              <a:rPr lang="en-US" altLang="zh-CN" sz="2000" b="1" i="1" dirty="0">
                <a:solidFill>
                  <a:schemeClr val="bg1"/>
                </a:solidFill>
              </a:rPr>
              <a:t>Enemy</a:t>
            </a:r>
            <a:r>
              <a:rPr lang="en-US" altLang="zh-CN" sz="2000" b="1" dirty="0">
                <a:solidFill>
                  <a:schemeClr val="bg1"/>
                </a:solidFill>
              </a:rPr>
              <a:t>(</a:t>
            </a:r>
            <a:r>
              <a:rPr lang="en-US" altLang="zh-CN" sz="2000" b="1" i="1" dirty="0">
                <a:solidFill>
                  <a:schemeClr val="bg1"/>
                </a:solidFill>
              </a:rPr>
              <a:t>N</a:t>
            </a:r>
            <a:r>
              <a:rPr lang="en-US" altLang="zh-CN" sz="2000" b="1" dirty="0">
                <a:solidFill>
                  <a:schemeClr val="bg1"/>
                </a:solidFill>
              </a:rPr>
              <a:t>,</a:t>
            </a:r>
            <a:r>
              <a:rPr lang="en-US" altLang="zh-CN" sz="2000" b="1" i="1" dirty="0">
                <a:solidFill>
                  <a:schemeClr val="bg1"/>
                </a:solidFill>
              </a:rPr>
              <a:t>A</a:t>
            </a:r>
            <a:r>
              <a:rPr lang="en-US" altLang="zh-CN" sz="2000" b="1" dirty="0">
                <a:solidFill>
                  <a:schemeClr val="bg1"/>
                </a:solidFill>
              </a:rPr>
              <a:t>)</a:t>
            </a:r>
          </a:p>
        </p:txBody>
      </p:sp>
      <p:sp>
        <p:nvSpPr>
          <p:cNvPr id="13" name="Text Box 10">
            <a:extLst>
              <a:ext uri="{FF2B5EF4-FFF2-40B4-BE49-F238E27FC236}">
                <a16:creationId xmlns:a16="http://schemas.microsoft.com/office/drawing/2014/main" id="{570114B4-812F-0FF0-B307-90C1105B8105}"/>
              </a:ext>
            </a:extLst>
          </p:cNvPr>
          <p:cNvSpPr txBox="1">
            <a:spLocks noChangeArrowheads="1"/>
          </p:cNvSpPr>
          <p:nvPr/>
        </p:nvSpPr>
        <p:spPr bwMode="auto">
          <a:xfrm>
            <a:off x="8467499" y="4508498"/>
            <a:ext cx="1584325" cy="329588"/>
          </a:xfrm>
          <a:prstGeom prst="rect">
            <a:avLst/>
          </a:prstGeom>
          <a:solidFill>
            <a:schemeClr val="tx1"/>
          </a:solidFill>
          <a:ln w="25400" cap="sq">
            <a:solidFill>
              <a:srgbClr val="000000"/>
            </a:solidFill>
            <a:miter lim="800000"/>
            <a:headEnd/>
            <a:tailEnd/>
          </a:ln>
        </p:spPr>
        <p:txBody>
          <a:bodyPr lIns="54000" tIns="10800" rIns="54000" bIns="10800">
            <a:spAutoFit/>
          </a:bodyPr>
          <a:lstStyle/>
          <a:p>
            <a:pPr algn="ctr"/>
            <a:r>
              <a:rPr lang="en-US" altLang="zh-CN" sz="2000" b="1" i="1">
                <a:solidFill>
                  <a:schemeClr val="bg1"/>
                </a:solidFill>
              </a:rPr>
              <a:t>Hostile</a:t>
            </a:r>
            <a:r>
              <a:rPr lang="en-US" altLang="zh-CN" sz="2000" b="1">
                <a:solidFill>
                  <a:schemeClr val="bg1"/>
                </a:solidFill>
              </a:rPr>
              <a:t>(</a:t>
            </a:r>
            <a:r>
              <a:rPr lang="en-US" altLang="zh-CN" sz="2000" b="1" i="1">
                <a:solidFill>
                  <a:schemeClr val="bg1"/>
                </a:solidFill>
              </a:rPr>
              <a:t>N</a:t>
            </a:r>
            <a:r>
              <a:rPr lang="en-US" altLang="zh-CN" sz="2000" b="1">
                <a:solidFill>
                  <a:schemeClr val="bg1"/>
                </a:solidFill>
              </a:rPr>
              <a:t>)</a:t>
            </a:r>
          </a:p>
        </p:txBody>
      </p:sp>
      <p:sp>
        <p:nvSpPr>
          <p:cNvPr id="14" name="Text Box 11">
            <a:extLst>
              <a:ext uri="{FF2B5EF4-FFF2-40B4-BE49-F238E27FC236}">
                <a16:creationId xmlns:a16="http://schemas.microsoft.com/office/drawing/2014/main" id="{D437DCA5-F8BB-244A-1064-638FA8E8894E}"/>
              </a:ext>
            </a:extLst>
          </p:cNvPr>
          <p:cNvSpPr txBox="1">
            <a:spLocks noChangeArrowheads="1"/>
          </p:cNvSpPr>
          <p:nvPr/>
        </p:nvSpPr>
        <p:spPr bwMode="auto">
          <a:xfrm>
            <a:off x="5586186" y="4500561"/>
            <a:ext cx="2316842" cy="329588"/>
          </a:xfrm>
          <a:prstGeom prst="rect">
            <a:avLst/>
          </a:prstGeom>
          <a:solidFill>
            <a:schemeClr val="tx1"/>
          </a:solidFill>
          <a:ln w="25400" cap="sq">
            <a:solidFill>
              <a:srgbClr val="000000"/>
            </a:solidFill>
            <a:miter lim="800000"/>
            <a:headEnd/>
            <a:tailEnd/>
          </a:ln>
        </p:spPr>
        <p:txBody>
          <a:bodyPr wrap="square" lIns="54000" tIns="10800" rIns="54000" bIns="10800">
            <a:spAutoFit/>
          </a:bodyPr>
          <a:lstStyle/>
          <a:p>
            <a:pPr algn="ctr"/>
            <a:r>
              <a:rPr lang="en-US" altLang="zh-CN" sz="2000" b="1" i="1" dirty="0">
                <a:solidFill>
                  <a:schemeClr val="bg1"/>
                </a:solidFill>
              </a:rPr>
              <a:t>Sells</a:t>
            </a:r>
            <a:r>
              <a:rPr lang="en-US" altLang="zh-CN" sz="2000" b="1" dirty="0">
                <a:solidFill>
                  <a:schemeClr val="bg1"/>
                </a:solidFill>
              </a:rPr>
              <a:t>(</a:t>
            </a:r>
            <a:r>
              <a:rPr lang="en-US" altLang="zh-CN" sz="2000" b="1" i="1" dirty="0">
                <a:solidFill>
                  <a:schemeClr val="bg1"/>
                </a:solidFill>
              </a:rPr>
              <a:t>West,M1,N</a:t>
            </a:r>
            <a:r>
              <a:rPr lang="en-US" altLang="zh-CN" sz="2000" b="1" dirty="0">
                <a:solidFill>
                  <a:schemeClr val="bg1"/>
                </a:solidFill>
              </a:rPr>
              <a:t>)</a:t>
            </a:r>
          </a:p>
        </p:txBody>
      </p:sp>
      <p:sp>
        <p:nvSpPr>
          <p:cNvPr id="15" name="Text Box 12">
            <a:extLst>
              <a:ext uri="{FF2B5EF4-FFF2-40B4-BE49-F238E27FC236}">
                <a16:creationId xmlns:a16="http://schemas.microsoft.com/office/drawing/2014/main" id="{7FB5450C-3A2C-8016-DF5B-22C22B3BEE2C}"/>
              </a:ext>
            </a:extLst>
          </p:cNvPr>
          <p:cNvSpPr txBox="1">
            <a:spLocks noChangeArrowheads="1"/>
          </p:cNvSpPr>
          <p:nvPr/>
        </p:nvSpPr>
        <p:spPr bwMode="auto">
          <a:xfrm>
            <a:off x="5946775" y="5915024"/>
            <a:ext cx="1820182" cy="329588"/>
          </a:xfrm>
          <a:prstGeom prst="rect">
            <a:avLst/>
          </a:prstGeom>
          <a:solidFill>
            <a:schemeClr val="tx1"/>
          </a:solidFill>
          <a:ln w="25400" cap="sq">
            <a:solidFill>
              <a:srgbClr val="000000"/>
            </a:solidFill>
            <a:miter lim="800000"/>
            <a:headEnd/>
            <a:tailEnd/>
          </a:ln>
        </p:spPr>
        <p:txBody>
          <a:bodyPr wrap="square" lIns="54000" tIns="10800" rIns="54000" bIns="10800">
            <a:spAutoFit/>
          </a:bodyPr>
          <a:lstStyle/>
          <a:p>
            <a:pPr algn="ctr"/>
            <a:r>
              <a:rPr lang="en-US" altLang="zh-CN" sz="2000" b="1" i="1" dirty="0">
                <a:solidFill>
                  <a:schemeClr val="bg1"/>
                </a:solidFill>
              </a:rPr>
              <a:t>Owns(N,M1)</a:t>
            </a:r>
          </a:p>
        </p:txBody>
      </p:sp>
      <p:sp>
        <p:nvSpPr>
          <p:cNvPr id="16" name="矩形: 圆角 15">
            <a:extLst>
              <a:ext uri="{FF2B5EF4-FFF2-40B4-BE49-F238E27FC236}">
                <a16:creationId xmlns:a16="http://schemas.microsoft.com/office/drawing/2014/main" id="{BACF4522-734F-2BA3-968F-A206B1D4757B}"/>
              </a:ext>
            </a:extLst>
          </p:cNvPr>
          <p:cNvSpPr/>
          <p:nvPr/>
        </p:nvSpPr>
        <p:spPr>
          <a:xfrm>
            <a:off x="3852478" y="4451129"/>
            <a:ext cx="1463040" cy="428452"/>
          </a:xfrm>
          <a:custGeom>
            <a:avLst/>
            <a:gdLst>
              <a:gd name="connsiteX0" fmla="*/ 0 w 1463040"/>
              <a:gd name="connsiteY0" fmla="*/ 71410 h 428452"/>
              <a:gd name="connsiteX1" fmla="*/ 71410 w 1463040"/>
              <a:gd name="connsiteY1" fmla="*/ 0 h 428452"/>
              <a:gd name="connsiteX2" fmla="*/ 1391630 w 1463040"/>
              <a:gd name="connsiteY2" fmla="*/ 0 h 428452"/>
              <a:gd name="connsiteX3" fmla="*/ 1463040 w 1463040"/>
              <a:gd name="connsiteY3" fmla="*/ 71410 h 428452"/>
              <a:gd name="connsiteX4" fmla="*/ 1463040 w 1463040"/>
              <a:gd name="connsiteY4" fmla="*/ 357042 h 428452"/>
              <a:gd name="connsiteX5" fmla="*/ 1391630 w 1463040"/>
              <a:gd name="connsiteY5" fmla="*/ 428452 h 428452"/>
              <a:gd name="connsiteX6" fmla="*/ 71410 w 1463040"/>
              <a:gd name="connsiteY6" fmla="*/ 428452 h 428452"/>
              <a:gd name="connsiteX7" fmla="*/ 0 w 1463040"/>
              <a:gd name="connsiteY7" fmla="*/ 357042 h 428452"/>
              <a:gd name="connsiteX8" fmla="*/ 0 w 1463040"/>
              <a:gd name="connsiteY8" fmla="*/ 71410 h 428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3040" h="428452" extrusionOk="0">
                <a:moveTo>
                  <a:pt x="0" y="71410"/>
                </a:moveTo>
                <a:cubicBezTo>
                  <a:pt x="1331" y="34656"/>
                  <a:pt x="26405" y="208"/>
                  <a:pt x="71410" y="0"/>
                </a:cubicBezTo>
                <a:cubicBezTo>
                  <a:pt x="244335" y="42485"/>
                  <a:pt x="797635" y="-59302"/>
                  <a:pt x="1391630" y="0"/>
                </a:cubicBezTo>
                <a:cubicBezTo>
                  <a:pt x="1436016" y="5251"/>
                  <a:pt x="1461243" y="30202"/>
                  <a:pt x="1463040" y="71410"/>
                </a:cubicBezTo>
                <a:cubicBezTo>
                  <a:pt x="1480728" y="189446"/>
                  <a:pt x="1476771" y="245972"/>
                  <a:pt x="1463040" y="357042"/>
                </a:cubicBezTo>
                <a:cubicBezTo>
                  <a:pt x="1464971" y="398921"/>
                  <a:pt x="1433584" y="422888"/>
                  <a:pt x="1391630" y="428452"/>
                </a:cubicBezTo>
                <a:cubicBezTo>
                  <a:pt x="1028639" y="440047"/>
                  <a:pt x="370838" y="379114"/>
                  <a:pt x="71410" y="428452"/>
                </a:cubicBezTo>
                <a:cubicBezTo>
                  <a:pt x="32076" y="427770"/>
                  <a:pt x="-1966" y="403362"/>
                  <a:pt x="0" y="357042"/>
                </a:cubicBezTo>
                <a:cubicBezTo>
                  <a:pt x="18485" y="279970"/>
                  <a:pt x="-11620" y="206188"/>
                  <a:pt x="0" y="71410"/>
                </a:cubicBezTo>
                <a:close/>
              </a:path>
            </a:pathLst>
          </a:custGeom>
          <a:noFill/>
          <a:ln w="38100">
            <a:solidFill>
              <a:srgbClr val="FF0000"/>
            </a:solidFill>
            <a:prstDash val="sysDash"/>
            <a:extLst>
              <a:ext uri="{C807C97D-BFC1-408E-A445-0C87EB9F89A2}">
                <ask:lineSketchStyleProps xmlns:ask="http://schemas.microsoft.com/office/drawing/2018/sketchyshapes" sd="2026636766">
                  <a:prstGeom prst="round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520102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FBD6FA-6C76-745B-9A4C-1E401EFDC87B}"/>
              </a:ext>
            </a:extLst>
          </p:cNvPr>
          <p:cNvSpPr>
            <a:spLocks noGrp="1"/>
          </p:cNvSpPr>
          <p:nvPr>
            <p:ph type="title"/>
          </p:nvPr>
        </p:nvSpPr>
        <p:spPr/>
        <p:txBody>
          <a:bodyPr/>
          <a:lstStyle/>
          <a:p>
            <a:r>
              <a:rPr lang="en-US" altLang="zh-CN" dirty="0"/>
              <a:t>9.3 </a:t>
            </a:r>
            <a:r>
              <a:rPr lang="zh-CN" altLang="en-US" dirty="0"/>
              <a:t>前向链接</a:t>
            </a:r>
          </a:p>
        </p:txBody>
      </p:sp>
      <p:sp>
        <p:nvSpPr>
          <p:cNvPr id="3" name="内容占位符 2">
            <a:extLst>
              <a:ext uri="{FF2B5EF4-FFF2-40B4-BE49-F238E27FC236}">
                <a16:creationId xmlns:a16="http://schemas.microsoft.com/office/drawing/2014/main" id="{EE141366-761C-0EB8-0583-6BEBF94F479D}"/>
              </a:ext>
            </a:extLst>
          </p:cNvPr>
          <p:cNvSpPr>
            <a:spLocks noGrp="1"/>
          </p:cNvSpPr>
          <p:nvPr>
            <p:ph idx="1"/>
          </p:nvPr>
        </p:nvSpPr>
        <p:spPr/>
        <p:txBody>
          <a:bodyPr>
            <a:normAutofit/>
          </a:bodyPr>
          <a:lstStyle/>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KB</a:t>
            </a:r>
            <a:r>
              <a:rPr lang="zh-CN" altLang="en-US" kern="0" dirty="0">
                <a:solidFill>
                  <a:srgbClr val="FFCC99"/>
                </a:solidFill>
                <a:latin typeface="Aa花间辞楷书 (非商业使用)" panose="02010600010101010101" pitchFamily="2" charset="-122"/>
                <a:ea typeface="Aa花间辞楷书 (非商业使用)" panose="02010600010101010101" pitchFamily="2" charset="-122"/>
              </a:rPr>
              <a:t>如下：</a:t>
            </a:r>
            <a:endParaRPr lang="en-US" altLang="zh-CN" kern="0" dirty="0">
              <a:solidFill>
                <a:srgbClr val="FFCC99"/>
              </a:solidFill>
              <a:latin typeface="Aa花间辞楷书 (非商业使用)" panose="02010600010101010101" pitchFamily="2" charset="-122"/>
              <a:ea typeface="Aa花间辞楷书 (非商业使用)" panose="02010600010101010101" pitchFamily="2" charset="-122"/>
            </a:endParaRP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1）Owns(Nono, 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2）Missile(M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3）American(West)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4）Enemy(Nono, America)</a:t>
            </a:r>
          </a:p>
          <a:p>
            <a:pPr marL="0" indent="0" eaLnBrk="0" hangingPunct="0">
              <a:lnSpc>
                <a:spcPct val="120000"/>
              </a:lnSpc>
              <a:spcBef>
                <a:spcPct val="20000"/>
              </a:spcBef>
              <a:buNone/>
              <a:defRPr/>
            </a:pP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5）Missile(x) </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 Weapon(x)</a:t>
            </a:r>
          </a:p>
          <a:p>
            <a:pPr marL="342900" lvl="0" indent="-342900" defTabSz="914400" eaLnBrk="0" fontAlgn="base" hangingPunct="0">
              <a:lnSpc>
                <a:spcPct val="120000"/>
              </a:lnSpc>
              <a:spcBef>
                <a:spcPct val="20000"/>
              </a:spcBef>
              <a:spcAft>
                <a:spcPct val="0"/>
              </a:spcAft>
              <a:buNone/>
              <a:defRPr/>
            </a:pP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6）Missile(x) </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 Owns(</a:t>
            </a:r>
            <a:r>
              <a:rPr lang="en-US" altLang="zh-CN" kern="0" dirty="0" err="1">
                <a:solidFill>
                  <a:srgbClr val="FF0000"/>
                </a:solidFill>
                <a:latin typeface="Aa花间辞楷书 (非商业使用)" panose="02010600010101010101" pitchFamily="2" charset="-122"/>
                <a:ea typeface="Aa花间辞楷书 (非商业使用)" panose="02010600010101010101" pitchFamily="2" charset="-122"/>
              </a:rPr>
              <a:t>Nono,x</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0000"/>
                </a:solidFill>
                <a:latin typeface="Aa花间辞楷书 (非商业使用)" panose="02010600010101010101" pitchFamily="2" charset="-122"/>
                <a:ea typeface="Aa花间辞楷书 (非商业使用)" panose="02010600010101010101" pitchFamily="2" charset="-122"/>
              </a:rPr>
              <a:t>West,x,Nono</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7）Enemy(x, America)</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Hostile(x)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8）American(x)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Weapon(y)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x,y,z</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Hostile(z)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Criminal(x)</a:t>
            </a:r>
          </a:p>
        </p:txBody>
      </p:sp>
      <p:pic>
        <p:nvPicPr>
          <p:cNvPr id="10" name="Picture 7">
            <a:extLst>
              <a:ext uri="{FF2B5EF4-FFF2-40B4-BE49-F238E27FC236}">
                <a16:creationId xmlns:a16="http://schemas.microsoft.com/office/drawing/2014/main" id="{FAFB1E32-88ED-1046-13BC-64D0823DA3D8}"/>
              </a:ext>
            </a:extLst>
          </p:cNvPr>
          <p:cNvPicPr>
            <a:picLocks noChangeAspect="1" noChangeArrowheads="1"/>
          </p:cNvPicPr>
          <p:nvPr/>
        </p:nvPicPr>
        <p:blipFill>
          <a:blip r:embed="rId2"/>
          <a:srcRect/>
          <a:stretch>
            <a:fillRect/>
          </a:stretch>
        </p:blipFill>
        <p:spPr bwMode="auto">
          <a:xfrm>
            <a:off x="2163536" y="4467224"/>
            <a:ext cx="8248650" cy="1819275"/>
          </a:xfrm>
          <a:prstGeom prst="rect">
            <a:avLst/>
          </a:prstGeom>
          <a:noFill/>
          <a:ln w="12700" cap="sq">
            <a:noFill/>
            <a:miter lim="800000"/>
            <a:headEnd/>
            <a:tailEnd/>
          </a:ln>
        </p:spPr>
      </p:pic>
      <p:sp>
        <p:nvSpPr>
          <p:cNvPr id="11" name="Text Box 8">
            <a:extLst>
              <a:ext uri="{FF2B5EF4-FFF2-40B4-BE49-F238E27FC236}">
                <a16:creationId xmlns:a16="http://schemas.microsoft.com/office/drawing/2014/main" id="{1675EEF6-8722-9B9C-CD35-8BB7A209FED8}"/>
              </a:ext>
            </a:extLst>
          </p:cNvPr>
          <p:cNvSpPr txBox="1">
            <a:spLocks noChangeArrowheads="1"/>
          </p:cNvSpPr>
          <p:nvPr/>
        </p:nvSpPr>
        <p:spPr bwMode="auto">
          <a:xfrm>
            <a:off x="2182586" y="5915024"/>
            <a:ext cx="1531938" cy="329588"/>
          </a:xfrm>
          <a:prstGeom prst="rect">
            <a:avLst/>
          </a:prstGeom>
          <a:solidFill>
            <a:schemeClr val="tx1"/>
          </a:solidFill>
          <a:ln w="25400" cap="sq">
            <a:solidFill>
              <a:srgbClr val="000000"/>
            </a:solidFill>
            <a:miter lim="800000"/>
            <a:headEnd/>
            <a:tailEnd/>
          </a:ln>
        </p:spPr>
        <p:txBody>
          <a:bodyPr lIns="54000" tIns="10800" rIns="54000" bIns="10800">
            <a:spAutoFit/>
          </a:bodyPr>
          <a:lstStyle/>
          <a:p>
            <a:pPr algn="ctr"/>
            <a:r>
              <a:rPr lang="en-US" altLang="zh-CN" sz="2000" b="1" i="1">
                <a:solidFill>
                  <a:schemeClr val="bg1"/>
                </a:solidFill>
              </a:rPr>
              <a:t>A(West)</a:t>
            </a:r>
          </a:p>
        </p:txBody>
      </p:sp>
      <p:sp>
        <p:nvSpPr>
          <p:cNvPr id="12" name="Text Box 9">
            <a:extLst>
              <a:ext uri="{FF2B5EF4-FFF2-40B4-BE49-F238E27FC236}">
                <a16:creationId xmlns:a16="http://schemas.microsoft.com/office/drawing/2014/main" id="{E0C85019-4010-3C1C-3888-D7E465B40E69}"/>
              </a:ext>
            </a:extLst>
          </p:cNvPr>
          <p:cNvSpPr txBox="1">
            <a:spLocks noChangeArrowheads="1"/>
          </p:cNvSpPr>
          <p:nvPr/>
        </p:nvSpPr>
        <p:spPr bwMode="auto">
          <a:xfrm>
            <a:off x="8251598" y="5915024"/>
            <a:ext cx="2160587" cy="329588"/>
          </a:xfrm>
          <a:prstGeom prst="rect">
            <a:avLst/>
          </a:prstGeom>
          <a:solidFill>
            <a:schemeClr val="tx1"/>
          </a:solidFill>
          <a:ln w="25400" cap="sq">
            <a:solidFill>
              <a:srgbClr val="000000"/>
            </a:solidFill>
            <a:miter lim="800000"/>
            <a:headEnd/>
            <a:tailEnd/>
          </a:ln>
        </p:spPr>
        <p:txBody>
          <a:bodyPr wrap="square" lIns="54000" tIns="10800" rIns="54000" bIns="10800">
            <a:spAutoFit/>
          </a:bodyPr>
          <a:lstStyle/>
          <a:p>
            <a:pPr algn="ctr"/>
            <a:r>
              <a:rPr lang="en-US" altLang="zh-CN" sz="2000" b="1" i="1" dirty="0">
                <a:solidFill>
                  <a:schemeClr val="bg1"/>
                </a:solidFill>
              </a:rPr>
              <a:t>Enemy</a:t>
            </a:r>
            <a:r>
              <a:rPr lang="en-US" altLang="zh-CN" sz="2000" b="1" dirty="0">
                <a:solidFill>
                  <a:schemeClr val="bg1"/>
                </a:solidFill>
              </a:rPr>
              <a:t>(</a:t>
            </a:r>
            <a:r>
              <a:rPr lang="en-US" altLang="zh-CN" sz="2000" b="1" i="1" dirty="0">
                <a:solidFill>
                  <a:schemeClr val="bg1"/>
                </a:solidFill>
              </a:rPr>
              <a:t>N</a:t>
            </a:r>
            <a:r>
              <a:rPr lang="en-US" altLang="zh-CN" sz="2000" b="1" dirty="0">
                <a:solidFill>
                  <a:schemeClr val="bg1"/>
                </a:solidFill>
              </a:rPr>
              <a:t>,</a:t>
            </a:r>
            <a:r>
              <a:rPr lang="en-US" altLang="zh-CN" sz="2000" b="1" i="1" dirty="0">
                <a:solidFill>
                  <a:schemeClr val="bg1"/>
                </a:solidFill>
              </a:rPr>
              <a:t>A</a:t>
            </a:r>
            <a:r>
              <a:rPr lang="en-US" altLang="zh-CN" sz="2000" b="1" dirty="0">
                <a:solidFill>
                  <a:schemeClr val="bg1"/>
                </a:solidFill>
              </a:rPr>
              <a:t>)</a:t>
            </a:r>
          </a:p>
        </p:txBody>
      </p:sp>
      <p:sp>
        <p:nvSpPr>
          <p:cNvPr id="13" name="Text Box 10">
            <a:extLst>
              <a:ext uri="{FF2B5EF4-FFF2-40B4-BE49-F238E27FC236}">
                <a16:creationId xmlns:a16="http://schemas.microsoft.com/office/drawing/2014/main" id="{570114B4-812F-0FF0-B307-90C1105B8105}"/>
              </a:ext>
            </a:extLst>
          </p:cNvPr>
          <p:cNvSpPr txBox="1">
            <a:spLocks noChangeArrowheads="1"/>
          </p:cNvSpPr>
          <p:nvPr/>
        </p:nvSpPr>
        <p:spPr bwMode="auto">
          <a:xfrm>
            <a:off x="8467499" y="4508498"/>
            <a:ext cx="1584325" cy="329588"/>
          </a:xfrm>
          <a:prstGeom prst="rect">
            <a:avLst/>
          </a:prstGeom>
          <a:solidFill>
            <a:schemeClr val="tx1"/>
          </a:solidFill>
          <a:ln w="25400" cap="sq">
            <a:solidFill>
              <a:srgbClr val="000000"/>
            </a:solidFill>
            <a:miter lim="800000"/>
            <a:headEnd/>
            <a:tailEnd/>
          </a:ln>
        </p:spPr>
        <p:txBody>
          <a:bodyPr lIns="54000" tIns="10800" rIns="54000" bIns="10800">
            <a:spAutoFit/>
          </a:bodyPr>
          <a:lstStyle/>
          <a:p>
            <a:pPr algn="ctr"/>
            <a:r>
              <a:rPr lang="en-US" altLang="zh-CN" sz="2000" b="1" i="1">
                <a:solidFill>
                  <a:schemeClr val="bg1"/>
                </a:solidFill>
              </a:rPr>
              <a:t>Hostile</a:t>
            </a:r>
            <a:r>
              <a:rPr lang="en-US" altLang="zh-CN" sz="2000" b="1">
                <a:solidFill>
                  <a:schemeClr val="bg1"/>
                </a:solidFill>
              </a:rPr>
              <a:t>(</a:t>
            </a:r>
            <a:r>
              <a:rPr lang="en-US" altLang="zh-CN" sz="2000" b="1" i="1">
                <a:solidFill>
                  <a:schemeClr val="bg1"/>
                </a:solidFill>
              </a:rPr>
              <a:t>N</a:t>
            </a:r>
            <a:r>
              <a:rPr lang="en-US" altLang="zh-CN" sz="2000" b="1">
                <a:solidFill>
                  <a:schemeClr val="bg1"/>
                </a:solidFill>
              </a:rPr>
              <a:t>)</a:t>
            </a:r>
          </a:p>
        </p:txBody>
      </p:sp>
      <p:sp>
        <p:nvSpPr>
          <p:cNvPr id="14" name="Text Box 11">
            <a:extLst>
              <a:ext uri="{FF2B5EF4-FFF2-40B4-BE49-F238E27FC236}">
                <a16:creationId xmlns:a16="http://schemas.microsoft.com/office/drawing/2014/main" id="{D437DCA5-F8BB-244A-1064-638FA8E8894E}"/>
              </a:ext>
            </a:extLst>
          </p:cNvPr>
          <p:cNvSpPr txBox="1">
            <a:spLocks noChangeArrowheads="1"/>
          </p:cNvSpPr>
          <p:nvPr/>
        </p:nvSpPr>
        <p:spPr bwMode="auto">
          <a:xfrm>
            <a:off x="5586186" y="4500561"/>
            <a:ext cx="2316842" cy="329588"/>
          </a:xfrm>
          <a:prstGeom prst="rect">
            <a:avLst/>
          </a:prstGeom>
          <a:solidFill>
            <a:schemeClr val="tx1"/>
          </a:solidFill>
          <a:ln w="25400" cap="sq">
            <a:solidFill>
              <a:srgbClr val="000000"/>
            </a:solidFill>
            <a:miter lim="800000"/>
            <a:headEnd/>
            <a:tailEnd/>
          </a:ln>
        </p:spPr>
        <p:txBody>
          <a:bodyPr wrap="square" lIns="54000" tIns="10800" rIns="54000" bIns="10800">
            <a:spAutoFit/>
          </a:bodyPr>
          <a:lstStyle/>
          <a:p>
            <a:pPr algn="ctr"/>
            <a:r>
              <a:rPr lang="en-US" altLang="zh-CN" sz="2000" b="1" i="1" dirty="0">
                <a:solidFill>
                  <a:schemeClr val="bg1"/>
                </a:solidFill>
              </a:rPr>
              <a:t>Sells</a:t>
            </a:r>
            <a:r>
              <a:rPr lang="en-US" altLang="zh-CN" sz="2000" b="1" dirty="0">
                <a:solidFill>
                  <a:schemeClr val="bg1"/>
                </a:solidFill>
              </a:rPr>
              <a:t>(</a:t>
            </a:r>
            <a:r>
              <a:rPr lang="en-US" altLang="zh-CN" sz="2000" b="1" i="1" dirty="0">
                <a:solidFill>
                  <a:schemeClr val="bg1"/>
                </a:solidFill>
              </a:rPr>
              <a:t>West,M1,N</a:t>
            </a:r>
            <a:r>
              <a:rPr lang="en-US" altLang="zh-CN" sz="2000" b="1" dirty="0">
                <a:solidFill>
                  <a:schemeClr val="bg1"/>
                </a:solidFill>
              </a:rPr>
              <a:t>)</a:t>
            </a:r>
          </a:p>
        </p:txBody>
      </p:sp>
      <p:sp>
        <p:nvSpPr>
          <p:cNvPr id="15" name="Text Box 12">
            <a:extLst>
              <a:ext uri="{FF2B5EF4-FFF2-40B4-BE49-F238E27FC236}">
                <a16:creationId xmlns:a16="http://schemas.microsoft.com/office/drawing/2014/main" id="{7FB5450C-3A2C-8016-DF5B-22C22B3BEE2C}"/>
              </a:ext>
            </a:extLst>
          </p:cNvPr>
          <p:cNvSpPr txBox="1">
            <a:spLocks noChangeArrowheads="1"/>
          </p:cNvSpPr>
          <p:nvPr/>
        </p:nvSpPr>
        <p:spPr bwMode="auto">
          <a:xfrm>
            <a:off x="5946775" y="5915024"/>
            <a:ext cx="1820182" cy="329588"/>
          </a:xfrm>
          <a:prstGeom prst="rect">
            <a:avLst/>
          </a:prstGeom>
          <a:solidFill>
            <a:schemeClr val="tx1"/>
          </a:solidFill>
          <a:ln w="25400" cap="sq">
            <a:solidFill>
              <a:srgbClr val="000000"/>
            </a:solidFill>
            <a:miter lim="800000"/>
            <a:headEnd/>
            <a:tailEnd/>
          </a:ln>
        </p:spPr>
        <p:txBody>
          <a:bodyPr wrap="square" lIns="54000" tIns="10800" rIns="54000" bIns="10800">
            <a:spAutoFit/>
          </a:bodyPr>
          <a:lstStyle/>
          <a:p>
            <a:pPr algn="ctr"/>
            <a:r>
              <a:rPr lang="en-US" altLang="zh-CN" sz="2000" b="1" i="1" dirty="0">
                <a:solidFill>
                  <a:schemeClr val="bg1"/>
                </a:solidFill>
              </a:rPr>
              <a:t>Owns(N,M1)</a:t>
            </a:r>
          </a:p>
        </p:txBody>
      </p:sp>
      <p:sp>
        <p:nvSpPr>
          <p:cNvPr id="16" name="矩形: 圆角 15">
            <a:extLst>
              <a:ext uri="{FF2B5EF4-FFF2-40B4-BE49-F238E27FC236}">
                <a16:creationId xmlns:a16="http://schemas.microsoft.com/office/drawing/2014/main" id="{BACF4522-734F-2BA3-968F-A206B1D4757B}"/>
              </a:ext>
            </a:extLst>
          </p:cNvPr>
          <p:cNvSpPr/>
          <p:nvPr/>
        </p:nvSpPr>
        <p:spPr>
          <a:xfrm>
            <a:off x="5452427" y="4377864"/>
            <a:ext cx="2654709" cy="509654"/>
          </a:xfrm>
          <a:custGeom>
            <a:avLst/>
            <a:gdLst>
              <a:gd name="connsiteX0" fmla="*/ 0 w 2654709"/>
              <a:gd name="connsiteY0" fmla="*/ 84944 h 509654"/>
              <a:gd name="connsiteX1" fmla="*/ 84944 w 2654709"/>
              <a:gd name="connsiteY1" fmla="*/ 0 h 509654"/>
              <a:gd name="connsiteX2" fmla="*/ 2569765 w 2654709"/>
              <a:gd name="connsiteY2" fmla="*/ 0 h 509654"/>
              <a:gd name="connsiteX3" fmla="*/ 2654709 w 2654709"/>
              <a:gd name="connsiteY3" fmla="*/ 84944 h 509654"/>
              <a:gd name="connsiteX4" fmla="*/ 2654709 w 2654709"/>
              <a:gd name="connsiteY4" fmla="*/ 424710 h 509654"/>
              <a:gd name="connsiteX5" fmla="*/ 2569765 w 2654709"/>
              <a:gd name="connsiteY5" fmla="*/ 509654 h 509654"/>
              <a:gd name="connsiteX6" fmla="*/ 84944 w 2654709"/>
              <a:gd name="connsiteY6" fmla="*/ 509654 h 509654"/>
              <a:gd name="connsiteX7" fmla="*/ 0 w 2654709"/>
              <a:gd name="connsiteY7" fmla="*/ 424710 h 509654"/>
              <a:gd name="connsiteX8" fmla="*/ 0 w 2654709"/>
              <a:gd name="connsiteY8" fmla="*/ 84944 h 50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4709" h="509654" extrusionOk="0">
                <a:moveTo>
                  <a:pt x="0" y="84944"/>
                </a:moveTo>
                <a:cubicBezTo>
                  <a:pt x="787" y="39619"/>
                  <a:pt x="34351" y="137"/>
                  <a:pt x="84944" y="0"/>
                </a:cubicBezTo>
                <a:cubicBezTo>
                  <a:pt x="944268" y="112148"/>
                  <a:pt x="2035095" y="116257"/>
                  <a:pt x="2569765" y="0"/>
                </a:cubicBezTo>
                <a:cubicBezTo>
                  <a:pt x="2618098" y="1507"/>
                  <a:pt x="2650734" y="34118"/>
                  <a:pt x="2654709" y="84944"/>
                </a:cubicBezTo>
                <a:cubicBezTo>
                  <a:pt x="2665935" y="226599"/>
                  <a:pt x="2629266" y="261930"/>
                  <a:pt x="2654709" y="424710"/>
                </a:cubicBezTo>
                <a:cubicBezTo>
                  <a:pt x="2658239" y="476082"/>
                  <a:pt x="2618824" y="504906"/>
                  <a:pt x="2569765" y="509654"/>
                </a:cubicBezTo>
                <a:cubicBezTo>
                  <a:pt x="1727603" y="541272"/>
                  <a:pt x="1012632" y="585133"/>
                  <a:pt x="84944" y="509654"/>
                </a:cubicBezTo>
                <a:cubicBezTo>
                  <a:pt x="38339" y="507659"/>
                  <a:pt x="-2495" y="480359"/>
                  <a:pt x="0" y="424710"/>
                </a:cubicBezTo>
                <a:cubicBezTo>
                  <a:pt x="-5652" y="324846"/>
                  <a:pt x="26862" y="145523"/>
                  <a:pt x="0" y="84944"/>
                </a:cubicBezTo>
                <a:close/>
              </a:path>
            </a:pathLst>
          </a:custGeom>
          <a:noFill/>
          <a:ln w="38100">
            <a:solidFill>
              <a:srgbClr val="FF0000"/>
            </a:solidFill>
            <a:prstDash val="sysDash"/>
            <a:extLst>
              <a:ext uri="{C807C97D-BFC1-408E-A445-0C87EB9F89A2}">
                <ask:lineSketchStyleProps xmlns:ask="http://schemas.microsoft.com/office/drawing/2018/sketchyshapes" sd="2026636766">
                  <a:prstGeom prst="round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31258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FBD6FA-6C76-745B-9A4C-1E401EFDC87B}"/>
              </a:ext>
            </a:extLst>
          </p:cNvPr>
          <p:cNvSpPr>
            <a:spLocks noGrp="1"/>
          </p:cNvSpPr>
          <p:nvPr>
            <p:ph type="title"/>
          </p:nvPr>
        </p:nvSpPr>
        <p:spPr/>
        <p:txBody>
          <a:bodyPr/>
          <a:lstStyle/>
          <a:p>
            <a:r>
              <a:rPr lang="en-US" altLang="zh-CN" dirty="0"/>
              <a:t>9.3 </a:t>
            </a:r>
            <a:r>
              <a:rPr lang="zh-CN" altLang="en-US" dirty="0"/>
              <a:t>前向链接</a:t>
            </a:r>
          </a:p>
        </p:txBody>
      </p:sp>
      <p:sp>
        <p:nvSpPr>
          <p:cNvPr id="3" name="内容占位符 2">
            <a:extLst>
              <a:ext uri="{FF2B5EF4-FFF2-40B4-BE49-F238E27FC236}">
                <a16:creationId xmlns:a16="http://schemas.microsoft.com/office/drawing/2014/main" id="{EE141366-761C-0EB8-0583-6BEBF94F479D}"/>
              </a:ext>
            </a:extLst>
          </p:cNvPr>
          <p:cNvSpPr>
            <a:spLocks noGrp="1"/>
          </p:cNvSpPr>
          <p:nvPr>
            <p:ph idx="1"/>
          </p:nvPr>
        </p:nvSpPr>
        <p:spPr/>
        <p:txBody>
          <a:bodyPr>
            <a:normAutofit/>
          </a:bodyPr>
          <a:lstStyle/>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KB</a:t>
            </a:r>
            <a:r>
              <a:rPr lang="zh-CN" altLang="en-US" kern="0" dirty="0">
                <a:solidFill>
                  <a:srgbClr val="FFCC99"/>
                </a:solidFill>
                <a:latin typeface="Aa花间辞楷书 (非商业使用)" panose="02010600010101010101" pitchFamily="2" charset="-122"/>
                <a:ea typeface="Aa花间辞楷书 (非商业使用)" panose="02010600010101010101" pitchFamily="2" charset="-122"/>
              </a:rPr>
              <a:t>如下：</a:t>
            </a:r>
            <a:endParaRPr lang="en-US" altLang="zh-CN" kern="0" dirty="0">
              <a:solidFill>
                <a:srgbClr val="FFCC99"/>
              </a:solidFill>
              <a:latin typeface="Aa花间辞楷书 (非商业使用)" panose="02010600010101010101" pitchFamily="2" charset="-122"/>
              <a:ea typeface="Aa花间辞楷书 (非商业使用)" panose="02010600010101010101" pitchFamily="2" charset="-122"/>
            </a:endParaRP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1）Owns(Nono, 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2）Missile(M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3）American(West)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4）Enemy(Nono, America)</a:t>
            </a:r>
          </a:p>
          <a:p>
            <a:pPr marL="0" indent="0" eaLnBrk="0" hangingPunct="0">
              <a:lnSpc>
                <a:spcPct val="120000"/>
              </a:lnSpc>
              <a:spcBef>
                <a:spcPct val="20000"/>
              </a:spcBef>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5）Missile(x)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Weapon(x)</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6）Missile(x)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Owns(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Nono,x</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West,x,Nono</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7）Enemy(x, America)</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 Hostile(x)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8）American(x)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Weapon(y)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x,y,z</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Hostile(z)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Criminal(x)</a:t>
            </a:r>
          </a:p>
        </p:txBody>
      </p:sp>
      <p:pic>
        <p:nvPicPr>
          <p:cNvPr id="10" name="Picture 7">
            <a:extLst>
              <a:ext uri="{FF2B5EF4-FFF2-40B4-BE49-F238E27FC236}">
                <a16:creationId xmlns:a16="http://schemas.microsoft.com/office/drawing/2014/main" id="{FAFB1E32-88ED-1046-13BC-64D0823DA3D8}"/>
              </a:ext>
            </a:extLst>
          </p:cNvPr>
          <p:cNvPicPr>
            <a:picLocks noChangeAspect="1" noChangeArrowheads="1"/>
          </p:cNvPicPr>
          <p:nvPr/>
        </p:nvPicPr>
        <p:blipFill>
          <a:blip r:embed="rId2"/>
          <a:srcRect/>
          <a:stretch>
            <a:fillRect/>
          </a:stretch>
        </p:blipFill>
        <p:spPr bwMode="auto">
          <a:xfrm>
            <a:off x="3687536" y="966378"/>
            <a:ext cx="8248650" cy="1819275"/>
          </a:xfrm>
          <a:prstGeom prst="rect">
            <a:avLst/>
          </a:prstGeom>
          <a:noFill/>
          <a:ln w="12700" cap="sq">
            <a:noFill/>
            <a:miter lim="800000"/>
            <a:headEnd/>
            <a:tailEnd/>
          </a:ln>
        </p:spPr>
      </p:pic>
      <p:sp>
        <p:nvSpPr>
          <p:cNvPr id="11" name="Text Box 8">
            <a:extLst>
              <a:ext uri="{FF2B5EF4-FFF2-40B4-BE49-F238E27FC236}">
                <a16:creationId xmlns:a16="http://schemas.microsoft.com/office/drawing/2014/main" id="{1675EEF6-8722-9B9C-CD35-8BB7A209FED8}"/>
              </a:ext>
            </a:extLst>
          </p:cNvPr>
          <p:cNvSpPr txBox="1">
            <a:spLocks noChangeArrowheads="1"/>
          </p:cNvSpPr>
          <p:nvPr/>
        </p:nvSpPr>
        <p:spPr bwMode="auto">
          <a:xfrm>
            <a:off x="3706586" y="2414178"/>
            <a:ext cx="1531938" cy="329588"/>
          </a:xfrm>
          <a:prstGeom prst="rect">
            <a:avLst/>
          </a:prstGeom>
          <a:solidFill>
            <a:schemeClr val="tx1"/>
          </a:solidFill>
          <a:ln w="25400" cap="sq">
            <a:solidFill>
              <a:srgbClr val="000000"/>
            </a:solidFill>
            <a:miter lim="800000"/>
            <a:headEnd/>
            <a:tailEnd/>
          </a:ln>
        </p:spPr>
        <p:txBody>
          <a:bodyPr lIns="54000" tIns="10800" rIns="54000" bIns="10800">
            <a:spAutoFit/>
          </a:bodyPr>
          <a:lstStyle/>
          <a:p>
            <a:pPr algn="ctr"/>
            <a:r>
              <a:rPr lang="en-US" altLang="zh-CN" sz="2000" b="1" i="1">
                <a:solidFill>
                  <a:schemeClr val="bg1"/>
                </a:solidFill>
              </a:rPr>
              <a:t>A(West)</a:t>
            </a:r>
          </a:p>
        </p:txBody>
      </p:sp>
      <p:sp>
        <p:nvSpPr>
          <p:cNvPr id="12" name="Text Box 9">
            <a:extLst>
              <a:ext uri="{FF2B5EF4-FFF2-40B4-BE49-F238E27FC236}">
                <a16:creationId xmlns:a16="http://schemas.microsoft.com/office/drawing/2014/main" id="{E0C85019-4010-3C1C-3888-D7E465B40E69}"/>
              </a:ext>
            </a:extLst>
          </p:cNvPr>
          <p:cNvSpPr txBox="1">
            <a:spLocks noChangeArrowheads="1"/>
          </p:cNvSpPr>
          <p:nvPr/>
        </p:nvSpPr>
        <p:spPr bwMode="auto">
          <a:xfrm>
            <a:off x="9775598" y="2414178"/>
            <a:ext cx="2160587" cy="329588"/>
          </a:xfrm>
          <a:prstGeom prst="rect">
            <a:avLst/>
          </a:prstGeom>
          <a:solidFill>
            <a:schemeClr val="tx1"/>
          </a:solidFill>
          <a:ln w="25400" cap="sq">
            <a:solidFill>
              <a:srgbClr val="000000"/>
            </a:solidFill>
            <a:miter lim="800000"/>
            <a:headEnd/>
            <a:tailEnd/>
          </a:ln>
        </p:spPr>
        <p:txBody>
          <a:bodyPr wrap="square" lIns="54000" tIns="10800" rIns="54000" bIns="10800">
            <a:spAutoFit/>
          </a:bodyPr>
          <a:lstStyle/>
          <a:p>
            <a:pPr algn="ctr"/>
            <a:r>
              <a:rPr lang="en-US" altLang="zh-CN" sz="2000" b="1" i="1" dirty="0">
                <a:solidFill>
                  <a:schemeClr val="bg1"/>
                </a:solidFill>
              </a:rPr>
              <a:t>Enemy</a:t>
            </a:r>
            <a:r>
              <a:rPr lang="en-US" altLang="zh-CN" sz="2000" b="1" dirty="0">
                <a:solidFill>
                  <a:schemeClr val="bg1"/>
                </a:solidFill>
              </a:rPr>
              <a:t>(</a:t>
            </a:r>
            <a:r>
              <a:rPr lang="en-US" altLang="zh-CN" sz="2000" b="1" i="1" dirty="0">
                <a:solidFill>
                  <a:schemeClr val="bg1"/>
                </a:solidFill>
              </a:rPr>
              <a:t>N</a:t>
            </a:r>
            <a:r>
              <a:rPr lang="en-US" altLang="zh-CN" sz="2000" b="1" dirty="0">
                <a:solidFill>
                  <a:schemeClr val="bg1"/>
                </a:solidFill>
              </a:rPr>
              <a:t>,</a:t>
            </a:r>
            <a:r>
              <a:rPr lang="en-US" altLang="zh-CN" sz="2000" b="1" i="1" dirty="0">
                <a:solidFill>
                  <a:schemeClr val="bg1"/>
                </a:solidFill>
              </a:rPr>
              <a:t>A</a:t>
            </a:r>
            <a:r>
              <a:rPr lang="en-US" altLang="zh-CN" sz="2000" b="1" dirty="0">
                <a:solidFill>
                  <a:schemeClr val="bg1"/>
                </a:solidFill>
              </a:rPr>
              <a:t>)</a:t>
            </a:r>
          </a:p>
        </p:txBody>
      </p:sp>
      <p:sp>
        <p:nvSpPr>
          <p:cNvPr id="13" name="Text Box 10">
            <a:extLst>
              <a:ext uri="{FF2B5EF4-FFF2-40B4-BE49-F238E27FC236}">
                <a16:creationId xmlns:a16="http://schemas.microsoft.com/office/drawing/2014/main" id="{570114B4-812F-0FF0-B307-90C1105B8105}"/>
              </a:ext>
            </a:extLst>
          </p:cNvPr>
          <p:cNvSpPr txBox="1">
            <a:spLocks noChangeArrowheads="1"/>
          </p:cNvSpPr>
          <p:nvPr/>
        </p:nvSpPr>
        <p:spPr bwMode="auto">
          <a:xfrm>
            <a:off x="9991499" y="1007652"/>
            <a:ext cx="1584325" cy="329588"/>
          </a:xfrm>
          <a:prstGeom prst="rect">
            <a:avLst/>
          </a:prstGeom>
          <a:solidFill>
            <a:schemeClr val="tx1"/>
          </a:solidFill>
          <a:ln w="25400" cap="sq">
            <a:solidFill>
              <a:srgbClr val="000000"/>
            </a:solidFill>
            <a:miter lim="800000"/>
            <a:headEnd/>
            <a:tailEnd/>
          </a:ln>
        </p:spPr>
        <p:txBody>
          <a:bodyPr lIns="54000" tIns="10800" rIns="54000" bIns="10800">
            <a:spAutoFit/>
          </a:bodyPr>
          <a:lstStyle/>
          <a:p>
            <a:pPr algn="ctr"/>
            <a:r>
              <a:rPr lang="en-US" altLang="zh-CN" sz="2000" b="1" i="1">
                <a:solidFill>
                  <a:schemeClr val="bg1"/>
                </a:solidFill>
              </a:rPr>
              <a:t>Hostile</a:t>
            </a:r>
            <a:r>
              <a:rPr lang="en-US" altLang="zh-CN" sz="2000" b="1">
                <a:solidFill>
                  <a:schemeClr val="bg1"/>
                </a:solidFill>
              </a:rPr>
              <a:t>(</a:t>
            </a:r>
            <a:r>
              <a:rPr lang="en-US" altLang="zh-CN" sz="2000" b="1" i="1">
                <a:solidFill>
                  <a:schemeClr val="bg1"/>
                </a:solidFill>
              </a:rPr>
              <a:t>N</a:t>
            </a:r>
            <a:r>
              <a:rPr lang="en-US" altLang="zh-CN" sz="2000" b="1">
                <a:solidFill>
                  <a:schemeClr val="bg1"/>
                </a:solidFill>
              </a:rPr>
              <a:t>)</a:t>
            </a:r>
          </a:p>
        </p:txBody>
      </p:sp>
      <p:sp>
        <p:nvSpPr>
          <p:cNvPr id="14" name="Text Box 11">
            <a:extLst>
              <a:ext uri="{FF2B5EF4-FFF2-40B4-BE49-F238E27FC236}">
                <a16:creationId xmlns:a16="http://schemas.microsoft.com/office/drawing/2014/main" id="{D437DCA5-F8BB-244A-1064-638FA8E8894E}"/>
              </a:ext>
            </a:extLst>
          </p:cNvPr>
          <p:cNvSpPr txBox="1">
            <a:spLocks noChangeArrowheads="1"/>
          </p:cNvSpPr>
          <p:nvPr/>
        </p:nvSpPr>
        <p:spPr bwMode="auto">
          <a:xfrm>
            <a:off x="7110186" y="999715"/>
            <a:ext cx="2316842" cy="329588"/>
          </a:xfrm>
          <a:prstGeom prst="rect">
            <a:avLst/>
          </a:prstGeom>
          <a:solidFill>
            <a:schemeClr val="tx1"/>
          </a:solidFill>
          <a:ln w="25400" cap="sq">
            <a:solidFill>
              <a:srgbClr val="000000"/>
            </a:solidFill>
            <a:miter lim="800000"/>
            <a:headEnd/>
            <a:tailEnd/>
          </a:ln>
        </p:spPr>
        <p:txBody>
          <a:bodyPr wrap="square" lIns="54000" tIns="10800" rIns="54000" bIns="10800">
            <a:spAutoFit/>
          </a:bodyPr>
          <a:lstStyle/>
          <a:p>
            <a:pPr algn="ctr"/>
            <a:r>
              <a:rPr lang="en-US" altLang="zh-CN" sz="2000" b="1" i="1" dirty="0">
                <a:solidFill>
                  <a:schemeClr val="bg1"/>
                </a:solidFill>
              </a:rPr>
              <a:t>Sells</a:t>
            </a:r>
            <a:r>
              <a:rPr lang="en-US" altLang="zh-CN" sz="2000" b="1" dirty="0">
                <a:solidFill>
                  <a:schemeClr val="bg1"/>
                </a:solidFill>
              </a:rPr>
              <a:t>(</a:t>
            </a:r>
            <a:r>
              <a:rPr lang="en-US" altLang="zh-CN" sz="2000" b="1" i="1" dirty="0">
                <a:solidFill>
                  <a:schemeClr val="bg1"/>
                </a:solidFill>
              </a:rPr>
              <a:t>West,M1,N</a:t>
            </a:r>
            <a:r>
              <a:rPr lang="en-US" altLang="zh-CN" sz="2000" b="1" dirty="0">
                <a:solidFill>
                  <a:schemeClr val="bg1"/>
                </a:solidFill>
              </a:rPr>
              <a:t>)</a:t>
            </a:r>
          </a:p>
        </p:txBody>
      </p:sp>
      <p:sp>
        <p:nvSpPr>
          <p:cNvPr id="15" name="Text Box 12">
            <a:extLst>
              <a:ext uri="{FF2B5EF4-FFF2-40B4-BE49-F238E27FC236}">
                <a16:creationId xmlns:a16="http://schemas.microsoft.com/office/drawing/2014/main" id="{7FB5450C-3A2C-8016-DF5B-22C22B3BEE2C}"/>
              </a:ext>
            </a:extLst>
          </p:cNvPr>
          <p:cNvSpPr txBox="1">
            <a:spLocks noChangeArrowheads="1"/>
          </p:cNvSpPr>
          <p:nvPr/>
        </p:nvSpPr>
        <p:spPr bwMode="auto">
          <a:xfrm>
            <a:off x="7470775" y="2414178"/>
            <a:ext cx="1820182" cy="329588"/>
          </a:xfrm>
          <a:prstGeom prst="rect">
            <a:avLst/>
          </a:prstGeom>
          <a:solidFill>
            <a:schemeClr val="tx1"/>
          </a:solidFill>
          <a:ln w="25400" cap="sq">
            <a:solidFill>
              <a:srgbClr val="000000"/>
            </a:solidFill>
            <a:miter lim="800000"/>
            <a:headEnd/>
            <a:tailEnd/>
          </a:ln>
        </p:spPr>
        <p:txBody>
          <a:bodyPr wrap="square" lIns="54000" tIns="10800" rIns="54000" bIns="10800">
            <a:spAutoFit/>
          </a:bodyPr>
          <a:lstStyle/>
          <a:p>
            <a:pPr algn="ctr"/>
            <a:r>
              <a:rPr lang="en-US" altLang="zh-CN" sz="2000" b="1" i="1" dirty="0">
                <a:solidFill>
                  <a:schemeClr val="bg1"/>
                </a:solidFill>
              </a:rPr>
              <a:t>Owns(N,M1)</a:t>
            </a:r>
          </a:p>
        </p:txBody>
      </p:sp>
      <p:sp>
        <p:nvSpPr>
          <p:cNvPr id="16" name="矩形: 圆角 15">
            <a:extLst>
              <a:ext uri="{FF2B5EF4-FFF2-40B4-BE49-F238E27FC236}">
                <a16:creationId xmlns:a16="http://schemas.microsoft.com/office/drawing/2014/main" id="{BACF4522-734F-2BA3-968F-A206B1D4757B}"/>
              </a:ext>
            </a:extLst>
          </p:cNvPr>
          <p:cNvSpPr/>
          <p:nvPr/>
        </p:nvSpPr>
        <p:spPr>
          <a:xfrm>
            <a:off x="9775598" y="807720"/>
            <a:ext cx="1999634" cy="2222863"/>
          </a:xfrm>
          <a:custGeom>
            <a:avLst/>
            <a:gdLst>
              <a:gd name="connsiteX0" fmla="*/ 0 w 1999634"/>
              <a:gd name="connsiteY0" fmla="*/ 333279 h 2222863"/>
              <a:gd name="connsiteX1" fmla="*/ 333279 w 1999634"/>
              <a:gd name="connsiteY1" fmla="*/ 0 h 2222863"/>
              <a:gd name="connsiteX2" fmla="*/ 1666355 w 1999634"/>
              <a:gd name="connsiteY2" fmla="*/ 0 h 2222863"/>
              <a:gd name="connsiteX3" fmla="*/ 1999634 w 1999634"/>
              <a:gd name="connsiteY3" fmla="*/ 333279 h 2222863"/>
              <a:gd name="connsiteX4" fmla="*/ 1999634 w 1999634"/>
              <a:gd name="connsiteY4" fmla="*/ 1889584 h 2222863"/>
              <a:gd name="connsiteX5" fmla="*/ 1666355 w 1999634"/>
              <a:gd name="connsiteY5" fmla="*/ 2222863 h 2222863"/>
              <a:gd name="connsiteX6" fmla="*/ 333279 w 1999634"/>
              <a:gd name="connsiteY6" fmla="*/ 2222863 h 2222863"/>
              <a:gd name="connsiteX7" fmla="*/ 0 w 1999634"/>
              <a:gd name="connsiteY7" fmla="*/ 1889584 h 2222863"/>
              <a:gd name="connsiteX8" fmla="*/ 0 w 1999634"/>
              <a:gd name="connsiteY8" fmla="*/ 333279 h 222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9634" h="2222863" extrusionOk="0">
                <a:moveTo>
                  <a:pt x="0" y="333279"/>
                </a:moveTo>
                <a:cubicBezTo>
                  <a:pt x="6200" y="161721"/>
                  <a:pt x="134947" y="532"/>
                  <a:pt x="333279" y="0"/>
                </a:cubicBezTo>
                <a:cubicBezTo>
                  <a:pt x="638602" y="-116085"/>
                  <a:pt x="1303102" y="117633"/>
                  <a:pt x="1666355" y="0"/>
                </a:cubicBezTo>
                <a:cubicBezTo>
                  <a:pt x="1858795" y="8890"/>
                  <a:pt x="1977252" y="127181"/>
                  <a:pt x="1999634" y="333279"/>
                </a:cubicBezTo>
                <a:cubicBezTo>
                  <a:pt x="1938776" y="1080292"/>
                  <a:pt x="1864721" y="1457374"/>
                  <a:pt x="1999634" y="1889584"/>
                </a:cubicBezTo>
                <a:cubicBezTo>
                  <a:pt x="2005549" y="2081120"/>
                  <a:pt x="1857391" y="2207441"/>
                  <a:pt x="1666355" y="2222863"/>
                </a:cubicBezTo>
                <a:cubicBezTo>
                  <a:pt x="1094237" y="2156847"/>
                  <a:pt x="784843" y="2282170"/>
                  <a:pt x="333279" y="2222863"/>
                </a:cubicBezTo>
                <a:cubicBezTo>
                  <a:pt x="153215" y="2196932"/>
                  <a:pt x="-6928" y="2097905"/>
                  <a:pt x="0" y="1889584"/>
                </a:cubicBezTo>
                <a:cubicBezTo>
                  <a:pt x="53165" y="1354240"/>
                  <a:pt x="77128" y="1011556"/>
                  <a:pt x="0" y="333279"/>
                </a:cubicBezTo>
                <a:close/>
              </a:path>
            </a:pathLst>
          </a:custGeom>
          <a:noFill/>
          <a:ln w="38100">
            <a:solidFill>
              <a:srgbClr val="FF0000"/>
            </a:solidFill>
            <a:prstDash val="sysDash"/>
            <a:extLst>
              <a:ext uri="{C807C97D-BFC1-408E-A445-0C87EB9F89A2}">
                <ask:lineSketchStyleProps xmlns:ask="http://schemas.microsoft.com/office/drawing/2018/sketchyshapes" sd="2026636766">
                  <a:prstGeom prst="round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5C056105-4678-27F3-BB55-7689B4822150}"/>
              </a:ext>
            </a:extLst>
          </p:cNvPr>
          <p:cNvSpPr/>
          <p:nvPr/>
        </p:nvSpPr>
        <p:spPr>
          <a:xfrm>
            <a:off x="4316769" y="5601502"/>
            <a:ext cx="3664205" cy="572464"/>
          </a:xfrm>
          <a:prstGeom prst="rect">
            <a:avLst/>
          </a:prstGeom>
        </p:spPr>
        <p:txBody>
          <a:bodyPr wrap="square">
            <a:spAutoFit/>
          </a:bodyPr>
          <a:lstStyle/>
          <a:p>
            <a:pPr marL="342900" lvl="0" indent="-342900" eaLnBrk="0" hangingPunct="0">
              <a:lnSpc>
                <a:spcPct val="120000"/>
              </a:lnSpc>
              <a:spcBef>
                <a:spcPct val="20000"/>
              </a:spcBef>
              <a:defRPr/>
            </a:pPr>
            <a:r>
              <a:rPr lang="el-GR" altLang="zh-CN" sz="2800" kern="0" dirty="0">
                <a:solidFill>
                  <a:srgbClr val="FF0000"/>
                </a:solidFill>
                <a:latin typeface="香萃等粗宋" panose="02020700000000000000" pitchFamily="18" charset="-122"/>
                <a:ea typeface="香萃等粗宋" panose="02020700000000000000" pitchFamily="18" charset="-122"/>
                <a:cs typeface="Calibri" panose="020F0502020204030204" pitchFamily="34" charset="0"/>
              </a:rPr>
              <a:t>α</a:t>
            </a:r>
            <a:r>
              <a:rPr lang="en-US" altLang="zh-CN" sz="2800" kern="0" dirty="0">
                <a:solidFill>
                  <a:srgbClr val="FF0000"/>
                </a:solidFill>
                <a:latin typeface="香萃等粗宋" panose="02020700000000000000" pitchFamily="18" charset="-122"/>
                <a:ea typeface="香萃等粗宋" panose="02020700000000000000" pitchFamily="18" charset="-122"/>
                <a:cs typeface="Calibri" panose="020F0502020204030204" pitchFamily="34" charset="0"/>
              </a:rPr>
              <a:t> = Criminal(West)</a:t>
            </a:r>
          </a:p>
        </p:txBody>
      </p:sp>
    </p:spTree>
    <p:extLst>
      <p:ext uri="{BB962C8B-B14F-4D97-AF65-F5344CB8AC3E}">
        <p14:creationId xmlns:p14="http://schemas.microsoft.com/office/powerpoint/2010/main" val="2400927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FBD6FA-6C76-745B-9A4C-1E401EFDC87B}"/>
              </a:ext>
            </a:extLst>
          </p:cNvPr>
          <p:cNvSpPr>
            <a:spLocks noGrp="1"/>
          </p:cNvSpPr>
          <p:nvPr>
            <p:ph type="title"/>
          </p:nvPr>
        </p:nvSpPr>
        <p:spPr/>
        <p:txBody>
          <a:bodyPr/>
          <a:lstStyle/>
          <a:p>
            <a:r>
              <a:rPr lang="en-US" altLang="zh-CN" dirty="0"/>
              <a:t>9.3 </a:t>
            </a:r>
            <a:r>
              <a:rPr lang="zh-CN" altLang="en-US" dirty="0"/>
              <a:t>前向链接</a:t>
            </a:r>
          </a:p>
        </p:txBody>
      </p:sp>
      <p:sp>
        <p:nvSpPr>
          <p:cNvPr id="3" name="内容占位符 2">
            <a:extLst>
              <a:ext uri="{FF2B5EF4-FFF2-40B4-BE49-F238E27FC236}">
                <a16:creationId xmlns:a16="http://schemas.microsoft.com/office/drawing/2014/main" id="{EE141366-761C-0EB8-0583-6BEBF94F479D}"/>
              </a:ext>
            </a:extLst>
          </p:cNvPr>
          <p:cNvSpPr>
            <a:spLocks noGrp="1"/>
          </p:cNvSpPr>
          <p:nvPr>
            <p:ph idx="1"/>
          </p:nvPr>
        </p:nvSpPr>
        <p:spPr/>
        <p:txBody>
          <a:bodyPr>
            <a:normAutofit/>
          </a:bodyPr>
          <a:lstStyle/>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KB</a:t>
            </a:r>
            <a:r>
              <a:rPr lang="zh-CN" altLang="en-US" kern="0" dirty="0">
                <a:solidFill>
                  <a:srgbClr val="FFCC99"/>
                </a:solidFill>
                <a:latin typeface="Aa花间辞楷书 (非商业使用)" panose="02010600010101010101" pitchFamily="2" charset="-122"/>
                <a:ea typeface="Aa花间辞楷书 (非商业使用)" panose="02010600010101010101" pitchFamily="2" charset="-122"/>
              </a:rPr>
              <a:t>如下：</a:t>
            </a:r>
            <a:endParaRPr lang="en-US" altLang="zh-CN" kern="0" dirty="0">
              <a:solidFill>
                <a:srgbClr val="FFCC99"/>
              </a:solidFill>
              <a:latin typeface="Aa花间辞楷书 (非商业使用)" panose="02010600010101010101" pitchFamily="2" charset="-122"/>
              <a:ea typeface="Aa花间辞楷书 (非商业使用)" panose="02010600010101010101" pitchFamily="2" charset="-122"/>
            </a:endParaRP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1）Owns(Nono, 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2）Missile(M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3）American(West)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4）Enemy(Nono, America)</a:t>
            </a:r>
          </a:p>
          <a:p>
            <a:pPr marL="0" indent="0" eaLnBrk="0" hangingPunct="0">
              <a:lnSpc>
                <a:spcPct val="120000"/>
              </a:lnSpc>
              <a:spcBef>
                <a:spcPct val="20000"/>
              </a:spcBef>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5）Missile(x)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Weapon(x)</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6）Missile(x)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Owns(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Nono,x</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West,x,Nono</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7）Enemy(x, America)</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Hostile(x)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8）</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American(x) </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 Weapon(y) </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0000"/>
                </a:solidFill>
                <a:latin typeface="Aa花间辞楷书 (非商业使用)" panose="02010600010101010101" pitchFamily="2" charset="-122"/>
                <a:ea typeface="Aa花间辞楷书 (非商业使用)" panose="02010600010101010101" pitchFamily="2" charset="-122"/>
              </a:rPr>
              <a:t>x,y,z</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 Hostile(z) </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 Criminal(x)</a:t>
            </a:r>
          </a:p>
        </p:txBody>
      </p:sp>
      <p:pic>
        <p:nvPicPr>
          <p:cNvPr id="10" name="Picture 7">
            <a:extLst>
              <a:ext uri="{FF2B5EF4-FFF2-40B4-BE49-F238E27FC236}">
                <a16:creationId xmlns:a16="http://schemas.microsoft.com/office/drawing/2014/main" id="{FAFB1E32-88ED-1046-13BC-64D0823DA3D8}"/>
              </a:ext>
            </a:extLst>
          </p:cNvPr>
          <p:cNvPicPr>
            <a:picLocks noChangeAspect="1" noChangeArrowheads="1"/>
          </p:cNvPicPr>
          <p:nvPr/>
        </p:nvPicPr>
        <p:blipFill>
          <a:blip r:embed="rId2"/>
          <a:srcRect/>
          <a:stretch>
            <a:fillRect/>
          </a:stretch>
        </p:blipFill>
        <p:spPr bwMode="auto">
          <a:xfrm>
            <a:off x="3687536" y="966378"/>
            <a:ext cx="8248650" cy="1819275"/>
          </a:xfrm>
          <a:prstGeom prst="rect">
            <a:avLst/>
          </a:prstGeom>
          <a:noFill/>
          <a:ln w="12700" cap="sq">
            <a:noFill/>
            <a:miter lim="800000"/>
            <a:headEnd/>
            <a:tailEnd/>
          </a:ln>
        </p:spPr>
      </p:pic>
      <p:sp>
        <p:nvSpPr>
          <p:cNvPr id="11" name="Text Box 8">
            <a:extLst>
              <a:ext uri="{FF2B5EF4-FFF2-40B4-BE49-F238E27FC236}">
                <a16:creationId xmlns:a16="http://schemas.microsoft.com/office/drawing/2014/main" id="{1675EEF6-8722-9B9C-CD35-8BB7A209FED8}"/>
              </a:ext>
            </a:extLst>
          </p:cNvPr>
          <p:cNvSpPr txBox="1">
            <a:spLocks noChangeArrowheads="1"/>
          </p:cNvSpPr>
          <p:nvPr/>
        </p:nvSpPr>
        <p:spPr bwMode="auto">
          <a:xfrm>
            <a:off x="3706586" y="2414178"/>
            <a:ext cx="1531938" cy="329588"/>
          </a:xfrm>
          <a:prstGeom prst="rect">
            <a:avLst/>
          </a:prstGeom>
          <a:solidFill>
            <a:schemeClr val="tx1"/>
          </a:solidFill>
          <a:ln w="25400" cap="sq">
            <a:solidFill>
              <a:srgbClr val="000000"/>
            </a:solidFill>
            <a:miter lim="800000"/>
            <a:headEnd/>
            <a:tailEnd/>
          </a:ln>
        </p:spPr>
        <p:txBody>
          <a:bodyPr lIns="54000" tIns="10800" rIns="54000" bIns="10800">
            <a:spAutoFit/>
          </a:bodyPr>
          <a:lstStyle/>
          <a:p>
            <a:pPr algn="ctr"/>
            <a:r>
              <a:rPr lang="en-US" altLang="zh-CN" sz="2000" b="1" i="1">
                <a:solidFill>
                  <a:schemeClr val="bg1"/>
                </a:solidFill>
              </a:rPr>
              <a:t>A(West)</a:t>
            </a:r>
          </a:p>
        </p:txBody>
      </p:sp>
      <p:sp>
        <p:nvSpPr>
          <p:cNvPr id="12" name="Text Box 9">
            <a:extLst>
              <a:ext uri="{FF2B5EF4-FFF2-40B4-BE49-F238E27FC236}">
                <a16:creationId xmlns:a16="http://schemas.microsoft.com/office/drawing/2014/main" id="{E0C85019-4010-3C1C-3888-D7E465B40E69}"/>
              </a:ext>
            </a:extLst>
          </p:cNvPr>
          <p:cNvSpPr txBox="1">
            <a:spLocks noChangeArrowheads="1"/>
          </p:cNvSpPr>
          <p:nvPr/>
        </p:nvSpPr>
        <p:spPr bwMode="auto">
          <a:xfrm>
            <a:off x="9775598" y="2414178"/>
            <a:ext cx="2160587" cy="329588"/>
          </a:xfrm>
          <a:prstGeom prst="rect">
            <a:avLst/>
          </a:prstGeom>
          <a:solidFill>
            <a:schemeClr val="tx1"/>
          </a:solidFill>
          <a:ln w="25400" cap="sq">
            <a:solidFill>
              <a:srgbClr val="000000"/>
            </a:solidFill>
            <a:miter lim="800000"/>
            <a:headEnd/>
            <a:tailEnd/>
          </a:ln>
        </p:spPr>
        <p:txBody>
          <a:bodyPr wrap="square" lIns="54000" tIns="10800" rIns="54000" bIns="10800">
            <a:spAutoFit/>
          </a:bodyPr>
          <a:lstStyle/>
          <a:p>
            <a:pPr algn="ctr"/>
            <a:r>
              <a:rPr lang="en-US" altLang="zh-CN" sz="2000" b="1" i="1" dirty="0">
                <a:solidFill>
                  <a:schemeClr val="bg1"/>
                </a:solidFill>
              </a:rPr>
              <a:t>Enemy</a:t>
            </a:r>
            <a:r>
              <a:rPr lang="en-US" altLang="zh-CN" sz="2000" b="1" dirty="0">
                <a:solidFill>
                  <a:schemeClr val="bg1"/>
                </a:solidFill>
              </a:rPr>
              <a:t>(</a:t>
            </a:r>
            <a:r>
              <a:rPr lang="en-US" altLang="zh-CN" sz="2000" b="1" i="1" dirty="0">
                <a:solidFill>
                  <a:schemeClr val="bg1"/>
                </a:solidFill>
              </a:rPr>
              <a:t>N</a:t>
            </a:r>
            <a:r>
              <a:rPr lang="en-US" altLang="zh-CN" sz="2000" b="1" dirty="0">
                <a:solidFill>
                  <a:schemeClr val="bg1"/>
                </a:solidFill>
              </a:rPr>
              <a:t>,</a:t>
            </a:r>
            <a:r>
              <a:rPr lang="en-US" altLang="zh-CN" sz="2000" b="1" i="1" dirty="0">
                <a:solidFill>
                  <a:schemeClr val="bg1"/>
                </a:solidFill>
              </a:rPr>
              <a:t>A</a:t>
            </a:r>
            <a:r>
              <a:rPr lang="en-US" altLang="zh-CN" sz="2000" b="1" dirty="0">
                <a:solidFill>
                  <a:schemeClr val="bg1"/>
                </a:solidFill>
              </a:rPr>
              <a:t>)</a:t>
            </a:r>
          </a:p>
        </p:txBody>
      </p:sp>
      <p:sp>
        <p:nvSpPr>
          <p:cNvPr id="13" name="Text Box 10">
            <a:extLst>
              <a:ext uri="{FF2B5EF4-FFF2-40B4-BE49-F238E27FC236}">
                <a16:creationId xmlns:a16="http://schemas.microsoft.com/office/drawing/2014/main" id="{570114B4-812F-0FF0-B307-90C1105B8105}"/>
              </a:ext>
            </a:extLst>
          </p:cNvPr>
          <p:cNvSpPr txBox="1">
            <a:spLocks noChangeArrowheads="1"/>
          </p:cNvSpPr>
          <p:nvPr/>
        </p:nvSpPr>
        <p:spPr bwMode="auto">
          <a:xfrm>
            <a:off x="9991499" y="1007652"/>
            <a:ext cx="1584325" cy="329588"/>
          </a:xfrm>
          <a:prstGeom prst="rect">
            <a:avLst/>
          </a:prstGeom>
          <a:solidFill>
            <a:schemeClr val="tx1"/>
          </a:solidFill>
          <a:ln w="25400" cap="sq">
            <a:solidFill>
              <a:srgbClr val="000000"/>
            </a:solidFill>
            <a:miter lim="800000"/>
            <a:headEnd/>
            <a:tailEnd/>
          </a:ln>
        </p:spPr>
        <p:txBody>
          <a:bodyPr lIns="54000" tIns="10800" rIns="54000" bIns="10800">
            <a:spAutoFit/>
          </a:bodyPr>
          <a:lstStyle/>
          <a:p>
            <a:pPr algn="ctr"/>
            <a:r>
              <a:rPr lang="en-US" altLang="zh-CN" sz="2000" b="1" i="1">
                <a:solidFill>
                  <a:schemeClr val="bg1"/>
                </a:solidFill>
              </a:rPr>
              <a:t>Hostile</a:t>
            </a:r>
            <a:r>
              <a:rPr lang="en-US" altLang="zh-CN" sz="2000" b="1">
                <a:solidFill>
                  <a:schemeClr val="bg1"/>
                </a:solidFill>
              </a:rPr>
              <a:t>(</a:t>
            </a:r>
            <a:r>
              <a:rPr lang="en-US" altLang="zh-CN" sz="2000" b="1" i="1">
                <a:solidFill>
                  <a:schemeClr val="bg1"/>
                </a:solidFill>
              </a:rPr>
              <a:t>N</a:t>
            </a:r>
            <a:r>
              <a:rPr lang="en-US" altLang="zh-CN" sz="2000" b="1">
                <a:solidFill>
                  <a:schemeClr val="bg1"/>
                </a:solidFill>
              </a:rPr>
              <a:t>)</a:t>
            </a:r>
          </a:p>
        </p:txBody>
      </p:sp>
      <p:sp>
        <p:nvSpPr>
          <p:cNvPr id="14" name="Text Box 11">
            <a:extLst>
              <a:ext uri="{FF2B5EF4-FFF2-40B4-BE49-F238E27FC236}">
                <a16:creationId xmlns:a16="http://schemas.microsoft.com/office/drawing/2014/main" id="{D437DCA5-F8BB-244A-1064-638FA8E8894E}"/>
              </a:ext>
            </a:extLst>
          </p:cNvPr>
          <p:cNvSpPr txBox="1">
            <a:spLocks noChangeArrowheads="1"/>
          </p:cNvSpPr>
          <p:nvPr/>
        </p:nvSpPr>
        <p:spPr bwMode="auto">
          <a:xfrm>
            <a:off x="7110186" y="999715"/>
            <a:ext cx="2316842" cy="329588"/>
          </a:xfrm>
          <a:prstGeom prst="rect">
            <a:avLst/>
          </a:prstGeom>
          <a:solidFill>
            <a:schemeClr val="tx1"/>
          </a:solidFill>
          <a:ln w="25400" cap="sq">
            <a:solidFill>
              <a:srgbClr val="000000"/>
            </a:solidFill>
            <a:miter lim="800000"/>
            <a:headEnd/>
            <a:tailEnd/>
          </a:ln>
        </p:spPr>
        <p:txBody>
          <a:bodyPr wrap="square" lIns="54000" tIns="10800" rIns="54000" bIns="10800">
            <a:spAutoFit/>
          </a:bodyPr>
          <a:lstStyle/>
          <a:p>
            <a:pPr algn="ctr"/>
            <a:r>
              <a:rPr lang="en-US" altLang="zh-CN" sz="2000" b="1" i="1" dirty="0">
                <a:solidFill>
                  <a:schemeClr val="bg1"/>
                </a:solidFill>
              </a:rPr>
              <a:t>Sells</a:t>
            </a:r>
            <a:r>
              <a:rPr lang="en-US" altLang="zh-CN" sz="2000" b="1" dirty="0">
                <a:solidFill>
                  <a:schemeClr val="bg1"/>
                </a:solidFill>
              </a:rPr>
              <a:t>(</a:t>
            </a:r>
            <a:r>
              <a:rPr lang="en-US" altLang="zh-CN" sz="2000" b="1" i="1" dirty="0">
                <a:solidFill>
                  <a:schemeClr val="bg1"/>
                </a:solidFill>
              </a:rPr>
              <a:t>West,M1,N</a:t>
            </a:r>
            <a:r>
              <a:rPr lang="en-US" altLang="zh-CN" sz="2000" b="1" dirty="0">
                <a:solidFill>
                  <a:schemeClr val="bg1"/>
                </a:solidFill>
              </a:rPr>
              <a:t>)</a:t>
            </a:r>
          </a:p>
        </p:txBody>
      </p:sp>
      <p:sp>
        <p:nvSpPr>
          <p:cNvPr id="15" name="Text Box 12">
            <a:extLst>
              <a:ext uri="{FF2B5EF4-FFF2-40B4-BE49-F238E27FC236}">
                <a16:creationId xmlns:a16="http://schemas.microsoft.com/office/drawing/2014/main" id="{7FB5450C-3A2C-8016-DF5B-22C22B3BEE2C}"/>
              </a:ext>
            </a:extLst>
          </p:cNvPr>
          <p:cNvSpPr txBox="1">
            <a:spLocks noChangeArrowheads="1"/>
          </p:cNvSpPr>
          <p:nvPr/>
        </p:nvSpPr>
        <p:spPr bwMode="auto">
          <a:xfrm>
            <a:off x="7470775" y="2414178"/>
            <a:ext cx="1820182" cy="329588"/>
          </a:xfrm>
          <a:prstGeom prst="rect">
            <a:avLst/>
          </a:prstGeom>
          <a:solidFill>
            <a:schemeClr val="tx1"/>
          </a:solidFill>
          <a:ln w="25400" cap="sq">
            <a:solidFill>
              <a:srgbClr val="000000"/>
            </a:solidFill>
            <a:miter lim="800000"/>
            <a:headEnd/>
            <a:tailEnd/>
          </a:ln>
        </p:spPr>
        <p:txBody>
          <a:bodyPr wrap="square" lIns="54000" tIns="10800" rIns="54000" bIns="10800">
            <a:spAutoFit/>
          </a:bodyPr>
          <a:lstStyle/>
          <a:p>
            <a:pPr algn="ctr"/>
            <a:r>
              <a:rPr lang="en-US" altLang="zh-CN" sz="2000" b="1" i="1" dirty="0">
                <a:solidFill>
                  <a:schemeClr val="bg1"/>
                </a:solidFill>
              </a:rPr>
              <a:t>Owns(N,M1)</a:t>
            </a:r>
          </a:p>
        </p:txBody>
      </p:sp>
      <p:sp>
        <p:nvSpPr>
          <p:cNvPr id="16" name="矩形: 圆角 15">
            <a:extLst>
              <a:ext uri="{FF2B5EF4-FFF2-40B4-BE49-F238E27FC236}">
                <a16:creationId xmlns:a16="http://schemas.microsoft.com/office/drawing/2014/main" id="{BACF4522-734F-2BA3-968F-A206B1D4757B}"/>
              </a:ext>
            </a:extLst>
          </p:cNvPr>
          <p:cNvSpPr/>
          <p:nvPr/>
        </p:nvSpPr>
        <p:spPr>
          <a:xfrm>
            <a:off x="5138058" y="807720"/>
            <a:ext cx="6637174" cy="581835"/>
          </a:xfrm>
          <a:custGeom>
            <a:avLst/>
            <a:gdLst>
              <a:gd name="connsiteX0" fmla="*/ 0 w 6637174"/>
              <a:gd name="connsiteY0" fmla="*/ 96974 h 581835"/>
              <a:gd name="connsiteX1" fmla="*/ 96974 w 6637174"/>
              <a:gd name="connsiteY1" fmla="*/ 0 h 581835"/>
              <a:gd name="connsiteX2" fmla="*/ 6540200 w 6637174"/>
              <a:gd name="connsiteY2" fmla="*/ 0 h 581835"/>
              <a:gd name="connsiteX3" fmla="*/ 6637174 w 6637174"/>
              <a:gd name="connsiteY3" fmla="*/ 96974 h 581835"/>
              <a:gd name="connsiteX4" fmla="*/ 6637174 w 6637174"/>
              <a:gd name="connsiteY4" fmla="*/ 484861 h 581835"/>
              <a:gd name="connsiteX5" fmla="*/ 6540200 w 6637174"/>
              <a:gd name="connsiteY5" fmla="*/ 581835 h 581835"/>
              <a:gd name="connsiteX6" fmla="*/ 96974 w 6637174"/>
              <a:gd name="connsiteY6" fmla="*/ 581835 h 581835"/>
              <a:gd name="connsiteX7" fmla="*/ 0 w 6637174"/>
              <a:gd name="connsiteY7" fmla="*/ 484861 h 581835"/>
              <a:gd name="connsiteX8" fmla="*/ 0 w 6637174"/>
              <a:gd name="connsiteY8" fmla="*/ 96974 h 58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37174" h="581835" extrusionOk="0">
                <a:moveTo>
                  <a:pt x="0" y="96974"/>
                </a:moveTo>
                <a:cubicBezTo>
                  <a:pt x="1111" y="45659"/>
                  <a:pt x="37186" y="233"/>
                  <a:pt x="96974" y="0"/>
                </a:cubicBezTo>
                <a:cubicBezTo>
                  <a:pt x="2418282" y="112148"/>
                  <a:pt x="3703442" y="116257"/>
                  <a:pt x="6540200" y="0"/>
                </a:cubicBezTo>
                <a:cubicBezTo>
                  <a:pt x="6595946" y="2323"/>
                  <a:pt x="6634430" y="40716"/>
                  <a:pt x="6637174" y="96974"/>
                </a:cubicBezTo>
                <a:cubicBezTo>
                  <a:pt x="6618880" y="247669"/>
                  <a:pt x="6629025" y="330549"/>
                  <a:pt x="6637174" y="484861"/>
                </a:cubicBezTo>
                <a:cubicBezTo>
                  <a:pt x="6642725" y="545430"/>
                  <a:pt x="6597012" y="574634"/>
                  <a:pt x="6540200" y="581835"/>
                </a:cubicBezTo>
                <a:cubicBezTo>
                  <a:pt x="3507316" y="613453"/>
                  <a:pt x="2045618" y="657314"/>
                  <a:pt x="96974" y="581835"/>
                </a:cubicBezTo>
                <a:cubicBezTo>
                  <a:pt x="45041" y="571308"/>
                  <a:pt x="-1391" y="543288"/>
                  <a:pt x="0" y="484861"/>
                </a:cubicBezTo>
                <a:cubicBezTo>
                  <a:pt x="1576" y="328214"/>
                  <a:pt x="24970" y="157489"/>
                  <a:pt x="0" y="96974"/>
                </a:cubicBezTo>
                <a:close/>
              </a:path>
            </a:pathLst>
          </a:custGeom>
          <a:noFill/>
          <a:ln w="38100">
            <a:solidFill>
              <a:srgbClr val="FF0000"/>
            </a:solidFill>
            <a:prstDash val="sysDash"/>
            <a:extLst>
              <a:ext uri="{C807C97D-BFC1-408E-A445-0C87EB9F89A2}">
                <ask:lineSketchStyleProps xmlns:ask="http://schemas.microsoft.com/office/drawing/2018/sketchyshapes" sd="2026636766">
                  <a:prstGeom prst="round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a:extLst>
              <a:ext uri="{FF2B5EF4-FFF2-40B4-BE49-F238E27FC236}">
                <a16:creationId xmlns:a16="http://schemas.microsoft.com/office/drawing/2014/main" id="{09835069-D5BA-A97E-8AE0-F47E0A63C001}"/>
              </a:ext>
            </a:extLst>
          </p:cNvPr>
          <p:cNvSpPr/>
          <p:nvPr/>
        </p:nvSpPr>
        <p:spPr>
          <a:xfrm>
            <a:off x="3548743" y="2259054"/>
            <a:ext cx="1820182" cy="581835"/>
          </a:xfrm>
          <a:custGeom>
            <a:avLst/>
            <a:gdLst>
              <a:gd name="connsiteX0" fmla="*/ 0 w 1820182"/>
              <a:gd name="connsiteY0" fmla="*/ 96974 h 581835"/>
              <a:gd name="connsiteX1" fmla="*/ 96974 w 1820182"/>
              <a:gd name="connsiteY1" fmla="*/ 0 h 581835"/>
              <a:gd name="connsiteX2" fmla="*/ 1723208 w 1820182"/>
              <a:gd name="connsiteY2" fmla="*/ 0 h 581835"/>
              <a:gd name="connsiteX3" fmla="*/ 1820182 w 1820182"/>
              <a:gd name="connsiteY3" fmla="*/ 96974 h 581835"/>
              <a:gd name="connsiteX4" fmla="*/ 1820182 w 1820182"/>
              <a:gd name="connsiteY4" fmla="*/ 484861 h 581835"/>
              <a:gd name="connsiteX5" fmla="*/ 1723208 w 1820182"/>
              <a:gd name="connsiteY5" fmla="*/ 581835 h 581835"/>
              <a:gd name="connsiteX6" fmla="*/ 96974 w 1820182"/>
              <a:gd name="connsiteY6" fmla="*/ 581835 h 581835"/>
              <a:gd name="connsiteX7" fmla="*/ 0 w 1820182"/>
              <a:gd name="connsiteY7" fmla="*/ 484861 h 581835"/>
              <a:gd name="connsiteX8" fmla="*/ 0 w 1820182"/>
              <a:gd name="connsiteY8" fmla="*/ 96974 h 58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0182" h="581835" extrusionOk="0">
                <a:moveTo>
                  <a:pt x="0" y="96974"/>
                </a:moveTo>
                <a:cubicBezTo>
                  <a:pt x="1111" y="45659"/>
                  <a:pt x="37186" y="233"/>
                  <a:pt x="96974" y="0"/>
                </a:cubicBezTo>
                <a:cubicBezTo>
                  <a:pt x="468682" y="50605"/>
                  <a:pt x="1304476" y="124645"/>
                  <a:pt x="1723208" y="0"/>
                </a:cubicBezTo>
                <a:cubicBezTo>
                  <a:pt x="1778954" y="2323"/>
                  <a:pt x="1817438" y="40716"/>
                  <a:pt x="1820182" y="96974"/>
                </a:cubicBezTo>
                <a:cubicBezTo>
                  <a:pt x="1801888" y="247669"/>
                  <a:pt x="1812033" y="330549"/>
                  <a:pt x="1820182" y="484861"/>
                </a:cubicBezTo>
                <a:cubicBezTo>
                  <a:pt x="1825733" y="545430"/>
                  <a:pt x="1780020" y="574634"/>
                  <a:pt x="1723208" y="581835"/>
                </a:cubicBezTo>
                <a:cubicBezTo>
                  <a:pt x="937379" y="589035"/>
                  <a:pt x="291720" y="722009"/>
                  <a:pt x="96974" y="581835"/>
                </a:cubicBezTo>
                <a:cubicBezTo>
                  <a:pt x="45041" y="571308"/>
                  <a:pt x="-1391" y="543288"/>
                  <a:pt x="0" y="484861"/>
                </a:cubicBezTo>
                <a:cubicBezTo>
                  <a:pt x="1576" y="328214"/>
                  <a:pt x="24970" y="157489"/>
                  <a:pt x="0" y="96974"/>
                </a:cubicBezTo>
                <a:close/>
              </a:path>
            </a:pathLst>
          </a:custGeom>
          <a:noFill/>
          <a:ln w="38100">
            <a:solidFill>
              <a:srgbClr val="FF0000"/>
            </a:solidFill>
            <a:prstDash val="sysDash"/>
            <a:extLst>
              <a:ext uri="{C807C97D-BFC1-408E-A445-0C87EB9F89A2}">
                <ask:lineSketchStyleProps xmlns:ask="http://schemas.microsoft.com/office/drawing/2018/sketchyshapes" sd="2026636766">
                  <a:prstGeom prst="round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5D3597C7-E7FA-85BF-4A46-F94D7C82C503}"/>
              </a:ext>
            </a:extLst>
          </p:cNvPr>
          <p:cNvSpPr/>
          <p:nvPr/>
        </p:nvSpPr>
        <p:spPr>
          <a:xfrm>
            <a:off x="4316769" y="5601502"/>
            <a:ext cx="3664205" cy="572464"/>
          </a:xfrm>
          <a:prstGeom prst="rect">
            <a:avLst/>
          </a:prstGeom>
        </p:spPr>
        <p:txBody>
          <a:bodyPr wrap="square">
            <a:spAutoFit/>
          </a:bodyPr>
          <a:lstStyle/>
          <a:p>
            <a:pPr marL="342900" lvl="0" indent="-342900" eaLnBrk="0" hangingPunct="0">
              <a:lnSpc>
                <a:spcPct val="120000"/>
              </a:lnSpc>
              <a:spcBef>
                <a:spcPct val="20000"/>
              </a:spcBef>
              <a:defRPr/>
            </a:pPr>
            <a:r>
              <a:rPr lang="el-GR" altLang="zh-CN" sz="2800" kern="0" dirty="0">
                <a:solidFill>
                  <a:srgbClr val="FF0000"/>
                </a:solidFill>
                <a:latin typeface="香萃等粗宋" panose="02020700000000000000" pitchFamily="18" charset="-122"/>
                <a:ea typeface="香萃等粗宋" panose="02020700000000000000" pitchFamily="18" charset="-122"/>
                <a:cs typeface="Calibri" panose="020F0502020204030204" pitchFamily="34" charset="0"/>
              </a:rPr>
              <a:t>α</a:t>
            </a:r>
            <a:r>
              <a:rPr lang="en-US" altLang="zh-CN" sz="2800" kern="0" dirty="0">
                <a:solidFill>
                  <a:srgbClr val="FF0000"/>
                </a:solidFill>
                <a:latin typeface="香萃等粗宋" panose="02020700000000000000" pitchFamily="18" charset="-122"/>
                <a:ea typeface="香萃等粗宋" panose="02020700000000000000" pitchFamily="18" charset="-122"/>
                <a:cs typeface="Calibri" panose="020F0502020204030204" pitchFamily="34" charset="0"/>
              </a:rPr>
              <a:t> = Criminal(West)</a:t>
            </a:r>
          </a:p>
        </p:txBody>
      </p:sp>
    </p:spTree>
    <p:extLst>
      <p:ext uri="{BB962C8B-B14F-4D97-AF65-F5344CB8AC3E}">
        <p14:creationId xmlns:p14="http://schemas.microsoft.com/office/powerpoint/2010/main" val="29511708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FBD6FA-6C76-745B-9A4C-1E401EFDC87B}"/>
              </a:ext>
            </a:extLst>
          </p:cNvPr>
          <p:cNvSpPr>
            <a:spLocks noGrp="1"/>
          </p:cNvSpPr>
          <p:nvPr>
            <p:ph type="title"/>
          </p:nvPr>
        </p:nvSpPr>
        <p:spPr/>
        <p:txBody>
          <a:bodyPr/>
          <a:lstStyle/>
          <a:p>
            <a:r>
              <a:rPr lang="en-US" altLang="zh-CN" dirty="0"/>
              <a:t>9.3 </a:t>
            </a:r>
            <a:r>
              <a:rPr lang="zh-CN" altLang="en-US" dirty="0"/>
              <a:t>前向链接</a:t>
            </a:r>
          </a:p>
        </p:txBody>
      </p:sp>
      <p:sp>
        <p:nvSpPr>
          <p:cNvPr id="3" name="内容占位符 2">
            <a:extLst>
              <a:ext uri="{FF2B5EF4-FFF2-40B4-BE49-F238E27FC236}">
                <a16:creationId xmlns:a16="http://schemas.microsoft.com/office/drawing/2014/main" id="{EE141366-761C-0EB8-0583-6BEBF94F479D}"/>
              </a:ext>
            </a:extLst>
          </p:cNvPr>
          <p:cNvSpPr>
            <a:spLocks noGrp="1"/>
          </p:cNvSpPr>
          <p:nvPr>
            <p:ph idx="1"/>
          </p:nvPr>
        </p:nvSpPr>
        <p:spPr>
          <a:xfrm>
            <a:off x="469638" y="1623061"/>
            <a:ext cx="11252719" cy="5478779"/>
          </a:xfrm>
        </p:spPr>
        <p:txBody>
          <a:bodyPr>
            <a:normAutofit/>
          </a:bodyPr>
          <a:lstStyle/>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KB</a:t>
            </a:r>
            <a:r>
              <a:rPr lang="zh-CN" altLang="en-US" kern="0" dirty="0">
                <a:solidFill>
                  <a:srgbClr val="FFCC99"/>
                </a:solidFill>
                <a:latin typeface="Aa花间辞楷书 (非商业使用)" panose="02010600010101010101" pitchFamily="2" charset="-122"/>
                <a:ea typeface="Aa花间辞楷书 (非商业使用)" panose="02010600010101010101" pitchFamily="2" charset="-122"/>
              </a:rPr>
              <a:t>如下：</a:t>
            </a:r>
            <a:endParaRPr lang="en-US" altLang="zh-CN" kern="0" dirty="0">
              <a:solidFill>
                <a:srgbClr val="FFCC99"/>
              </a:solidFill>
              <a:latin typeface="Aa花间辞楷书 (非商业使用)" panose="02010600010101010101" pitchFamily="2" charset="-122"/>
              <a:ea typeface="Aa花间辞楷书 (非商业使用)" panose="02010600010101010101" pitchFamily="2" charset="-122"/>
            </a:endParaRP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1）Owns(Nono, 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2）Missile(M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3）American(West)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4）Enemy(Nono, America)</a:t>
            </a:r>
          </a:p>
          <a:p>
            <a:pPr marL="0" indent="0" eaLnBrk="0" hangingPunct="0">
              <a:lnSpc>
                <a:spcPct val="120000"/>
              </a:lnSpc>
              <a:spcBef>
                <a:spcPct val="20000"/>
              </a:spcBef>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5）Missile(x)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Weapon(x)</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6）Missile(x)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Owns(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Nono,x</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West,x,Nono</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7）Enemy(x, America)</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Hostile(x)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8）</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American(x) </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 Weapon(y) </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0000"/>
                </a:solidFill>
                <a:latin typeface="Aa花间辞楷书 (非商业使用)" panose="02010600010101010101" pitchFamily="2" charset="-122"/>
                <a:ea typeface="Aa花间辞楷书 (非商业使用)" panose="02010600010101010101" pitchFamily="2" charset="-122"/>
              </a:rPr>
              <a:t>x,y,z</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 Hostile(z) </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0000"/>
                </a:solidFill>
                <a:latin typeface="Aa花间辞楷书 (非商业使用)" panose="02010600010101010101" pitchFamily="2" charset="-122"/>
                <a:ea typeface="Aa花间辞楷书 (非商业使用)" panose="02010600010101010101" pitchFamily="2" charset="-122"/>
              </a:rPr>
              <a:t> Criminal(x)</a:t>
            </a:r>
          </a:p>
        </p:txBody>
      </p:sp>
      <p:sp>
        <p:nvSpPr>
          <p:cNvPr id="6" name="矩形 5">
            <a:extLst>
              <a:ext uri="{FF2B5EF4-FFF2-40B4-BE49-F238E27FC236}">
                <a16:creationId xmlns:a16="http://schemas.microsoft.com/office/drawing/2014/main" id="{21C28FBD-7769-C9BF-23DA-4D0BDE303041}"/>
              </a:ext>
            </a:extLst>
          </p:cNvPr>
          <p:cNvSpPr/>
          <p:nvPr/>
        </p:nvSpPr>
        <p:spPr>
          <a:xfrm>
            <a:off x="4263896" y="6149011"/>
            <a:ext cx="3664205" cy="572464"/>
          </a:xfrm>
          <a:prstGeom prst="rect">
            <a:avLst/>
          </a:prstGeom>
        </p:spPr>
        <p:txBody>
          <a:bodyPr wrap="square">
            <a:spAutoFit/>
          </a:bodyPr>
          <a:lstStyle/>
          <a:p>
            <a:pPr marL="342900" lvl="0" indent="-342900" eaLnBrk="0" hangingPunct="0">
              <a:lnSpc>
                <a:spcPct val="120000"/>
              </a:lnSpc>
              <a:spcBef>
                <a:spcPct val="20000"/>
              </a:spcBef>
              <a:defRPr/>
            </a:pPr>
            <a:r>
              <a:rPr lang="el-GR" altLang="zh-CN" sz="2800" kern="0" dirty="0">
                <a:solidFill>
                  <a:srgbClr val="FF0000"/>
                </a:solidFill>
                <a:latin typeface="香萃等粗宋" panose="02020700000000000000" pitchFamily="18" charset="-122"/>
                <a:ea typeface="香萃等粗宋" panose="02020700000000000000" pitchFamily="18" charset="-122"/>
                <a:cs typeface="Calibri" panose="020F0502020204030204" pitchFamily="34" charset="0"/>
              </a:rPr>
              <a:t>α</a:t>
            </a:r>
            <a:r>
              <a:rPr lang="en-US" altLang="zh-CN" sz="2800" kern="0" dirty="0">
                <a:solidFill>
                  <a:srgbClr val="FF0000"/>
                </a:solidFill>
                <a:latin typeface="香萃等粗宋" panose="02020700000000000000" pitchFamily="18" charset="-122"/>
                <a:ea typeface="香萃等粗宋" panose="02020700000000000000" pitchFamily="18" charset="-122"/>
                <a:cs typeface="Calibri" panose="020F0502020204030204" pitchFamily="34" charset="0"/>
              </a:rPr>
              <a:t> = Criminal(West)</a:t>
            </a:r>
          </a:p>
        </p:txBody>
      </p:sp>
      <p:pic>
        <p:nvPicPr>
          <p:cNvPr id="7" name="图片 6">
            <a:extLst>
              <a:ext uri="{FF2B5EF4-FFF2-40B4-BE49-F238E27FC236}">
                <a16:creationId xmlns:a16="http://schemas.microsoft.com/office/drawing/2014/main" id="{922243B9-C78E-36F6-A81A-B31F1CEF13C3}"/>
              </a:ext>
            </a:extLst>
          </p:cNvPr>
          <p:cNvPicPr>
            <a:picLocks noChangeAspect="1"/>
          </p:cNvPicPr>
          <p:nvPr/>
        </p:nvPicPr>
        <p:blipFill>
          <a:blip r:embed="rId2"/>
          <a:stretch>
            <a:fillRect/>
          </a:stretch>
        </p:blipFill>
        <p:spPr>
          <a:xfrm>
            <a:off x="4403103" y="308519"/>
            <a:ext cx="7712825" cy="4400641"/>
          </a:xfrm>
          <a:prstGeom prst="rect">
            <a:avLst/>
          </a:prstGeom>
        </p:spPr>
      </p:pic>
    </p:spTree>
    <p:extLst>
      <p:ext uri="{BB962C8B-B14F-4D97-AF65-F5344CB8AC3E}">
        <p14:creationId xmlns:p14="http://schemas.microsoft.com/office/powerpoint/2010/main" val="13670132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3829DF-04EC-99AB-9E60-84D3867D186C}"/>
              </a:ext>
            </a:extLst>
          </p:cNvPr>
          <p:cNvSpPr>
            <a:spLocks noGrp="1"/>
          </p:cNvSpPr>
          <p:nvPr>
            <p:ph type="title"/>
          </p:nvPr>
        </p:nvSpPr>
        <p:spPr/>
        <p:txBody>
          <a:bodyPr/>
          <a:lstStyle/>
          <a:p>
            <a:r>
              <a:rPr lang="en-US" altLang="zh-CN" dirty="0"/>
              <a:t>9.3 </a:t>
            </a:r>
            <a:r>
              <a:rPr lang="zh-CN" altLang="en-US" dirty="0"/>
              <a:t>前向链接</a:t>
            </a:r>
          </a:p>
        </p:txBody>
      </p:sp>
      <p:sp>
        <p:nvSpPr>
          <p:cNvPr id="3" name="内容占位符 2">
            <a:extLst>
              <a:ext uri="{FF2B5EF4-FFF2-40B4-BE49-F238E27FC236}">
                <a16:creationId xmlns:a16="http://schemas.microsoft.com/office/drawing/2014/main" id="{D5830F86-7DCB-81D4-970A-C2E007D2D66D}"/>
              </a:ext>
            </a:extLst>
          </p:cNvPr>
          <p:cNvSpPr>
            <a:spLocks noGrp="1"/>
          </p:cNvSpPr>
          <p:nvPr>
            <p:ph idx="1"/>
          </p:nvPr>
        </p:nvSpPr>
        <p:spPr/>
        <p:txBody>
          <a:bodyPr/>
          <a:lstStyle/>
          <a:p>
            <a:r>
              <a:rPr lang="zh-CN" altLang="en-US" dirty="0">
                <a:latin typeface="Aa花间辞楷书 (非商业使用)" panose="02010600010101010101" pitchFamily="2" charset="-122"/>
                <a:ea typeface="Aa花间辞楷书 (非商业使用)" panose="02010600010101010101" pitchFamily="2" charset="-122"/>
              </a:rPr>
              <a:t>（</a:t>
            </a:r>
            <a:r>
              <a:rPr lang="en-US" altLang="zh-CN" dirty="0">
                <a:latin typeface="Aa花间辞楷书 (非商业使用)" panose="02010600010101010101" pitchFamily="2" charset="-122"/>
                <a:ea typeface="Aa花间辞楷书 (非商业使用)" panose="02010600010101010101" pitchFamily="2" charset="-122"/>
              </a:rPr>
              <a:t>1</a:t>
            </a:r>
            <a:r>
              <a:rPr lang="zh-CN" altLang="en-US" dirty="0">
                <a:latin typeface="Aa花间辞楷书 (非商业使用)" panose="02010600010101010101" pitchFamily="2" charset="-122"/>
                <a:ea typeface="Aa花间辞楷书 (非商业使用)" panose="02010600010101010101" pitchFamily="2" charset="-122"/>
              </a:rPr>
              <a:t>）对于一阶</a:t>
            </a:r>
            <a:r>
              <a:rPr lang="en-US" altLang="zh-CN" dirty="0">
                <a:latin typeface="Aa花间辞楷书 (非商业使用)" panose="02010600010101010101" pitchFamily="2" charset="-122"/>
                <a:ea typeface="Aa花间辞楷书 (非商业使用)" panose="02010600010101010101" pitchFamily="2" charset="-122"/>
              </a:rPr>
              <a:t>Horn</a:t>
            </a:r>
            <a:r>
              <a:rPr lang="zh-CN" altLang="en-US" dirty="0">
                <a:latin typeface="Aa花间辞楷书 (非商业使用)" panose="02010600010101010101" pitchFamily="2" charset="-122"/>
                <a:ea typeface="Aa花间辞楷书 (非商业使用)" panose="02010600010101010101" pitchFamily="2" charset="-122"/>
              </a:rPr>
              <a:t>子句，前向链接算法是可靠的和完备的</a:t>
            </a:r>
          </a:p>
          <a:p>
            <a:r>
              <a:rPr lang="zh-CN" altLang="en-US" dirty="0">
                <a:latin typeface="Aa花间辞楷书 (非商业使用)" panose="02010600010101010101" pitchFamily="2" charset="-122"/>
                <a:ea typeface="Aa花间辞楷书 (非商业使用)" panose="02010600010101010101" pitchFamily="2" charset="-122"/>
              </a:rPr>
              <a:t>（</a:t>
            </a:r>
            <a:r>
              <a:rPr lang="en-US" altLang="zh-CN" dirty="0">
                <a:latin typeface="Aa花间辞楷书 (非商业使用)" panose="02010600010101010101" pitchFamily="2" charset="-122"/>
                <a:ea typeface="Aa花间辞楷书 (非商业使用)" panose="02010600010101010101" pitchFamily="2" charset="-122"/>
              </a:rPr>
              <a:t>2</a:t>
            </a:r>
            <a:r>
              <a:rPr lang="zh-CN" altLang="en-US" dirty="0">
                <a:latin typeface="Aa花间辞楷书 (非商业使用)" panose="02010600010101010101" pitchFamily="2" charset="-122"/>
                <a:ea typeface="Aa花间辞楷书 (非商业使用)" panose="02010600010101010101" pitchFamily="2" charset="-122"/>
              </a:rPr>
              <a:t>）数据日志类知识库 </a:t>
            </a:r>
            <a:r>
              <a:rPr lang="en-US" altLang="zh-CN" dirty="0">
                <a:latin typeface="Aa花间辞楷书 (非商业使用)" panose="02010600010101010101" pitchFamily="2" charset="-122"/>
                <a:ea typeface="Aa花间辞楷书 (非商业使用)" panose="02010600010101010101" pitchFamily="2" charset="-122"/>
              </a:rPr>
              <a:t>= </a:t>
            </a:r>
            <a:r>
              <a:rPr lang="zh-CN" altLang="en-US" dirty="0">
                <a:latin typeface="Aa花间辞楷书 (非商业使用)" panose="02010600010101010101" pitchFamily="2" charset="-122"/>
                <a:ea typeface="Aa花间辞楷书 (非商业使用)" panose="02010600010101010101" pitchFamily="2" charset="-122"/>
              </a:rPr>
              <a:t>一阶</a:t>
            </a:r>
            <a:r>
              <a:rPr lang="en-US" altLang="zh-CN" dirty="0">
                <a:latin typeface="Aa花间辞楷书 (非商业使用)" panose="02010600010101010101" pitchFamily="2" charset="-122"/>
                <a:ea typeface="Aa花间辞楷书 (非商业使用)" panose="02010600010101010101" pitchFamily="2" charset="-122"/>
              </a:rPr>
              <a:t>Horn</a:t>
            </a:r>
            <a:r>
              <a:rPr lang="zh-CN" altLang="en-US" dirty="0">
                <a:latin typeface="Aa花间辞楷书 (非商业使用)" panose="02010600010101010101" pitchFamily="2" charset="-122"/>
                <a:ea typeface="Aa花间辞楷书 (非商业使用)" panose="02010600010101010101" pitchFamily="2" charset="-122"/>
              </a:rPr>
              <a:t>子句＋</a:t>
            </a:r>
            <a:r>
              <a:rPr lang="zh-CN" altLang="en-US" dirty="0">
                <a:solidFill>
                  <a:srgbClr val="C00000"/>
                </a:solidFill>
                <a:latin typeface="Aa花间辞楷书 (非商业使用)" panose="02010600010101010101" pitchFamily="2" charset="-122"/>
                <a:ea typeface="Aa花间辞楷书 (非商业使用)" panose="02010600010101010101" pitchFamily="2" charset="-122"/>
              </a:rPr>
              <a:t>无函数</a:t>
            </a:r>
            <a:endParaRPr lang="en-US" altLang="zh-CN" dirty="0">
              <a:solidFill>
                <a:srgbClr val="C00000"/>
              </a:solidFill>
              <a:latin typeface="Aa花间辞楷书 (非商业使用)" panose="02010600010101010101" pitchFamily="2" charset="-122"/>
              <a:ea typeface="Aa花间辞楷书 (非商业使用)" panose="02010600010101010101" pitchFamily="2" charset="-122"/>
            </a:endParaRPr>
          </a:p>
          <a:p>
            <a:r>
              <a:rPr lang="zh-CN" altLang="en-US" dirty="0">
                <a:solidFill>
                  <a:srgbClr val="C00000"/>
                </a:solidFill>
                <a:latin typeface="Aa花间辞楷书 (非商业使用)" panose="02010600010101010101" pitchFamily="2" charset="-122"/>
                <a:ea typeface="Aa花间辞楷书 (非商业使用)" panose="02010600010101010101" pitchFamily="2" charset="-122"/>
              </a:rPr>
              <a:t>（</a:t>
            </a:r>
            <a:r>
              <a:rPr lang="en-US" altLang="zh-CN" dirty="0">
                <a:solidFill>
                  <a:srgbClr val="C00000"/>
                </a:solidFill>
                <a:latin typeface="Aa花间辞楷书 (非商业使用)" panose="02010600010101010101" pitchFamily="2" charset="-122"/>
                <a:ea typeface="Aa花间辞楷书 (非商业使用)" panose="02010600010101010101" pitchFamily="2" charset="-122"/>
              </a:rPr>
              <a:t>3</a:t>
            </a:r>
            <a:r>
              <a:rPr lang="zh-CN" altLang="en-US" dirty="0">
                <a:solidFill>
                  <a:srgbClr val="C00000"/>
                </a:solidFill>
                <a:latin typeface="Aa花间辞楷书 (非商业使用)" panose="02010600010101010101" pitchFamily="2" charset="-122"/>
                <a:ea typeface="Aa花间辞楷书 (非商业使用)" panose="02010600010101010101" pitchFamily="2" charset="-122"/>
              </a:rPr>
              <a:t>）</a:t>
            </a:r>
            <a:r>
              <a:rPr lang="zh-CN" altLang="en-US" dirty="0">
                <a:latin typeface="Aa花间辞楷书 (非商业使用)" panose="02010600010101010101" pitchFamily="2" charset="-122"/>
                <a:ea typeface="Aa花间辞楷书 (非商业使用)" panose="02010600010101010101" pitchFamily="2" charset="-122"/>
              </a:rPr>
              <a:t>对</a:t>
            </a:r>
            <a:r>
              <a:rPr lang="zh-CN" altLang="en-US" dirty="0">
                <a:solidFill>
                  <a:srgbClr val="C00000"/>
                </a:solidFill>
                <a:latin typeface="Aa花间辞楷书 (非商业使用)" panose="02010600010101010101" pitchFamily="2" charset="-122"/>
                <a:ea typeface="Aa花间辞楷书 (非商业使用)" panose="02010600010101010101" pitchFamily="2" charset="-122"/>
              </a:rPr>
              <a:t>含有函数</a:t>
            </a:r>
            <a:r>
              <a:rPr lang="zh-CN" altLang="en-US" dirty="0">
                <a:latin typeface="Aa花间辞楷书 (非商业使用)" panose="02010600010101010101" pitchFamily="2" charset="-122"/>
                <a:ea typeface="Aa花间辞楷书 (非商业使用)" panose="02010600010101010101" pitchFamily="2" charset="-122"/>
              </a:rPr>
              <a:t>的</a:t>
            </a:r>
            <a:r>
              <a:rPr lang="zh-CN" altLang="en-US" dirty="0">
                <a:solidFill>
                  <a:srgbClr val="C00000"/>
                </a:solidFill>
                <a:latin typeface="Aa花间辞楷书 (非商业使用)" panose="02010600010101010101" pitchFamily="2" charset="-122"/>
                <a:ea typeface="Aa花间辞楷书 (非商业使用)" panose="02010600010101010101" pitchFamily="2" charset="-122"/>
              </a:rPr>
              <a:t>一般</a:t>
            </a:r>
            <a:r>
              <a:rPr lang="en-US" altLang="zh-CN" dirty="0">
                <a:solidFill>
                  <a:srgbClr val="C00000"/>
                </a:solidFill>
                <a:latin typeface="Aa花间辞楷书 (非商业使用)" panose="02010600010101010101" pitchFamily="2" charset="-122"/>
                <a:ea typeface="Aa花间辞楷书 (非商业使用)" panose="02010600010101010101" pitchFamily="2" charset="-122"/>
              </a:rPr>
              <a:t>Horn</a:t>
            </a:r>
            <a:r>
              <a:rPr lang="zh-CN" altLang="en-US" dirty="0">
                <a:solidFill>
                  <a:srgbClr val="C00000"/>
                </a:solidFill>
                <a:latin typeface="Aa花间辞楷书 (非商业使用)" panose="02010600010101010101" pitchFamily="2" charset="-122"/>
                <a:ea typeface="Aa花间辞楷书 (非商业使用)" panose="02010600010101010101" pitchFamily="2" charset="-122"/>
              </a:rPr>
              <a:t>子句</a:t>
            </a:r>
            <a:r>
              <a:rPr lang="zh-CN" altLang="en-US" dirty="0">
                <a:latin typeface="Aa花间辞楷书 (非商业使用)" panose="02010600010101010101" pitchFamily="2" charset="-122"/>
                <a:ea typeface="Aa花间辞楷书 (非商业使用)" panose="02010600010101010101" pitchFamily="2" charset="-122"/>
              </a:rPr>
              <a:t>情况下，由于可能存在</a:t>
            </a:r>
            <a:r>
              <a:rPr lang="zh-CN" altLang="en-US" dirty="0">
                <a:solidFill>
                  <a:srgbClr val="C00000"/>
                </a:solidFill>
                <a:latin typeface="Aa花间辞楷书 (非商业使用)" panose="02010600010101010101" pitchFamily="2" charset="-122"/>
                <a:ea typeface="Aa花间辞楷书 (非商业使用)" panose="02010600010101010101" pitchFamily="2" charset="-122"/>
              </a:rPr>
              <a:t>嵌套置换</a:t>
            </a:r>
            <a:r>
              <a:rPr lang="zh-CN" altLang="en-US" dirty="0">
                <a:latin typeface="Aa花间辞楷书 (非商业使用)" panose="02010600010101010101" pitchFamily="2" charset="-122"/>
                <a:ea typeface="Aa花间辞楷书 (非商业使用)" panose="02010600010101010101" pitchFamily="2" charset="-122"/>
              </a:rPr>
              <a:t>，因此如果</a:t>
            </a:r>
            <a:r>
              <a:rPr lang="en-US" altLang="zh-CN" dirty="0">
                <a:latin typeface="Aa花间辞楷书 (非商业使用)" panose="02010600010101010101" pitchFamily="2" charset="-122"/>
                <a:ea typeface="Aa花间辞楷书 (非商业使用)" panose="02010600010101010101" pitchFamily="2" charset="-122"/>
              </a:rPr>
              <a:t>α </a:t>
            </a:r>
            <a:r>
              <a:rPr lang="zh-CN" altLang="en-US" dirty="0">
                <a:latin typeface="Aa花间辞楷书 (非商业使用)" panose="02010600010101010101" pitchFamily="2" charset="-122"/>
                <a:ea typeface="Aa花间辞楷书 (非商业使用)" panose="02010600010101010101" pitchFamily="2" charset="-122"/>
              </a:rPr>
              <a:t>不被</a:t>
            </a:r>
            <a:r>
              <a:rPr lang="en-US" altLang="zh-CN" dirty="0">
                <a:latin typeface="Aa花间辞楷书 (非商业使用)" panose="02010600010101010101" pitchFamily="2" charset="-122"/>
                <a:ea typeface="Aa花间辞楷书 (非商业使用)" panose="02010600010101010101" pitchFamily="2" charset="-122"/>
              </a:rPr>
              <a:t>KB</a:t>
            </a:r>
            <a:r>
              <a:rPr lang="zh-CN" altLang="en-US" dirty="0">
                <a:latin typeface="Aa花间辞楷书 (非商业使用)" panose="02010600010101010101" pitchFamily="2" charset="-122"/>
                <a:ea typeface="Aa花间辞楷书 (非商业使用)" panose="02010600010101010101" pitchFamily="2" charset="-122"/>
              </a:rPr>
              <a:t>逻辑蕴涵，则</a:t>
            </a:r>
            <a:r>
              <a:rPr lang="zh-CN" altLang="en-US" dirty="0">
                <a:solidFill>
                  <a:srgbClr val="C00000"/>
                </a:solidFill>
                <a:latin typeface="Aa花间辞楷书 (非商业使用)" panose="02010600010101010101" pitchFamily="2" charset="-122"/>
                <a:ea typeface="Aa花间辞楷书 (非商业使用)" panose="02010600010101010101" pitchFamily="2" charset="-122"/>
              </a:rPr>
              <a:t>可能不终止，半可判定</a:t>
            </a:r>
          </a:p>
          <a:p>
            <a:endParaRPr lang="en-US" altLang="zh-CN" dirty="0">
              <a:solidFill>
                <a:srgbClr val="C00000"/>
              </a:solidFill>
            </a:endParaRPr>
          </a:p>
          <a:p>
            <a:endParaRPr lang="zh-CN" altLang="en-US" dirty="0"/>
          </a:p>
        </p:txBody>
      </p:sp>
    </p:spTree>
    <p:extLst>
      <p:ext uri="{BB962C8B-B14F-4D97-AF65-F5344CB8AC3E}">
        <p14:creationId xmlns:p14="http://schemas.microsoft.com/office/powerpoint/2010/main" val="35171312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76A348-02A4-9294-2C53-991006B8B582}"/>
              </a:ext>
            </a:extLst>
          </p:cNvPr>
          <p:cNvSpPr>
            <a:spLocks noGrp="1"/>
          </p:cNvSpPr>
          <p:nvPr>
            <p:ph type="title"/>
          </p:nvPr>
        </p:nvSpPr>
        <p:spPr/>
        <p:txBody>
          <a:bodyPr/>
          <a:lstStyle/>
          <a:p>
            <a:r>
              <a:rPr lang="en-US" altLang="zh-CN" dirty="0"/>
              <a:t>9.3 </a:t>
            </a:r>
            <a:r>
              <a:rPr lang="zh-CN" altLang="en-US" dirty="0"/>
              <a:t>前向链接</a:t>
            </a:r>
          </a:p>
        </p:txBody>
      </p:sp>
      <p:sp>
        <p:nvSpPr>
          <p:cNvPr id="3" name="内容占位符 2">
            <a:extLst>
              <a:ext uri="{FF2B5EF4-FFF2-40B4-BE49-F238E27FC236}">
                <a16:creationId xmlns:a16="http://schemas.microsoft.com/office/drawing/2014/main" id="{17D2D5C8-2560-9697-20DC-458DF081B273}"/>
              </a:ext>
            </a:extLst>
          </p:cNvPr>
          <p:cNvSpPr>
            <a:spLocks noGrp="1"/>
          </p:cNvSpPr>
          <p:nvPr>
            <p:ph idx="1"/>
          </p:nvPr>
        </p:nvSpPr>
        <p:spPr/>
        <p:txBody>
          <a:bodyPr>
            <a:normAutofit lnSpcReduction="10000"/>
          </a:bodyPr>
          <a:lstStyle/>
          <a:p>
            <a:r>
              <a:rPr lang="zh-CN" altLang="en-US" dirty="0"/>
              <a:t>前向链接的复杂性</a:t>
            </a:r>
            <a:endParaRPr lang="en-US" altLang="zh-CN" dirty="0"/>
          </a:p>
          <a:p>
            <a:pPr marL="342900" lvl="1" indent="0">
              <a:buNone/>
            </a:pPr>
            <a:r>
              <a:rPr lang="en-US" altLang="zh-CN" sz="2400" dirty="0">
                <a:latin typeface="Aa花间辞楷书 (非商业使用)" panose="02010600010101010101" pitchFamily="2" charset="-122"/>
                <a:ea typeface="Aa花间辞楷书 (非商业使用)" panose="02010600010101010101" pitchFamily="2" charset="-122"/>
              </a:rPr>
              <a:t>1</a:t>
            </a:r>
            <a:r>
              <a:rPr lang="zh-CN" altLang="en-US" sz="2400" dirty="0">
                <a:latin typeface="Aa花间辞楷书 (非商业使用)" panose="02010600010101010101" pitchFamily="2" charset="-122"/>
                <a:ea typeface="Aa花间辞楷书 (非商业使用)" panose="02010600010101010101" pitchFamily="2" charset="-122"/>
              </a:rPr>
              <a:t>）模式匹配的复杂性</a:t>
            </a:r>
          </a:p>
          <a:p>
            <a:pPr marL="342900" lvl="1" indent="0">
              <a:buNone/>
            </a:pPr>
            <a:r>
              <a:rPr lang="en-US" altLang="zh-CN" sz="2400" dirty="0">
                <a:latin typeface="Aa花间辞楷书 (非商业使用)" panose="02010600010101010101" pitchFamily="2" charset="-122"/>
                <a:ea typeface="Aa花间辞楷书 (非商业使用)" panose="02010600010101010101" pitchFamily="2" charset="-122"/>
              </a:rPr>
              <a:t>	</a:t>
            </a:r>
            <a:r>
              <a:rPr lang="zh-CN" altLang="en-US" sz="2400" dirty="0">
                <a:latin typeface="Aa花间辞楷书 (非商业使用)" panose="02010600010101010101" pitchFamily="2" charset="-122"/>
                <a:ea typeface="Aa花间辞楷书 (非商业使用)" panose="02010600010101010101" pitchFamily="2" charset="-122"/>
              </a:rPr>
              <a:t>在算法的内层循环，寻找规则前提与</a:t>
            </a:r>
            <a:r>
              <a:rPr lang="en-US" altLang="zh-CN" sz="2400" dirty="0">
                <a:latin typeface="Aa花间辞楷书 (非商业使用)" panose="02010600010101010101" pitchFamily="2" charset="-122"/>
                <a:ea typeface="Aa花间辞楷书 (非商业使用)" panose="02010600010101010101" pitchFamily="2" charset="-122"/>
              </a:rPr>
              <a:t>KB</a:t>
            </a:r>
            <a:r>
              <a:rPr lang="zh-CN" altLang="en-US" sz="2400" dirty="0">
                <a:latin typeface="Aa花间辞楷书 (非商业使用)" panose="02010600010101010101" pitchFamily="2" charset="-122"/>
                <a:ea typeface="Aa花间辞楷书 (非商业使用)" panose="02010600010101010101" pitchFamily="2" charset="-122"/>
              </a:rPr>
              <a:t>中事实的所有可能的</a:t>
            </a:r>
            <a:r>
              <a:rPr lang="zh-CN" altLang="en-US" sz="2400" dirty="0">
                <a:solidFill>
                  <a:srgbClr val="C00000"/>
                </a:solidFill>
                <a:latin typeface="Aa花间辞楷书 (非商业使用)" panose="02010600010101010101" pitchFamily="2" charset="-122"/>
                <a:ea typeface="Aa花间辞楷书 (非商业使用)" panose="02010600010101010101" pitchFamily="2" charset="-122"/>
              </a:rPr>
              <a:t>合一</a:t>
            </a:r>
            <a:r>
              <a:rPr lang="zh-CN" altLang="en-US" sz="2400" dirty="0">
                <a:latin typeface="Aa花间辞楷书 (非商业使用)" panose="02010600010101010101" pitchFamily="2" charset="-122"/>
                <a:ea typeface="Aa花间辞楷书 (非商业使用)" panose="02010600010101010101" pitchFamily="2" charset="-122"/>
              </a:rPr>
              <a:t>。</a:t>
            </a:r>
          </a:p>
          <a:p>
            <a:pPr marL="342900" lvl="1" indent="0">
              <a:buNone/>
            </a:pPr>
            <a:r>
              <a:rPr lang="en-US" altLang="zh-CN" sz="2400" dirty="0">
                <a:latin typeface="Aa花间辞楷书 (非商业使用)" panose="02010600010101010101" pitchFamily="2" charset="-122"/>
                <a:ea typeface="Aa花间辞楷书 (非商业使用)" panose="02010600010101010101" pitchFamily="2" charset="-122"/>
              </a:rPr>
              <a:t>2</a:t>
            </a:r>
            <a:r>
              <a:rPr lang="zh-CN" altLang="en-US" sz="2400" dirty="0">
                <a:latin typeface="Aa花间辞楷书 (非商业使用)" panose="02010600010101010101" pitchFamily="2" charset="-122"/>
                <a:ea typeface="Aa花间辞楷书 (非商业使用)" panose="02010600010101010101" pitchFamily="2" charset="-122"/>
              </a:rPr>
              <a:t>）算法在每次循环重新检查所有规则的前提</a:t>
            </a:r>
          </a:p>
          <a:p>
            <a:pPr marL="342900" lvl="1" indent="0">
              <a:buNone/>
            </a:pPr>
            <a:r>
              <a:rPr lang="en-US" altLang="zh-CN" sz="2400" dirty="0">
                <a:latin typeface="Aa花间辞楷书 (非商业使用)" panose="02010600010101010101" pitchFamily="2" charset="-122"/>
                <a:ea typeface="Aa花间辞楷书 (非商业使用)" panose="02010600010101010101" pitchFamily="2" charset="-122"/>
              </a:rPr>
              <a:t>3</a:t>
            </a:r>
            <a:r>
              <a:rPr lang="zh-CN" altLang="en-US" sz="2400" dirty="0">
                <a:latin typeface="Aa花间辞楷书 (非商业使用)" panose="02010600010101010101" pitchFamily="2" charset="-122"/>
                <a:ea typeface="Aa花间辞楷书 (非商业使用)" panose="02010600010101010101" pitchFamily="2" charset="-122"/>
              </a:rPr>
              <a:t>）算法产生许多与要证明的结论不相关的事实</a:t>
            </a:r>
            <a:endParaRPr lang="en-US" altLang="zh-CN" sz="2400" dirty="0">
              <a:latin typeface="Aa花间辞楷书 (非商业使用)" panose="02010600010101010101" pitchFamily="2" charset="-122"/>
              <a:ea typeface="Aa花间辞楷书 (非商业使用)" panose="02010600010101010101" pitchFamily="2" charset="-122"/>
            </a:endParaRPr>
          </a:p>
          <a:p>
            <a:r>
              <a:rPr lang="zh-CN" altLang="en-US" dirty="0">
                <a:latin typeface="Aa花间辞楷书 (非商业使用)" panose="02010600010101010101" pitchFamily="2" charset="-122"/>
                <a:ea typeface="Aa花间辞楷书 (非商业使用)" panose="02010600010101010101" pitchFamily="2" charset="-122"/>
              </a:rPr>
              <a:t>对于只包含确定子句不包含函数关系的</a:t>
            </a:r>
            <a:r>
              <a:rPr lang="en-US" altLang="zh-CN" dirty="0">
                <a:latin typeface="Aa花间辞楷书 (非商业使用)" panose="02010600010101010101" pitchFamily="2" charset="-122"/>
                <a:ea typeface="Aa花间辞楷书 (非商业使用)" panose="02010600010101010101" pitchFamily="2" charset="-122"/>
              </a:rPr>
              <a:t>FOL KB</a:t>
            </a:r>
          </a:p>
          <a:p>
            <a:pPr marL="342900" lvl="1" indent="0">
              <a:buNone/>
            </a:pPr>
            <a:r>
              <a:rPr lang="en-US" altLang="zh-CN" dirty="0">
                <a:latin typeface="Aa花间辞楷书 (非商业使用)" panose="02010600010101010101" pitchFamily="2" charset="-122"/>
                <a:ea typeface="Aa花间辞楷书 (非商业使用)" panose="02010600010101010101" pitchFamily="2" charset="-122"/>
              </a:rPr>
              <a:t>k: </a:t>
            </a:r>
            <a:r>
              <a:rPr lang="zh-CN" altLang="en-US" dirty="0">
                <a:latin typeface="Aa花间辞楷书 (非商业使用)" panose="02010600010101010101" pitchFamily="2" charset="-122"/>
                <a:ea typeface="Aa花间辞楷书 (非商业使用)" panose="02010600010101010101" pitchFamily="2" charset="-122"/>
              </a:rPr>
              <a:t>表示谓词的最大参数个数；</a:t>
            </a:r>
            <a:endParaRPr lang="en-US" altLang="zh-CN" dirty="0">
              <a:latin typeface="Aa花间辞楷书 (非商业使用)" panose="02010600010101010101" pitchFamily="2" charset="-122"/>
              <a:ea typeface="Aa花间辞楷书 (非商业使用)" panose="02010600010101010101" pitchFamily="2" charset="-122"/>
            </a:endParaRPr>
          </a:p>
          <a:p>
            <a:pPr marL="342900" lvl="1" indent="0">
              <a:buNone/>
            </a:pPr>
            <a:r>
              <a:rPr lang="en-US" altLang="zh-CN" dirty="0">
                <a:latin typeface="Aa花间辞楷书 (非商业使用)" panose="02010600010101010101" pitchFamily="2" charset="-122"/>
                <a:ea typeface="Aa花间辞楷书 (非商业使用)" panose="02010600010101010101" pitchFamily="2" charset="-122"/>
              </a:rPr>
              <a:t>n: </a:t>
            </a:r>
            <a:r>
              <a:rPr lang="zh-CN" altLang="en-US" dirty="0">
                <a:latin typeface="Aa花间辞楷书 (非商业使用)" panose="02010600010101010101" pitchFamily="2" charset="-122"/>
                <a:ea typeface="Aa花间辞楷书 (非商业使用)" panose="02010600010101010101" pitchFamily="2" charset="-122"/>
              </a:rPr>
              <a:t>表示常量符号的个数</a:t>
            </a:r>
            <a:endParaRPr lang="en-US" altLang="zh-CN" dirty="0">
              <a:latin typeface="Aa花间辞楷书 (非商业使用)" panose="02010600010101010101" pitchFamily="2" charset="-122"/>
              <a:ea typeface="Aa花间辞楷书 (非商业使用)" panose="02010600010101010101" pitchFamily="2" charset="-122"/>
            </a:endParaRPr>
          </a:p>
          <a:p>
            <a:pPr marL="342900" lvl="1" indent="0">
              <a:buNone/>
            </a:pPr>
            <a:r>
              <a:rPr lang="en-US" altLang="zh-CN" dirty="0">
                <a:latin typeface="Aa花间辞楷书 (非商业使用)" panose="02010600010101010101" pitchFamily="2" charset="-122"/>
                <a:ea typeface="Aa花间辞楷书 (非商业使用)" panose="02010600010101010101" pitchFamily="2" charset="-122"/>
              </a:rPr>
              <a:t>p</a:t>
            </a:r>
            <a:r>
              <a:rPr lang="zh-CN" altLang="en-US" dirty="0">
                <a:latin typeface="Aa花间辞楷书 (非商业使用)" panose="02010600010101010101" pitchFamily="2" charset="-122"/>
                <a:ea typeface="Aa花间辞楷书 (非商业使用)" panose="02010600010101010101" pitchFamily="2" charset="-122"/>
              </a:rPr>
              <a:t>：表示谓词的数量</a:t>
            </a:r>
            <a:endParaRPr lang="en-US" altLang="zh-CN" dirty="0">
              <a:latin typeface="Aa花间辞楷书 (非商业使用)" panose="02010600010101010101" pitchFamily="2" charset="-122"/>
              <a:ea typeface="Aa花间辞楷书 (非商业使用)" panose="02010600010101010101" pitchFamily="2" charset="-122"/>
            </a:endParaRPr>
          </a:p>
          <a:p>
            <a:pPr marL="342900" lvl="1" indent="0">
              <a:buNone/>
            </a:pPr>
            <a:r>
              <a:rPr lang="zh-CN" altLang="en-US" dirty="0">
                <a:latin typeface="Aa花间辞楷书 (非商业使用)" panose="02010600010101010101" pitchFamily="2" charset="-122"/>
                <a:ea typeface="Aa花间辞楷书 (非商业使用)" panose="02010600010101010101" pitchFamily="2" charset="-122"/>
              </a:rPr>
              <a:t>则迭代次数最多为只需多项则到达推理不动点的迭代次数最多为</a:t>
            </a:r>
            <a:r>
              <a:rPr lang="en-US" altLang="zh-CN" dirty="0" err="1">
                <a:latin typeface="Aa花间辞楷书 (非商业使用)" panose="02010600010101010101" pitchFamily="2" charset="-122"/>
                <a:ea typeface="Aa花间辞楷书 (非商业使用)" panose="02010600010101010101" pitchFamily="2" charset="-122"/>
              </a:rPr>
              <a:t>p×n^k</a:t>
            </a:r>
            <a:endParaRPr lang="en-US" altLang="zh-CN" dirty="0">
              <a:latin typeface="Aa花间辞楷书 (非商业使用)" panose="02010600010101010101" pitchFamily="2" charset="-122"/>
              <a:ea typeface="Aa花间辞楷书 (非商业使用)" panose="02010600010101010101" pitchFamily="2" charset="-122"/>
            </a:endParaRPr>
          </a:p>
          <a:p>
            <a:pPr marL="342900" lvl="1" indent="0">
              <a:buNone/>
            </a:pPr>
            <a:r>
              <a:rPr lang="zh-CN" altLang="en-US" dirty="0">
                <a:latin typeface="Aa花间辞楷书 (非商业使用)" panose="02010600010101010101" pitchFamily="2" charset="-122"/>
                <a:ea typeface="Aa花间辞楷书 (非商业使用)" panose="02010600010101010101" pitchFamily="2" charset="-122"/>
              </a:rPr>
              <a:t>对于包含函数关系的</a:t>
            </a:r>
            <a:r>
              <a:rPr lang="en-US" altLang="zh-CN" dirty="0">
                <a:latin typeface="Aa花间辞楷书 (非商业使用)" panose="02010600010101010101" pitchFamily="2" charset="-122"/>
                <a:ea typeface="Aa花间辞楷书 (非商业使用)" panose="02010600010101010101" pitchFamily="2" charset="-122"/>
              </a:rPr>
              <a:t>FOL KB</a:t>
            </a:r>
            <a:r>
              <a:rPr lang="zh-CN" altLang="en-US" dirty="0">
                <a:latin typeface="Aa花间辞楷书 (非商业使用)" panose="02010600010101010101" pitchFamily="2" charset="-122"/>
                <a:ea typeface="Aa花间辞楷书 (非商业使用)" panose="02010600010101010101" pitchFamily="2" charset="-122"/>
              </a:rPr>
              <a:t>，可能不会到达推理终点</a:t>
            </a:r>
          </a:p>
          <a:p>
            <a:endParaRPr lang="zh-CN" altLang="en-US" dirty="0"/>
          </a:p>
        </p:txBody>
      </p:sp>
    </p:spTree>
    <p:extLst>
      <p:ext uri="{BB962C8B-B14F-4D97-AF65-F5344CB8AC3E}">
        <p14:creationId xmlns:p14="http://schemas.microsoft.com/office/powerpoint/2010/main" val="21583064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DC38FA-783F-D013-6A0D-B0B9A6039297}"/>
              </a:ext>
            </a:extLst>
          </p:cNvPr>
          <p:cNvSpPr>
            <a:spLocks noGrp="1"/>
          </p:cNvSpPr>
          <p:nvPr>
            <p:ph type="title"/>
          </p:nvPr>
        </p:nvSpPr>
        <p:spPr/>
        <p:txBody>
          <a:bodyPr/>
          <a:lstStyle/>
          <a:p>
            <a:r>
              <a:rPr lang="en-US" altLang="zh-CN" dirty="0"/>
              <a:t>9.4 </a:t>
            </a:r>
            <a:r>
              <a:rPr lang="zh-CN" altLang="en-US" dirty="0"/>
              <a:t>反向链接</a:t>
            </a:r>
          </a:p>
        </p:txBody>
      </p:sp>
      <p:sp>
        <p:nvSpPr>
          <p:cNvPr id="3" name="内容占位符 2">
            <a:extLst>
              <a:ext uri="{FF2B5EF4-FFF2-40B4-BE49-F238E27FC236}">
                <a16:creationId xmlns:a16="http://schemas.microsoft.com/office/drawing/2014/main" id="{A038D987-6417-0884-D445-8105975A6B41}"/>
              </a:ext>
            </a:extLst>
          </p:cNvPr>
          <p:cNvSpPr>
            <a:spLocks noGrp="1"/>
          </p:cNvSpPr>
          <p:nvPr>
            <p:ph idx="1"/>
          </p:nvPr>
        </p:nvSpPr>
        <p:spPr>
          <a:xfrm>
            <a:off x="522513" y="2116183"/>
            <a:ext cx="11252719" cy="4509950"/>
          </a:xfrm>
        </p:spPr>
        <p:txBody>
          <a:bodyPr>
            <a:normAutofit lnSpcReduction="10000"/>
          </a:bodyPr>
          <a:lstStyle/>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KB</a:t>
            </a:r>
            <a:r>
              <a:rPr lang="zh-CN" altLang="en-US" kern="0" dirty="0">
                <a:solidFill>
                  <a:srgbClr val="FFCC99"/>
                </a:solidFill>
                <a:latin typeface="Aa花间辞楷书 (非商业使用)" panose="02010600010101010101" pitchFamily="2" charset="-122"/>
                <a:ea typeface="Aa花间辞楷书 (非商业使用)" panose="02010600010101010101" pitchFamily="2" charset="-122"/>
              </a:rPr>
              <a:t>如下：</a:t>
            </a:r>
            <a:endParaRPr lang="en-US" altLang="zh-CN" kern="0" dirty="0">
              <a:solidFill>
                <a:srgbClr val="FFCC99"/>
              </a:solidFill>
              <a:latin typeface="Aa花间辞楷书 (非商业使用)" panose="02010600010101010101" pitchFamily="2" charset="-122"/>
              <a:ea typeface="Aa花间辞楷书 (非商业使用)" panose="02010600010101010101" pitchFamily="2" charset="-122"/>
            </a:endParaRP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1）Owns(Nono, 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2）Missile(M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3）American(West)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4）Enemy(Nono, America)</a:t>
            </a:r>
          </a:p>
          <a:p>
            <a:pPr marL="0" indent="0" eaLnBrk="0" hangingPunct="0">
              <a:lnSpc>
                <a:spcPct val="120000"/>
              </a:lnSpc>
              <a:spcBef>
                <a:spcPct val="20000"/>
              </a:spcBef>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5）Missile(x)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Weapon(x)</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6）Missile(x)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Owns(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Nono,x</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West,x,Nono</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7）Enemy(x, America)</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Hostile(x)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8）American(x)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Weapon(y)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x,y,z</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Hostile(z)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Criminal(x)</a:t>
            </a:r>
          </a:p>
          <a:p>
            <a:endParaRPr lang="zh-CN" altLang="en-US" dirty="0"/>
          </a:p>
        </p:txBody>
      </p:sp>
      <p:pic>
        <p:nvPicPr>
          <p:cNvPr id="4" name="Picture 5">
            <a:extLst>
              <a:ext uri="{FF2B5EF4-FFF2-40B4-BE49-F238E27FC236}">
                <a16:creationId xmlns:a16="http://schemas.microsoft.com/office/drawing/2014/main" id="{4572BF7B-9A11-5177-F904-D2D8AC9707EA}"/>
              </a:ext>
            </a:extLst>
          </p:cNvPr>
          <p:cNvPicPr>
            <a:picLocks noChangeAspect="1" noChangeArrowheads="1"/>
          </p:cNvPicPr>
          <p:nvPr/>
        </p:nvPicPr>
        <p:blipFill>
          <a:blip r:embed="rId2"/>
          <a:srcRect/>
          <a:stretch>
            <a:fillRect/>
          </a:stretch>
        </p:blipFill>
        <p:spPr bwMode="auto">
          <a:xfrm>
            <a:off x="6215516" y="170567"/>
            <a:ext cx="1581150" cy="466725"/>
          </a:xfrm>
          <a:prstGeom prst="rect">
            <a:avLst/>
          </a:prstGeom>
          <a:noFill/>
          <a:ln w="12700" cap="sq">
            <a:noFill/>
            <a:miter lim="800000"/>
            <a:headEnd/>
            <a:tailEnd/>
          </a:ln>
        </p:spPr>
      </p:pic>
      <p:sp>
        <p:nvSpPr>
          <p:cNvPr id="5" name="矩形: 圆角 4">
            <a:extLst>
              <a:ext uri="{FF2B5EF4-FFF2-40B4-BE49-F238E27FC236}">
                <a16:creationId xmlns:a16="http://schemas.microsoft.com/office/drawing/2014/main" id="{D73F6931-B2C8-AEC4-80BA-11B084EDD4BC}"/>
              </a:ext>
            </a:extLst>
          </p:cNvPr>
          <p:cNvSpPr/>
          <p:nvPr/>
        </p:nvSpPr>
        <p:spPr>
          <a:xfrm>
            <a:off x="6096000" y="136525"/>
            <a:ext cx="1820182" cy="591348"/>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378231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DC38FA-783F-D013-6A0D-B0B9A6039297}"/>
              </a:ext>
            </a:extLst>
          </p:cNvPr>
          <p:cNvSpPr>
            <a:spLocks noGrp="1"/>
          </p:cNvSpPr>
          <p:nvPr>
            <p:ph type="title"/>
          </p:nvPr>
        </p:nvSpPr>
        <p:spPr/>
        <p:txBody>
          <a:bodyPr/>
          <a:lstStyle/>
          <a:p>
            <a:r>
              <a:rPr lang="en-US" altLang="zh-CN" dirty="0"/>
              <a:t>9.4 </a:t>
            </a:r>
            <a:r>
              <a:rPr lang="zh-CN" altLang="en-US" dirty="0"/>
              <a:t>反向链接</a:t>
            </a:r>
          </a:p>
        </p:txBody>
      </p:sp>
      <p:sp>
        <p:nvSpPr>
          <p:cNvPr id="3" name="内容占位符 2">
            <a:extLst>
              <a:ext uri="{FF2B5EF4-FFF2-40B4-BE49-F238E27FC236}">
                <a16:creationId xmlns:a16="http://schemas.microsoft.com/office/drawing/2014/main" id="{A038D987-6417-0884-D445-8105975A6B41}"/>
              </a:ext>
            </a:extLst>
          </p:cNvPr>
          <p:cNvSpPr>
            <a:spLocks noGrp="1"/>
          </p:cNvSpPr>
          <p:nvPr>
            <p:ph idx="1"/>
          </p:nvPr>
        </p:nvSpPr>
        <p:spPr>
          <a:xfrm>
            <a:off x="522513" y="2116183"/>
            <a:ext cx="11252719" cy="4509950"/>
          </a:xfrm>
        </p:spPr>
        <p:txBody>
          <a:bodyPr>
            <a:normAutofit lnSpcReduction="10000"/>
          </a:bodyPr>
          <a:lstStyle/>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KB</a:t>
            </a:r>
            <a:r>
              <a:rPr lang="zh-CN" altLang="en-US" kern="0" dirty="0">
                <a:solidFill>
                  <a:srgbClr val="FFCC99"/>
                </a:solidFill>
                <a:latin typeface="Aa花间辞楷书 (非商业使用)" panose="02010600010101010101" pitchFamily="2" charset="-122"/>
                <a:ea typeface="Aa花间辞楷书 (非商业使用)" panose="02010600010101010101" pitchFamily="2" charset="-122"/>
              </a:rPr>
              <a:t>如下：</a:t>
            </a:r>
            <a:endParaRPr lang="en-US" altLang="zh-CN" kern="0" dirty="0">
              <a:solidFill>
                <a:srgbClr val="FFCC99"/>
              </a:solidFill>
              <a:latin typeface="Aa花间辞楷书 (非商业使用)" panose="02010600010101010101" pitchFamily="2" charset="-122"/>
              <a:ea typeface="Aa花间辞楷书 (非商业使用)" panose="02010600010101010101" pitchFamily="2" charset="-122"/>
            </a:endParaRP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1）Owns(Nono, 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2）Missile(M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3）American(West)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4）Enemy(Nono, America)</a:t>
            </a:r>
          </a:p>
          <a:p>
            <a:pPr marL="0" indent="0" eaLnBrk="0" hangingPunct="0">
              <a:lnSpc>
                <a:spcPct val="120000"/>
              </a:lnSpc>
              <a:spcBef>
                <a:spcPct val="20000"/>
              </a:spcBef>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5）Missile(x)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Weapon(x)</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6）Missile(x)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Owns(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Nono,x</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West,x,Nono</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7）Enemy(x, America)</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Hostile(x)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8）American(x)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Weapon(y)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x,y,z</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Hostile(z)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Criminal(x)</a:t>
            </a:r>
          </a:p>
          <a:p>
            <a:endParaRPr lang="zh-CN" altLang="en-US" dirty="0"/>
          </a:p>
        </p:txBody>
      </p:sp>
      <p:pic>
        <p:nvPicPr>
          <p:cNvPr id="6" name="Picture 7">
            <a:extLst>
              <a:ext uri="{FF2B5EF4-FFF2-40B4-BE49-F238E27FC236}">
                <a16:creationId xmlns:a16="http://schemas.microsoft.com/office/drawing/2014/main" id="{EF4A7AB7-D94C-291F-8A00-604912217D72}"/>
              </a:ext>
            </a:extLst>
          </p:cNvPr>
          <p:cNvPicPr>
            <a:picLocks noChangeAspect="1" noChangeArrowheads="1"/>
          </p:cNvPicPr>
          <p:nvPr/>
        </p:nvPicPr>
        <p:blipFill>
          <a:blip r:embed="rId2"/>
          <a:srcRect/>
          <a:stretch>
            <a:fillRect/>
          </a:stretch>
        </p:blipFill>
        <p:spPr bwMode="auto">
          <a:xfrm>
            <a:off x="4030437" y="136525"/>
            <a:ext cx="7639050" cy="1943100"/>
          </a:xfrm>
          <a:prstGeom prst="rect">
            <a:avLst/>
          </a:prstGeom>
          <a:noFill/>
          <a:ln w="12700" cap="sq">
            <a:noFill/>
            <a:miter lim="800000"/>
            <a:headEnd/>
            <a:tailEnd/>
          </a:ln>
        </p:spPr>
      </p:pic>
      <p:sp>
        <p:nvSpPr>
          <p:cNvPr id="7" name="Text Box 35">
            <a:extLst>
              <a:ext uri="{FF2B5EF4-FFF2-40B4-BE49-F238E27FC236}">
                <a16:creationId xmlns:a16="http://schemas.microsoft.com/office/drawing/2014/main" id="{C788A918-8D91-0960-8C3C-B0E466308938}"/>
              </a:ext>
            </a:extLst>
          </p:cNvPr>
          <p:cNvSpPr txBox="1">
            <a:spLocks noChangeArrowheads="1"/>
          </p:cNvSpPr>
          <p:nvPr/>
        </p:nvSpPr>
        <p:spPr bwMode="auto">
          <a:xfrm>
            <a:off x="4030437" y="1750037"/>
            <a:ext cx="1531937" cy="329588"/>
          </a:xfrm>
          <a:prstGeom prst="rect">
            <a:avLst/>
          </a:prstGeom>
          <a:solidFill>
            <a:schemeClr val="tx1"/>
          </a:solidFill>
          <a:ln w="25400" cap="sq">
            <a:solidFill>
              <a:srgbClr val="000000"/>
            </a:solidFill>
            <a:miter lim="800000"/>
            <a:headEnd/>
            <a:tailEnd/>
          </a:ln>
        </p:spPr>
        <p:txBody>
          <a:bodyPr lIns="54000" tIns="10800" rIns="54000" bIns="10800">
            <a:spAutoFit/>
          </a:bodyPr>
          <a:lstStyle/>
          <a:p>
            <a:pPr algn="ctr"/>
            <a:r>
              <a:rPr lang="en-US" altLang="zh-CN" sz="2000" b="1" i="1" dirty="0">
                <a:solidFill>
                  <a:schemeClr val="bg1"/>
                </a:solidFill>
              </a:rPr>
              <a:t>A(West)</a:t>
            </a:r>
          </a:p>
        </p:txBody>
      </p:sp>
    </p:spTree>
    <p:extLst>
      <p:ext uri="{BB962C8B-B14F-4D97-AF65-F5344CB8AC3E}">
        <p14:creationId xmlns:p14="http://schemas.microsoft.com/office/powerpoint/2010/main" val="20990127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DC38FA-783F-D013-6A0D-B0B9A6039297}"/>
              </a:ext>
            </a:extLst>
          </p:cNvPr>
          <p:cNvSpPr>
            <a:spLocks noGrp="1"/>
          </p:cNvSpPr>
          <p:nvPr>
            <p:ph type="title"/>
          </p:nvPr>
        </p:nvSpPr>
        <p:spPr/>
        <p:txBody>
          <a:bodyPr/>
          <a:lstStyle/>
          <a:p>
            <a:r>
              <a:rPr lang="en-US" altLang="zh-CN" dirty="0"/>
              <a:t>9.4 </a:t>
            </a:r>
            <a:r>
              <a:rPr lang="zh-CN" altLang="en-US" dirty="0"/>
              <a:t>反向链接</a:t>
            </a:r>
          </a:p>
        </p:txBody>
      </p:sp>
      <p:sp>
        <p:nvSpPr>
          <p:cNvPr id="3" name="内容占位符 2">
            <a:extLst>
              <a:ext uri="{FF2B5EF4-FFF2-40B4-BE49-F238E27FC236}">
                <a16:creationId xmlns:a16="http://schemas.microsoft.com/office/drawing/2014/main" id="{A038D987-6417-0884-D445-8105975A6B41}"/>
              </a:ext>
            </a:extLst>
          </p:cNvPr>
          <p:cNvSpPr>
            <a:spLocks noGrp="1"/>
          </p:cNvSpPr>
          <p:nvPr>
            <p:ph idx="1"/>
          </p:nvPr>
        </p:nvSpPr>
        <p:spPr>
          <a:xfrm>
            <a:off x="522513" y="2116183"/>
            <a:ext cx="11252719" cy="4509950"/>
          </a:xfrm>
        </p:spPr>
        <p:txBody>
          <a:bodyPr>
            <a:normAutofit lnSpcReduction="10000"/>
          </a:bodyPr>
          <a:lstStyle/>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KB</a:t>
            </a:r>
            <a:r>
              <a:rPr lang="zh-CN" altLang="en-US" kern="0" dirty="0">
                <a:solidFill>
                  <a:srgbClr val="FFCC99"/>
                </a:solidFill>
                <a:latin typeface="Aa花间辞楷书 (非商业使用)" panose="02010600010101010101" pitchFamily="2" charset="-122"/>
                <a:ea typeface="Aa花间辞楷书 (非商业使用)" panose="02010600010101010101" pitchFamily="2" charset="-122"/>
              </a:rPr>
              <a:t>如下：</a:t>
            </a:r>
            <a:endParaRPr lang="en-US" altLang="zh-CN" kern="0" dirty="0">
              <a:solidFill>
                <a:srgbClr val="FFCC99"/>
              </a:solidFill>
              <a:latin typeface="Aa花间辞楷书 (非商业使用)" panose="02010600010101010101" pitchFamily="2" charset="-122"/>
              <a:ea typeface="Aa花间辞楷书 (非商业使用)" panose="02010600010101010101" pitchFamily="2" charset="-122"/>
            </a:endParaRP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1）Owns(Nono, 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2）Missile(M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3）American(West)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4）Enemy(Nono, America)</a:t>
            </a:r>
          </a:p>
          <a:p>
            <a:pPr marL="0" indent="0" eaLnBrk="0" hangingPunct="0">
              <a:lnSpc>
                <a:spcPct val="120000"/>
              </a:lnSpc>
              <a:spcBef>
                <a:spcPct val="20000"/>
              </a:spcBef>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5）Missile(x)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Weapon(x)</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6）Missile(x)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Owns(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Nono,x</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West,x,Nono</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7）Enemy(x, America)</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Hostile(x)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8）American(x)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Weapon(y)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x,y,z</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Hostile(z)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Criminal(x)</a:t>
            </a:r>
          </a:p>
          <a:p>
            <a:endParaRPr lang="zh-CN" altLang="en-US" dirty="0"/>
          </a:p>
        </p:txBody>
      </p:sp>
      <p:pic>
        <p:nvPicPr>
          <p:cNvPr id="4" name="Picture 23">
            <a:extLst>
              <a:ext uri="{FF2B5EF4-FFF2-40B4-BE49-F238E27FC236}">
                <a16:creationId xmlns:a16="http://schemas.microsoft.com/office/drawing/2014/main" id="{66CE9B54-DA3B-07CF-06DE-91874B6867CE}"/>
              </a:ext>
            </a:extLst>
          </p:cNvPr>
          <p:cNvPicPr>
            <a:picLocks noChangeAspect="1" noChangeArrowheads="1"/>
          </p:cNvPicPr>
          <p:nvPr/>
        </p:nvPicPr>
        <p:blipFill>
          <a:blip r:embed="rId2"/>
          <a:srcRect/>
          <a:stretch>
            <a:fillRect/>
          </a:stretch>
        </p:blipFill>
        <p:spPr bwMode="auto">
          <a:xfrm>
            <a:off x="3992337" y="136525"/>
            <a:ext cx="7677150" cy="3409950"/>
          </a:xfrm>
          <a:prstGeom prst="rect">
            <a:avLst/>
          </a:prstGeom>
          <a:noFill/>
          <a:ln w="12700" cap="sq">
            <a:noFill/>
            <a:miter lim="800000"/>
            <a:headEnd/>
            <a:tailEnd/>
          </a:ln>
        </p:spPr>
      </p:pic>
      <p:sp>
        <p:nvSpPr>
          <p:cNvPr id="5" name="Text Box 24">
            <a:extLst>
              <a:ext uri="{FF2B5EF4-FFF2-40B4-BE49-F238E27FC236}">
                <a16:creationId xmlns:a16="http://schemas.microsoft.com/office/drawing/2014/main" id="{E0A5680F-6681-C0F8-FDE0-A2F02A95BE2C}"/>
              </a:ext>
            </a:extLst>
          </p:cNvPr>
          <p:cNvSpPr txBox="1">
            <a:spLocks noChangeArrowheads="1"/>
          </p:cNvSpPr>
          <p:nvPr/>
        </p:nvSpPr>
        <p:spPr bwMode="auto">
          <a:xfrm>
            <a:off x="3992337" y="1719262"/>
            <a:ext cx="1531937" cy="329588"/>
          </a:xfrm>
          <a:prstGeom prst="rect">
            <a:avLst/>
          </a:prstGeom>
          <a:solidFill>
            <a:schemeClr val="tx1"/>
          </a:solidFill>
          <a:ln w="25400" cap="sq">
            <a:solidFill>
              <a:srgbClr val="000000"/>
            </a:solidFill>
            <a:miter lim="800000"/>
            <a:headEnd/>
            <a:tailEnd/>
          </a:ln>
        </p:spPr>
        <p:txBody>
          <a:bodyPr lIns="54000" tIns="10800" rIns="54000" bIns="10800">
            <a:spAutoFit/>
          </a:bodyPr>
          <a:lstStyle/>
          <a:p>
            <a:pPr algn="ctr"/>
            <a:r>
              <a:rPr lang="en-US" altLang="zh-CN" sz="2000" b="1" i="1">
                <a:solidFill>
                  <a:schemeClr val="bg1"/>
                </a:solidFill>
              </a:rPr>
              <a:t>A(West)</a:t>
            </a:r>
          </a:p>
        </p:txBody>
      </p:sp>
      <p:sp>
        <p:nvSpPr>
          <p:cNvPr id="8" name="Text Box 25">
            <a:extLst>
              <a:ext uri="{FF2B5EF4-FFF2-40B4-BE49-F238E27FC236}">
                <a16:creationId xmlns:a16="http://schemas.microsoft.com/office/drawing/2014/main" id="{84610A25-9D1F-25CF-3881-4F0A38DF1A8A}"/>
              </a:ext>
            </a:extLst>
          </p:cNvPr>
          <p:cNvSpPr txBox="1">
            <a:spLocks noChangeArrowheads="1"/>
          </p:cNvSpPr>
          <p:nvPr/>
        </p:nvSpPr>
        <p:spPr bwMode="auto">
          <a:xfrm>
            <a:off x="9608912" y="207962"/>
            <a:ext cx="1871662" cy="296863"/>
          </a:xfrm>
          <a:prstGeom prst="rect">
            <a:avLst/>
          </a:prstGeom>
          <a:solidFill>
            <a:schemeClr val="tx1"/>
          </a:solidFill>
          <a:ln w="25400" cap="sq">
            <a:noFill/>
            <a:miter lim="800000"/>
            <a:headEnd/>
            <a:tailEnd/>
          </a:ln>
        </p:spPr>
        <p:txBody>
          <a:bodyPr lIns="54000" tIns="10800" rIns="54000" bIns="10800">
            <a:spAutoFit/>
          </a:bodyPr>
          <a:lstStyle/>
          <a:p>
            <a:pPr algn="ctr"/>
            <a:r>
              <a:rPr lang="en-US" altLang="zh-CN" sz="1800" b="1" i="1">
                <a:solidFill>
                  <a:schemeClr val="bg1"/>
                </a:solidFill>
              </a:rPr>
              <a:t>{x/West}</a:t>
            </a:r>
          </a:p>
        </p:txBody>
      </p:sp>
    </p:spTree>
    <p:extLst>
      <p:ext uri="{BB962C8B-B14F-4D97-AF65-F5344CB8AC3E}">
        <p14:creationId xmlns:p14="http://schemas.microsoft.com/office/powerpoint/2010/main" val="8224441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DC38FA-783F-D013-6A0D-B0B9A6039297}"/>
              </a:ext>
            </a:extLst>
          </p:cNvPr>
          <p:cNvSpPr>
            <a:spLocks noGrp="1"/>
          </p:cNvSpPr>
          <p:nvPr>
            <p:ph type="title"/>
          </p:nvPr>
        </p:nvSpPr>
        <p:spPr/>
        <p:txBody>
          <a:bodyPr/>
          <a:lstStyle/>
          <a:p>
            <a:r>
              <a:rPr lang="en-US" altLang="zh-CN" dirty="0"/>
              <a:t>9.4 </a:t>
            </a:r>
            <a:r>
              <a:rPr lang="zh-CN" altLang="en-US" dirty="0"/>
              <a:t>反向链接</a:t>
            </a:r>
          </a:p>
        </p:txBody>
      </p:sp>
      <p:sp>
        <p:nvSpPr>
          <p:cNvPr id="3" name="内容占位符 2">
            <a:extLst>
              <a:ext uri="{FF2B5EF4-FFF2-40B4-BE49-F238E27FC236}">
                <a16:creationId xmlns:a16="http://schemas.microsoft.com/office/drawing/2014/main" id="{A038D987-6417-0884-D445-8105975A6B41}"/>
              </a:ext>
            </a:extLst>
          </p:cNvPr>
          <p:cNvSpPr>
            <a:spLocks noGrp="1"/>
          </p:cNvSpPr>
          <p:nvPr>
            <p:ph idx="1"/>
          </p:nvPr>
        </p:nvSpPr>
        <p:spPr>
          <a:xfrm>
            <a:off x="522513" y="2116183"/>
            <a:ext cx="11252719" cy="4509950"/>
          </a:xfrm>
        </p:spPr>
        <p:txBody>
          <a:bodyPr>
            <a:normAutofit lnSpcReduction="10000"/>
          </a:bodyPr>
          <a:lstStyle/>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KB</a:t>
            </a:r>
            <a:r>
              <a:rPr lang="zh-CN" altLang="en-US" kern="0" dirty="0">
                <a:solidFill>
                  <a:srgbClr val="FFCC99"/>
                </a:solidFill>
                <a:latin typeface="Aa花间辞楷书 (非商业使用)" panose="02010600010101010101" pitchFamily="2" charset="-122"/>
                <a:ea typeface="Aa花间辞楷书 (非商业使用)" panose="02010600010101010101" pitchFamily="2" charset="-122"/>
              </a:rPr>
              <a:t>如下：</a:t>
            </a:r>
            <a:endParaRPr lang="en-US" altLang="zh-CN" kern="0" dirty="0">
              <a:solidFill>
                <a:srgbClr val="FFCC99"/>
              </a:solidFill>
              <a:latin typeface="Aa花间辞楷书 (非商业使用)" panose="02010600010101010101" pitchFamily="2" charset="-122"/>
              <a:ea typeface="Aa花间辞楷书 (非商业使用)" panose="02010600010101010101" pitchFamily="2" charset="-122"/>
            </a:endParaRP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1）Owns(Nono, 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2）Missile(M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3）American(West)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4）Enemy(Nono, America)</a:t>
            </a:r>
          </a:p>
          <a:p>
            <a:pPr marL="0" indent="0" eaLnBrk="0" hangingPunct="0">
              <a:lnSpc>
                <a:spcPct val="120000"/>
              </a:lnSpc>
              <a:spcBef>
                <a:spcPct val="20000"/>
              </a:spcBef>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5）Missile(x)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Weapon(x)</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6）Missile(x)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Owns(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Nono,x</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West,x,Nono</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7）Enemy(x, America)</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Hostile(x)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8）American(x)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Weapon(y)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x,y,z</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Hostile(z)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Criminal(x)</a:t>
            </a:r>
          </a:p>
          <a:p>
            <a:endParaRPr lang="zh-CN" altLang="en-US" dirty="0"/>
          </a:p>
        </p:txBody>
      </p:sp>
      <p:pic>
        <p:nvPicPr>
          <p:cNvPr id="6" name="Picture 7">
            <a:extLst>
              <a:ext uri="{FF2B5EF4-FFF2-40B4-BE49-F238E27FC236}">
                <a16:creationId xmlns:a16="http://schemas.microsoft.com/office/drawing/2014/main" id="{D4C85F75-3CA0-F638-D505-93CB06621D35}"/>
              </a:ext>
            </a:extLst>
          </p:cNvPr>
          <p:cNvPicPr>
            <a:picLocks noChangeAspect="1" noChangeArrowheads="1"/>
          </p:cNvPicPr>
          <p:nvPr/>
        </p:nvPicPr>
        <p:blipFill>
          <a:blip r:embed="rId2"/>
          <a:srcRect/>
          <a:stretch>
            <a:fillRect/>
          </a:stretch>
        </p:blipFill>
        <p:spPr bwMode="auto">
          <a:xfrm>
            <a:off x="3963762" y="136525"/>
            <a:ext cx="7705725" cy="3667125"/>
          </a:xfrm>
          <a:prstGeom prst="rect">
            <a:avLst/>
          </a:prstGeom>
          <a:noFill/>
          <a:ln w="12700" cap="sq">
            <a:noFill/>
            <a:miter lim="800000"/>
            <a:headEnd/>
            <a:tailEnd/>
          </a:ln>
        </p:spPr>
      </p:pic>
      <p:sp>
        <p:nvSpPr>
          <p:cNvPr id="7" name="Text Box 8">
            <a:extLst>
              <a:ext uri="{FF2B5EF4-FFF2-40B4-BE49-F238E27FC236}">
                <a16:creationId xmlns:a16="http://schemas.microsoft.com/office/drawing/2014/main" id="{830A3E72-CB87-9FB9-AB26-E1FF6D551903}"/>
              </a:ext>
            </a:extLst>
          </p:cNvPr>
          <p:cNvSpPr txBox="1">
            <a:spLocks noChangeArrowheads="1"/>
          </p:cNvSpPr>
          <p:nvPr/>
        </p:nvSpPr>
        <p:spPr bwMode="auto">
          <a:xfrm>
            <a:off x="4036787" y="1714500"/>
            <a:ext cx="1531937" cy="329588"/>
          </a:xfrm>
          <a:prstGeom prst="rect">
            <a:avLst/>
          </a:prstGeom>
          <a:solidFill>
            <a:schemeClr val="tx1"/>
          </a:solidFill>
          <a:ln w="25400" cap="sq">
            <a:solidFill>
              <a:srgbClr val="000000"/>
            </a:solidFill>
            <a:miter lim="800000"/>
            <a:headEnd/>
            <a:tailEnd/>
          </a:ln>
        </p:spPr>
        <p:txBody>
          <a:bodyPr lIns="54000" tIns="10800" rIns="54000" bIns="10800">
            <a:spAutoFit/>
          </a:bodyPr>
          <a:lstStyle/>
          <a:p>
            <a:pPr algn="ctr"/>
            <a:r>
              <a:rPr lang="en-US" altLang="zh-CN" sz="2000" b="1" i="1">
                <a:solidFill>
                  <a:schemeClr val="bg1"/>
                </a:solidFill>
              </a:rPr>
              <a:t>A(West)</a:t>
            </a:r>
          </a:p>
        </p:txBody>
      </p:sp>
      <p:sp>
        <p:nvSpPr>
          <p:cNvPr id="9" name="Text Box 10">
            <a:extLst>
              <a:ext uri="{FF2B5EF4-FFF2-40B4-BE49-F238E27FC236}">
                <a16:creationId xmlns:a16="http://schemas.microsoft.com/office/drawing/2014/main" id="{31D08206-3394-7EEB-A609-E4DA6183B2B0}"/>
              </a:ext>
            </a:extLst>
          </p:cNvPr>
          <p:cNvSpPr txBox="1">
            <a:spLocks noChangeArrowheads="1"/>
          </p:cNvSpPr>
          <p:nvPr/>
        </p:nvSpPr>
        <p:spPr bwMode="auto">
          <a:xfrm>
            <a:off x="9653362" y="203200"/>
            <a:ext cx="1871662" cy="296863"/>
          </a:xfrm>
          <a:prstGeom prst="rect">
            <a:avLst/>
          </a:prstGeom>
          <a:solidFill>
            <a:schemeClr val="tx1"/>
          </a:solidFill>
          <a:ln w="25400" cap="sq">
            <a:noFill/>
            <a:miter lim="800000"/>
            <a:headEnd/>
            <a:tailEnd/>
          </a:ln>
        </p:spPr>
        <p:txBody>
          <a:bodyPr lIns="54000" tIns="10800" rIns="54000" bIns="10800">
            <a:spAutoFit/>
          </a:bodyPr>
          <a:lstStyle/>
          <a:p>
            <a:pPr algn="ctr"/>
            <a:r>
              <a:rPr lang="en-US" altLang="zh-CN" sz="1800" b="1" i="1">
                <a:solidFill>
                  <a:schemeClr val="bg1"/>
                </a:solidFill>
              </a:rPr>
              <a:t>{x/West,y/M1}</a:t>
            </a:r>
          </a:p>
        </p:txBody>
      </p:sp>
    </p:spTree>
    <p:extLst>
      <p:ext uri="{BB962C8B-B14F-4D97-AF65-F5344CB8AC3E}">
        <p14:creationId xmlns:p14="http://schemas.microsoft.com/office/powerpoint/2010/main" val="40515148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DC38FA-783F-D013-6A0D-B0B9A6039297}"/>
              </a:ext>
            </a:extLst>
          </p:cNvPr>
          <p:cNvSpPr>
            <a:spLocks noGrp="1"/>
          </p:cNvSpPr>
          <p:nvPr>
            <p:ph type="title"/>
          </p:nvPr>
        </p:nvSpPr>
        <p:spPr/>
        <p:txBody>
          <a:bodyPr/>
          <a:lstStyle/>
          <a:p>
            <a:r>
              <a:rPr lang="en-US" altLang="zh-CN" dirty="0"/>
              <a:t>9.4 </a:t>
            </a:r>
            <a:r>
              <a:rPr lang="zh-CN" altLang="en-US" dirty="0"/>
              <a:t>反向链接</a:t>
            </a:r>
          </a:p>
        </p:txBody>
      </p:sp>
      <p:sp>
        <p:nvSpPr>
          <p:cNvPr id="3" name="内容占位符 2">
            <a:extLst>
              <a:ext uri="{FF2B5EF4-FFF2-40B4-BE49-F238E27FC236}">
                <a16:creationId xmlns:a16="http://schemas.microsoft.com/office/drawing/2014/main" id="{A038D987-6417-0884-D445-8105975A6B41}"/>
              </a:ext>
            </a:extLst>
          </p:cNvPr>
          <p:cNvSpPr>
            <a:spLocks noGrp="1"/>
          </p:cNvSpPr>
          <p:nvPr>
            <p:ph idx="1"/>
          </p:nvPr>
        </p:nvSpPr>
        <p:spPr>
          <a:xfrm>
            <a:off x="522513" y="2116183"/>
            <a:ext cx="11252719" cy="4509950"/>
          </a:xfrm>
        </p:spPr>
        <p:txBody>
          <a:bodyPr>
            <a:normAutofit lnSpcReduction="10000"/>
          </a:bodyPr>
          <a:lstStyle/>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KB</a:t>
            </a:r>
            <a:r>
              <a:rPr lang="zh-CN" altLang="en-US" kern="0" dirty="0">
                <a:solidFill>
                  <a:srgbClr val="FFCC99"/>
                </a:solidFill>
                <a:latin typeface="Aa花间辞楷书 (非商业使用)" panose="02010600010101010101" pitchFamily="2" charset="-122"/>
                <a:ea typeface="Aa花间辞楷书 (非商业使用)" panose="02010600010101010101" pitchFamily="2" charset="-122"/>
              </a:rPr>
              <a:t>如下：</a:t>
            </a:r>
            <a:endParaRPr lang="en-US" altLang="zh-CN" kern="0" dirty="0">
              <a:solidFill>
                <a:srgbClr val="FFCC99"/>
              </a:solidFill>
              <a:latin typeface="Aa花间辞楷书 (非商业使用)" panose="02010600010101010101" pitchFamily="2" charset="-122"/>
              <a:ea typeface="Aa花间辞楷书 (非商业使用)" panose="02010600010101010101" pitchFamily="2" charset="-122"/>
            </a:endParaRP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1）Owns(Nono, 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2）Missile(M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3）American(West)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4）Enemy(Nono, America)</a:t>
            </a:r>
          </a:p>
          <a:p>
            <a:pPr marL="0" indent="0" eaLnBrk="0" hangingPunct="0">
              <a:lnSpc>
                <a:spcPct val="120000"/>
              </a:lnSpc>
              <a:spcBef>
                <a:spcPct val="20000"/>
              </a:spcBef>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5）Missile(x)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Weapon(x)</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6）Missile(x)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Owns(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Nono,x</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West,x,Nono</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7）Enemy(x, America)</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Hostile(x)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8）American(x)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Weapon(y)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x,y,z</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Hostile(z)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Criminal(x)</a:t>
            </a:r>
          </a:p>
          <a:p>
            <a:endParaRPr lang="zh-CN" altLang="en-US" dirty="0"/>
          </a:p>
        </p:txBody>
      </p:sp>
      <p:pic>
        <p:nvPicPr>
          <p:cNvPr id="4" name="Picture 6">
            <a:extLst>
              <a:ext uri="{FF2B5EF4-FFF2-40B4-BE49-F238E27FC236}">
                <a16:creationId xmlns:a16="http://schemas.microsoft.com/office/drawing/2014/main" id="{EADD4534-A1DB-6B93-DCD9-9640BCC2F59E}"/>
              </a:ext>
            </a:extLst>
          </p:cNvPr>
          <p:cNvPicPr>
            <a:picLocks noChangeAspect="1" noChangeArrowheads="1"/>
          </p:cNvPicPr>
          <p:nvPr/>
        </p:nvPicPr>
        <p:blipFill>
          <a:blip r:embed="rId2"/>
          <a:srcRect/>
          <a:stretch>
            <a:fillRect/>
          </a:stretch>
        </p:blipFill>
        <p:spPr bwMode="auto">
          <a:xfrm>
            <a:off x="4038375" y="231867"/>
            <a:ext cx="7629525" cy="3609975"/>
          </a:xfrm>
          <a:prstGeom prst="rect">
            <a:avLst/>
          </a:prstGeom>
          <a:noFill/>
          <a:ln w="12700" cap="sq">
            <a:noFill/>
            <a:miter lim="800000"/>
            <a:headEnd/>
            <a:tailEnd/>
          </a:ln>
        </p:spPr>
      </p:pic>
      <p:sp>
        <p:nvSpPr>
          <p:cNvPr id="5" name="Text Box 7">
            <a:extLst>
              <a:ext uri="{FF2B5EF4-FFF2-40B4-BE49-F238E27FC236}">
                <a16:creationId xmlns:a16="http://schemas.microsoft.com/office/drawing/2014/main" id="{EF3B0CD0-57B7-951D-DBC8-5B92DD98A0FC}"/>
              </a:ext>
            </a:extLst>
          </p:cNvPr>
          <p:cNvSpPr txBox="1">
            <a:spLocks noChangeArrowheads="1"/>
          </p:cNvSpPr>
          <p:nvPr/>
        </p:nvSpPr>
        <p:spPr bwMode="auto">
          <a:xfrm>
            <a:off x="4035200" y="1800317"/>
            <a:ext cx="1531937" cy="329588"/>
          </a:xfrm>
          <a:prstGeom prst="rect">
            <a:avLst/>
          </a:prstGeom>
          <a:solidFill>
            <a:schemeClr val="tx1"/>
          </a:solidFill>
          <a:ln w="25400" cap="sq">
            <a:solidFill>
              <a:srgbClr val="000000"/>
            </a:solidFill>
            <a:miter lim="800000"/>
            <a:headEnd/>
            <a:tailEnd/>
          </a:ln>
        </p:spPr>
        <p:txBody>
          <a:bodyPr lIns="54000" tIns="10800" rIns="54000" bIns="10800">
            <a:spAutoFit/>
          </a:bodyPr>
          <a:lstStyle/>
          <a:p>
            <a:pPr algn="ctr"/>
            <a:r>
              <a:rPr lang="en-US" altLang="zh-CN" sz="2000" b="1" i="1" dirty="0">
                <a:solidFill>
                  <a:schemeClr val="bg1"/>
                </a:solidFill>
              </a:rPr>
              <a:t>A(West)</a:t>
            </a:r>
          </a:p>
        </p:txBody>
      </p:sp>
      <p:sp>
        <p:nvSpPr>
          <p:cNvPr id="8" name="Text Box 9">
            <a:extLst>
              <a:ext uri="{FF2B5EF4-FFF2-40B4-BE49-F238E27FC236}">
                <a16:creationId xmlns:a16="http://schemas.microsoft.com/office/drawing/2014/main" id="{DB2CE4BA-17F4-6AE6-FBFB-639D459DBDB7}"/>
              </a:ext>
            </a:extLst>
          </p:cNvPr>
          <p:cNvSpPr txBox="1">
            <a:spLocks noChangeArrowheads="1"/>
          </p:cNvSpPr>
          <p:nvPr/>
        </p:nvSpPr>
        <p:spPr bwMode="auto">
          <a:xfrm>
            <a:off x="9651775" y="312830"/>
            <a:ext cx="2017712" cy="298810"/>
          </a:xfrm>
          <a:prstGeom prst="rect">
            <a:avLst/>
          </a:prstGeom>
          <a:solidFill>
            <a:schemeClr val="tx1"/>
          </a:solidFill>
          <a:ln w="25400" cap="sq">
            <a:noFill/>
            <a:miter lim="800000"/>
            <a:headEnd/>
            <a:tailEnd/>
          </a:ln>
        </p:spPr>
        <p:txBody>
          <a:bodyPr wrap="square" lIns="54000" tIns="10800" rIns="54000" bIns="10800">
            <a:spAutoFit/>
          </a:bodyPr>
          <a:lstStyle/>
          <a:p>
            <a:pPr algn="ctr"/>
            <a:r>
              <a:rPr lang="en-US" altLang="zh-CN" sz="1800" b="1" i="1" dirty="0">
                <a:solidFill>
                  <a:schemeClr val="bg1"/>
                </a:solidFill>
              </a:rPr>
              <a:t>{x/</a:t>
            </a:r>
            <a:r>
              <a:rPr lang="en-US" altLang="zh-CN" sz="1800" b="1" i="1" dirty="0" err="1">
                <a:solidFill>
                  <a:schemeClr val="bg1"/>
                </a:solidFill>
              </a:rPr>
              <a:t>West,y</a:t>
            </a:r>
            <a:r>
              <a:rPr lang="en-US" altLang="zh-CN" sz="1800" b="1" i="1" dirty="0">
                <a:solidFill>
                  <a:schemeClr val="bg1"/>
                </a:solidFill>
              </a:rPr>
              <a:t>/M1,z/N}</a:t>
            </a:r>
          </a:p>
        </p:txBody>
      </p:sp>
      <p:sp>
        <p:nvSpPr>
          <p:cNvPr id="10" name="Text Box 11">
            <a:extLst>
              <a:ext uri="{FF2B5EF4-FFF2-40B4-BE49-F238E27FC236}">
                <a16:creationId xmlns:a16="http://schemas.microsoft.com/office/drawing/2014/main" id="{46E84183-C0D3-CAFA-7D66-4E05FFA6EF15}"/>
              </a:ext>
            </a:extLst>
          </p:cNvPr>
          <p:cNvSpPr txBox="1">
            <a:spLocks noChangeArrowheads="1"/>
          </p:cNvSpPr>
          <p:nvPr/>
        </p:nvSpPr>
        <p:spPr bwMode="auto">
          <a:xfrm>
            <a:off x="8335737" y="3194142"/>
            <a:ext cx="1681990" cy="329588"/>
          </a:xfrm>
          <a:prstGeom prst="rect">
            <a:avLst/>
          </a:prstGeom>
          <a:solidFill>
            <a:schemeClr val="tx1"/>
          </a:solidFill>
          <a:ln w="25400" cap="sq">
            <a:solidFill>
              <a:srgbClr val="000000"/>
            </a:solidFill>
            <a:miter lim="800000"/>
            <a:headEnd/>
            <a:tailEnd/>
          </a:ln>
        </p:spPr>
        <p:txBody>
          <a:bodyPr wrap="square" lIns="54000" tIns="10800" rIns="54000" bIns="10800">
            <a:spAutoFit/>
          </a:bodyPr>
          <a:lstStyle/>
          <a:p>
            <a:pPr algn="ctr"/>
            <a:r>
              <a:rPr lang="en-US" altLang="zh-CN" sz="2000" b="1" i="1" dirty="0">
                <a:solidFill>
                  <a:schemeClr val="bg1"/>
                </a:solidFill>
              </a:rPr>
              <a:t>Owns(N,M1)</a:t>
            </a:r>
          </a:p>
        </p:txBody>
      </p:sp>
      <p:sp>
        <p:nvSpPr>
          <p:cNvPr id="11" name="Text Box 12">
            <a:extLst>
              <a:ext uri="{FF2B5EF4-FFF2-40B4-BE49-F238E27FC236}">
                <a16:creationId xmlns:a16="http://schemas.microsoft.com/office/drawing/2014/main" id="{61EC20FF-4A65-F59A-53C6-DAD771D18B4A}"/>
              </a:ext>
            </a:extLst>
          </p:cNvPr>
          <p:cNvSpPr txBox="1">
            <a:spLocks noChangeArrowheads="1"/>
          </p:cNvSpPr>
          <p:nvPr/>
        </p:nvSpPr>
        <p:spPr bwMode="auto">
          <a:xfrm>
            <a:off x="7419750" y="2186080"/>
            <a:ext cx="863600" cy="296862"/>
          </a:xfrm>
          <a:prstGeom prst="rect">
            <a:avLst/>
          </a:prstGeom>
          <a:solidFill>
            <a:schemeClr val="tx1"/>
          </a:solidFill>
          <a:ln w="25400" cap="sq">
            <a:noFill/>
            <a:miter lim="800000"/>
            <a:headEnd/>
            <a:tailEnd/>
          </a:ln>
        </p:spPr>
        <p:txBody>
          <a:bodyPr lIns="54000" tIns="10800" rIns="54000" bIns="10800">
            <a:spAutoFit/>
          </a:bodyPr>
          <a:lstStyle/>
          <a:p>
            <a:pPr algn="ctr"/>
            <a:r>
              <a:rPr lang="en-US" altLang="zh-CN" sz="1800" b="1" i="1">
                <a:solidFill>
                  <a:schemeClr val="bg1"/>
                </a:solidFill>
              </a:rPr>
              <a:t>{z/N}</a:t>
            </a:r>
          </a:p>
        </p:txBody>
      </p:sp>
    </p:spTree>
    <p:extLst>
      <p:ext uri="{BB962C8B-B14F-4D97-AF65-F5344CB8AC3E}">
        <p14:creationId xmlns:p14="http://schemas.microsoft.com/office/powerpoint/2010/main" val="22621039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DC38FA-783F-D013-6A0D-B0B9A6039297}"/>
              </a:ext>
            </a:extLst>
          </p:cNvPr>
          <p:cNvSpPr>
            <a:spLocks noGrp="1"/>
          </p:cNvSpPr>
          <p:nvPr>
            <p:ph type="title"/>
          </p:nvPr>
        </p:nvSpPr>
        <p:spPr/>
        <p:txBody>
          <a:bodyPr/>
          <a:lstStyle/>
          <a:p>
            <a:r>
              <a:rPr lang="en-US" altLang="zh-CN" dirty="0"/>
              <a:t>9.4 </a:t>
            </a:r>
            <a:r>
              <a:rPr lang="zh-CN" altLang="en-US" dirty="0"/>
              <a:t>反向链接</a:t>
            </a:r>
          </a:p>
        </p:txBody>
      </p:sp>
      <p:sp>
        <p:nvSpPr>
          <p:cNvPr id="3" name="内容占位符 2">
            <a:extLst>
              <a:ext uri="{FF2B5EF4-FFF2-40B4-BE49-F238E27FC236}">
                <a16:creationId xmlns:a16="http://schemas.microsoft.com/office/drawing/2014/main" id="{A038D987-6417-0884-D445-8105975A6B41}"/>
              </a:ext>
            </a:extLst>
          </p:cNvPr>
          <p:cNvSpPr>
            <a:spLocks noGrp="1"/>
          </p:cNvSpPr>
          <p:nvPr>
            <p:ph idx="1"/>
          </p:nvPr>
        </p:nvSpPr>
        <p:spPr>
          <a:xfrm>
            <a:off x="522513" y="2116183"/>
            <a:ext cx="11252719" cy="4509950"/>
          </a:xfrm>
        </p:spPr>
        <p:txBody>
          <a:bodyPr>
            <a:normAutofit lnSpcReduction="10000"/>
          </a:bodyPr>
          <a:lstStyle/>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KB</a:t>
            </a:r>
            <a:r>
              <a:rPr lang="zh-CN" altLang="en-US" kern="0" dirty="0">
                <a:solidFill>
                  <a:srgbClr val="FFCC99"/>
                </a:solidFill>
                <a:latin typeface="Aa花间辞楷书 (非商业使用)" panose="02010600010101010101" pitchFamily="2" charset="-122"/>
                <a:ea typeface="Aa花间辞楷书 (非商业使用)" panose="02010600010101010101" pitchFamily="2" charset="-122"/>
              </a:rPr>
              <a:t>如下：</a:t>
            </a:r>
            <a:endParaRPr lang="en-US" altLang="zh-CN" kern="0" dirty="0">
              <a:solidFill>
                <a:srgbClr val="FFCC99"/>
              </a:solidFill>
              <a:latin typeface="Aa花间辞楷书 (非商业使用)" panose="02010600010101010101" pitchFamily="2" charset="-122"/>
              <a:ea typeface="Aa花间辞楷书 (非商业使用)" panose="02010600010101010101" pitchFamily="2" charset="-122"/>
            </a:endParaRP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1）Owns(Nono, 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2）Missile(M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3）American(West)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4）Enemy(Nono, America)</a:t>
            </a:r>
          </a:p>
          <a:p>
            <a:pPr marL="0" indent="0" eaLnBrk="0" hangingPunct="0">
              <a:lnSpc>
                <a:spcPct val="120000"/>
              </a:lnSpc>
              <a:spcBef>
                <a:spcPct val="20000"/>
              </a:spcBef>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5）Missile(x)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Weapon(x)</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6）Missile(x)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Owns(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Nono,x</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West,x,Nono</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7）Enemy(x, America)</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Hostile(x)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8）American(x)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Weapon(y)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x,y,z</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Hostile(z)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Criminal(x)</a:t>
            </a:r>
          </a:p>
          <a:p>
            <a:endParaRPr lang="zh-CN" altLang="en-US" dirty="0"/>
          </a:p>
        </p:txBody>
      </p:sp>
      <p:pic>
        <p:nvPicPr>
          <p:cNvPr id="6" name="Picture 6">
            <a:extLst>
              <a:ext uri="{FF2B5EF4-FFF2-40B4-BE49-F238E27FC236}">
                <a16:creationId xmlns:a16="http://schemas.microsoft.com/office/drawing/2014/main" id="{E19073F7-A508-688C-046B-FF93BEC8A711}"/>
              </a:ext>
            </a:extLst>
          </p:cNvPr>
          <p:cNvPicPr>
            <a:picLocks noChangeAspect="1" noChangeArrowheads="1"/>
          </p:cNvPicPr>
          <p:nvPr/>
        </p:nvPicPr>
        <p:blipFill>
          <a:blip r:embed="rId2"/>
          <a:srcRect/>
          <a:stretch>
            <a:fillRect/>
          </a:stretch>
        </p:blipFill>
        <p:spPr bwMode="auto">
          <a:xfrm>
            <a:off x="3553795" y="231867"/>
            <a:ext cx="8096250" cy="3724275"/>
          </a:xfrm>
          <a:prstGeom prst="rect">
            <a:avLst/>
          </a:prstGeom>
          <a:noFill/>
          <a:ln w="12700" cap="sq">
            <a:noFill/>
            <a:miter lim="800000"/>
            <a:headEnd/>
            <a:tailEnd/>
          </a:ln>
        </p:spPr>
      </p:pic>
      <p:sp>
        <p:nvSpPr>
          <p:cNvPr id="7" name="Text Box 7">
            <a:extLst>
              <a:ext uri="{FF2B5EF4-FFF2-40B4-BE49-F238E27FC236}">
                <a16:creationId xmlns:a16="http://schemas.microsoft.com/office/drawing/2014/main" id="{9F69ED75-A4F3-70D2-60FD-4A59193451D6}"/>
              </a:ext>
            </a:extLst>
          </p:cNvPr>
          <p:cNvSpPr txBox="1">
            <a:spLocks noChangeArrowheads="1"/>
          </p:cNvSpPr>
          <p:nvPr/>
        </p:nvSpPr>
        <p:spPr bwMode="auto">
          <a:xfrm>
            <a:off x="3585545" y="1836194"/>
            <a:ext cx="1531937" cy="329588"/>
          </a:xfrm>
          <a:prstGeom prst="rect">
            <a:avLst/>
          </a:prstGeom>
          <a:solidFill>
            <a:schemeClr val="tx1"/>
          </a:solidFill>
          <a:ln w="25400" cap="sq">
            <a:solidFill>
              <a:srgbClr val="000000"/>
            </a:solidFill>
            <a:miter lim="800000"/>
            <a:headEnd/>
            <a:tailEnd/>
          </a:ln>
        </p:spPr>
        <p:txBody>
          <a:bodyPr lIns="54000" tIns="10800" rIns="54000" bIns="10800">
            <a:spAutoFit/>
          </a:bodyPr>
          <a:lstStyle/>
          <a:p>
            <a:pPr algn="ctr"/>
            <a:r>
              <a:rPr lang="en-US" altLang="zh-CN" sz="2000" b="1" i="1">
                <a:solidFill>
                  <a:schemeClr val="bg1"/>
                </a:solidFill>
              </a:rPr>
              <a:t>A(West)</a:t>
            </a:r>
          </a:p>
        </p:txBody>
      </p:sp>
      <p:sp>
        <p:nvSpPr>
          <p:cNvPr id="9" name="Text Box 8">
            <a:extLst>
              <a:ext uri="{FF2B5EF4-FFF2-40B4-BE49-F238E27FC236}">
                <a16:creationId xmlns:a16="http://schemas.microsoft.com/office/drawing/2014/main" id="{949E4787-184C-527B-01D6-EB78E1C1968C}"/>
              </a:ext>
            </a:extLst>
          </p:cNvPr>
          <p:cNvSpPr txBox="1">
            <a:spLocks noChangeArrowheads="1"/>
          </p:cNvSpPr>
          <p:nvPr/>
        </p:nvSpPr>
        <p:spPr bwMode="auto">
          <a:xfrm>
            <a:off x="9581924" y="3237004"/>
            <a:ext cx="2087563" cy="329588"/>
          </a:xfrm>
          <a:prstGeom prst="rect">
            <a:avLst/>
          </a:prstGeom>
          <a:solidFill>
            <a:schemeClr val="tx1"/>
          </a:solidFill>
          <a:ln w="25400" cap="sq">
            <a:solidFill>
              <a:srgbClr val="000000"/>
            </a:solidFill>
            <a:miter lim="800000"/>
            <a:headEnd/>
            <a:tailEnd/>
          </a:ln>
        </p:spPr>
        <p:txBody>
          <a:bodyPr lIns="54000" tIns="10800" rIns="54000" bIns="10800">
            <a:spAutoFit/>
          </a:bodyPr>
          <a:lstStyle/>
          <a:p>
            <a:pPr algn="ctr"/>
            <a:r>
              <a:rPr lang="en-US" altLang="zh-CN" sz="2000" b="1" i="1" dirty="0">
                <a:solidFill>
                  <a:schemeClr val="bg1"/>
                </a:solidFill>
              </a:rPr>
              <a:t>Enemy</a:t>
            </a:r>
            <a:r>
              <a:rPr lang="en-US" altLang="zh-CN" sz="2000" b="1" dirty="0">
                <a:solidFill>
                  <a:schemeClr val="bg1"/>
                </a:solidFill>
              </a:rPr>
              <a:t>(</a:t>
            </a:r>
            <a:r>
              <a:rPr lang="en-US" altLang="zh-CN" sz="2000" b="1" i="1" dirty="0">
                <a:solidFill>
                  <a:schemeClr val="bg1"/>
                </a:solidFill>
              </a:rPr>
              <a:t>N</a:t>
            </a:r>
            <a:r>
              <a:rPr lang="en-US" altLang="zh-CN" sz="2000" b="1" dirty="0">
                <a:solidFill>
                  <a:schemeClr val="bg1"/>
                </a:solidFill>
              </a:rPr>
              <a:t>,</a:t>
            </a:r>
            <a:r>
              <a:rPr lang="en-US" altLang="zh-CN" sz="2000" b="1" i="1" dirty="0">
                <a:solidFill>
                  <a:schemeClr val="bg1"/>
                </a:solidFill>
              </a:rPr>
              <a:t>A</a:t>
            </a:r>
            <a:r>
              <a:rPr lang="en-US" altLang="zh-CN" sz="2000" b="1" dirty="0">
                <a:solidFill>
                  <a:schemeClr val="bg1"/>
                </a:solidFill>
              </a:rPr>
              <a:t>)</a:t>
            </a:r>
          </a:p>
        </p:txBody>
      </p:sp>
      <p:sp>
        <p:nvSpPr>
          <p:cNvPr id="12" name="Text Box 9">
            <a:extLst>
              <a:ext uri="{FF2B5EF4-FFF2-40B4-BE49-F238E27FC236}">
                <a16:creationId xmlns:a16="http://schemas.microsoft.com/office/drawing/2014/main" id="{0A04D254-4318-8A14-300E-C535FF3C0E30}"/>
              </a:ext>
            </a:extLst>
          </p:cNvPr>
          <p:cNvSpPr txBox="1">
            <a:spLocks noChangeArrowheads="1"/>
          </p:cNvSpPr>
          <p:nvPr/>
        </p:nvSpPr>
        <p:spPr bwMode="auto">
          <a:xfrm>
            <a:off x="9778382" y="1818391"/>
            <a:ext cx="1584325" cy="329588"/>
          </a:xfrm>
          <a:prstGeom prst="rect">
            <a:avLst/>
          </a:prstGeom>
          <a:solidFill>
            <a:schemeClr val="tx1"/>
          </a:solidFill>
          <a:ln w="25400" cap="sq">
            <a:solidFill>
              <a:srgbClr val="000000"/>
            </a:solidFill>
            <a:miter lim="800000"/>
            <a:headEnd/>
            <a:tailEnd/>
          </a:ln>
        </p:spPr>
        <p:txBody>
          <a:bodyPr lIns="54000" tIns="10800" rIns="54000" bIns="10800">
            <a:spAutoFit/>
          </a:bodyPr>
          <a:lstStyle/>
          <a:p>
            <a:pPr algn="ctr"/>
            <a:r>
              <a:rPr lang="en-US" altLang="zh-CN" sz="2000" b="1" i="1">
                <a:solidFill>
                  <a:schemeClr val="bg1"/>
                </a:solidFill>
              </a:rPr>
              <a:t>Hostile</a:t>
            </a:r>
            <a:r>
              <a:rPr lang="en-US" altLang="zh-CN" sz="2000" b="1">
                <a:solidFill>
                  <a:schemeClr val="bg1"/>
                </a:solidFill>
              </a:rPr>
              <a:t>(</a:t>
            </a:r>
            <a:r>
              <a:rPr lang="en-US" altLang="zh-CN" sz="2000" b="1" i="1">
                <a:solidFill>
                  <a:schemeClr val="bg1"/>
                </a:solidFill>
              </a:rPr>
              <a:t>N</a:t>
            </a:r>
            <a:r>
              <a:rPr lang="en-US" altLang="zh-CN" sz="2000" b="1">
                <a:solidFill>
                  <a:schemeClr val="bg1"/>
                </a:solidFill>
              </a:rPr>
              <a:t>)</a:t>
            </a:r>
          </a:p>
        </p:txBody>
      </p:sp>
      <p:sp>
        <p:nvSpPr>
          <p:cNvPr id="13" name="Text Box 10">
            <a:extLst>
              <a:ext uri="{FF2B5EF4-FFF2-40B4-BE49-F238E27FC236}">
                <a16:creationId xmlns:a16="http://schemas.microsoft.com/office/drawing/2014/main" id="{CFBB70EA-0ACB-9741-0580-DFDE892937A3}"/>
              </a:ext>
            </a:extLst>
          </p:cNvPr>
          <p:cNvSpPr txBox="1">
            <a:spLocks noChangeArrowheads="1"/>
          </p:cNvSpPr>
          <p:nvPr/>
        </p:nvSpPr>
        <p:spPr bwMode="auto">
          <a:xfrm>
            <a:off x="6897070" y="1818391"/>
            <a:ext cx="2087562" cy="329588"/>
          </a:xfrm>
          <a:prstGeom prst="rect">
            <a:avLst/>
          </a:prstGeom>
          <a:solidFill>
            <a:schemeClr val="tx1"/>
          </a:solidFill>
          <a:ln w="25400" cap="sq">
            <a:solidFill>
              <a:srgbClr val="000000"/>
            </a:solidFill>
            <a:miter lim="800000"/>
            <a:headEnd/>
            <a:tailEnd/>
          </a:ln>
        </p:spPr>
        <p:txBody>
          <a:bodyPr lIns="54000" tIns="10800" rIns="54000" bIns="10800">
            <a:spAutoFit/>
          </a:bodyPr>
          <a:lstStyle/>
          <a:p>
            <a:pPr algn="ctr"/>
            <a:r>
              <a:rPr lang="en-US" altLang="zh-CN" sz="2000" b="1" i="1" dirty="0">
                <a:solidFill>
                  <a:schemeClr val="bg1"/>
                </a:solidFill>
              </a:rPr>
              <a:t>Sells</a:t>
            </a:r>
            <a:r>
              <a:rPr lang="en-US" altLang="zh-CN" sz="2000" b="1" dirty="0">
                <a:solidFill>
                  <a:schemeClr val="bg1"/>
                </a:solidFill>
              </a:rPr>
              <a:t>(</a:t>
            </a:r>
            <a:r>
              <a:rPr lang="en-US" altLang="zh-CN" sz="2000" b="1" i="1" dirty="0">
                <a:solidFill>
                  <a:schemeClr val="bg1"/>
                </a:solidFill>
              </a:rPr>
              <a:t>West,M1,Z</a:t>
            </a:r>
            <a:r>
              <a:rPr lang="en-US" altLang="zh-CN" sz="2000" b="1" dirty="0">
                <a:solidFill>
                  <a:schemeClr val="bg1"/>
                </a:solidFill>
              </a:rPr>
              <a:t>)</a:t>
            </a:r>
          </a:p>
        </p:txBody>
      </p:sp>
      <p:sp>
        <p:nvSpPr>
          <p:cNvPr id="14" name="Text Box 11">
            <a:extLst>
              <a:ext uri="{FF2B5EF4-FFF2-40B4-BE49-F238E27FC236}">
                <a16:creationId xmlns:a16="http://schemas.microsoft.com/office/drawing/2014/main" id="{F0D92806-8DE6-D09D-B744-57777A946AFE}"/>
              </a:ext>
            </a:extLst>
          </p:cNvPr>
          <p:cNvSpPr txBox="1">
            <a:spLocks noChangeArrowheads="1"/>
          </p:cNvSpPr>
          <p:nvPr/>
        </p:nvSpPr>
        <p:spPr bwMode="auto">
          <a:xfrm>
            <a:off x="7822027" y="3237004"/>
            <a:ext cx="1706971" cy="329588"/>
          </a:xfrm>
          <a:prstGeom prst="rect">
            <a:avLst/>
          </a:prstGeom>
          <a:solidFill>
            <a:schemeClr val="tx1"/>
          </a:solidFill>
          <a:ln w="25400" cap="sq">
            <a:solidFill>
              <a:srgbClr val="000000"/>
            </a:solidFill>
            <a:miter lim="800000"/>
            <a:headEnd/>
            <a:tailEnd/>
          </a:ln>
        </p:spPr>
        <p:txBody>
          <a:bodyPr wrap="square" lIns="54000" tIns="10800" rIns="54000" bIns="10800">
            <a:spAutoFit/>
          </a:bodyPr>
          <a:lstStyle/>
          <a:p>
            <a:pPr algn="ctr"/>
            <a:r>
              <a:rPr lang="en-US" altLang="zh-CN" sz="2000" b="1" i="1" dirty="0">
                <a:solidFill>
                  <a:schemeClr val="bg1"/>
                </a:solidFill>
              </a:rPr>
              <a:t>Owns(N,M1)</a:t>
            </a:r>
          </a:p>
        </p:txBody>
      </p:sp>
      <p:sp>
        <p:nvSpPr>
          <p:cNvPr id="15" name="Text Box 12">
            <a:extLst>
              <a:ext uri="{FF2B5EF4-FFF2-40B4-BE49-F238E27FC236}">
                <a16:creationId xmlns:a16="http://schemas.microsoft.com/office/drawing/2014/main" id="{D2E35880-6941-3AC8-3819-DEF50927CA4B}"/>
              </a:ext>
            </a:extLst>
          </p:cNvPr>
          <p:cNvSpPr txBox="1">
            <a:spLocks noChangeArrowheads="1"/>
          </p:cNvSpPr>
          <p:nvPr/>
        </p:nvSpPr>
        <p:spPr bwMode="auto">
          <a:xfrm>
            <a:off x="9202120" y="355692"/>
            <a:ext cx="1941512" cy="298810"/>
          </a:xfrm>
          <a:prstGeom prst="rect">
            <a:avLst/>
          </a:prstGeom>
          <a:solidFill>
            <a:schemeClr val="tx1"/>
          </a:solidFill>
          <a:ln w="25400" cap="sq">
            <a:noFill/>
            <a:miter lim="800000"/>
            <a:headEnd/>
            <a:tailEnd/>
          </a:ln>
        </p:spPr>
        <p:txBody>
          <a:bodyPr wrap="square" lIns="54000" tIns="10800" rIns="54000" bIns="10800">
            <a:spAutoFit/>
          </a:bodyPr>
          <a:lstStyle/>
          <a:p>
            <a:pPr algn="ctr"/>
            <a:r>
              <a:rPr lang="en-US" altLang="zh-CN" sz="1800" b="1" i="1" dirty="0">
                <a:solidFill>
                  <a:schemeClr val="bg1"/>
                </a:solidFill>
              </a:rPr>
              <a:t>{x/</a:t>
            </a:r>
            <a:r>
              <a:rPr lang="en-US" altLang="zh-CN" sz="1800" b="1" i="1" dirty="0" err="1">
                <a:solidFill>
                  <a:schemeClr val="bg1"/>
                </a:solidFill>
              </a:rPr>
              <a:t>West,y</a:t>
            </a:r>
            <a:r>
              <a:rPr lang="en-US" altLang="zh-CN" sz="1800" b="1" i="1" dirty="0">
                <a:solidFill>
                  <a:schemeClr val="bg1"/>
                </a:solidFill>
              </a:rPr>
              <a:t>/M1,z/N}</a:t>
            </a:r>
          </a:p>
        </p:txBody>
      </p:sp>
      <p:sp>
        <p:nvSpPr>
          <p:cNvPr id="16" name="Text Box 13">
            <a:extLst>
              <a:ext uri="{FF2B5EF4-FFF2-40B4-BE49-F238E27FC236}">
                <a16:creationId xmlns:a16="http://schemas.microsoft.com/office/drawing/2014/main" id="{F9B95847-3C5A-ED10-7489-45FEE3989A3E}"/>
              </a:ext>
            </a:extLst>
          </p:cNvPr>
          <p:cNvSpPr txBox="1">
            <a:spLocks noChangeArrowheads="1"/>
          </p:cNvSpPr>
          <p:nvPr/>
        </p:nvSpPr>
        <p:spPr bwMode="auto">
          <a:xfrm>
            <a:off x="6970095" y="2228942"/>
            <a:ext cx="863600" cy="296862"/>
          </a:xfrm>
          <a:prstGeom prst="rect">
            <a:avLst/>
          </a:prstGeom>
          <a:solidFill>
            <a:schemeClr val="tx1"/>
          </a:solidFill>
          <a:ln w="25400" cap="sq">
            <a:noFill/>
            <a:miter lim="800000"/>
            <a:headEnd/>
            <a:tailEnd/>
          </a:ln>
        </p:spPr>
        <p:txBody>
          <a:bodyPr lIns="54000" tIns="10800" rIns="54000" bIns="10800">
            <a:spAutoFit/>
          </a:bodyPr>
          <a:lstStyle/>
          <a:p>
            <a:pPr algn="ctr"/>
            <a:r>
              <a:rPr lang="en-US" altLang="zh-CN" sz="1800" b="1" i="1">
                <a:solidFill>
                  <a:schemeClr val="bg1"/>
                </a:solidFill>
              </a:rPr>
              <a:t>{z/N}</a:t>
            </a:r>
          </a:p>
        </p:txBody>
      </p:sp>
    </p:spTree>
    <p:extLst>
      <p:ext uri="{BB962C8B-B14F-4D97-AF65-F5344CB8AC3E}">
        <p14:creationId xmlns:p14="http://schemas.microsoft.com/office/powerpoint/2010/main" val="26021151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09346-8654-615D-ECAC-EB024A194938}"/>
              </a:ext>
            </a:extLst>
          </p:cNvPr>
          <p:cNvSpPr>
            <a:spLocks noGrp="1"/>
          </p:cNvSpPr>
          <p:nvPr>
            <p:ph type="title"/>
          </p:nvPr>
        </p:nvSpPr>
        <p:spPr/>
        <p:txBody>
          <a:bodyPr/>
          <a:lstStyle/>
          <a:p>
            <a:r>
              <a:rPr lang="en-US" altLang="zh-CN" dirty="0"/>
              <a:t>9.4 </a:t>
            </a:r>
            <a:r>
              <a:rPr lang="zh-CN" altLang="en-US" dirty="0"/>
              <a:t>反向链接</a:t>
            </a:r>
          </a:p>
        </p:txBody>
      </p:sp>
      <p:sp>
        <p:nvSpPr>
          <p:cNvPr id="3" name="内容占位符 2">
            <a:extLst>
              <a:ext uri="{FF2B5EF4-FFF2-40B4-BE49-F238E27FC236}">
                <a16:creationId xmlns:a16="http://schemas.microsoft.com/office/drawing/2014/main" id="{74D394AC-E174-CA4A-8765-A3AD35870525}"/>
              </a:ext>
            </a:extLst>
          </p:cNvPr>
          <p:cNvSpPr>
            <a:spLocks noGrp="1"/>
          </p:cNvSpPr>
          <p:nvPr>
            <p:ph idx="1"/>
          </p:nvPr>
        </p:nvSpPr>
        <p:spPr/>
        <p:txBody>
          <a:bodyPr/>
          <a:lstStyle/>
          <a:p>
            <a:r>
              <a:rPr lang="zh-CN" altLang="en-US" dirty="0"/>
              <a:t>反向链接算法的特性</a:t>
            </a:r>
            <a:r>
              <a:rPr lang="en-US" altLang="zh-CN" dirty="0"/>
              <a:t>—</a:t>
            </a:r>
            <a:r>
              <a:rPr lang="zh-CN" altLang="en-US" dirty="0"/>
              <a:t>目标驱动</a:t>
            </a:r>
          </a:p>
          <a:p>
            <a:r>
              <a:rPr lang="zh-CN" altLang="en-US" dirty="0">
                <a:latin typeface="Aa花间辞楷书 (非商业使用)" panose="02010600010101010101" pitchFamily="2" charset="-122"/>
                <a:ea typeface="Aa花间辞楷书 (非商业使用)" panose="02010600010101010101" pitchFamily="2" charset="-122"/>
              </a:rPr>
              <a:t>反向链接可看成</a:t>
            </a:r>
            <a:r>
              <a:rPr lang="zh-CN" altLang="en-US" dirty="0">
                <a:solidFill>
                  <a:srgbClr val="FF0000"/>
                </a:solidFill>
                <a:latin typeface="Aa花间辞楷书 (非商业使用)" panose="02010600010101010101" pitchFamily="2" charset="-122"/>
                <a:ea typeface="Aa花间辞楷书 (非商业使用)" panose="02010600010101010101" pitchFamily="2" charset="-122"/>
              </a:rPr>
              <a:t>深度优先搜索</a:t>
            </a:r>
          </a:p>
          <a:p>
            <a:pPr marL="0" indent="0">
              <a:buNone/>
            </a:pPr>
            <a:r>
              <a:rPr lang="zh-CN" altLang="en-US" dirty="0">
                <a:latin typeface="Aa花间辞楷书 (非商业使用)" panose="02010600010101010101" pitchFamily="2" charset="-122"/>
                <a:ea typeface="Aa花间辞楷书 (非商业使用)" panose="02010600010101010101" pitchFamily="2" charset="-122"/>
              </a:rPr>
              <a:t>    </a:t>
            </a:r>
            <a:r>
              <a:rPr lang="en-US" altLang="zh-CN" dirty="0">
                <a:latin typeface="Aa花间辞楷书 (非商业使用)" panose="02010600010101010101" pitchFamily="2" charset="-122"/>
                <a:ea typeface="Aa花间辞楷书 (非商业使用)" panose="02010600010101010101" pitchFamily="2" charset="-122"/>
              </a:rPr>
              <a:t>1</a:t>
            </a:r>
            <a:r>
              <a:rPr lang="zh-CN" altLang="en-US" dirty="0">
                <a:latin typeface="Aa花间辞楷书 (非商业使用)" panose="02010600010101010101" pitchFamily="2" charset="-122"/>
                <a:ea typeface="Aa花间辞楷书 (非商业使用)" panose="02010600010101010101" pitchFamily="2" charset="-122"/>
              </a:rPr>
              <a:t>）状态：目标集合</a:t>
            </a:r>
          </a:p>
          <a:p>
            <a:pPr marL="0" indent="0">
              <a:buNone/>
            </a:pPr>
            <a:r>
              <a:rPr lang="zh-CN" altLang="en-US" dirty="0">
                <a:latin typeface="Aa花间辞楷书 (非商业使用)" panose="02010600010101010101" pitchFamily="2" charset="-122"/>
                <a:ea typeface="Aa花间辞楷书 (非商业使用)" panose="02010600010101010101" pitchFamily="2" charset="-122"/>
              </a:rPr>
              <a:t>    </a:t>
            </a:r>
            <a:r>
              <a:rPr lang="en-US" altLang="zh-CN" dirty="0">
                <a:latin typeface="Aa花间辞楷书 (非商业使用)" panose="02010600010101010101" pitchFamily="2" charset="-122"/>
                <a:ea typeface="Aa花间辞楷书 (非商业使用)" panose="02010600010101010101" pitchFamily="2" charset="-122"/>
              </a:rPr>
              <a:t>2</a:t>
            </a:r>
            <a:r>
              <a:rPr lang="zh-CN" altLang="en-US" dirty="0">
                <a:latin typeface="Aa花间辞楷书 (非商业使用)" panose="02010600010101010101" pitchFamily="2" charset="-122"/>
                <a:ea typeface="Aa花间辞楷书 (非商业使用)" panose="02010600010101010101" pitchFamily="2" charset="-122"/>
              </a:rPr>
              <a:t>）动作：合一匹配</a:t>
            </a:r>
          </a:p>
          <a:p>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由于存在无限循环的可能，算法是</a:t>
            </a:r>
            <a:r>
              <a:rPr lang="zh-CN" altLang="en-US" dirty="0">
                <a:solidFill>
                  <a:srgbClr val="FF0000"/>
                </a:solidFill>
                <a:latin typeface="Aa花间辞楷书 (非商业使用)" panose="02010600010101010101" pitchFamily="2" charset="-122"/>
                <a:ea typeface="Aa花间辞楷书 (非商业使用)" panose="02010600010101010101" pitchFamily="2" charset="-122"/>
              </a:rPr>
              <a:t>不完备</a:t>
            </a:r>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的</a:t>
            </a:r>
          </a:p>
          <a:p>
            <a:pPr lvl="1"/>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修复：检查当前目标是否已经在目标栈中出现</a:t>
            </a:r>
          </a:p>
          <a:p>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低效，由于重复子目标的出现（成功或不成功）</a:t>
            </a:r>
          </a:p>
          <a:p>
            <a:pPr lvl="1"/>
            <a:r>
              <a:rPr lang="zh-CN" altLang="en-US" dirty="0">
                <a:solidFill>
                  <a:srgbClr val="FFCC99"/>
                </a:solidFill>
                <a:latin typeface="Aa花间辞楷书 (非商业使用)" panose="02010600010101010101" pitchFamily="2" charset="-122"/>
                <a:ea typeface="Aa花间辞楷书 (非商业使用)" panose="02010600010101010101" pitchFamily="2" charset="-122"/>
              </a:rPr>
              <a:t>修复：将以前的结果缓存（需要额外空间）</a:t>
            </a:r>
          </a:p>
          <a:p>
            <a:endParaRPr lang="zh-CN" altLang="en-US" dirty="0"/>
          </a:p>
        </p:txBody>
      </p:sp>
    </p:spTree>
    <p:extLst>
      <p:ext uri="{BB962C8B-B14F-4D97-AF65-F5344CB8AC3E}">
        <p14:creationId xmlns:p14="http://schemas.microsoft.com/office/powerpoint/2010/main" val="24436747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22B459-D130-36DC-F5A6-874433F27CD6}"/>
              </a:ext>
            </a:extLst>
          </p:cNvPr>
          <p:cNvSpPr>
            <a:spLocks noGrp="1"/>
          </p:cNvSpPr>
          <p:nvPr>
            <p:ph type="title"/>
          </p:nvPr>
        </p:nvSpPr>
        <p:spPr/>
        <p:txBody>
          <a:bodyPr/>
          <a:lstStyle/>
          <a:p>
            <a:r>
              <a:rPr lang="en-US" altLang="zh-CN" dirty="0"/>
              <a:t>9.5 </a:t>
            </a:r>
            <a:r>
              <a:rPr lang="zh-CN" altLang="en-US" dirty="0"/>
              <a:t>一阶逻辑的归结算法</a:t>
            </a:r>
          </a:p>
        </p:txBody>
      </p:sp>
      <p:sp>
        <p:nvSpPr>
          <p:cNvPr id="3" name="内容占位符 2">
            <a:extLst>
              <a:ext uri="{FF2B5EF4-FFF2-40B4-BE49-F238E27FC236}">
                <a16:creationId xmlns:a16="http://schemas.microsoft.com/office/drawing/2014/main" id="{83637D46-AE38-48CF-9ED5-CFAFF5E471CB}"/>
              </a:ext>
            </a:extLst>
          </p:cNvPr>
          <p:cNvSpPr>
            <a:spLocks noGrp="1"/>
          </p:cNvSpPr>
          <p:nvPr>
            <p:ph idx="1"/>
          </p:nvPr>
        </p:nvSpPr>
        <p:spPr/>
        <p:txBody>
          <a:bodyPr/>
          <a:lstStyle/>
          <a:p>
            <a:r>
              <a:rPr lang="en-US" altLang="zh-CN" dirty="0"/>
              <a:t>1.</a:t>
            </a:r>
            <a:r>
              <a:rPr lang="zh-CN" altLang="en-US" dirty="0"/>
              <a:t>一阶逻辑的归结的输入是什么？</a:t>
            </a:r>
          </a:p>
          <a:p>
            <a:pPr lvl="1"/>
            <a:r>
              <a:rPr lang="en-US" altLang="zh-CN" sz="2400" dirty="0">
                <a:latin typeface="Aa花间辞楷书 (非商业使用)" panose="02010600010101010101" pitchFamily="2" charset="-122"/>
                <a:ea typeface="Aa花间辞楷书 (非商业使用)" panose="02010600010101010101" pitchFamily="2" charset="-122"/>
              </a:rPr>
              <a:t>1</a:t>
            </a:r>
            <a:r>
              <a:rPr lang="zh-CN" altLang="en-US" sz="2400" dirty="0">
                <a:latin typeface="Aa花间辞楷书 (非商业使用)" panose="02010600010101010101" pitchFamily="2" charset="-122"/>
                <a:ea typeface="Aa花间辞楷书 (非商业使用)" panose="02010600010101010101" pitchFamily="2" charset="-122"/>
              </a:rPr>
              <a:t>）不包含显式量词的</a:t>
            </a:r>
            <a:r>
              <a:rPr lang="en-US" altLang="zh-CN" sz="2400" dirty="0">
                <a:latin typeface="Aa花间辞楷书 (非商业使用)" panose="02010600010101010101" pitchFamily="2" charset="-122"/>
                <a:ea typeface="Aa花间辞楷书 (非商业使用)" panose="02010600010101010101" pitchFamily="2" charset="-122"/>
              </a:rPr>
              <a:t>CNF</a:t>
            </a:r>
            <a:r>
              <a:rPr lang="zh-CN" altLang="en-US" sz="2400" dirty="0">
                <a:latin typeface="Aa花间辞楷书 (非商业使用)" panose="02010600010101010101" pitchFamily="2" charset="-122"/>
                <a:ea typeface="Aa花间辞楷书 (非商业使用)" panose="02010600010101010101" pitchFamily="2" charset="-122"/>
              </a:rPr>
              <a:t>：子句的合取式</a:t>
            </a:r>
          </a:p>
          <a:p>
            <a:pPr lvl="1"/>
            <a:r>
              <a:rPr lang="en-US" altLang="zh-CN" sz="2400" dirty="0">
                <a:latin typeface="Aa花间辞楷书 (非商业使用)" panose="02010600010101010101" pitchFamily="2" charset="-122"/>
                <a:ea typeface="Aa花间辞楷书 (非商业使用)" panose="02010600010101010101" pitchFamily="2" charset="-122"/>
              </a:rPr>
              <a:t>2</a:t>
            </a:r>
            <a:r>
              <a:rPr lang="zh-CN" altLang="en-US" sz="2400" dirty="0">
                <a:latin typeface="Aa花间辞楷书 (非商业使用)" panose="02010600010101010101" pitchFamily="2" charset="-122"/>
                <a:ea typeface="Aa花间辞楷书 (非商业使用)" panose="02010600010101010101" pitchFamily="2" charset="-122"/>
              </a:rPr>
              <a:t>）文字可以包含变量，全称量化的变量（隐含）</a:t>
            </a:r>
          </a:p>
          <a:p>
            <a:pPr lvl="1"/>
            <a:r>
              <a:rPr lang="en-US" altLang="zh-CN" sz="2400" dirty="0">
                <a:latin typeface="Aa花间辞楷书 (非商业使用)" panose="02010600010101010101" pitchFamily="2" charset="-122"/>
                <a:ea typeface="Aa花间辞楷书 (非商业使用)" panose="02010600010101010101" pitchFamily="2" charset="-122"/>
              </a:rPr>
              <a:t>3</a:t>
            </a:r>
            <a:r>
              <a:rPr lang="zh-CN" altLang="en-US" sz="2400" dirty="0">
                <a:latin typeface="Aa花间辞楷书 (非商业使用)" panose="02010600010101010101" pitchFamily="2" charset="-122"/>
                <a:ea typeface="Aa花间辞楷书 (非商业使用)" panose="02010600010101010101" pitchFamily="2" charset="-122"/>
              </a:rPr>
              <a:t>）转换成</a:t>
            </a:r>
            <a:r>
              <a:rPr lang="en-US" altLang="zh-CN" sz="2400" dirty="0">
                <a:latin typeface="Aa花间辞楷书 (非商业使用)" panose="02010600010101010101" pitchFamily="2" charset="-122"/>
                <a:ea typeface="Aa花间辞楷书 (非商业使用)" panose="02010600010101010101" pitchFamily="2" charset="-122"/>
              </a:rPr>
              <a:t>CNF</a:t>
            </a:r>
            <a:r>
              <a:rPr lang="zh-CN" altLang="en-US" sz="2400" dirty="0">
                <a:latin typeface="Aa花间辞楷书 (非商业使用)" panose="02010600010101010101" pitchFamily="2" charset="-122"/>
                <a:ea typeface="Aa花间辞楷书 (非商业使用)" panose="02010600010101010101" pitchFamily="2" charset="-122"/>
              </a:rPr>
              <a:t>的过程类似命题逻辑，区别在于</a:t>
            </a:r>
            <a:r>
              <a:rPr lang="zh-CN" altLang="en-US" sz="2400" dirty="0">
                <a:solidFill>
                  <a:srgbClr val="FF0000"/>
                </a:solidFill>
                <a:latin typeface="Aa花间辞楷书 (非商业使用)" panose="02010600010101010101" pitchFamily="2" charset="-122"/>
                <a:ea typeface="Aa花间辞楷书 (非商业使用)" panose="02010600010101010101" pitchFamily="2" charset="-122"/>
              </a:rPr>
              <a:t>消除存在量词</a:t>
            </a:r>
          </a:p>
          <a:p>
            <a:endParaRPr lang="zh-CN" altLang="en-US" dirty="0"/>
          </a:p>
        </p:txBody>
      </p:sp>
    </p:spTree>
    <p:extLst>
      <p:ext uri="{BB962C8B-B14F-4D97-AF65-F5344CB8AC3E}">
        <p14:creationId xmlns:p14="http://schemas.microsoft.com/office/powerpoint/2010/main" val="27799238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22B459-D130-36DC-F5A6-874433F27CD6}"/>
              </a:ext>
            </a:extLst>
          </p:cNvPr>
          <p:cNvSpPr>
            <a:spLocks noGrp="1"/>
          </p:cNvSpPr>
          <p:nvPr>
            <p:ph type="title"/>
          </p:nvPr>
        </p:nvSpPr>
        <p:spPr/>
        <p:txBody>
          <a:bodyPr/>
          <a:lstStyle/>
          <a:p>
            <a:r>
              <a:rPr lang="en-US" altLang="zh-CN" dirty="0"/>
              <a:t>9.5 </a:t>
            </a:r>
            <a:r>
              <a:rPr lang="zh-CN" altLang="en-US" dirty="0"/>
              <a:t>一阶逻辑的归结算法</a:t>
            </a:r>
          </a:p>
        </p:txBody>
      </p:sp>
      <p:sp>
        <p:nvSpPr>
          <p:cNvPr id="3" name="内容占位符 2">
            <a:extLst>
              <a:ext uri="{FF2B5EF4-FFF2-40B4-BE49-F238E27FC236}">
                <a16:creationId xmlns:a16="http://schemas.microsoft.com/office/drawing/2014/main" id="{83637D46-AE38-48CF-9ED5-CFAFF5E471CB}"/>
              </a:ext>
            </a:extLst>
          </p:cNvPr>
          <p:cNvSpPr>
            <a:spLocks noGrp="1"/>
          </p:cNvSpPr>
          <p:nvPr>
            <p:ph idx="1"/>
          </p:nvPr>
        </p:nvSpPr>
        <p:spPr/>
        <p:txBody>
          <a:bodyPr>
            <a:normAutofit lnSpcReduction="10000"/>
          </a:bodyPr>
          <a:lstStyle/>
          <a:p>
            <a:r>
              <a:rPr lang="en-US" altLang="zh-CN" dirty="0"/>
              <a:t>2.</a:t>
            </a:r>
            <a:r>
              <a:rPr lang="zh-CN" altLang="en-US" dirty="0"/>
              <a:t>一阶逻辑转换为</a:t>
            </a:r>
            <a:r>
              <a:rPr lang="en-US" altLang="zh-CN" dirty="0"/>
              <a:t>CNF</a:t>
            </a:r>
          </a:p>
          <a:p>
            <a:pPr marL="342900" lvl="1" indent="0">
              <a:buNone/>
            </a:pP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1</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）消去蕴涵</a:t>
            </a:r>
            <a:endParaRPr lang="en-US" altLang="zh-CN" sz="2400" dirty="0">
              <a:solidFill>
                <a:srgbClr val="FFCC99"/>
              </a:solidFill>
              <a:latin typeface="Aa花间辞楷书 (非商业使用)" panose="02010600010101010101" pitchFamily="2" charset="-122"/>
              <a:ea typeface="Aa花间辞楷书 (非商业使用)" panose="02010600010101010101" pitchFamily="2" charset="-122"/>
            </a:endParaRPr>
          </a:p>
          <a:p>
            <a:pPr lvl="2"/>
            <a:r>
              <a:rPr lang="en-US" altLang="zh-CN" sz="2000" i="1"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a:t>
            </a:r>
            <a:r>
              <a:rPr lang="zh-CN" altLang="en-US" sz="2000" i="1"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000" i="1"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x</a:t>
            </a:r>
            <a:r>
              <a:rPr lang="zh-CN" altLang="en-US" sz="2000" i="1"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 B</a:t>
            </a:r>
            <a:r>
              <a:rPr lang="zh-CN" altLang="en-US" sz="20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x, y</a:t>
            </a:r>
            <a:r>
              <a:rPr lang="zh-CN" altLang="en-US" sz="20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sz="2000" i="1"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A(x)</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 B(x, y)</a:t>
            </a:r>
            <a:endParaRPr lang="en-US" altLang="zh-CN" sz="2000" dirty="0">
              <a:solidFill>
                <a:srgbClr val="FFCC99"/>
              </a:solidFill>
              <a:latin typeface="Aa花间辞楷书 (非商业使用)" panose="02010600010101010101" pitchFamily="2" charset="-122"/>
              <a:ea typeface="Aa花间辞楷书 (非商业使用)" panose="02010600010101010101" pitchFamily="2" charset="-122"/>
            </a:endParaRPr>
          </a:p>
          <a:p>
            <a:pPr marL="342900" lvl="1" indent="0">
              <a:buNone/>
            </a:pPr>
            <a:r>
              <a:rPr lang="zh-CN" altLang="en-US" sz="2400" b="1" dirty="0">
                <a:solidFill>
                  <a:srgbClr val="FFCC99"/>
                </a:solidFill>
                <a:latin typeface="Aa花间辞楷书 (非商业使用)" panose="02010600010101010101" pitchFamily="2" charset="-122"/>
                <a:ea typeface="Aa花间辞楷书 (非商业使用)" panose="02010600010101010101" pitchFamily="2" charset="-122"/>
              </a:rPr>
              <a:t>（</a:t>
            </a:r>
            <a:r>
              <a:rPr lang="en-US" altLang="zh-CN" sz="2400" b="1" dirty="0">
                <a:solidFill>
                  <a:srgbClr val="FFCC99"/>
                </a:solidFill>
                <a:latin typeface="Aa花间辞楷书 (非商业使用)" panose="02010600010101010101" pitchFamily="2" charset="-122"/>
                <a:ea typeface="Aa花间辞楷书 (非商业使用)" panose="02010600010101010101" pitchFamily="2" charset="-122"/>
              </a:rPr>
              <a:t>2</a:t>
            </a:r>
            <a:r>
              <a:rPr lang="zh-CN" altLang="en-US" sz="2400" b="1" dirty="0">
                <a:solidFill>
                  <a:srgbClr val="FFCC99"/>
                </a:solidFill>
                <a:latin typeface="Aa花间辞楷书 (非商业使用)" panose="02010600010101010101" pitchFamily="2" charset="-122"/>
                <a:ea typeface="Aa花间辞楷书 (非商业使用)" panose="02010600010101010101" pitchFamily="2" charset="-122"/>
              </a:rPr>
              <a:t>）</a:t>
            </a:r>
            <a:r>
              <a:rPr lang="en-US" altLang="zh-CN" sz="2400" b="1"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t>
            </a:r>
            <a:r>
              <a:rPr lang="zh-CN" altLang="en-US" sz="2400" b="1"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內移</a:t>
            </a:r>
            <a:endParaRPr lang="en-US" altLang="zh-CN" sz="2400" b="1"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endParaRPr>
          </a:p>
          <a:p>
            <a:pPr lvl="2"/>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sz="2000" i="1" dirty="0">
                <a:solidFill>
                  <a:srgbClr val="FFCC99"/>
                </a:solidFill>
                <a:latin typeface="Aa花间辞楷书 (非商业使用)" panose="02010600010101010101" pitchFamily="2" charset="-122"/>
                <a:ea typeface="Aa花间辞楷书 (非商业使用)" panose="02010600010101010101" pitchFamily="2" charset="-122"/>
              </a:rPr>
              <a:t>x p</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cs typeface="Times New Roman" pitchFamily="18" charset="0"/>
              </a:rPr>
              <a:t>≡ </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000" i="1" dirty="0">
                <a:solidFill>
                  <a:srgbClr val="FFCC99"/>
                </a:solidFill>
                <a:latin typeface="Aa花间辞楷书 (非商业使用)" panose="02010600010101010101" pitchFamily="2" charset="-122"/>
                <a:ea typeface="Aa花间辞楷书 (非商业使用)" panose="02010600010101010101" pitchFamily="2" charset="-122"/>
              </a:rPr>
              <a:t>x</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000" i="1" dirty="0">
                <a:solidFill>
                  <a:srgbClr val="FFCC99"/>
                </a:solidFill>
                <a:latin typeface="Aa花间辞楷书 (非商业使用)" panose="02010600010101010101" pitchFamily="2" charset="-122"/>
                <a:ea typeface="Aa花间辞楷书 (非商业使用)" panose="02010600010101010101" pitchFamily="2" charset="-122"/>
              </a:rPr>
              <a:t>p</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000" i="1" dirty="0">
                <a:solidFill>
                  <a:srgbClr val="FFCC99"/>
                </a:solidFill>
                <a:latin typeface="Aa花间辞楷书 (非商业使用)" panose="02010600010101010101" pitchFamily="2" charset="-122"/>
                <a:ea typeface="Aa花间辞楷书 (非商业使用)" panose="02010600010101010101" pitchFamily="2" charset="-122"/>
              </a:rPr>
              <a:t>x p</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cs typeface="Times New Roman" pitchFamily="18" charset="0"/>
              </a:rPr>
              <a:t>≡</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000" i="1" dirty="0">
                <a:solidFill>
                  <a:srgbClr val="FFCC99"/>
                </a:solidFill>
                <a:latin typeface="Aa花间辞楷书 (非商业使用)" panose="02010600010101010101" pitchFamily="2" charset="-122"/>
                <a:ea typeface="Aa花间辞楷书 (非商业使用)" panose="02010600010101010101" pitchFamily="2" charset="-122"/>
              </a:rPr>
              <a:t>x</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sz="2000" i="1" dirty="0">
                <a:solidFill>
                  <a:srgbClr val="FFCC99"/>
                </a:solidFill>
                <a:latin typeface="Aa花间辞楷书 (非商业使用)" panose="02010600010101010101" pitchFamily="2" charset="-122"/>
                <a:ea typeface="Aa花间辞楷书 (非商业使用)" panose="02010600010101010101" pitchFamily="2" charset="-122"/>
              </a:rPr>
              <a:t>p</a:t>
            </a:r>
            <a:endParaRPr lang="en-US" altLang="zh-CN" sz="20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endParaRPr>
          </a:p>
          <a:p>
            <a:pPr marL="342900" lvl="1" indent="0">
              <a:buNone/>
            </a:pP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3</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）重命名变量</a:t>
            </a:r>
            <a:endParaRPr lang="en-US" altLang="zh-CN" sz="24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endParaRPr>
          </a:p>
          <a:p>
            <a:pPr lvl="2"/>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sz="2000" i="1" dirty="0">
                <a:solidFill>
                  <a:srgbClr val="FFCC99"/>
                </a:solidFill>
                <a:latin typeface="Aa花间辞楷书 (非商业使用)" panose="02010600010101010101" pitchFamily="2" charset="-122"/>
                <a:ea typeface="Aa花间辞楷书 (非商业使用)" panose="02010600010101010101" pitchFamily="2" charset="-122"/>
              </a:rPr>
              <a:t>x</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000" i="1" dirty="0">
                <a:solidFill>
                  <a:srgbClr val="FFCC99"/>
                </a:solidFill>
                <a:latin typeface="Aa花间辞楷书 (非商业使用)" panose="02010600010101010101" pitchFamily="2" charset="-122"/>
                <a:ea typeface="Aa花间辞楷书 (非商业使用)" panose="02010600010101010101" pitchFamily="2" charset="-122"/>
              </a:rPr>
              <a:t>y</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sz="2000" i="1" dirty="0">
                <a:solidFill>
                  <a:srgbClr val="FFCC99"/>
                </a:solidFill>
                <a:latin typeface="Aa花间辞楷书 (非商业使用)" panose="02010600010101010101" pitchFamily="2" charset="-122"/>
                <a:ea typeface="Aa花间辞楷书 (非商业使用)" panose="02010600010101010101" pitchFamily="2" charset="-122"/>
              </a:rPr>
              <a:t>y</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000" i="1"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B</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rPr>
              <a:t>(</a:t>
            </a:r>
            <a:r>
              <a:rPr lang="en-US" altLang="zh-CN" sz="2000" i="1" dirty="0">
                <a:solidFill>
                  <a:srgbClr val="FFCC99"/>
                </a:solidFill>
                <a:latin typeface="Aa花间辞楷书 (非商业使用)" panose="02010600010101010101" pitchFamily="2" charset="-122"/>
                <a:ea typeface="Aa花间辞楷书 (非商业使用)" panose="02010600010101010101" pitchFamily="2" charset="-122"/>
              </a:rPr>
              <a:t>x</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rPr>
              <a:t>,</a:t>
            </a:r>
            <a:r>
              <a:rPr lang="en-US" altLang="zh-CN" sz="2000" i="1" dirty="0">
                <a:solidFill>
                  <a:srgbClr val="FFCC99"/>
                </a:solidFill>
                <a:latin typeface="Aa花间辞楷书 (非商业使用)" panose="02010600010101010101" pitchFamily="2" charset="-122"/>
                <a:ea typeface="Aa花间辞楷书 (非商业使用)" panose="02010600010101010101" pitchFamily="2" charset="-122"/>
              </a:rPr>
              <a:t> y</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000" i="1" dirty="0" err="1">
                <a:solidFill>
                  <a:srgbClr val="FFCC99"/>
                </a:solidFill>
                <a:latin typeface="Aa花间辞楷书 (非商业使用)" panose="02010600010101010101" pitchFamily="2" charset="-122"/>
                <a:ea typeface="Aa花间辞楷书 (非商业使用)" panose="02010600010101010101" pitchFamily="2" charset="-122"/>
              </a:rPr>
              <a:t>yLoves</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rPr>
              <a:t>(</a:t>
            </a:r>
            <a:r>
              <a:rPr lang="en-US" altLang="zh-CN" sz="2000" i="1" dirty="0">
                <a:solidFill>
                  <a:srgbClr val="FFCC99"/>
                </a:solidFill>
                <a:latin typeface="Aa花间辞楷书 (非商业使用)" panose="02010600010101010101" pitchFamily="2" charset="-122"/>
                <a:ea typeface="Aa花间辞楷书 (非商业使用)" panose="02010600010101010101" pitchFamily="2" charset="-122"/>
              </a:rPr>
              <a:t>y</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sz="2000" i="1" dirty="0">
                <a:solidFill>
                  <a:srgbClr val="FFCC99"/>
                </a:solidFill>
                <a:latin typeface="Aa花间辞楷书 (非商业使用)" panose="02010600010101010101" pitchFamily="2" charset="-122"/>
                <a:ea typeface="Aa花间辞楷书 (非商业使用)" panose="02010600010101010101" pitchFamily="2" charset="-122"/>
              </a:rPr>
              <a:t>x</a:t>
            </a:r>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rPr>
              <a:t>)]</a:t>
            </a:r>
          </a:p>
          <a:p>
            <a:pPr lvl="2"/>
            <a:r>
              <a:rPr lang="en-US" altLang="zh-CN" sz="20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t>
            </a:r>
            <a:r>
              <a:rPr lang="es-ES" altLang="zh-CN" sz="20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x [y A(y)  B(x, y)]  [z </a:t>
            </a:r>
            <a:r>
              <a:rPr lang="es-ES" altLang="zh-CN" sz="2000" dirty="0" err="1">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Loves</a:t>
            </a:r>
            <a:r>
              <a:rPr lang="es-ES" altLang="zh-CN" sz="20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(z, x)]</a:t>
            </a:r>
          </a:p>
          <a:p>
            <a:pPr marL="342900" lvl="1" indent="0">
              <a:buNone/>
            </a:pP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4</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a:t>
            </a:r>
            <a:r>
              <a:rPr lang="en-US" altLang="zh-CN" sz="2400" dirty="0" err="1">
                <a:solidFill>
                  <a:srgbClr val="FFCC99"/>
                </a:solidFill>
                <a:latin typeface="Aa花间辞楷书 (非商业使用)" panose="02010600010101010101" pitchFamily="2" charset="-122"/>
                <a:ea typeface="Aa花间辞楷书 (非商业使用)" panose="02010600010101010101" pitchFamily="2" charset="-122"/>
              </a:rPr>
              <a:t>Skolemize</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（消去</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sz="2400" i="1" dirty="0">
                <a:solidFill>
                  <a:srgbClr val="FFCC99"/>
                </a:solidFill>
                <a:latin typeface="Aa花间辞楷书 (非商业使用)" panose="02010600010101010101" pitchFamily="2" charset="-122"/>
                <a:ea typeface="Aa花间辞楷书 (非商业使用)" panose="02010600010101010101" pitchFamily="2" charset="-122"/>
              </a:rPr>
              <a:t>x</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 ）</a:t>
            </a:r>
            <a:endParaRPr lang="en-US" altLang="zh-CN" sz="2400" dirty="0">
              <a:solidFill>
                <a:srgbClr val="FFCC99"/>
              </a:solidFill>
              <a:latin typeface="Aa花间辞楷书 (非商业使用)" panose="02010600010101010101" pitchFamily="2" charset="-122"/>
              <a:ea typeface="Aa花间辞楷书 (非商业使用)" panose="02010600010101010101" pitchFamily="2" charset="-122"/>
            </a:endParaRPr>
          </a:p>
          <a:p>
            <a:pPr marL="342900" lvl="1" indent="0">
              <a:buNone/>
            </a:pP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5</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）标准化变量，去掉全称量词</a:t>
            </a:r>
            <a:endParaRPr lang="en-US" altLang="zh-CN" sz="2400" dirty="0">
              <a:solidFill>
                <a:srgbClr val="FFCC99"/>
              </a:solidFill>
              <a:latin typeface="Aa花间辞楷书 (非商业使用)" panose="02010600010101010101" pitchFamily="2" charset="-122"/>
              <a:ea typeface="Aa花间辞楷书 (非商业使用)" panose="02010600010101010101" pitchFamily="2" charset="-122"/>
            </a:endParaRPr>
          </a:p>
          <a:p>
            <a:pPr marL="342900" lvl="1" indent="0">
              <a:buNone/>
            </a:pP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6</a:t>
            </a:r>
            <a:r>
              <a:rPr lang="zh-CN" altLang="en-US" sz="2400" dirty="0">
                <a:solidFill>
                  <a:srgbClr val="FFCC99"/>
                </a:solidFill>
                <a:latin typeface="Aa花间辞楷书 (非商业使用)" panose="02010600010101010101" pitchFamily="2" charset="-122"/>
                <a:ea typeface="Aa花间辞楷书 (非商业使用)" panose="02010600010101010101" pitchFamily="2" charset="-122"/>
              </a:rPr>
              <a:t>）等价变换转换一阶</a:t>
            </a:r>
            <a:r>
              <a:rPr lang="en-US" altLang="zh-CN" sz="2400" dirty="0">
                <a:solidFill>
                  <a:srgbClr val="FFCC99"/>
                </a:solidFill>
                <a:latin typeface="Aa花间辞楷书 (非商业使用)" panose="02010600010101010101" pitchFamily="2" charset="-122"/>
                <a:ea typeface="Aa花间辞楷书 (非商业使用)" panose="02010600010101010101" pitchFamily="2" charset="-122"/>
              </a:rPr>
              <a:t>CNF</a:t>
            </a:r>
            <a:endParaRPr lang="zh-CN" altLang="en-US" sz="2400" dirty="0">
              <a:solidFill>
                <a:srgbClr val="FFCC99"/>
              </a:solidFill>
              <a:latin typeface="Aa花间辞楷书 (非商业使用)" panose="02010600010101010101" pitchFamily="2" charset="-122"/>
              <a:ea typeface="Aa花间辞楷书 (非商业使用)" panose="02010600010101010101" pitchFamily="2" charset="-122"/>
            </a:endParaRPr>
          </a:p>
          <a:p>
            <a:endParaRPr lang="zh-CN" altLang="en-US" dirty="0"/>
          </a:p>
        </p:txBody>
      </p:sp>
    </p:spTree>
    <p:extLst>
      <p:ext uri="{BB962C8B-B14F-4D97-AF65-F5344CB8AC3E}">
        <p14:creationId xmlns:p14="http://schemas.microsoft.com/office/powerpoint/2010/main" val="13863255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E8C4C3-1CA5-7CE2-9A42-FC1DF3BCC95C}"/>
              </a:ext>
            </a:extLst>
          </p:cNvPr>
          <p:cNvSpPr>
            <a:spLocks noGrp="1"/>
          </p:cNvSpPr>
          <p:nvPr>
            <p:ph type="title"/>
          </p:nvPr>
        </p:nvSpPr>
        <p:spPr/>
        <p:txBody>
          <a:bodyPr/>
          <a:lstStyle/>
          <a:p>
            <a:r>
              <a:rPr lang="en-US" altLang="zh-CN" dirty="0"/>
              <a:t>9.5 </a:t>
            </a:r>
            <a:r>
              <a:rPr lang="zh-CN" altLang="en-US" dirty="0"/>
              <a:t>一阶逻辑的归结算法</a:t>
            </a:r>
          </a:p>
        </p:txBody>
      </p:sp>
      <p:sp>
        <p:nvSpPr>
          <p:cNvPr id="3" name="内容占位符 2">
            <a:extLst>
              <a:ext uri="{FF2B5EF4-FFF2-40B4-BE49-F238E27FC236}">
                <a16:creationId xmlns:a16="http://schemas.microsoft.com/office/drawing/2014/main" id="{4F258FA1-850D-1D40-9EBD-81B40BE3B92F}"/>
              </a:ext>
            </a:extLst>
          </p:cNvPr>
          <p:cNvSpPr>
            <a:spLocks noGrp="1"/>
          </p:cNvSpPr>
          <p:nvPr>
            <p:ph idx="1"/>
          </p:nvPr>
        </p:nvSpPr>
        <p:spPr/>
        <p:txBody>
          <a:bodyPr/>
          <a:lstStyle/>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KB</a:t>
            </a:r>
            <a:r>
              <a:rPr lang="zh-CN" altLang="en-US" kern="0" dirty="0">
                <a:solidFill>
                  <a:srgbClr val="FFCC99"/>
                </a:solidFill>
                <a:latin typeface="Aa花间辞楷书 (非商业使用)" panose="02010600010101010101" pitchFamily="2" charset="-122"/>
                <a:ea typeface="Aa花间辞楷书 (非商业使用)" panose="02010600010101010101" pitchFamily="2" charset="-122"/>
              </a:rPr>
              <a:t>如下：</a:t>
            </a:r>
            <a:endParaRPr lang="en-US" altLang="zh-CN" kern="0" dirty="0">
              <a:solidFill>
                <a:srgbClr val="FFCC99"/>
              </a:solidFill>
              <a:latin typeface="Aa花间辞楷书 (非商业使用)" panose="02010600010101010101" pitchFamily="2" charset="-122"/>
              <a:ea typeface="Aa花间辞楷书 (非商业使用)" panose="02010600010101010101" pitchFamily="2" charset="-122"/>
            </a:endParaRP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1）Owns(Nono, 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2）Missile(M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3）American(West)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4）Enemy(Nono, America)</a:t>
            </a:r>
          </a:p>
          <a:p>
            <a:pPr marL="0" indent="0" eaLnBrk="0" hangingPunct="0">
              <a:lnSpc>
                <a:spcPct val="120000"/>
              </a:lnSpc>
              <a:spcBef>
                <a:spcPct val="20000"/>
              </a:spcBef>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5）Missile(x)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Weapon(x)</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6）Missile(x)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Owns(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Nono,x</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West,x,Nono</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7）Enemy(x, America)</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Hostile(x)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8）American(x)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Weapon(y)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x,y,z</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Hostile(z)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Criminal(x)</a:t>
            </a:r>
          </a:p>
          <a:p>
            <a:endParaRPr lang="zh-CN" altLang="en-US" dirty="0"/>
          </a:p>
          <a:p>
            <a:endParaRPr lang="zh-CN" altLang="en-US" dirty="0"/>
          </a:p>
        </p:txBody>
      </p:sp>
      <p:sp>
        <p:nvSpPr>
          <p:cNvPr id="4" name="Rectangle 2">
            <a:extLst>
              <a:ext uri="{FF2B5EF4-FFF2-40B4-BE49-F238E27FC236}">
                <a16:creationId xmlns:a16="http://schemas.microsoft.com/office/drawing/2014/main" id="{BF2D8650-465C-E320-5703-F5E70CEA7C1A}"/>
              </a:ext>
            </a:extLst>
          </p:cNvPr>
          <p:cNvSpPr txBox="1">
            <a:spLocks noChangeArrowheads="1"/>
          </p:cNvSpPr>
          <p:nvPr/>
        </p:nvSpPr>
        <p:spPr bwMode="auto">
          <a:xfrm>
            <a:off x="2196737" y="5532446"/>
            <a:ext cx="8077200" cy="754053"/>
          </a:xfrm>
          <a:prstGeom prst="rect">
            <a:avLst/>
          </a:prstGeom>
        </p:spPr>
        <p:txBody>
          <a:bodyPr wrap="square">
            <a:spAutoFit/>
          </a:bodyPr>
          <a:lstStyle/>
          <a:p>
            <a:pPr lvl="0">
              <a:lnSpc>
                <a:spcPct val="150000"/>
              </a:lnSpc>
              <a:defRPr/>
            </a:pPr>
            <a:r>
              <a:rPr lang="zh-CN" altLang="en-US" sz="3200" dirty="0">
                <a:solidFill>
                  <a:srgbClr val="FF0000"/>
                </a:solidFill>
                <a:latin typeface="香萃等粗宋" panose="02020700000000000000" pitchFamily="18" charset="-122"/>
                <a:ea typeface="香萃等粗宋" panose="02020700000000000000" pitchFamily="18" charset="-122"/>
                <a:sym typeface="Symbol" pitchFamily="18" charset="2"/>
              </a:rPr>
              <a:t>被询问语句取反：</a:t>
            </a:r>
            <a:r>
              <a:rPr lang="en-US" altLang="zh-CN" sz="3200" dirty="0">
                <a:solidFill>
                  <a:srgbClr val="FF0000"/>
                </a:solidFill>
                <a:latin typeface="香萃等粗宋" panose="02020700000000000000" pitchFamily="18" charset="-122"/>
                <a:ea typeface="香萃等粗宋" panose="02020700000000000000" pitchFamily="18" charset="-122"/>
                <a:sym typeface="Symbol" pitchFamily="18" charset="2"/>
              </a:rPr>
              <a:t> Criminal(West)</a:t>
            </a:r>
            <a:endParaRPr kumimoji="0" lang="en-US" altLang="zh-CN" sz="32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香萃等粗宋" panose="02020700000000000000" pitchFamily="18" charset="-122"/>
              <a:ea typeface="香萃等粗宋" panose="02020700000000000000" pitchFamily="18" charset="-122"/>
            </a:endParaRPr>
          </a:p>
        </p:txBody>
      </p:sp>
    </p:spTree>
    <p:extLst>
      <p:ext uri="{BB962C8B-B14F-4D97-AF65-F5344CB8AC3E}">
        <p14:creationId xmlns:p14="http://schemas.microsoft.com/office/powerpoint/2010/main" val="27067698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E8C4C3-1CA5-7CE2-9A42-FC1DF3BCC95C}"/>
              </a:ext>
            </a:extLst>
          </p:cNvPr>
          <p:cNvSpPr>
            <a:spLocks noGrp="1"/>
          </p:cNvSpPr>
          <p:nvPr>
            <p:ph type="title"/>
          </p:nvPr>
        </p:nvSpPr>
        <p:spPr/>
        <p:txBody>
          <a:bodyPr/>
          <a:lstStyle/>
          <a:p>
            <a:r>
              <a:rPr lang="en-US" altLang="zh-CN" dirty="0"/>
              <a:t>9.5 </a:t>
            </a:r>
            <a:r>
              <a:rPr lang="zh-CN" altLang="en-US" dirty="0"/>
              <a:t>一阶逻辑的归结算法</a:t>
            </a:r>
          </a:p>
        </p:txBody>
      </p:sp>
      <p:sp>
        <p:nvSpPr>
          <p:cNvPr id="3" name="内容占位符 2">
            <a:extLst>
              <a:ext uri="{FF2B5EF4-FFF2-40B4-BE49-F238E27FC236}">
                <a16:creationId xmlns:a16="http://schemas.microsoft.com/office/drawing/2014/main" id="{4F258FA1-850D-1D40-9EBD-81B40BE3B92F}"/>
              </a:ext>
            </a:extLst>
          </p:cNvPr>
          <p:cNvSpPr>
            <a:spLocks noGrp="1"/>
          </p:cNvSpPr>
          <p:nvPr>
            <p:ph idx="1"/>
          </p:nvPr>
        </p:nvSpPr>
        <p:spPr/>
        <p:txBody>
          <a:bodyPr/>
          <a:lstStyle/>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KB</a:t>
            </a:r>
            <a:r>
              <a:rPr lang="zh-CN" altLang="en-US" kern="0" dirty="0">
                <a:solidFill>
                  <a:srgbClr val="FFCC99"/>
                </a:solidFill>
                <a:latin typeface="Aa花间辞楷书 (非商业使用)" panose="02010600010101010101" pitchFamily="2" charset="-122"/>
                <a:ea typeface="Aa花间辞楷书 (非商业使用)" panose="02010600010101010101" pitchFamily="2" charset="-122"/>
              </a:rPr>
              <a:t>如下：</a:t>
            </a:r>
            <a:endParaRPr lang="en-US" altLang="zh-CN" kern="0" dirty="0">
              <a:solidFill>
                <a:srgbClr val="FFCC99"/>
              </a:solidFill>
              <a:latin typeface="Aa花间辞楷书 (非商业使用)" panose="02010600010101010101" pitchFamily="2" charset="-122"/>
              <a:ea typeface="Aa花间辞楷书 (非商业使用)" panose="02010600010101010101" pitchFamily="2" charset="-122"/>
            </a:endParaRP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1）Owns(Nono, 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2）Missile(M</a:t>
            </a:r>
            <a:r>
              <a:rPr lang="en-US" altLang="zh-CN" kern="0" baseline="-25000" dirty="0">
                <a:solidFill>
                  <a:srgbClr val="FFCC99"/>
                </a:solidFill>
                <a:latin typeface="Aa花间辞楷书 (非商业使用)" panose="02010600010101010101" pitchFamily="2" charset="-122"/>
                <a:ea typeface="Aa花间辞楷书 (非商业使用)" panose="02010600010101010101" pitchFamily="2" charset="-122"/>
              </a:rPr>
              <a:t>1</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3）American(West)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4）Enemy(Nono, America)</a:t>
            </a:r>
          </a:p>
          <a:p>
            <a:pPr marL="0" indent="0" eaLnBrk="0" hangingPunct="0">
              <a:lnSpc>
                <a:spcPct val="120000"/>
              </a:lnSpc>
              <a:spcBef>
                <a:spcPct val="20000"/>
              </a:spcBef>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5）Missile(x)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Weapon(x)</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6）Missile(x)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Owns(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Nono,x</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West,x,Nono</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7）Enemy(x, America)</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Hostile(x) </a:t>
            </a:r>
          </a:p>
          <a:p>
            <a:pPr marL="342900" lvl="0" indent="-342900" defTabSz="914400" eaLnBrk="0" fontAlgn="base" hangingPunct="0">
              <a:lnSpc>
                <a:spcPct val="120000"/>
              </a:lnSpc>
              <a:spcBef>
                <a:spcPct val="20000"/>
              </a:spcBef>
              <a:spcAft>
                <a:spcPct val="0"/>
              </a:spcAft>
              <a:buNone/>
              <a:defRPr/>
            </a:pP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8）American(x)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Weapon(y)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Sells(</a:t>
            </a:r>
            <a:r>
              <a:rPr lang="en-US" altLang="zh-CN" kern="0" dirty="0" err="1">
                <a:solidFill>
                  <a:srgbClr val="FFCC99"/>
                </a:solidFill>
                <a:latin typeface="Aa花间辞楷书 (非商业使用)" panose="02010600010101010101" pitchFamily="2" charset="-122"/>
                <a:ea typeface="Aa花间辞楷书 (非商业使用)" panose="02010600010101010101" pitchFamily="2" charset="-122"/>
              </a:rPr>
              <a:t>x,y,z</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Hostile(z) </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sym typeface="Symbol" pitchFamily="18" charset="2"/>
              </a:rPr>
              <a:t></a:t>
            </a:r>
            <a:r>
              <a:rPr lang="en-US" altLang="zh-CN" kern="0" dirty="0">
                <a:solidFill>
                  <a:srgbClr val="FFCC99"/>
                </a:solidFill>
                <a:latin typeface="Aa花间辞楷书 (非商业使用)" panose="02010600010101010101" pitchFamily="2" charset="-122"/>
                <a:ea typeface="Aa花间辞楷书 (非商业使用)" panose="02010600010101010101" pitchFamily="2" charset="-122"/>
              </a:rPr>
              <a:t> Criminal(x)</a:t>
            </a:r>
          </a:p>
          <a:p>
            <a:endParaRPr lang="zh-CN" altLang="en-US" dirty="0"/>
          </a:p>
          <a:p>
            <a:endParaRPr lang="zh-CN" altLang="en-US" dirty="0"/>
          </a:p>
        </p:txBody>
      </p:sp>
      <p:sp>
        <p:nvSpPr>
          <p:cNvPr id="4" name="Rectangle 2">
            <a:extLst>
              <a:ext uri="{FF2B5EF4-FFF2-40B4-BE49-F238E27FC236}">
                <a16:creationId xmlns:a16="http://schemas.microsoft.com/office/drawing/2014/main" id="{BF2D8650-465C-E320-5703-F5E70CEA7C1A}"/>
              </a:ext>
            </a:extLst>
          </p:cNvPr>
          <p:cNvSpPr txBox="1">
            <a:spLocks noChangeArrowheads="1"/>
          </p:cNvSpPr>
          <p:nvPr/>
        </p:nvSpPr>
        <p:spPr bwMode="auto">
          <a:xfrm>
            <a:off x="2196737" y="5532446"/>
            <a:ext cx="8077200" cy="754053"/>
          </a:xfrm>
          <a:prstGeom prst="rect">
            <a:avLst/>
          </a:prstGeom>
        </p:spPr>
        <p:txBody>
          <a:bodyPr wrap="square">
            <a:spAutoFit/>
          </a:bodyPr>
          <a:lstStyle/>
          <a:p>
            <a:pPr lvl="0">
              <a:lnSpc>
                <a:spcPct val="150000"/>
              </a:lnSpc>
              <a:defRPr/>
            </a:pPr>
            <a:r>
              <a:rPr lang="zh-CN" altLang="en-US" sz="3200" dirty="0">
                <a:solidFill>
                  <a:srgbClr val="FF0000"/>
                </a:solidFill>
                <a:latin typeface="香萃等粗宋" panose="02020700000000000000" pitchFamily="18" charset="-122"/>
                <a:ea typeface="香萃等粗宋" panose="02020700000000000000" pitchFamily="18" charset="-122"/>
                <a:sym typeface="Symbol" pitchFamily="18" charset="2"/>
              </a:rPr>
              <a:t>被询问语句取反：</a:t>
            </a:r>
            <a:r>
              <a:rPr lang="en-US" altLang="zh-CN" sz="3200" dirty="0">
                <a:solidFill>
                  <a:srgbClr val="FF0000"/>
                </a:solidFill>
                <a:latin typeface="香萃等粗宋" panose="02020700000000000000" pitchFamily="18" charset="-122"/>
                <a:ea typeface="香萃等粗宋" panose="02020700000000000000" pitchFamily="18" charset="-122"/>
                <a:sym typeface="Symbol" pitchFamily="18" charset="2"/>
              </a:rPr>
              <a:t> Criminal(West)</a:t>
            </a:r>
            <a:endParaRPr kumimoji="0" lang="en-US" altLang="zh-CN" sz="32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香萃等粗宋" panose="02020700000000000000" pitchFamily="18" charset="-122"/>
              <a:ea typeface="香萃等粗宋" panose="02020700000000000000" pitchFamily="18" charset="-122"/>
            </a:endParaRPr>
          </a:p>
        </p:txBody>
      </p:sp>
    </p:spTree>
    <p:extLst>
      <p:ext uri="{BB962C8B-B14F-4D97-AF65-F5344CB8AC3E}">
        <p14:creationId xmlns:p14="http://schemas.microsoft.com/office/powerpoint/2010/main" val="432598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BB0016-E114-1DA3-C254-327FA2C0309C}"/>
              </a:ext>
            </a:extLst>
          </p:cNvPr>
          <p:cNvSpPr>
            <a:spLocks noGrp="1"/>
          </p:cNvSpPr>
          <p:nvPr>
            <p:ph type="title"/>
          </p:nvPr>
        </p:nvSpPr>
        <p:spPr/>
        <p:txBody>
          <a:bodyPr/>
          <a:lstStyle/>
          <a:p>
            <a:r>
              <a:rPr lang="en-US" altLang="zh-CN" dirty="0"/>
              <a:t>9.5 </a:t>
            </a:r>
            <a:r>
              <a:rPr lang="zh-CN" altLang="en-US" dirty="0"/>
              <a:t>一阶逻辑的归结算法</a:t>
            </a:r>
          </a:p>
        </p:txBody>
      </p:sp>
      <p:pic>
        <p:nvPicPr>
          <p:cNvPr id="8" name="图片 7">
            <a:extLst>
              <a:ext uri="{FF2B5EF4-FFF2-40B4-BE49-F238E27FC236}">
                <a16:creationId xmlns:a16="http://schemas.microsoft.com/office/drawing/2014/main" id="{219BD00D-EC5B-D11F-E1F4-FCD6B104DBA6}"/>
              </a:ext>
            </a:extLst>
          </p:cNvPr>
          <p:cNvPicPr>
            <a:picLocks noChangeAspect="1"/>
          </p:cNvPicPr>
          <p:nvPr/>
        </p:nvPicPr>
        <p:blipFill>
          <a:blip r:embed="rId2"/>
          <a:stretch>
            <a:fillRect/>
          </a:stretch>
        </p:blipFill>
        <p:spPr>
          <a:xfrm>
            <a:off x="680513" y="948995"/>
            <a:ext cx="11094719" cy="5407757"/>
          </a:xfrm>
          <a:prstGeom prst="rect">
            <a:avLst/>
          </a:prstGeom>
        </p:spPr>
      </p:pic>
    </p:spTree>
    <p:extLst>
      <p:ext uri="{BB962C8B-B14F-4D97-AF65-F5344CB8AC3E}">
        <p14:creationId xmlns:p14="http://schemas.microsoft.com/office/powerpoint/2010/main" val="33153839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EE3D53-B077-3A1C-1D50-F524C213E124}"/>
              </a:ext>
            </a:extLst>
          </p:cNvPr>
          <p:cNvSpPr>
            <a:spLocks noGrp="1"/>
          </p:cNvSpPr>
          <p:nvPr>
            <p:ph type="title"/>
          </p:nvPr>
        </p:nvSpPr>
        <p:spPr/>
        <p:txBody>
          <a:bodyPr/>
          <a:lstStyle/>
          <a:p>
            <a:r>
              <a:rPr lang="zh-CN" altLang="en-US" dirty="0"/>
              <a:t>逻辑</a:t>
            </a:r>
            <a:r>
              <a:rPr lang="en-US" altLang="zh-CN" dirty="0"/>
              <a:t>Agent</a:t>
            </a:r>
            <a:r>
              <a:rPr lang="zh-CN" altLang="en-US" dirty="0"/>
              <a:t>总结</a:t>
            </a:r>
          </a:p>
        </p:txBody>
      </p:sp>
      <p:cxnSp>
        <p:nvCxnSpPr>
          <p:cNvPr id="4" name="直接连接符 3">
            <a:extLst>
              <a:ext uri="{FF2B5EF4-FFF2-40B4-BE49-F238E27FC236}">
                <a16:creationId xmlns:a16="http://schemas.microsoft.com/office/drawing/2014/main" id="{50DF9F42-4BAA-6392-52B2-52BCFA22BB33}"/>
              </a:ext>
            </a:extLst>
          </p:cNvPr>
          <p:cNvCxnSpPr>
            <a:cxnSpLocks/>
          </p:cNvCxnSpPr>
          <p:nvPr/>
        </p:nvCxnSpPr>
        <p:spPr>
          <a:xfrm>
            <a:off x="134983" y="2426784"/>
            <a:ext cx="11922034" cy="37855"/>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5" name="矩形: 圆角 4">
            <a:extLst>
              <a:ext uri="{FF2B5EF4-FFF2-40B4-BE49-F238E27FC236}">
                <a16:creationId xmlns:a16="http://schemas.microsoft.com/office/drawing/2014/main" id="{78F12AE2-BD38-C06F-60A8-22793A02F370}"/>
              </a:ext>
            </a:extLst>
          </p:cNvPr>
          <p:cNvSpPr/>
          <p:nvPr/>
        </p:nvSpPr>
        <p:spPr>
          <a:xfrm>
            <a:off x="2344547" y="887009"/>
            <a:ext cx="989950" cy="508529"/>
          </a:xfrm>
          <a:prstGeom prst="roundRect">
            <a:avLst/>
          </a:prstGeom>
          <a:solidFill>
            <a:schemeClr val="accent2">
              <a:lumMod val="20000"/>
              <a:lumOff val="80000"/>
            </a:schemeClr>
          </a:solid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FF0000"/>
                </a:solidFill>
                <a:latin typeface="Aa花间辞楷书 (非商业使用)" panose="02010600010101010101" pitchFamily="2" charset="-122"/>
                <a:ea typeface="Aa花间辞楷书 (非商业使用)" panose="02010600010101010101" pitchFamily="2" charset="-122"/>
              </a:rPr>
              <a:t>逻辑</a:t>
            </a:r>
          </a:p>
        </p:txBody>
      </p:sp>
      <p:sp>
        <p:nvSpPr>
          <p:cNvPr id="6" name="矩形: 圆角 5">
            <a:extLst>
              <a:ext uri="{FF2B5EF4-FFF2-40B4-BE49-F238E27FC236}">
                <a16:creationId xmlns:a16="http://schemas.microsoft.com/office/drawing/2014/main" id="{24EA88C2-86CC-D76B-DEC3-D0951B0DD501}"/>
              </a:ext>
            </a:extLst>
          </p:cNvPr>
          <p:cNvSpPr/>
          <p:nvPr/>
        </p:nvSpPr>
        <p:spPr>
          <a:xfrm>
            <a:off x="3739945" y="2564640"/>
            <a:ext cx="1327475" cy="508529"/>
          </a:xfrm>
          <a:prstGeom prst="roundRect">
            <a:avLst/>
          </a:prstGeom>
          <a:solidFill>
            <a:schemeClr val="accent2">
              <a:lumMod val="20000"/>
              <a:lumOff val="80000"/>
            </a:schemeClr>
          </a:solid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FF0000"/>
                </a:solidFill>
                <a:latin typeface="Aa花间辞楷书 (非商业使用)" panose="02010600010101010101" pitchFamily="2" charset="-122"/>
                <a:ea typeface="Aa花间辞楷书 (非商业使用)" panose="02010600010101010101" pitchFamily="2" charset="-122"/>
              </a:rPr>
              <a:t>命题逻辑</a:t>
            </a:r>
          </a:p>
        </p:txBody>
      </p:sp>
      <p:sp>
        <p:nvSpPr>
          <p:cNvPr id="7" name="矩形: 圆角 6">
            <a:extLst>
              <a:ext uri="{FF2B5EF4-FFF2-40B4-BE49-F238E27FC236}">
                <a16:creationId xmlns:a16="http://schemas.microsoft.com/office/drawing/2014/main" id="{9FF13FBF-3ECE-836C-E822-35238E24EF64}"/>
              </a:ext>
            </a:extLst>
          </p:cNvPr>
          <p:cNvSpPr/>
          <p:nvPr/>
        </p:nvSpPr>
        <p:spPr>
          <a:xfrm>
            <a:off x="10447757" y="3511194"/>
            <a:ext cx="1327475" cy="508529"/>
          </a:xfrm>
          <a:prstGeom prst="roundRect">
            <a:avLst/>
          </a:prstGeom>
          <a:solidFill>
            <a:schemeClr val="accent2">
              <a:lumMod val="20000"/>
              <a:lumOff val="80000"/>
            </a:schemeClr>
          </a:solid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FF0000"/>
                </a:solidFill>
                <a:latin typeface="Aa花间辞楷书 (非商业使用)" panose="02010600010101010101" pitchFamily="2" charset="-122"/>
                <a:ea typeface="Aa花间辞楷书 (非商业使用)" panose="02010600010101010101" pitchFamily="2" charset="-122"/>
              </a:rPr>
              <a:t>一阶逻辑</a:t>
            </a:r>
          </a:p>
        </p:txBody>
      </p:sp>
      <p:sp>
        <p:nvSpPr>
          <p:cNvPr id="8" name="矩形 7">
            <a:extLst>
              <a:ext uri="{FF2B5EF4-FFF2-40B4-BE49-F238E27FC236}">
                <a16:creationId xmlns:a16="http://schemas.microsoft.com/office/drawing/2014/main" id="{AC7CAD2A-BB7C-1FFE-F12C-D43A15A5089F}"/>
              </a:ext>
            </a:extLst>
          </p:cNvPr>
          <p:cNvSpPr/>
          <p:nvPr/>
        </p:nvSpPr>
        <p:spPr>
          <a:xfrm>
            <a:off x="4704283" y="919355"/>
            <a:ext cx="2006454" cy="447985"/>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模型、蕴涵、模型检验</a:t>
            </a:r>
          </a:p>
        </p:txBody>
      </p:sp>
      <p:cxnSp>
        <p:nvCxnSpPr>
          <p:cNvPr id="9" name="直接箭头连接符 8">
            <a:extLst>
              <a:ext uri="{FF2B5EF4-FFF2-40B4-BE49-F238E27FC236}">
                <a16:creationId xmlns:a16="http://schemas.microsoft.com/office/drawing/2014/main" id="{E22112F8-9B26-ADA2-0D42-8923A82A4DDB}"/>
              </a:ext>
            </a:extLst>
          </p:cNvPr>
          <p:cNvCxnSpPr>
            <a:cxnSpLocks/>
            <a:stCxn id="5" idx="3"/>
            <a:endCxn id="8" idx="1"/>
          </p:cNvCxnSpPr>
          <p:nvPr/>
        </p:nvCxnSpPr>
        <p:spPr>
          <a:xfrm>
            <a:off x="3334497" y="1141274"/>
            <a:ext cx="1369786" cy="2074"/>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sp>
        <p:nvSpPr>
          <p:cNvPr id="10" name="矩形 9">
            <a:extLst>
              <a:ext uri="{FF2B5EF4-FFF2-40B4-BE49-F238E27FC236}">
                <a16:creationId xmlns:a16="http://schemas.microsoft.com/office/drawing/2014/main" id="{CBBE9BEF-BF9A-12CE-E588-686655712CD5}"/>
              </a:ext>
            </a:extLst>
          </p:cNvPr>
          <p:cNvSpPr/>
          <p:nvPr/>
        </p:nvSpPr>
        <p:spPr>
          <a:xfrm>
            <a:off x="5028337" y="1845897"/>
            <a:ext cx="1531829" cy="447985"/>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完备与可靠</a:t>
            </a:r>
          </a:p>
        </p:txBody>
      </p:sp>
      <p:cxnSp>
        <p:nvCxnSpPr>
          <p:cNvPr id="11" name="直接箭头连接符 10">
            <a:extLst>
              <a:ext uri="{FF2B5EF4-FFF2-40B4-BE49-F238E27FC236}">
                <a16:creationId xmlns:a16="http://schemas.microsoft.com/office/drawing/2014/main" id="{6446E63A-E3B3-BE43-C6CA-431342E23F8C}"/>
              </a:ext>
            </a:extLst>
          </p:cNvPr>
          <p:cNvCxnSpPr>
            <a:cxnSpLocks/>
            <a:stCxn id="8" idx="3"/>
            <a:endCxn id="12" idx="1"/>
          </p:cNvCxnSpPr>
          <p:nvPr/>
        </p:nvCxnSpPr>
        <p:spPr>
          <a:xfrm flipV="1">
            <a:off x="6710737" y="1133434"/>
            <a:ext cx="1171969" cy="9914"/>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sp>
        <p:nvSpPr>
          <p:cNvPr id="12" name="矩形 11">
            <a:extLst>
              <a:ext uri="{FF2B5EF4-FFF2-40B4-BE49-F238E27FC236}">
                <a16:creationId xmlns:a16="http://schemas.microsoft.com/office/drawing/2014/main" id="{9172BD9D-87FA-9CB2-2F22-57D956051463}"/>
              </a:ext>
            </a:extLst>
          </p:cNvPr>
          <p:cNvSpPr/>
          <p:nvPr/>
        </p:nvSpPr>
        <p:spPr>
          <a:xfrm>
            <a:off x="7882706" y="909441"/>
            <a:ext cx="2668999" cy="447985"/>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推理转化为集合包含关系验证</a:t>
            </a:r>
          </a:p>
        </p:txBody>
      </p:sp>
      <p:cxnSp>
        <p:nvCxnSpPr>
          <p:cNvPr id="13" name="直接箭头连接符 12">
            <a:extLst>
              <a:ext uri="{FF2B5EF4-FFF2-40B4-BE49-F238E27FC236}">
                <a16:creationId xmlns:a16="http://schemas.microsoft.com/office/drawing/2014/main" id="{B76535B2-54A2-11DC-6D1D-E73FB49D33C7}"/>
              </a:ext>
            </a:extLst>
          </p:cNvPr>
          <p:cNvCxnSpPr>
            <a:cxnSpLocks/>
            <a:stCxn id="12" idx="2"/>
            <a:endCxn id="50" idx="3"/>
          </p:cNvCxnSpPr>
          <p:nvPr/>
        </p:nvCxnSpPr>
        <p:spPr>
          <a:xfrm flipH="1">
            <a:off x="7186855" y="1357426"/>
            <a:ext cx="2030351" cy="302277"/>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sp>
        <p:nvSpPr>
          <p:cNvPr id="14" name="矩形 13">
            <a:extLst>
              <a:ext uri="{FF2B5EF4-FFF2-40B4-BE49-F238E27FC236}">
                <a16:creationId xmlns:a16="http://schemas.microsoft.com/office/drawing/2014/main" id="{FE744ADB-A9BA-570D-663B-17637CC7A1C2}"/>
              </a:ext>
            </a:extLst>
          </p:cNvPr>
          <p:cNvSpPr/>
          <p:nvPr/>
        </p:nvSpPr>
        <p:spPr>
          <a:xfrm>
            <a:off x="2641382" y="1972350"/>
            <a:ext cx="1212292" cy="399322"/>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演绎定理</a:t>
            </a:r>
          </a:p>
        </p:txBody>
      </p:sp>
      <p:cxnSp>
        <p:nvCxnSpPr>
          <p:cNvPr id="15" name="直接箭头连接符 14">
            <a:extLst>
              <a:ext uri="{FF2B5EF4-FFF2-40B4-BE49-F238E27FC236}">
                <a16:creationId xmlns:a16="http://schemas.microsoft.com/office/drawing/2014/main" id="{1BDB5F46-F313-F6D6-46E2-1E497DF73972}"/>
              </a:ext>
            </a:extLst>
          </p:cNvPr>
          <p:cNvCxnSpPr>
            <a:cxnSpLocks/>
            <a:stCxn id="5" idx="2"/>
            <a:endCxn id="23" idx="0"/>
          </p:cNvCxnSpPr>
          <p:nvPr/>
        </p:nvCxnSpPr>
        <p:spPr>
          <a:xfrm flipH="1">
            <a:off x="2441501" y="1395538"/>
            <a:ext cx="398021" cy="1169102"/>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cxnSp>
        <p:nvCxnSpPr>
          <p:cNvPr id="16" name="直接箭头连接符 15">
            <a:extLst>
              <a:ext uri="{FF2B5EF4-FFF2-40B4-BE49-F238E27FC236}">
                <a16:creationId xmlns:a16="http://schemas.microsoft.com/office/drawing/2014/main" id="{64273A97-09D4-D42A-A7CB-C2DAEECA1521}"/>
              </a:ext>
            </a:extLst>
          </p:cNvPr>
          <p:cNvCxnSpPr>
            <a:cxnSpLocks/>
          </p:cNvCxnSpPr>
          <p:nvPr/>
        </p:nvCxnSpPr>
        <p:spPr>
          <a:xfrm>
            <a:off x="3288278" y="2846253"/>
            <a:ext cx="495417" cy="0"/>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sp>
        <p:nvSpPr>
          <p:cNvPr id="17" name="矩形 16">
            <a:extLst>
              <a:ext uri="{FF2B5EF4-FFF2-40B4-BE49-F238E27FC236}">
                <a16:creationId xmlns:a16="http://schemas.microsoft.com/office/drawing/2014/main" id="{296E3B99-BE22-C0B6-AAE2-83F80687BEA3}"/>
              </a:ext>
            </a:extLst>
          </p:cNvPr>
          <p:cNvSpPr/>
          <p:nvPr/>
        </p:nvSpPr>
        <p:spPr>
          <a:xfrm>
            <a:off x="6284692" y="2622580"/>
            <a:ext cx="2624899" cy="447985"/>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引入对象、函数、关系、量词</a:t>
            </a:r>
          </a:p>
        </p:txBody>
      </p:sp>
      <p:cxnSp>
        <p:nvCxnSpPr>
          <p:cNvPr id="18" name="直接箭头连接符 17">
            <a:extLst>
              <a:ext uri="{FF2B5EF4-FFF2-40B4-BE49-F238E27FC236}">
                <a16:creationId xmlns:a16="http://schemas.microsoft.com/office/drawing/2014/main" id="{1872C628-5266-B2AC-78F8-5336D97359C2}"/>
              </a:ext>
            </a:extLst>
          </p:cNvPr>
          <p:cNvCxnSpPr>
            <a:cxnSpLocks/>
            <a:stCxn id="6" idx="3"/>
            <a:endCxn id="17" idx="1"/>
          </p:cNvCxnSpPr>
          <p:nvPr/>
        </p:nvCxnSpPr>
        <p:spPr>
          <a:xfrm>
            <a:off x="5067420" y="2818905"/>
            <a:ext cx="1217272" cy="27668"/>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cxnSp>
        <p:nvCxnSpPr>
          <p:cNvPr id="19" name="直接箭头连接符 18">
            <a:extLst>
              <a:ext uri="{FF2B5EF4-FFF2-40B4-BE49-F238E27FC236}">
                <a16:creationId xmlns:a16="http://schemas.microsoft.com/office/drawing/2014/main" id="{E5E6078D-2256-F86C-F8DD-58930C39498D}"/>
              </a:ext>
            </a:extLst>
          </p:cNvPr>
          <p:cNvCxnSpPr>
            <a:cxnSpLocks/>
            <a:stCxn id="7" idx="0"/>
            <a:endCxn id="29" idx="2"/>
          </p:cNvCxnSpPr>
          <p:nvPr/>
        </p:nvCxnSpPr>
        <p:spPr>
          <a:xfrm flipH="1" flipV="1">
            <a:off x="11111494" y="3074071"/>
            <a:ext cx="1" cy="437123"/>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cxnSp>
        <p:nvCxnSpPr>
          <p:cNvPr id="20" name="直接箭头连接符 19">
            <a:extLst>
              <a:ext uri="{FF2B5EF4-FFF2-40B4-BE49-F238E27FC236}">
                <a16:creationId xmlns:a16="http://schemas.microsoft.com/office/drawing/2014/main" id="{2640E618-1BFA-0ED6-267D-713362849830}"/>
              </a:ext>
            </a:extLst>
          </p:cNvPr>
          <p:cNvCxnSpPr>
            <a:cxnSpLocks/>
            <a:stCxn id="5" idx="2"/>
            <a:endCxn id="6" idx="0"/>
          </p:cNvCxnSpPr>
          <p:nvPr/>
        </p:nvCxnSpPr>
        <p:spPr>
          <a:xfrm>
            <a:off x="2839522" y="1395538"/>
            <a:ext cx="1564161" cy="1169102"/>
          </a:xfrm>
          <a:prstGeom prst="straightConnector1">
            <a:avLst/>
          </a:prstGeom>
          <a:ln w="38100">
            <a:solidFill>
              <a:srgbClr val="FFCC99"/>
            </a:solidFill>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21" name="直接箭头连接符 20">
            <a:extLst>
              <a:ext uri="{FF2B5EF4-FFF2-40B4-BE49-F238E27FC236}">
                <a16:creationId xmlns:a16="http://schemas.microsoft.com/office/drawing/2014/main" id="{1B1CB633-6494-7F6D-B246-75C3812FBDD1}"/>
              </a:ext>
            </a:extLst>
          </p:cNvPr>
          <p:cNvCxnSpPr>
            <a:cxnSpLocks/>
            <a:stCxn id="10" idx="1"/>
            <a:endCxn id="6" idx="0"/>
          </p:cNvCxnSpPr>
          <p:nvPr/>
        </p:nvCxnSpPr>
        <p:spPr>
          <a:xfrm flipH="1">
            <a:off x="4403683" y="2069890"/>
            <a:ext cx="624654" cy="494750"/>
          </a:xfrm>
          <a:prstGeom prst="straightConnector1">
            <a:avLst/>
          </a:prstGeom>
          <a:ln w="38100">
            <a:solidFill>
              <a:srgbClr val="FFCC99"/>
            </a:solidFill>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22" name="直接箭头连接符 21">
            <a:extLst>
              <a:ext uri="{FF2B5EF4-FFF2-40B4-BE49-F238E27FC236}">
                <a16:creationId xmlns:a16="http://schemas.microsoft.com/office/drawing/2014/main" id="{0300A204-8342-1A86-E8B1-94DBB94F3046}"/>
              </a:ext>
            </a:extLst>
          </p:cNvPr>
          <p:cNvCxnSpPr>
            <a:cxnSpLocks/>
            <a:stCxn id="32" idx="1"/>
            <a:endCxn id="6" idx="3"/>
          </p:cNvCxnSpPr>
          <p:nvPr/>
        </p:nvCxnSpPr>
        <p:spPr>
          <a:xfrm flipH="1" flipV="1">
            <a:off x="5067420" y="2818905"/>
            <a:ext cx="1313658" cy="571856"/>
          </a:xfrm>
          <a:prstGeom prst="straightConnector1">
            <a:avLst/>
          </a:prstGeom>
          <a:ln w="38100">
            <a:solidFill>
              <a:srgbClr val="FFCC99"/>
            </a:solidFill>
            <a:headEnd type="none"/>
            <a:tailEnd type="triangle"/>
          </a:ln>
        </p:spPr>
        <p:style>
          <a:lnRef idx="1">
            <a:schemeClr val="accent2"/>
          </a:lnRef>
          <a:fillRef idx="0">
            <a:schemeClr val="accent2"/>
          </a:fillRef>
          <a:effectRef idx="0">
            <a:schemeClr val="accent2"/>
          </a:effectRef>
          <a:fontRef idx="minor">
            <a:schemeClr val="tx1"/>
          </a:fontRef>
        </p:style>
      </p:cxnSp>
      <p:sp>
        <p:nvSpPr>
          <p:cNvPr id="23" name="矩形 22">
            <a:extLst>
              <a:ext uri="{FF2B5EF4-FFF2-40B4-BE49-F238E27FC236}">
                <a16:creationId xmlns:a16="http://schemas.microsoft.com/office/drawing/2014/main" id="{D56BAB3B-19AF-D18E-E887-0E011A53B690}"/>
              </a:ext>
            </a:extLst>
          </p:cNvPr>
          <p:cNvSpPr/>
          <p:nvPr/>
        </p:nvSpPr>
        <p:spPr>
          <a:xfrm>
            <a:off x="1583900" y="2564640"/>
            <a:ext cx="1715202" cy="447985"/>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命题、联结词、逻辑等价</a:t>
            </a:r>
          </a:p>
        </p:txBody>
      </p:sp>
      <p:sp>
        <p:nvSpPr>
          <p:cNvPr id="24" name="矩形 23">
            <a:extLst>
              <a:ext uri="{FF2B5EF4-FFF2-40B4-BE49-F238E27FC236}">
                <a16:creationId xmlns:a16="http://schemas.microsoft.com/office/drawing/2014/main" id="{62246C64-D10E-DB26-7225-C7091B811B78}"/>
              </a:ext>
            </a:extLst>
          </p:cNvPr>
          <p:cNvSpPr/>
          <p:nvPr/>
        </p:nvSpPr>
        <p:spPr>
          <a:xfrm>
            <a:off x="4371685" y="3469232"/>
            <a:ext cx="1073750" cy="307920"/>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合取范式</a:t>
            </a:r>
          </a:p>
        </p:txBody>
      </p:sp>
      <p:sp>
        <p:nvSpPr>
          <p:cNvPr id="25" name="矩形: 圆角 24">
            <a:extLst>
              <a:ext uri="{FF2B5EF4-FFF2-40B4-BE49-F238E27FC236}">
                <a16:creationId xmlns:a16="http://schemas.microsoft.com/office/drawing/2014/main" id="{9E0FF00E-7CDA-6802-D825-A5B434B40234}"/>
              </a:ext>
            </a:extLst>
          </p:cNvPr>
          <p:cNvSpPr/>
          <p:nvPr/>
        </p:nvSpPr>
        <p:spPr>
          <a:xfrm>
            <a:off x="3611935" y="4311747"/>
            <a:ext cx="989950" cy="328911"/>
          </a:xfrm>
          <a:prstGeom prst="roundRect">
            <a:avLst/>
          </a:prstGeom>
          <a:no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归结</a:t>
            </a:r>
          </a:p>
        </p:txBody>
      </p:sp>
      <p:cxnSp>
        <p:nvCxnSpPr>
          <p:cNvPr id="26" name="直接箭头连接符 25">
            <a:extLst>
              <a:ext uri="{FF2B5EF4-FFF2-40B4-BE49-F238E27FC236}">
                <a16:creationId xmlns:a16="http://schemas.microsoft.com/office/drawing/2014/main" id="{BA4E8AED-3BF6-3AD3-B617-9D0EABF84309}"/>
              </a:ext>
            </a:extLst>
          </p:cNvPr>
          <p:cNvCxnSpPr>
            <a:cxnSpLocks/>
            <a:stCxn id="70" idx="2"/>
            <a:endCxn id="68" idx="0"/>
          </p:cNvCxnSpPr>
          <p:nvPr/>
        </p:nvCxnSpPr>
        <p:spPr>
          <a:xfrm flipH="1">
            <a:off x="951046" y="3795219"/>
            <a:ext cx="703981" cy="873167"/>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cxnSp>
        <p:nvCxnSpPr>
          <p:cNvPr id="27" name="直接箭头连接符 26">
            <a:extLst>
              <a:ext uri="{FF2B5EF4-FFF2-40B4-BE49-F238E27FC236}">
                <a16:creationId xmlns:a16="http://schemas.microsoft.com/office/drawing/2014/main" id="{854A4847-0136-16C8-2FAF-244CA6A13D06}"/>
              </a:ext>
            </a:extLst>
          </p:cNvPr>
          <p:cNvCxnSpPr>
            <a:cxnSpLocks/>
            <a:stCxn id="6" idx="2"/>
            <a:endCxn id="24" idx="0"/>
          </p:cNvCxnSpPr>
          <p:nvPr/>
        </p:nvCxnSpPr>
        <p:spPr>
          <a:xfrm>
            <a:off x="4403683" y="3073169"/>
            <a:ext cx="504877" cy="396063"/>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cxnSp>
        <p:nvCxnSpPr>
          <p:cNvPr id="28" name="直接箭头连接符 27">
            <a:extLst>
              <a:ext uri="{FF2B5EF4-FFF2-40B4-BE49-F238E27FC236}">
                <a16:creationId xmlns:a16="http://schemas.microsoft.com/office/drawing/2014/main" id="{8329DE3D-D787-9AD8-DE62-97DF65619FEA}"/>
              </a:ext>
            </a:extLst>
          </p:cNvPr>
          <p:cNvCxnSpPr>
            <a:cxnSpLocks/>
            <a:stCxn id="10" idx="2"/>
            <a:endCxn id="36" idx="0"/>
          </p:cNvCxnSpPr>
          <p:nvPr/>
        </p:nvCxnSpPr>
        <p:spPr>
          <a:xfrm>
            <a:off x="5794252" y="2293882"/>
            <a:ext cx="5331" cy="1759392"/>
          </a:xfrm>
          <a:prstGeom prst="straightConnector1">
            <a:avLst/>
          </a:prstGeom>
          <a:ln w="76200">
            <a:solidFill>
              <a:srgbClr val="FFCC99"/>
            </a:solidFill>
            <a:headEnd type="none"/>
            <a:tailEnd type="stealth"/>
          </a:ln>
        </p:spPr>
        <p:style>
          <a:lnRef idx="1">
            <a:schemeClr val="accent2"/>
          </a:lnRef>
          <a:fillRef idx="0">
            <a:schemeClr val="accent2"/>
          </a:fillRef>
          <a:effectRef idx="0">
            <a:schemeClr val="accent2"/>
          </a:effectRef>
          <a:fontRef idx="minor">
            <a:schemeClr val="tx1"/>
          </a:fontRef>
        </p:style>
      </p:cxnSp>
      <p:sp>
        <p:nvSpPr>
          <p:cNvPr id="29" name="矩形 28">
            <a:extLst>
              <a:ext uri="{FF2B5EF4-FFF2-40B4-BE49-F238E27FC236}">
                <a16:creationId xmlns:a16="http://schemas.microsoft.com/office/drawing/2014/main" id="{ABAE530E-E69B-88BC-6301-1650A29EE682}"/>
              </a:ext>
            </a:extLst>
          </p:cNvPr>
          <p:cNvSpPr/>
          <p:nvPr/>
        </p:nvSpPr>
        <p:spPr>
          <a:xfrm>
            <a:off x="10484551" y="2626086"/>
            <a:ext cx="1253886" cy="447985"/>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半可判定</a:t>
            </a:r>
          </a:p>
        </p:txBody>
      </p:sp>
      <p:cxnSp>
        <p:nvCxnSpPr>
          <p:cNvPr id="30" name="直接箭头连接符 29">
            <a:extLst>
              <a:ext uri="{FF2B5EF4-FFF2-40B4-BE49-F238E27FC236}">
                <a16:creationId xmlns:a16="http://schemas.microsoft.com/office/drawing/2014/main" id="{E2335E3B-C58B-D8B9-B929-EEF8FE98D9EA}"/>
              </a:ext>
            </a:extLst>
          </p:cNvPr>
          <p:cNvCxnSpPr>
            <a:cxnSpLocks/>
            <a:stCxn id="17" idx="3"/>
            <a:endCxn id="7" idx="1"/>
          </p:cNvCxnSpPr>
          <p:nvPr/>
        </p:nvCxnSpPr>
        <p:spPr>
          <a:xfrm>
            <a:off x="8909591" y="2846573"/>
            <a:ext cx="1538166" cy="918886"/>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cxnSp>
        <p:nvCxnSpPr>
          <p:cNvPr id="31" name="直接箭头连接符 30">
            <a:extLst>
              <a:ext uri="{FF2B5EF4-FFF2-40B4-BE49-F238E27FC236}">
                <a16:creationId xmlns:a16="http://schemas.microsoft.com/office/drawing/2014/main" id="{1777BE5C-9477-7B57-6033-D10F3D877B82}"/>
              </a:ext>
            </a:extLst>
          </p:cNvPr>
          <p:cNvCxnSpPr>
            <a:cxnSpLocks/>
            <a:stCxn id="7" idx="1"/>
            <a:endCxn id="45" idx="3"/>
          </p:cNvCxnSpPr>
          <p:nvPr/>
        </p:nvCxnSpPr>
        <p:spPr>
          <a:xfrm flipH="1">
            <a:off x="8246079" y="3765459"/>
            <a:ext cx="2201678" cy="255420"/>
          </a:xfrm>
          <a:prstGeom prst="straightConnector1">
            <a:avLst/>
          </a:prstGeom>
          <a:ln w="38100">
            <a:solidFill>
              <a:srgbClr val="FFCC99"/>
            </a:solidFill>
            <a:headEnd type="none"/>
            <a:tailEnd type="triangle"/>
          </a:ln>
        </p:spPr>
        <p:style>
          <a:lnRef idx="1">
            <a:schemeClr val="accent2"/>
          </a:lnRef>
          <a:fillRef idx="0">
            <a:schemeClr val="accent2"/>
          </a:fillRef>
          <a:effectRef idx="0">
            <a:schemeClr val="accent2"/>
          </a:effectRef>
          <a:fontRef idx="minor">
            <a:schemeClr val="tx1"/>
          </a:fontRef>
        </p:style>
      </p:cxnSp>
      <p:sp>
        <p:nvSpPr>
          <p:cNvPr id="32" name="矩形: 圆角 31">
            <a:extLst>
              <a:ext uri="{FF2B5EF4-FFF2-40B4-BE49-F238E27FC236}">
                <a16:creationId xmlns:a16="http://schemas.microsoft.com/office/drawing/2014/main" id="{84833596-17AA-5686-39E9-C8B23543A563}"/>
              </a:ext>
            </a:extLst>
          </p:cNvPr>
          <p:cNvSpPr/>
          <p:nvPr/>
        </p:nvSpPr>
        <p:spPr>
          <a:xfrm>
            <a:off x="6381078" y="3211303"/>
            <a:ext cx="989950" cy="358916"/>
          </a:xfrm>
          <a:prstGeom prst="roundRect">
            <a:avLst/>
          </a:prstGeom>
          <a:no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命题化</a:t>
            </a:r>
          </a:p>
        </p:txBody>
      </p:sp>
      <p:sp>
        <p:nvSpPr>
          <p:cNvPr id="33" name="矩形 32">
            <a:extLst>
              <a:ext uri="{FF2B5EF4-FFF2-40B4-BE49-F238E27FC236}">
                <a16:creationId xmlns:a16="http://schemas.microsoft.com/office/drawing/2014/main" id="{C3409D07-BD7B-3718-AF09-B109B702D0A8}"/>
              </a:ext>
            </a:extLst>
          </p:cNvPr>
          <p:cNvSpPr/>
          <p:nvPr/>
        </p:nvSpPr>
        <p:spPr>
          <a:xfrm>
            <a:off x="2042404" y="5526813"/>
            <a:ext cx="892118" cy="537310"/>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回溯和死循环</a:t>
            </a:r>
          </a:p>
        </p:txBody>
      </p:sp>
      <p:cxnSp>
        <p:nvCxnSpPr>
          <p:cNvPr id="34" name="直接箭头连接符 33">
            <a:extLst>
              <a:ext uri="{FF2B5EF4-FFF2-40B4-BE49-F238E27FC236}">
                <a16:creationId xmlns:a16="http://schemas.microsoft.com/office/drawing/2014/main" id="{29D994BD-0748-91A4-8725-8944C98D65F3}"/>
              </a:ext>
            </a:extLst>
          </p:cNvPr>
          <p:cNvCxnSpPr>
            <a:cxnSpLocks/>
            <a:stCxn id="24" idx="2"/>
            <a:endCxn id="25" idx="0"/>
          </p:cNvCxnSpPr>
          <p:nvPr/>
        </p:nvCxnSpPr>
        <p:spPr>
          <a:xfrm flipH="1">
            <a:off x="4106910" y="3777152"/>
            <a:ext cx="801650" cy="534595"/>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cxnSp>
        <p:nvCxnSpPr>
          <p:cNvPr id="35" name="直接箭头连接符 34">
            <a:extLst>
              <a:ext uri="{FF2B5EF4-FFF2-40B4-BE49-F238E27FC236}">
                <a16:creationId xmlns:a16="http://schemas.microsoft.com/office/drawing/2014/main" id="{6961B75A-DF63-1CAF-C9EF-A0B2A48189FB}"/>
              </a:ext>
            </a:extLst>
          </p:cNvPr>
          <p:cNvCxnSpPr>
            <a:cxnSpLocks/>
            <a:stCxn id="73" idx="0"/>
            <a:endCxn id="36" idx="1"/>
          </p:cNvCxnSpPr>
          <p:nvPr/>
        </p:nvCxnSpPr>
        <p:spPr>
          <a:xfrm flipV="1">
            <a:off x="4434461" y="4283933"/>
            <a:ext cx="599207" cy="663645"/>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sp>
        <p:nvSpPr>
          <p:cNvPr id="36" name="矩形 35">
            <a:extLst>
              <a:ext uri="{FF2B5EF4-FFF2-40B4-BE49-F238E27FC236}">
                <a16:creationId xmlns:a16="http://schemas.microsoft.com/office/drawing/2014/main" id="{014363FF-5443-C410-F1DC-E6640AE6BA8C}"/>
              </a:ext>
            </a:extLst>
          </p:cNvPr>
          <p:cNvSpPr/>
          <p:nvPr/>
        </p:nvSpPr>
        <p:spPr>
          <a:xfrm>
            <a:off x="5033668" y="4053274"/>
            <a:ext cx="1531829" cy="461318"/>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计算复杂度</a:t>
            </a:r>
          </a:p>
        </p:txBody>
      </p:sp>
      <p:cxnSp>
        <p:nvCxnSpPr>
          <p:cNvPr id="37" name="直接箭头连接符 36">
            <a:extLst>
              <a:ext uri="{FF2B5EF4-FFF2-40B4-BE49-F238E27FC236}">
                <a16:creationId xmlns:a16="http://schemas.microsoft.com/office/drawing/2014/main" id="{AEEA50AD-540B-FA3A-E1D9-34F5F079777E}"/>
              </a:ext>
            </a:extLst>
          </p:cNvPr>
          <p:cNvCxnSpPr>
            <a:cxnSpLocks/>
          </p:cNvCxnSpPr>
          <p:nvPr/>
        </p:nvCxnSpPr>
        <p:spPr>
          <a:xfrm>
            <a:off x="5816714" y="4514592"/>
            <a:ext cx="0" cy="1814508"/>
          </a:xfrm>
          <a:prstGeom prst="straightConnector1">
            <a:avLst/>
          </a:prstGeom>
          <a:ln w="76200">
            <a:solidFill>
              <a:srgbClr val="FFCC99"/>
            </a:solidFill>
            <a:headEnd type="none"/>
            <a:tailEnd type="stealth"/>
          </a:ln>
        </p:spPr>
        <p:style>
          <a:lnRef idx="1">
            <a:schemeClr val="accent2"/>
          </a:lnRef>
          <a:fillRef idx="0">
            <a:schemeClr val="accent2"/>
          </a:fillRef>
          <a:effectRef idx="0">
            <a:schemeClr val="accent2"/>
          </a:effectRef>
          <a:fontRef idx="minor">
            <a:schemeClr val="tx1"/>
          </a:fontRef>
        </p:style>
      </p:cxnSp>
      <p:sp>
        <p:nvSpPr>
          <p:cNvPr id="38" name="矩形 37">
            <a:extLst>
              <a:ext uri="{FF2B5EF4-FFF2-40B4-BE49-F238E27FC236}">
                <a16:creationId xmlns:a16="http://schemas.microsoft.com/office/drawing/2014/main" id="{3A484F7F-093F-A9B3-1DF8-D7F02B3EC63E}"/>
              </a:ext>
            </a:extLst>
          </p:cNvPr>
          <p:cNvSpPr/>
          <p:nvPr/>
        </p:nvSpPr>
        <p:spPr>
          <a:xfrm>
            <a:off x="382054" y="5014919"/>
            <a:ext cx="1212292" cy="399322"/>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数据驱动</a:t>
            </a:r>
          </a:p>
        </p:txBody>
      </p:sp>
      <p:sp>
        <p:nvSpPr>
          <p:cNvPr id="39" name="矩形 38">
            <a:extLst>
              <a:ext uri="{FF2B5EF4-FFF2-40B4-BE49-F238E27FC236}">
                <a16:creationId xmlns:a16="http://schemas.microsoft.com/office/drawing/2014/main" id="{3010A169-B424-FD7D-C48A-8EBFA2396DE7}"/>
              </a:ext>
            </a:extLst>
          </p:cNvPr>
          <p:cNvSpPr/>
          <p:nvPr/>
        </p:nvSpPr>
        <p:spPr>
          <a:xfrm>
            <a:off x="1705122" y="4991972"/>
            <a:ext cx="1212292" cy="399322"/>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目标驱动</a:t>
            </a:r>
          </a:p>
        </p:txBody>
      </p:sp>
      <p:cxnSp>
        <p:nvCxnSpPr>
          <p:cNvPr id="40" name="直接箭头连接符 39">
            <a:extLst>
              <a:ext uri="{FF2B5EF4-FFF2-40B4-BE49-F238E27FC236}">
                <a16:creationId xmlns:a16="http://schemas.microsoft.com/office/drawing/2014/main" id="{CB243E64-CA26-1030-2F09-9BDC7090BDA2}"/>
              </a:ext>
            </a:extLst>
          </p:cNvPr>
          <p:cNvCxnSpPr>
            <a:cxnSpLocks/>
            <a:stCxn id="25" idx="3"/>
            <a:endCxn id="36" idx="1"/>
          </p:cNvCxnSpPr>
          <p:nvPr/>
        </p:nvCxnSpPr>
        <p:spPr>
          <a:xfrm flipV="1">
            <a:off x="4601885" y="4283933"/>
            <a:ext cx="431783" cy="192270"/>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cxnSp>
        <p:nvCxnSpPr>
          <p:cNvPr id="41" name="直接箭头连接符 40">
            <a:extLst>
              <a:ext uri="{FF2B5EF4-FFF2-40B4-BE49-F238E27FC236}">
                <a16:creationId xmlns:a16="http://schemas.microsoft.com/office/drawing/2014/main" id="{0F4A8857-BD3C-1046-0632-B985E9AA6314}"/>
              </a:ext>
            </a:extLst>
          </p:cNvPr>
          <p:cNvCxnSpPr>
            <a:cxnSpLocks/>
            <a:stCxn id="32" idx="2"/>
            <a:endCxn id="36" idx="0"/>
          </p:cNvCxnSpPr>
          <p:nvPr/>
        </p:nvCxnSpPr>
        <p:spPr>
          <a:xfrm flipH="1">
            <a:off x="5799583" y="3570219"/>
            <a:ext cx="1076470" cy="483055"/>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sp>
        <p:nvSpPr>
          <p:cNvPr id="42" name="矩形: 圆角 41">
            <a:extLst>
              <a:ext uri="{FF2B5EF4-FFF2-40B4-BE49-F238E27FC236}">
                <a16:creationId xmlns:a16="http://schemas.microsoft.com/office/drawing/2014/main" id="{E9BE5BCF-8132-4049-D850-AF0CD9A6B900}"/>
              </a:ext>
            </a:extLst>
          </p:cNvPr>
          <p:cNvSpPr/>
          <p:nvPr/>
        </p:nvSpPr>
        <p:spPr>
          <a:xfrm>
            <a:off x="10366864" y="6322999"/>
            <a:ext cx="681979" cy="369608"/>
          </a:xfrm>
          <a:prstGeom prst="roundRect">
            <a:avLst/>
          </a:prstGeom>
          <a:no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前向</a:t>
            </a:r>
          </a:p>
        </p:txBody>
      </p:sp>
      <p:sp>
        <p:nvSpPr>
          <p:cNvPr id="43" name="矩形: 圆角 42">
            <a:extLst>
              <a:ext uri="{FF2B5EF4-FFF2-40B4-BE49-F238E27FC236}">
                <a16:creationId xmlns:a16="http://schemas.microsoft.com/office/drawing/2014/main" id="{C6FCD9C2-9691-F7AF-B67E-F9F005C50887}"/>
              </a:ext>
            </a:extLst>
          </p:cNvPr>
          <p:cNvSpPr/>
          <p:nvPr/>
        </p:nvSpPr>
        <p:spPr>
          <a:xfrm>
            <a:off x="11240954" y="6322999"/>
            <a:ext cx="665476" cy="372295"/>
          </a:xfrm>
          <a:prstGeom prst="roundRect">
            <a:avLst/>
          </a:prstGeom>
          <a:no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反向</a:t>
            </a:r>
          </a:p>
        </p:txBody>
      </p:sp>
      <p:sp>
        <p:nvSpPr>
          <p:cNvPr id="44" name="矩形: 圆角 43">
            <a:extLst>
              <a:ext uri="{FF2B5EF4-FFF2-40B4-BE49-F238E27FC236}">
                <a16:creationId xmlns:a16="http://schemas.microsoft.com/office/drawing/2014/main" id="{E090D755-4F0F-B7E7-D637-89167D76CA01}"/>
              </a:ext>
            </a:extLst>
          </p:cNvPr>
          <p:cNvSpPr/>
          <p:nvPr/>
        </p:nvSpPr>
        <p:spPr>
          <a:xfrm>
            <a:off x="8504524" y="4663846"/>
            <a:ext cx="1502477" cy="354143"/>
          </a:xfrm>
          <a:prstGeom prst="roundRect">
            <a:avLst/>
          </a:prstGeom>
          <a:no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合一与</a:t>
            </a:r>
            <a:r>
              <a:rPr lang="en-US" altLang="zh-CN" sz="1400" b="1" dirty="0">
                <a:solidFill>
                  <a:srgbClr val="FFCC99"/>
                </a:solidFill>
                <a:latin typeface="Aa花间辞楷书 (非商业使用)" panose="02010600010101010101" pitchFamily="2" charset="-122"/>
                <a:ea typeface="Aa花间辞楷书 (非商业使用)" panose="02010600010101010101" pitchFamily="2" charset="-122"/>
              </a:rPr>
              <a:t>GMP</a:t>
            </a:r>
            <a:endPar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endParaRPr>
          </a:p>
        </p:txBody>
      </p:sp>
      <p:sp>
        <p:nvSpPr>
          <p:cNvPr id="45" name="矩形: 圆角 44">
            <a:extLst>
              <a:ext uri="{FF2B5EF4-FFF2-40B4-BE49-F238E27FC236}">
                <a16:creationId xmlns:a16="http://schemas.microsoft.com/office/drawing/2014/main" id="{16307C11-14D4-EB28-0BCE-554B023311EE}"/>
              </a:ext>
            </a:extLst>
          </p:cNvPr>
          <p:cNvSpPr/>
          <p:nvPr/>
        </p:nvSpPr>
        <p:spPr>
          <a:xfrm>
            <a:off x="7256129" y="3841421"/>
            <a:ext cx="989950" cy="358916"/>
          </a:xfrm>
          <a:prstGeom prst="roundRect">
            <a:avLst/>
          </a:prstGeom>
          <a:no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置换</a:t>
            </a:r>
          </a:p>
        </p:txBody>
      </p:sp>
      <p:cxnSp>
        <p:nvCxnSpPr>
          <p:cNvPr id="46" name="直接箭头连接符 45">
            <a:extLst>
              <a:ext uri="{FF2B5EF4-FFF2-40B4-BE49-F238E27FC236}">
                <a16:creationId xmlns:a16="http://schemas.microsoft.com/office/drawing/2014/main" id="{85A71546-B8E3-BC6A-CC11-573B222449FB}"/>
              </a:ext>
            </a:extLst>
          </p:cNvPr>
          <p:cNvCxnSpPr>
            <a:cxnSpLocks/>
            <a:stCxn id="45" idx="0"/>
            <a:endCxn id="32" idx="2"/>
          </p:cNvCxnSpPr>
          <p:nvPr/>
        </p:nvCxnSpPr>
        <p:spPr>
          <a:xfrm flipH="1" flipV="1">
            <a:off x="6876053" y="3570219"/>
            <a:ext cx="875051" cy="271202"/>
          </a:xfrm>
          <a:prstGeom prst="straightConnector1">
            <a:avLst/>
          </a:prstGeom>
          <a:ln w="38100">
            <a:solidFill>
              <a:srgbClr val="FFCC99"/>
            </a:solidFill>
            <a:headEnd type="none"/>
            <a:tailEnd type="triangle"/>
          </a:ln>
        </p:spPr>
        <p:style>
          <a:lnRef idx="1">
            <a:schemeClr val="accent2"/>
          </a:lnRef>
          <a:fillRef idx="0">
            <a:schemeClr val="accent2"/>
          </a:fillRef>
          <a:effectRef idx="0">
            <a:schemeClr val="accent2"/>
          </a:effectRef>
          <a:fontRef idx="minor">
            <a:schemeClr val="tx1"/>
          </a:fontRef>
        </p:style>
      </p:cxnSp>
      <p:cxnSp>
        <p:nvCxnSpPr>
          <p:cNvPr id="47" name="直接箭头连接符 46">
            <a:extLst>
              <a:ext uri="{FF2B5EF4-FFF2-40B4-BE49-F238E27FC236}">
                <a16:creationId xmlns:a16="http://schemas.microsoft.com/office/drawing/2014/main" id="{83C63144-E6CE-AA9B-2778-56726979FC9A}"/>
              </a:ext>
            </a:extLst>
          </p:cNvPr>
          <p:cNvCxnSpPr>
            <a:cxnSpLocks/>
            <a:stCxn id="45" idx="2"/>
            <a:endCxn id="44" idx="0"/>
          </p:cNvCxnSpPr>
          <p:nvPr/>
        </p:nvCxnSpPr>
        <p:spPr>
          <a:xfrm>
            <a:off x="7751104" y="4200337"/>
            <a:ext cx="1504659" cy="463509"/>
          </a:xfrm>
          <a:prstGeom prst="straightConnector1">
            <a:avLst/>
          </a:prstGeom>
          <a:ln w="38100">
            <a:solidFill>
              <a:srgbClr val="FFCC99"/>
            </a:solidFill>
            <a:headEnd type="none"/>
            <a:tailEnd type="triangle"/>
          </a:ln>
        </p:spPr>
        <p:style>
          <a:lnRef idx="1">
            <a:schemeClr val="accent2"/>
          </a:lnRef>
          <a:fillRef idx="0">
            <a:schemeClr val="accent2"/>
          </a:fillRef>
          <a:effectRef idx="0">
            <a:schemeClr val="accent2"/>
          </a:effectRef>
          <a:fontRef idx="minor">
            <a:schemeClr val="tx1"/>
          </a:fontRef>
        </p:style>
      </p:cxnSp>
      <p:cxnSp>
        <p:nvCxnSpPr>
          <p:cNvPr id="48" name="直接箭头连接符 47">
            <a:extLst>
              <a:ext uri="{FF2B5EF4-FFF2-40B4-BE49-F238E27FC236}">
                <a16:creationId xmlns:a16="http://schemas.microsoft.com/office/drawing/2014/main" id="{822DA616-1E20-5F5C-27AC-14F22E90D99A}"/>
              </a:ext>
            </a:extLst>
          </p:cNvPr>
          <p:cNvCxnSpPr>
            <a:cxnSpLocks/>
            <a:stCxn id="7" idx="2"/>
            <a:endCxn id="44" idx="0"/>
          </p:cNvCxnSpPr>
          <p:nvPr/>
        </p:nvCxnSpPr>
        <p:spPr>
          <a:xfrm flipH="1">
            <a:off x="9255763" y="4019723"/>
            <a:ext cx="1855732" cy="644123"/>
          </a:xfrm>
          <a:prstGeom prst="straightConnector1">
            <a:avLst/>
          </a:prstGeom>
          <a:ln w="38100">
            <a:solidFill>
              <a:srgbClr val="FFCC99"/>
            </a:solidFill>
            <a:headEnd type="none"/>
            <a:tailEnd type="triangle"/>
          </a:ln>
        </p:spPr>
        <p:style>
          <a:lnRef idx="1">
            <a:schemeClr val="accent2"/>
          </a:lnRef>
          <a:fillRef idx="0">
            <a:schemeClr val="accent2"/>
          </a:fillRef>
          <a:effectRef idx="0">
            <a:schemeClr val="accent2"/>
          </a:effectRef>
          <a:fontRef idx="minor">
            <a:schemeClr val="tx1"/>
          </a:fontRef>
        </p:style>
      </p:cxnSp>
      <p:sp>
        <p:nvSpPr>
          <p:cNvPr id="49" name="矩形 48">
            <a:extLst>
              <a:ext uri="{FF2B5EF4-FFF2-40B4-BE49-F238E27FC236}">
                <a16:creationId xmlns:a16="http://schemas.microsoft.com/office/drawing/2014/main" id="{C8BC08B3-E085-5927-B87E-9561F3B980F6}"/>
              </a:ext>
            </a:extLst>
          </p:cNvPr>
          <p:cNvSpPr/>
          <p:nvPr/>
        </p:nvSpPr>
        <p:spPr>
          <a:xfrm>
            <a:off x="9178692" y="1655007"/>
            <a:ext cx="2174335" cy="520882"/>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命题或语句不能表达数量类属以及命题之间的关系</a:t>
            </a:r>
          </a:p>
        </p:txBody>
      </p:sp>
      <p:sp>
        <p:nvSpPr>
          <p:cNvPr id="50" name="矩形 49">
            <a:extLst>
              <a:ext uri="{FF2B5EF4-FFF2-40B4-BE49-F238E27FC236}">
                <a16:creationId xmlns:a16="http://schemas.microsoft.com/office/drawing/2014/main" id="{F75F0362-06EC-B294-860B-1FF839379B3E}"/>
              </a:ext>
            </a:extLst>
          </p:cNvPr>
          <p:cNvSpPr/>
          <p:nvPr/>
        </p:nvSpPr>
        <p:spPr>
          <a:xfrm>
            <a:off x="4287063" y="1474899"/>
            <a:ext cx="2899792" cy="369608"/>
          </a:xfrm>
          <a:prstGeom prst="rect">
            <a:avLst/>
          </a:prstGeom>
          <a:solidFill>
            <a:srgbClr val="FFCC99"/>
          </a:solid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solidFill>
                  <a:srgbClr val="FF0000"/>
                </a:solidFill>
                <a:latin typeface="Aa花间辞楷书 (非商业使用)" panose="02010600010101010101" pitchFamily="2" charset="-122"/>
                <a:ea typeface="Aa花间辞楷书 (非商业使用)" panose="02010600010101010101" pitchFamily="2" charset="-122"/>
              </a:rPr>
              <a:t>中心任务：让计算机程序推理</a:t>
            </a:r>
          </a:p>
        </p:txBody>
      </p:sp>
      <p:cxnSp>
        <p:nvCxnSpPr>
          <p:cNvPr id="51" name="直接箭头连接符 50">
            <a:extLst>
              <a:ext uri="{FF2B5EF4-FFF2-40B4-BE49-F238E27FC236}">
                <a16:creationId xmlns:a16="http://schemas.microsoft.com/office/drawing/2014/main" id="{1D6E7D02-45CE-61F2-A2E7-66283FA99334}"/>
              </a:ext>
            </a:extLst>
          </p:cNvPr>
          <p:cNvCxnSpPr>
            <a:cxnSpLocks/>
            <a:stCxn id="49" idx="2"/>
            <a:endCxn id="17" idx="0"/>
          </p:cNvCxnSpPr>
          <p:nvPr/>
        </p:nvCxnSpPr>
        <p:spPr>
          <a:xfrm flipH="1">
            <a:off x="7597142" y="2175889"/>
            <a:ext cx="2668718" cy="446691"/>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grpSp>
        <p:nvGrpSpPr>
          <p:cNvPr id="52" name="组合 51">
            <a:extLst>
              <a:ext uri="{FF2B5EF4-FFF2-40B4-BE49-F238E27FC236}">
                <a16:creationId xmlns:a16="http://schemas.microsoft.com/office/drawing/2014/main" id="{4CB5122B-B47F-AEA6-1655-2813E28B6A73}"/>
              </a:ext>
            </a:extLst>
          </p:cNvPr>
          <p:cNvGrpSpPr/>
          <p:nvPr/>
        </p:nvGrpSpPr>
        <p:grpSpPr>
          <a:xfrm>
            <a:off x="510813" y="706934"/>
            <a:ext cx="1103006" cy="1562333"/>
            <a:chOff x="-10340" y="1348625"/>
            <a:chExt cx="1103006" cy="1562333"/>
          </a:xfrm>
        </p:grpSpPr>
        <p:sp>
          <p:nvSpPr>
            <p:cNvPr id="53" name="矩形: 圆角 52">
              <a:extLst>
                <a:ext uri="{FF2B5EF4-FFF2-40B4-BE49-F238E27FC236}">
                  <a16:creationId xmlns:a16="http://schemas.microsoft.com/office/drawing/2014/main" id="{A4AE36A0-CD26-C064-85CF-3B99F2C0578E}"/>
                </a:ext>
              </a:extLst>
            </p:cNvPr>
            <p:cNvSpPr/>
            <p:nvPr/>
          </p:nvSpPr>
          <p:spPr>
            <a:xfrm>
              <a:off x="-10340" y="1348625"/>
              <a:ext cx="1103006" cy="1562333"/>
            </a:xfrm>
            <a:prstGeom prst="roundRect">
              <a:avLst/>
            </a:prstGeom>
            <a:solidFill>
              <a:schemeClr val="accent2">
                <a:lumMod val="20000"/>
                <a:lumOff val="80000"/>
              </a:schemeClr>
            </a:solid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400" b="1" dirty="0">
                  <a:solidFill>
                    <a:srgbClr val="FF0000"/>
                  </a:solidFill>
                  <a:latin typeface="Aa花间辞楷书 (非商业使用)" panose="02010600010101010101" pitchFamily="2" charset="-122"/>
                  <a:ea typeface="Aa花间辞楷书 (非商业使用)" panose="02010600010101010101" pitchFamily="2" charset="-122"/>
                </a:rPr>
                <a:t>基于知识的</a:t>
              </a:r>
              <a:r>
                <a:rPr lang="en-US" altLang="zh-CN" sz="1400" b="1" dirty="0">
                  <a:solidFill>
                    <a:srgbClr val="FF0000"/>
                  </a:solidFill>
                  <a:latin typeface="Aa花间辞楷书 (非商业使用)" panose="02010600010101010101" pitchFamily="2" charset="-122"/>
                  <a:ea typeface="Aa花间辞楷书 (非商业使用)" panose="02010600010101010101" pitchFamily="2" charset="-122"/>
                </a:rPr>
                <a:t>Agent</a:t>
              </a:r>
              <a:endParaRPr lang="zh-CN" altLang="en-US" sz="1400" b="1" dirty="0">
                <a:solidFill>
                  <a:srgbClr val="FF0000"/>
                </a:solidFill>
                <a:latin typeface="Aa花间辞楷书 (非商业使用)" panose="02010600010101010101" pitchFamily="2" charset="-122"/>
                <a:ea typeface="Aa花间辞楷书 (非商业使用)" panose="02010600010101010101" pitchFamily="2" charset="-122"/>
              </a:endParaRPr>
            </a:p>
          </p:txBody>
        </p:sp>
        <p:sp>
          <p:nvSpPr>
            <p:cNvPr id="54" name="矩形: 圆角 53">
              <a:extLst>
                <a:ext uri="{FF2B5EF4-FFF2-40B4-BE49-F238E27FC236}">
                  <a16:creationId xmlns:a16="http://schemas.microsoft.com/office/drawing/2014/main" id="{2B4E5F76-69EE-29FC-46F5-D6469FC0E643}"/>
                </a:ext>
              </a:extLst>
            </p:cNvPr>
            <p:cNvSpPr/>
            <p:nvPr/>
          </p:nvSpPr>
          <p:spPr>
            <a:xfrm>
              <a:off x="43536" y="1986922"/>
              <a:ext cx="989950" cy="358916"/>
            </a:xfrm>
            <a:prstGeom prst="roundRect">
              <a:avLst/>
            </a:prstGeom>
            <a:no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FF0000"/>
                  </a:solidFill>
                  <a:latin typeface="Aa花间辞楷书 (非商业使用)" panose="02010600010101010101" pitchFamily="2" charset="-122"/>
                  <a:ea typeface="Aa花间辞楷书 (非商业使用)" panose="02010600010101010101" pitchFamily="2" charset="-122"/>
                </a:rPr>
                <a:t>知识库</a:t>
              </a:r>
            </a:p>
          </p:txBody>
        </p:sp>
        <p:sp>
          <p:nvSpPr>
            <p:cNvPr id="55" name="矩形: 圆角 54">
              <a:extLst>
                <a:ext uri="{FF2B5EF4-FFF2-40B4-BE49-F238E27FC236}">
                  <a16:creationId xmlns:a16="http://schemas.microsoft.com/office/drawing/2014/main" id="{D444A3F3-1B3E-6D8B-8AF7-95E6C8A2E6D7}"/>
                </a:ext>
              </a:extLst>
            </p:cNvPr>
            <p:cNvSpPr/>
            <p:nvPr/>
          </p:nvSpPr>
          <p:spPr>
            <a:xfrm>
              <a:off x="55578" y="2447362"/>
              <a:ext cx="989950" cy="358916"/>
            </a:xfrm>
            <a:prstGeom prst="roundRect">
              <a:avLst/>
            </a:prstGeom>
            <a:no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FF0000"/>
                  </a:solidFill>
                  <a:latin typeface="Aa花间辞楷书 (非商业使用)" panose="02010600010101010101" pitchFamily="2" charset="-122"/>
                  <a:ea typeface="Aa花间辞楷书 (非商业使用)" panose="02010600010101010101" pitchFamily="2" charset="-122"/>
                </a:rPr>
                <a:t>推理引擎</a:t>
              </a:r>
            </a:p>
          </p:txBody>
        </p:sp>
      </p:grpSp>
      <p:cxnSp>
        <p:nvCxnSpPr>
          <p:cNvPr id="56" name="直接箭头连接符 55">
            <a:extLst>
              <a:ext uri="{FF2B5EF4-FFF2-40B4-BE49-F238E27FC236}">
                <a16:creationId xmlns:a16="http://schemas.microsoft.com/office/drawing/2014/main" id="{36D8EEE1-7C82-669A-5EC9-ACF47F4307CD}"/>
              </a:ext>
            </a:extLst>
          </p:cNvPr>
          <p:cNvCxnSpPr>
            <a:cxnSpLocks/>
            <a:stCxn id="53" idx="3"/>
            <a:endCxn id="5" idx="1"/>
          </p:cNvCxnSpPr>
          <p:nvPr/>
        </p:nvCxnSpPr>
        <p:spPr>
          <a:xfrm flipV="1">
            <a:off x="1613819" y="1141274"/>
            <a:ext cx="730728" cy="346827"/>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cxnSp>
        <p:nvCxnSpPr>
          <p:cNvPr id="57" name="直接箭头连接符 56">
            <a:extLst>
              <a:ext uri="{FF2B5EF4-FFF2-40B4-BE49-F238E27FC236}">
                <a16:creationId xmlns:a16="http://schemas.microsoft.com/office/drawing/2014/main" id="{5EB71576-386D-DF6E-EACC-D4889ACADF88}"/>
              </a:ext>
            </a:extLst>
          </p:cNvPr>
          <p:cNvCxnSpPr>
            <a:cxnSpLocks/>
            <a:stCxn id="29" idx="0"/>
            <a:endCxn id="10" idx="3"/>
          </p:cNvCxnSpPr>
          <p:nvPr/>
        </p:nvCxnSpPr>
        <p:spPr>
          <a:xfrm flipH="1" flipV="1">
            <a:off x="6560166" y="2069890"/>
            <a:ext cx="4551328" cy="556196"/>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sp>
        <p:nvSpPr>
          <p:cNvPr id="58" name="矩形 57">
            <a:extLst>
              <a:ext uri="{FF2B5EF4-FFF2-40B4-BE49-F238E27FC236}">
                <a16:creationId xmlns:a16="http://schemas.microsoft.com/office/drawing/2014/main" id="{0A6EA34C-F7AB-B144-7BDC-EA19B83EE5CD}"/>
              </a:ext>
            </a:extLst>
          </p:cNvPr>
          <p:cNvSpPr/>
          <p:nvPr/>
        </p:nvSpPr>
        <p:spPr>
          <a:xfrm>
            <a:off x="10329098" y="5718277"/>
            <a:ext cx="1429120" cy="354143"/>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一阶</a:t>
            </a:r>
            <a:r>
              <a:rPr lang="en-US" altLang="zh-CN" sz="1400" b="1" dirty="0">
                <a:solidFill>
                  <a:srgbClr val="FFCC99"/>
                </a:solidFill>
                <a:latin typeface="Aa花间辞楷书 (非商业使用)" panose="02010600010101010101" pitchFamily="2" charset="-122"/>
                <a:ea typeface="Aa花间辞楷书 (非商业使用)" panose="02010600010101010101" pitchFamily="2" charset="-122"/>
              </a:rPr>
              <a:t>Horn</a:t>
            </a: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子句</a:t>
            </a:r>
          </a:p>
        </p:txBody>
      </p:sp>
      <p:cxnSp>
        <p:nvCxnSpPr>
          <p:cNvPr id="59" name="直接箭头连接符 58">
            <a:extLst>
              <a:ext uri="{FF2B5EF4-FFF2-40B4-BE49-F238E27FC236}">
                <a16:creationId xmlns:a16="http://schemas.microsoft.com/office/drawing/2014/main" id="{C88E6F03-F81C-D2CE-5E12-D20F0482B7D6}"/>
              </a:ext>
            </a:extLst>
          </p:cNvPr>
          <p:cNvCxnSpPr>
            <a:cxnSpLocks/>
            <a:stCxn id="44" idx="2"/>
            <a:endCxn id="58" idx="0"/>
          </p:cNvCxnSpPr>
          <p:nvPr/>
        </p:nvCxnSpPr>
        <p:spPr>
          <a:xfrm>
            <a:off x="9255763" y="5017989"/>
            <a:ext cx="1787895" cy="700288"/>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cxnSp>
        <p:nvCxnSpPr>
          <p:cNvPr id="60" name="直接箭头连接符 59">
            <a:extLst>
              <a:ext uri="{FF2B5EF4-FFF2-40B4-BE49-F238E27FC236}">
                <a16:creationId xmlns:a16="http://schemas.microsoft.com/office/drawing/2014/main" id="{0D96F5FD-44B5-8421-53C5-0DE637157097}"/>
              </a:ext>
            </a:extLst>
          </p:cNvPr>
          <p:cNvCxnSpPr>
            <a:cxnSpLocks/>
            <a:stCxn id="58" idx="2"/>
            <a:endCxn id="42" idx="0"/>
          </p:cNvCxnSpPr>
          <p:nvPr/>
        </p:nvCxnSpPr>
        <p:spPr>
          <a:xfrm flipH="1">
            <a:off x="10707854" y="6072420"/>
            <a:ext cx="335804" cy="250579"/>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cxnSp>
        <p:nvCxnSpPr>
          <p:cNvPr id="61" name="直接箭头连接符 60">
            <a:extLst>
              <a:ext uri="{FF2B5EF4-FFF2-40B4-BE49-F238E27FC236}">
                <a16:creationId xmlns:a16="http://schemas.microsoft.com/office/drawing/2014/main" id="{7BF2AA74-9C64-5636-A079-BDB68148BA23}"/>
              </a:ext>
            </a:extLst>
          </p:cNvPr>
          <p:cNvCxnSpPr>
            <a:cxnSpLocks/>
            <a:stCxn id="58" idx="2"/>
            <a:endCxn id="43" idx="0"/>
          </p:cNvCxnSpPr>
          <p:nvPr/>
        </p:nvCxnSpPr>
        <p:spPr>
          <a:xfrm>
            <a:off x="11043658" y="6072420"/>
            <a:ext cx="530034" cy="250579"/>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sp>
        <p:nvSpPr>
          <p:cNvPr id="62" name="矩形 61">
            <a:extLst>
              <a:ext uri="{FF2B5EF4-FFF2-40B4-BE49-F238E27FC236}">
                <a16:creationId xmlns:a16="http://schemas.microsoft.com/office/drawing/2014/main" id="{7D009B8D-E1B7-AB7D-7BF5-FD50E63CB2BE}"/>
              </a:ext>
            </a:extLst>
          </p:cNvPr>
          <p:cNvSpPr/>
          <p:nvPr/>
        </p:nvSpPr>
        <p:spPr>
          <a:xfrm>
            <a:off x="6893258" y="5675633"/>
            <a:ext cx="1670254" cy="354143"/>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一阶逻辑合取范式</a:t>
            </a:r>
          </a:p>
        </p:txBody>
      </p:sp>
      <p:cxnSp>
        <p:nvCxnSpPr>
          <p:cNvPr id="63" name="直接箭头连接符 62">
            <a:extLst>
              <a:ext uri="{FF2B5EF4-FFF2-40B4-BE49-F238E27FC236}">
                <a16:creationId xmlns:a16="http://schemas.microsoft.com/office/drawing/2014/main" id="{92442B84-7210-C81C-C02D-4770E990D07F}"/>
              </a:ext>
            </a:extLst>
          </p:cNvPr>
          <p:cNvCxnSpPr>
            <a:cxnSpLocks/>
            <a:stCxn id="44" idx="2"/>
            <a:endCxn id="62" idx="0"/>
          </p:cNvCxnSpPr>
          <p:nvPr/>
        </p:nvCxnSpPr>
        <p:spPr>
          <a:xfrm flipH="1">
            <a:off x="7728385" y="5017989"/>
            <a:ext cx="1527378" cy="657644"/>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sp>
        <p:nvSpPr>
          <p:cNvPr id="64" name="矩形: 圆角 63">
            <a:extLst>
              <a:ext uri="{FF2B5EF4-FFF2-40B4-BE49-F238E27FC236}">
                <a16:creationId xmlns:a16="http://schemas.microsoft.com/office/drawing/2014/main" id="{738089AC-3455-7349-A0B1-421598DCF4D9}"/>
              </a:ext>
            </a:extLst>
          </p:cNvPr>
          <p:cNvSpPr/>
          <p:nvPr/>
        </p:nvSpPr>
        <p:spPr>
          <a:xfrm>
            <a:off x="7387395" y="6347372"/>
            <a:ext cx="681979" cy="369608"/>
          </a:xfrm>
          <a:prstGeom prst="roundRect">
            <a:avLst/>
          </a:prstGeom>
          <a:no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归结</a:t>
            </a:r>
          </a:p>
        </p:txBody>
      </p:sp>
      <p:cxnSp>
        <p:nvCxnSpPr>
          <p:cNvPr id="65" name="直接箭头连接符 64">
            <a:extLst>
              <a:ext uri="{FF2B5EF4-FFF2-40B4-BE49-F238E27FC236}">
                <a16:creationId xmlns:a16="http://schemas.microsoft.com/office/drawing/2014/main" id="{DFBAD176-6BD2-C5A0-9A4E-8B848D3032AE}"/>
              </a:ext>
            </a:extLst>
          </p:cNvPr>
          <p:cNvCxnSpPr>
            <a:cxnSpLocks/>
            <a:stCxn id="62" idx="2"/>
            <a:endCxn id="64" idx="0"/>
          </p:cNvCxnSpPr>
          <p:nvPr/>
        </p:nvCxnSpPr>
        <p:spPr>
          <a:xfrm>
            <a:off x="7728385" y="6029776"/>
            <a:ext cx="0" cy="317596"/>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sp>
        <p:nvSpPr>
          <p:cNvPr id="66" name="矩形 65">
            <a:extLst>
              <a:ext uri="{FF2B5EF4-FFF2-40B4-BE49-F238E27FC236}">
                <a16:creationId xmlns:a16="http://schemas.microsoft.com/office/drawing/2014/main" id="{B4E7323F-4D35-EC8C-8E74-8D7F70BE2EBC}"/>
              </a:ext>
            </a:extLst>
          </p:cNvPr>
          <p:cNvSpPr/>
          <p:nvPr/>
        </p:nvSpPr>
        <p:spPr>
          <a:xfrm>
            <a:off x="6464968" y="5177105"/>
            <a:ext cx="1212292" cy="399322"/>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400" b="1" dirty="0">
                <a:solidFill>
                  <a:srgbClr val="FFCC99"/>
                </a:solidFill>
                <a:latin typeface="Aa花间辞楷书 (非商业使用)" panose="02010600010101010101" pitchFamily="2" charset="-122"/>
                <a:ea typeface="Aa花间辞楷书 (非商业使用)" panose="02010600010101010101" pitchFamily="2" charset="-122"/>
              </a:rPr>
              <a:t>CNF</a:t>
            </a: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转换</a:t>
            </a:r>
          </a:p>
        </p:txBody>
      </p:sp>
      <p:sp>
        <p:nvSpPr>
          <p:cNvPr id="67" name="矩形 66">
            <a:extLst>
              <a:ext uri="{FF2B5EF4-FFF2-40B4-BE49-F238E27FC236}">
                <a16:creationId xmlns:a16="http://schemas.microsoft.com/office/drawing/2014/main" id="{53103C7B-4024-46AC-3EA3-2B72793411A3}"/>
              </a:ext>
            </a:extLst>
          </p:cNvPr>
          <p:cNvSpPr/>
          <p:nvPr/>
        </p:nvSpPr>
        <p:spPr>
          <a:xfrm>
            <a:off x="10616261" y="5064264"/>
            <a:ext cx="1212292" cy="399322"/>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并非所有</a:t>
            </a:r>
            <a:r>
              <a:rPr lang="en-US" altLang="zh-CN" sz="1400" b="1" dirty="0">
                <a:solidFill>
                  <a:srgbClr val="FFCC99"/>
                </a:solidFill>
                <a:latin typeface="Aa花间辞楷书 (非商业使用)" panose="02010600010101010101" pitchFamily="2" charset="-122"/>
                <a:ea typeface="Aa花间辞楷书 (非商业使用)" panose="02010600010101010101" pitchFamily="2" charset="-122"/>
              </a:rPr>
              <a:t>KB</a:t>
            </a: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都可以转换</a:t>
            </a:r>
          </a:p>
        </p:txBody>
      </p:sp>
      <p:sp>
        <p:nvSpPr>
          <p:cNvPr id="68" name="矩形: 圆角 67">
            <a:extLst>
              <a:ext uri="{FF2B5EF4-FFF2-40B4-BE49-F238E27FC236}">
                <a16:creationId xmlns:a16="http://schemas.microsoft.com/office/drawing/2014/main" id="{9D48F8F2-FFE3-4E2A-1E51-223B968643BA}"/>
              </a:ext>
            </a:extLst>
          </p:cNvPr>
          <p:cNvSpPr/>
          <p:nvPr/>
        </p:nvSpPr>
        <p:spPr>
          <a:xfrm>
            <a:off x="610056" y="4668386"/>
            <a:ext cx="681979" cy="369608"/>
          </a:xfrm>
          <a:prstGeom prst="roundRect">
            <a:avLst/>
          </a:prstGeom>
          <a:no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前向</a:t>
            </a:r>
          </a:p>
        </p:txBody>
      </p:sp>
      <p:sp>
        <p:nvSpPr>
          <p:cNvPr id="69" name="矩形: 圆角 68">
            <a:extLst>
              <a:ext uri="{FF2B5EF4-FFF2-40B4-BE49-F238E27FC236}">
                <a16:creationId xmlns:a16="http://schemas.microsoft.com/office/drawing/2014/main" id="{8B026E92-35C6-2B55-200F-6ADBDA85855D}"/>
              </a:ext>
            </a:extLst>
          </p:cNvPr>
          <p:cNvSpPr/>
          <p:nvPr/>
        </p:nvSpPr>
        <p:spPr>
          <a:xfrm>
            <a:off x="1953652" y="4659932"/>
            <a:ext cx="665476" cy="372295"/>
          </a:xfrm>
          <a:prstGeom prst="roundRect">
            <a:avLst/>
          </a:prstGeom>
          <a:noFill/>
          <a:ln w="19050">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反向</a:t>
            </a:r>
          </a:p>
        </p:txBody>
      </p:sp>
      <p:sp>
        <p:nvSpPr>
          <p:cNvPr id="70" name="矩形 69">
            <a:extLst>
              <a:ext uri="{FF2B5EF4-FFF2-40B4-BE49-F238E27FC236}">
                <a16:creationId xmlns:a16="http://schemas.microsoft.com/office/drawing/2014/main" id="{88984AB2-FC12-DDDA-336B-281E78922A6C}"/>
              </a:ext>
            </a:extLst>
          </p:cNvPr>
          <p:cNvSpPr/>
          <p:nvPr/>
        </p:nvSpPr>
        <p:spPr>
          <a:xfrm>
            <a:off x="1118152" y="3487299"/>
            <a:ext cx="1073750" cy="307920"/>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400" b="1" dirty="0">
                <a:solidFill>
                  <a:srgbClr val="FFCC99"/>
                </a:solidFill>
                <a:latin typeface="Aa花间辞楷书 (非商业使用)" panose="02010600010101010101" pitchFamily="2" charset="-122"/>
                <a:ea typeface="Aa花间辞楷书 (非商业使用)" panose="02010600010101010101" pitchFamily="2" charset="-122"/>
              </a:rPr>
              <a:t>Horn</a:t>
            </a: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子句</a:t>
            </a:r>
          </a:p>
        </p:txBody>
      </p:sp>
      <p:cxnSp>
        <p:nvCxnSpPr>
          <p:cNvPr id="71" name="直接箭头连接符 70">
            <a:extLst>
              <a:ext uri="{FF2B5EF4-FFF2-40B4-BE49-F238E27FC236}">
                <a16:creationId xmlns:a16="http://schemas.microsoft.com/office/drawing/2014/main" id="{0ED1C446-79E9-C41F-FA0B-621F0D1415F7}"/>
              </a:ext>
            </a:extLst>
          </p:cNvPr>
          <p:cNvCxnSpPr>
            <a:cxnSpLocks/>
            <a:stCxn id="6" idx="2"/>
            <a:endCxn id="70" idx="0"/>
          </p:cNvCxnSpPr>
          <p:nvPr/>
        </p:nvCxnSpPr>
        <p:spPr>
          <a:xfrm flipH="1">
            <a:off x="1655027" y="3073169"/>
            <a:ext cx="2748656" cy="414130"/>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cxnSp>
        <p:nvCxnSpPr>
          <p:cNvPr id="72" name="直接箭头连接符 71">
            <a:extLst>
              <a:ext uri="{FF2B5EF4-FFF2-40B4-BE49-F238E27FC236}">
                <a16:creationId xmlns:a16="http://schemas.microsoft.com/office/drawing/2014/main" id="{62E2AFCA-64E4-5F66-A885-DBBCD5E24002}"/>
              </a:ext>
            </a:extLst>
          </p:cNvPr>
          <p:cNvCxnSpPr>
            <a:cxnSpLocks/>
            <a:stCxn id="70" idx="2"/>
            <a:endCxn id="69" idx="0"/>
          </p:cNvCxnSpPr>
          <p:nvPr/>
        </p:nvCxnSpPr>
        <p:spPr>
          <a:xfrm>
            <a:off x="1655027" y="3795219"/>
            <a:ext cx="631363" cy="864713"/>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sp>
        <p:nvSpPr>
          <p:cNvPr id="73" name="矩形 72">
            <a:extLst>
              <a:ext uri="{FF2B5EF4-FFF2-40B4-BE49-F238E27FC236}">
                <a16:creationId xmlns:a16="http://schemas.microsoft.com/office/drawing/2014/main" id="{8869F865-3C98-3F1E-6DBD-CBD607E4E807}"/>
              </a:ext>
            </a:extLst>
          </p:cNvPr>
          <p:cNvSpPr/>
          <p:nvPr/>
        </p:nvSpPr>
        <p:spPr>
          <a:xfrm>
            <a:off x="3700460" y="4947578"/>
            <a:ext cx="1468001" cy="399322"/>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400" b="1" dirty="0">
                <a:solidFill>
                  <a:srgbClr val="FFCC99"/>
                </a:solidFill>
                <a:latin typeface="Aa花间辞楷书 (非商业使用)" panose="02010600010101010101" pitchFamily="2" charset="-122"/>
                <a:ea typeface="Aa花间辞楷书 (非商业使用)" panose="02010600010101010101" pitchFamily="2" charset="-122"/>
              </a:rPr>
              <a:t>KB</a:t>
            </a: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线性复杂度</a:t>
            </a:r>
          </a:p>
        </p:txBody>
      </p:sp>
      <p:sp>
        <p:nvSpPr>
          <p:cNvPr id="74" name="矩形 73">
            <a:extLst>
              <a:ext uri="{FF2B5EF4-FFF2-40B4-BE49-F238E27FC236}">
                <a16:creationId xmlns:a16="http://schemas.microsoft.com/office/drawing/2014/main" id="{A49FB60B-9B34-683A-39AB-9DEF1059EA31}"/>
              </a:ext>
            </a:extLst>
          </p:cNvPr>
          <p:cNvSpPr/>
          <p:nvPr/>
        </p:nvSpPr>
        <p:spPr>
          <a:xfrm>
            <a:off x="510813" y="5489857"/>
            <a:ext cx="991054" cy="526393"/>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生成无关事实</a:t>
            </a:r>
          </a:p>
        </p:txBody>
      </p:sp>
      <p:cxnSp>
        <p:nvCxnSpPr>
          <p:cNvPr id="75" name="直接箭头连接符 74">
            <a:extLst>
              <a:ext uri="{FF2B5EF4-FFF2-40B4-BE49-F238E27FC236}">
                <a16:creationId xmlns:a16="http://schemas.microsoft.com/office/drawing/2014/main" id="{4B6622CE-0734-1B10-D141-D8A378FD716C}"/>
              </a:ext>
            </a:extLst>
          </p:cNvPr>
          <p:cNvCxnSpPr>
            <a:cxnSpLocks/>
            <a:stCxn id="68" idx="2"/>
            <a:endCxn id="74" idx="0"/>
          </p:cNvCxnSpPr>
          <p:nvPr/>
        </p:nvCxnSpPr>
        <p:spPr>
          <a:xfrm>
            <a:off x="951046" y="5037994"/>
            <a:ext cx="55294" cy="451863"/>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cxnSp>
        <p:nvCxnSpPr>
          <p:cNvPr id="76" name="直接箭头连接符 75">
            <a:extLst>
              <a:ext uri="{FF2B5EF4-FFF2-40B4-BE49-F238E27FC236}">
                <a16:creationId xmlns:a16="http://schemas.microsoft.com/office/drawing/2014/main" id="{76CAF307-D65C-9F33-EBC0-871AC02A0FC7}"/>
              </a:ext>
            </a:extLst>
          </p:cNvPr>
          <p:cNvCxnSpPr>
            <a:cxnSpLocks/>
            <a:stCxn id="69" idx="2"/>
            <a:endCxn id="33" idx="0"/>
          </p:cNvCxnSpPr>
          <p:nvPr/>
        </p:nvCxnSpPr>
        <p:spPr>
          <a:xfrm>
            <a:off x="2286390" y="5032227"/>
            <a:ext cx="202073" cy="494586"/>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sp>
        <p:nvSpPr>
          <p:cNvPr id="77" name="矩形 76">
            <a:extLst>
              <a:ext uri="{FF2B5EF4-FFF2-40B4-BE49-F238E27FC236}">
                <a16:creationId xmlns:a16="http://schemas.microsoft.com/office/drawing/2014/main" id="{E056179F-90CF-9F8A-63F4-9B45E20902DE}"/>
              </a:ext>
            </a:extLst>
          </p:cNvPr>
          <p:cNvSpPr/>
          <p:nvPr/>
        </p:nvSpPr>
        <p:spPr>
          <a:xfrm>
            <a:off x="8003470" y="3199307"/>
            <a:ext cx="1002108" cy="409674"/>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关系存在的判定</a:t>
            </a:r>
          </a:p>
        </p:txBody>
      </p:sp>
      <p:cxnSp>
        <p:nvCxnSpPr>
          <p:cNvPr id="78" name="直接箭头连接符 77">
            <a:extLst>
              <a:ext uri="{FF2B5EF4-FFF2-40B4-BE49-F238E27FC236}">
                <a16:creationId xmlns:a16="http://schemas.microsoft.com/office/drawing/2014/main" id="{010A216E-F6DB-1025-7197-9CAD236CE423}"/>
              </a:ext>
            </a:extLst>
          </p:cNvPr>
          <p:cNvCxnSpPr>
            <a:cxnSpLocks/>
            <a:stCxn id="77" idx="2"/>
            <a:endCxn id="45" idx="0"/>
          </p:cNvCxnSpPr>
          <p:nvPr/>
        </p:nvCxnSpPr>
        <p:spPr>
          <a:xfrm flipH="1">
            <a:off x="7751104" y="3608981"/>
            <a:ext cx="753420" cy="232440"/>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cxnSp>
        <p:nvCxnSpPr>
          <p:cNvPr id="79" name="直接箭头连接符 78">
            <a:extLst>
              <a:ext uri="{FF2B5EF4-FFF2-40B4-BE49-F238E27FC236}">
                <a16:creationId xmlns:a16="http://schemas.microsoft.com/office/drawing/2014/main" id="{A7401A84-5462-8A23-ABC6-155CFAE86E38}"/>
              </a:ext>
            </a:extLst>
          </p:cNvPr>
          <p:cNvCxnSpPr>
            <a:cxnSpLocks/>
            <a:stCxn id="17" idx="2"/>
            <a:endCxn id="77" idx="0"/>
          </p:cNvCxnSpPr>
          <p:nvPr/>
        </p:nvCxnSpPr>
        <p:spPr>
          <a:xfrm>
            <a:off x="7597142" y="3070565"/>
            <a:ext cx="907382" cy="128742"/>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cxnSp>
        <p:nvCxnSpPr>
          <p:cNvPr id="80" name="直接箭头连接符 79">
            <a:extLst>
              <a:ext uri="{FF2B5EF4-FFF2-40B4-BE49-F238E27FC236}">
                <a16:creationId xmlns:a16="http://schemas.microsoft.com/office/drawing/2014/main" id="{C2840485-2539-448C-832E-184BAA348928}"/>
              </a:ext>
            </a:extLst>
          </p:cNvPr>
          <p:cNvCxnSpPr>
            <a:cxnSpLocks/>
            <a:stCxn id="24" idx="1"/>
            <a:endCxn id="70" idx="3"/>
          </p:cNvCxnSpPr>
          <p:nvPr/>
        </p:nvCxnSpPr>
        <p:spPr>
          <a:xfrm flipH="1">
            <a:off x="2191902" y="3623192"/>
            <a:ext cx="2179783" cy="18067"/>
          </a:xfrm>
          <a:prstGeom prst="straightConnector1">
            <a:avLst/>
          </a:prstGeom>
          <a:ln w="38100">
            <a:solidFill>
              <a:srgbClr val="FFCC99"/>
            </a:solidFill>
            <a:tailEnd type="triangle"/>
          </a:ln>
        </p:spPr>
        <p:style>
          <a:lnRef idx="1">
            <a:schemeClr val="accent2"/>
          </a:lnRef>
          <a:fillRef idx="0">
            <a:schemeClr val="accent2"/>
          </a:fillRef>
          <a:effectRef idx="0">
            <a:schemeClr val="accent2"/>
          </a:effectRef>
          <a:fontRef idx="minor">
            <a:schemeClr val="tx1"/>
          </a:fontRef>
        </p:style>
      </p:cxnSp>
      <p:sp>
        <p:nvSpPr>
          <p:cNvPr id="81" name="矩形 80">
            <a:extLst>
              <a:ext uri="{FF2B5EF4-FFF2-40B4-BE49-F238E27FC236}">
                <a16:creationId xmlns:a16="http://schemas.microsoft.com/office/drawing/2014/main" id="{A0E5ADF0-C055-E8D4-9236-145B5CB42CA5}"/>
              </a:ext>
            </a:extLst>
          </p:cNvPr>
          <p:cNvSpPr/>
          <p:nvPr/>
        </p:nvSpPr>
        <p:spPr>
          <a:xfrm>
            <a:off x="2692956" y="3746405"/>
            <a:ext cx="1212292" cy="399322"/>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加强约束</a:t>
            </a:r>
          </a:p>
        </p:txBody>
      </p:sp>
      <p:cxnSp>
        <p:nvCxnSpPr>
          <p:cNvPr id="82" name="直接箭头连接符 81">
            <a:extLst>
              <a:ext uri="{FF2B5EF4-FFF2-40B4-BE49-F238E27FC236}">
                <a16:creationId xmlns:a16="http://schemas.microsoft.com/office/drawing/2014/main" id="{F01FDA3B-8E30-F4AF-0968-A42BB652022F}"/>
              </a:ext>
            </a:extLst>
          </p:cNvPr>
          <p:cNvCxnSpPr>
            <a:cxnSpLocks/>
            <a:stCxn id="49" idx="1"/>
          </p:cNvCxnSpPr>
          <p:nvPr/>
        </p:nvCxnSpPr>
        <p:spPr>
          <a:xfrm flipH="1">
            <a:off x="5057334" y="1915448"/>
            <a:ext cx="4121358" cy="918118"/>
          </a:xfrm>
          <a:prstGeom prst="straightConnector1">
            <a:avLst/>
          </a:prstGeom>
          <a:ln w="38100">
            <a:solidFill>
              <a:srgbClr val="FFCC99"/>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83" name="矩形 82">
            <a:extLst>
              <a:ext uri="{FF2B5EF4-FFF2-40B4-BE49-F238E27FC236}">
                <a16:creationId xmlns:a16="http://schemas.microsoft.com/office/drawing/2014/main" id="{FB69F02E-273E-866D-BC27-DDFFB0E1AABA}"/>
              </a:ext>
            </a:extLst>
          </p:cNvPr>
          <p:cNvSpPr/>
          <p:nvPr/>
        </p:nvSpPr>
        <p:spPr>
          <a:xfrm>
            <a:off x="5042233" y="6260157"/>
            <a:ext cx="1531829" cy="461318"/>
          </a:xfrm>
          <a:prstGeom prst="rect">
            <a:avLst/>
          </a:prstGeom>
          <a:noFill/>
          <a:ln w="19050" cap="rnd">
            <a:solidFill>
              <a:srgbClr val="FFCC99"/>
            </a:solidFill>
            <a:roun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solidFill>
                  <a:srgbClr val="FFCC99"/>
                </a:solidFill>
                <a:latin typeface="Aa花间辞楷书 (非商业使用)" panose="02010600010101010101" pitchFamily="2" charset="-122"/>
                <a:ea typeface="Aa花间辞楷书 (非商业使用)" panose="02010600010101010101" pitchFamily="2" charset="-122"/>
              </a:rPr>
              <a:t>自动规划</a:t>
            </a:r>
          </a:p>
        </p:txBody>
      </p:sp>
    </p:spTree>
    <p:extLst>
      <p:ext uri="{BB962C8B-B14F-4D97-AF65-F5344CB8AC3E}">
        <p14:creationId xmlns:p14="http://schemas.microsoft.com/office/powerpoint/2010/main" val="2500737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1000"/>
                                        <p:tgtEl>
                                          <p:spTgt spid="50"/>
                                        </p:tgtEl>
                                      </p:cBhvr>
                                    </p:animEffect>
                                    <p:anim calcmode="lin" valueType="num">
                                      <p:cBhvr>
                                        <p:cTn id="8" dur="1000" fill="hold"/>
                                        <p:tgtEl>
                                          <p:spTgt spid="50"/>
                                        </p:tgtEl>
                                        <p:attrNameLst>
                                          <p:attrName>ppt_x</p:attrName>
                                        </p:attrNameLst>
                                      </p:cBhvr>
                                      <p:tavLst>
                                        <p:tav tm="0">
                                          <p:val>
                                            <p:strVal val="#ppt_x"/>
                                          </p:val>
                                        </p:tav>
                                        <p:tav tm="100000">
                                          <p:val>
                                            <p:strVal val="#ppt_x"/>
                                          </p:val>
                                        </p:tav>
                                      </p:tavLst>
                                    </p:anim>
                                    <p:anim calcmode="lin" valueType="num">
                                      <p:cBhvr>
                                        <p:cTn id="9"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6"/>
                                        </p:tgtEl>
                                        <p:attrNameLst>
                                          <p:attrName>style.visibility</p:attrName>
                                        </p:attrNameLst>
                                      </p:cBhvr>
                                      <p:to>
                                        <p:strVal val="visible"/>
                                      </p:to>
                                    </p:set>
                                    <p:animEffect transition="in" filter="fade">
                                      <p:cBhvr>
                                        <p:cTn id="21" dur="500"/>
                                        <p:tgtEl>
                                          <p:spTgt spid="5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0" presetClass="entr" presetSubtype="0" fill="hold"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00"/>
                                        <p:tgtEl>
                                          <p:spTgt spid="2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500"/>
                                        <p:tgtEl>
                                          <p:spTgt spid="1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6"/>
                                        </p:tgtEl>
                                        <p:attrNameLst>
                                          <p:attrName>style.visibility</p:attrName>
                                        </p:attrNameLst>
                                      </p:cBhvr>
                                      <p:to>
                                        <p:strVal val="visible"/>
                                      </p:to>
                                    </p:set>
                                    <p:animEffect transition="in" filter="fade">
                                      <p:cBhvr>
                                        <p:cTn id="59" dur="500"/>
                                        <p:tgtEl>
                                          <p:spTgt spid="6"/>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500"/>
                                        <p:tgtEl>
                                          <p:spTgt spid="14"/>
                                        </p:tgtEl>
                                      </p:cBhvr>
                                    </p:animEffect>
                                  </p:childTnLst>
                                </p:cTn>
                              </p:par>
                              <p:par>
                                <p:cTn id="65" presetID="10" presetClass="entr" presetSubtype="0" fill="hold"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500"/>
                                        <p:tgtEl>
                                          <p:spTgt spid="20"/>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1000"/>
                                        <p:tgtEl>
                                          <p:spTgt spid="27"/>
                                        </p:tgtEl>
                                      </p:cBhvr>
                                    </p:animEffect>
                                    <p:anim calcmode="lin" valueType="num">
                                      <p:cBhvr>
                                        <p:cTn id="78" dur="1000" fill="hold"/>
                                        <p:tgtEl>
                                          <p:spTgt spid="27"/>
                                        </p:tgtEl>
                                        <p:attrNameLst>
                                          <p:attrName>ppt_x</p:attrName>
                                        </p:attrNameLst>
                                      </p:cBhvr>
                                      <p:tavLst>
                                        <p:tav tm="0">
                                          <p:val>
                                            <p:strVal val="#ppt_x"/>
                                          </p:val>
                                        </p:tav>
                                        <p:tav tm="100000">
                                          <p:val>
                                            <p:strVal val="#ppt_x"/>
                                          </p:val>
                                        </p:tav>
                                      </p:tavLst>
                                    </p:anim>
                                    <p:anim calcmode="lin" valueType="num">
                                      <p:cBhvr>
                                        <p:cTn id="79" dur="1000" fill="hold"/>
                                        <p:tgtEl>
                                          <p:spTgt spid="27"/>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fade">
                                      <p:cBhvr>
                                        <p:cTn id="82" dur="1000"/>
                                        <p:tgtEl>
                                          <p:spTgt spid="24"/>
                                        </p:tgtEl>
                                      </p:cBhvr>
                                    </p:animEffect>
                                    <p:anim calcmode="lin" valueType="num">
                                      <p:cBhvr>
                                        <p:cTn id="83" dur="1000" fill="hold"/>
                                        <p:tgtEl>
                                          <p:spTgt spid="24"/>
                                        </p:tgtEl>
                                        <p:attrNameLst>
                                          <p:attrName>ppt_x</p:attrName>
                                        </p:attrNameLst>
                                      </p:cBhvr>
                                      <p:tavLst>
                                        <p:tav tm="0">
                                          <p:val>
                                            <p:strVal val="#ppt_x"/>
                                          </p:val>
                                        </p:tav>
                                        <p:tav tm="100000">
                                          <p:val>
                                            <p:strVal val="#ppt_x"/>
                                          </p:val>
                                        </p:tav>
                                      </p:tavLst>
                                    </p:anim>
                                    <p:anim calcmode="lin" valueType="num">
                                      <p:cBhvr>
                                        <p:cTn id="84"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nodeType="clickEffect">
                                  <p:stCondLst>
                                    <p:cond delay="0"/>
                                  </p:stCondLst>
                                  <p:childTnLst>
                                    <p:set>
                                      <p:cBhvr>
                                        <p:cTn id="88" dur="1" fill="hold">
                                          <p:stCondLst>
                                            <p:cond delay="0"/>
                                          </p:stCondLst>
                                        </p:cTn>
                                        <p:tgtEl>
                                          <p:spTgt spid="34"/>
                                        </p:tgtEl>
                                        <p:attrNameLst>
                                          <p:attrName>style.visibility</p:attrName>
                                        </p:attrNameLst>
                                      </p:cBhvr>
                                      <p:to>
                                        <p:strVal val="visible"/>
                                      </p:to>
                                    </p:set>
                                    <p:animEffect transition="in" filter="fade">
                                      <p:cBhvr>
                                        <p:cTn id="89" dur="1000"/>
                                        <p:tgtEl>
                                          <p:spTgt spid="34"/>
                                        </p:tgtEl>
                                      </p:cBhvr>
                                    </p:animEffect>
                                    <p:anim calcmode="lin" valueType="num">
                                      <p:cBhvr>
                                        <p:cTn id="90" dur="1000" fill="hold"/>
                                        <p:tgtEl>
                                          <p:spTgt spid="34"/>
                                        </p:tgtEl>
                                        <p:attrNameLst>
                                          <p:attrName>ppt_x</p:attrName>
                                        </p:attrNameLst>
                                      </p:cBhvr>
                                      <p:tavLst>
                                        <p:tav tm="0">
                                          <p:val>
                                            <p:strVal val="#ppt_x"/>
                                          </p:val>
                                        </p:tav>
                                        <p:tav tm="100000">
                                          <p:val>
                                            <p:strVal val="#ppt_x"/>
                                          </p:val>
                                        </p:tav>
                                      </p:tavLst>
                                    </p:anim>
                                    <p:anim calcmode="lin" valueType="num">
                                      <p:cBhvr>
                                        <p:cTn id="91" dur="1000" fill="hold"/>
                                        <p:tgtEl>
                                          <p:spTgt spid="34"/>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1000"/>
                                        <p:tgtEl>
                                          <p:spTgt spid="25"/>
                                        </p:tgtEl>
                                      </p:cBhvr>
                                    </p:animEffect>
                                    <p:anim calcmode="lin" valueType="num">
                                      <p:cBhvr>
                                        <p:cTn id="95" dur="1000" fill="hold"/>
                                        <p:tgtEl>
                                          <p:spTgt spid="25"/>
                                        </p:tgtEl>
                                        <p:attrNameLst>
                                          <p:attrName>ppt_x</p:attrName>
                                        </p:attrNameLst>
                                      </p:cBhvr>
                                      <p:tavLst>
                                        <p:tav tm="0">
                                          <p:val>
                                            <p:strVal val="#ppt_x"/>
                                          </p:val>
                                        </p:tav>
                                        <p:tav tm="100000">
                                          <p:val>
                                            <p:strVal val="#ppt_x"/>
                                          </p:val>
                                        </p:tav>
                                      </p:tavLst>
                                    </p:anim>
                                    <p:anim calcmode="lin" valueType="num">
                                      <p:cBhvr>
                                        <p:cTn id="9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42" presetClass="entr" presetSubtype="0" fill="hold" nodeType="clickEffect">
                                  <p:stCondLst>
                                    <p:cond delay="0"/>
                                  </p:stCondLst>
                                  <p:childTnLst>
                                    <p:set>
                                      <p:cBhvr>
                                        <p:cTn id="100" dur="1" fill="hold">
                                          <p:stCondLst>
                                            <p:cond delay="0"/>
                                          </p:stCondLst>
                                        </p:cTn>
                                        <p:tgtEl>
                                          <p:spTgt spid="28"/>
                                        </p:tgtEl>
                                        <p:attrNameLst>
                                          <p:attrName>style.visibility</p:attrName>
                                        </p:attrNameLst>
                                      </p:cBhvr>
                                      <p:to>
                                        <p:strVal val="visible"/>
                                      </p:to>
                                    </p:set>
                                    <p:animEffect transition="in" filter="fade">
                                      <p:cBhvr>
                                        <p:cTn id="101" dur="1000"/>
                                        <p:tgtEl>
                                          <p:spTgt spid="28"/>
                                        </p:tgtEl>
                                      </p:cBhvr>
                                    </p:animEffect>
                                    <p:anim calcmode="lin" valueType="num">
                                      <p:cBhvr>
                                        <p:cTn id="102" dur="1000" fill="hold"/>
                                        <p:tgtEl>
                                          <p:spTgt spid="28"/>
                                        </p:tgtEl>
                                        <p:attrNameLst>
                                          <p:attrName>ppt_x</p:attrName>
                                        </p:attrNameLst>
                                      </p:cBhvr>
                                      <p:tavLst>
                                        <p:tav tm="0">
                                          <p:val>
                                            <p:strVal val="#ppt_x"/>
                                          </p:val>
                                        </p:tav>
                                        <p:tav tm="100000">
                                          <p:val>
                                            <p:strVal val="#ppt_x"/>
                                          </p:val>
                                        </p:tav>
                                      </p:tavLst>
                                    </p:anim>
                                    <p:anim calcmode="lin" valueType="num">
                                      <p:cBhvr>
                                        <p:cTn id="103" dur="1000" fill="hold"/>
                                        <p:tgtEl>
                                          <p:spTgt spid="28"/>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6" dur="1000"/>
                                        <p:tgtEl>
                                          <p:spTgt spid="36"/>
                                        </p:tgtEl>
                                      </p:cBhvr>
                                    </p:animEffect>
                                    <p:anim calcmode="lin" valueType="num">
                                      <p:cBhvr>
                                        <p:cTn id="107" dur="1000" fill="hold"/>
                                        <p:tgtEl>
                                          <p:spTgt spid="36"/>
                                        </p:tgtEl>
                                        <p:attrNameLst>
                                          <p:attrName>ppt_x</p:attrName>
                                        </p:attrNameLst>
                                      </p:cBhvr>
                                      <p:tavLst>
                                        <p:tav tm="0">
                                          <p:val>
                                            <p:strVal val="#ppt_x"/>
                                          </p:val>
                                        </p:tav>
                                        <p:tav tm="100000">
                                          <p:val>
                                            <p:strVal val="#ppt_x"/>
                                          </p:val>
                                        </p:tav>
                                      </p:tavLst>
                                    </p:anim>
                                    <p:anim calcmode="lin" valueType="num">
                                      <p:cBhvr>
                                        <p:cTn id="108" dur="1000" fill="hold"/>
                                        <p:tgtEl>
                                          <p:spTgt spid="36"/>
                                        </p:tgtEl>
                                        <p:attrNameLst>
                                          <p:attrName>ppt_y</p:attrName>
                                        </p:attrNameLst>
                                      </p:cBhvr>
                                      <p:tavLst>
                                        <p:tav tm="0">
                                          <p:val>
                                            <p:strVal val="#ppt_y+.1"/>
                                          </p:val>
                                        </p:tav>
                                        <p:tav tm="100000">
                                          <p:val>
                                            <p:strVal val="#ppt_y"/>
                                          </p:val>
                                        </p:tav>
                                      </p:tavLst>
                                    </p:anim>
                                  </p:childTnLst>
                                </p:cTn>
                              </p:par>
                              <p:par>
                                <p:cTn id="109" presetID="42" presetClass="entr" presetSubtype="0" fill="hold" nodeType="with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1000"/>
                                        <p:tgtEl>
                                          <p:spTgt spid="40"/>
                                        </p:tgtEl>
                                      </p:cBhvr>
                                    </p:animEffect>
                                    <p:anim calcmode="lin" valueType="num">
                                      <p:cBhvr>
                                        <p:cTn id="112" dur="1000" fill="hold"/>
                                        <p:tgtEl>
                                          <p:spTgt spid="40"/>
                                        </p:tgtEl>
                                        <p:attrNameLst>
                                          <p:attrName>ppt_x</p:attrName>
                                        </p:attrNameLst>
                                      </p:cBhvr>
                                      <p:tavLst>
                                        <p:tav tm="0">
                                          <p:val>
                                            <p:strVal val="#ppt_x"/>
                                          </p:val>
                                        </p:tav>
                                        <p:tav tm="100000">
                                          <p:val>
                                            <p:strVal val="#ppt_x"/>
                                          </p:val>
                                        </p:tav>
                                      </p:tavLst>
                                    </p:anim>
                                    <p:anim calcmode="lin" valueType="num">
                                      <p:cBhvr>
                                        <p:cTn id="113"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grpId="0" nodeType="clickEffect">
                                  <p:stCondLst>
                                    <p:cond delay="0"/>
                                  </p:stCondLst>
                                  <p:childTnLst>
                                    <p:set>
                                      <p:cBhvr>
                                        <p:cTn id="117" dur="1" fill="hold">
                                          <p:stCondLst>
                                            <p:cond delay="0"/>
                                          </p:stCondLst>
                                        </p:cTn>
                                        <p:tgtEl>
                                          <p:spTgt spid="81"/>
                                        </p:tgtEl>
                                        <p:attrNameLst>
                                          <p:attrName>style.visibility</p:attrName>
                                        </p:attrNameLst>
                                      </p:cBhvr>
                                      <p:to>
                                        <p:strVal val="visible"/>
                                      </p:to>
                                    </p:set>
                                    <p:animEffect transition="in" filter="fade">
                                      <p:cBhvr>
                                        <p:cTn id="118" dur="500"/>
                                        <p:tgtEl>
                                          <p:spTgt spid="81"/>
                                        </p:tgtEl>
                                      </p:cBhvr>
                                    </p:animEffect>
                                  </p:childTnLst>
                                </p:cTn>
                              </p:par>
                              <p:par>
                                <p:cTn id="119" presetID="10" presetClass="entr" presetSubtype="0" fill="hold" nodeType="withEffect">
                                  <p:stCondLst>
                                    <p:cond delay="0"/>
                                  </p:stCondLst>
                                  <p:childTnLst>
                                    <p:set>
                                      <p:cBhvr>
                                        <p:cTn id="120" dur="1" fill="hold">
                                          <p:stCondLst>
                                            <p:cond delay="0"/>
                                          </p:stCondLst>
                                        </p:cTn>
                                        <p:tgtEl>
                                          <p:spTgt spid="80"/>
                                        </p:tgtEl>
                                        <p:attrNameLst>
                                          <p:attrName>style.visibility</p:attrName>
                                        </p:attrNameLst>
                                      </p:cBhvr>
                                      <p:to>
                                        <p:strVal val="visible"/>
                                      </p:to>
                                    </p:set>
                                    <p:animEffect transition="in" filter="fade">
                                      <p:cBhvr>
                                        <p:cTn id="121" dur="500"/>
                                        <p:tgtEl>
                                          <p:spTgt spid="80"/>
                                        </p:tgtEl>
                                      </p:cBhvr>
                                    </p:animEffect>
                                  </p:childTnLst>
                                </p:cTn>
                              </p:par>
                              <p:par>
                                <p:cTn id="122" presetID="10" presetClass="entr" presetSubtype="0" fill="hold" nodeType="withEffect">
                                  <p:stCondLst>
                                    <p:cond delay="0"/>
                                  </p:stCondLst>
                                  <p:childTnLst>
                                    <p:set>
                                      <p:cBhvr>
                                        <p:cTn id="123" dur="1" fill="hold">
                                          <p:stCondLst>
                                            <p:cond delay="0"/>
                                          </p:stCondLst>
                                        </p:cTn>
                                        <p:tgtEl>
                                          <p:spTgt spid="71"/>
                                        </p:tgtEl>
                                        <p:attrNameLst>
                                          <p:attrName>style.visibility</p:attrName>
                                        </p:attrNameLst>
                                      </p:cBhvr>
                                      <p:to>
                                        <p:strVal val="visible"/>
                                      </p:to>
                                    </p:set>
                                    <p:animEffect transition="in" filter="fade">
                                      <p:cBhvr>
                                        <p:cTn id="124" dur="500"/>
                                        <p:tgtEl>
                                          <p:spTgt spid="71"/>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70"/>
                                        </p:tgtEl>
                                        <p:attrNameLst>
                                          <p:attrName>style.visibility</p:attrName>
                                        </p:attrNameLst>
                                      </p:cBhvr>
                                      <p:to>
                                        <p:strVal val="visible"/>
                                      </p:to>
                                    </p:set>
                                    <p:animEffect transition="in" filter="fade">
                                      <p:cBhvr>
                                        <p:cTn id="127" dur="500"/>
                                        <p:tgtEl>
                                          <p:spTgt spid="70"/>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26"/>
                                        </p:tgtEl>
                                        <p:attrNameLst>
                                          <p:attrName>style.visibility</p:attrName>
                                        </p:attrNameLst>
                                      </p:cBhvr>
                                      <p:to>
                                        <p:strVal val="visible"/>
                                      </p:to>
                                    </p:set>
                                    <p:animEffect transition="in" filter="fade">
                                      <p:cBhvr>
                                        <p:cTn id="132" dur="500"/>
                                        <p:tgtEl>
                                          <p:spTgt spid="26"/>
                                        </p:tgtEl>
                                      </p:cBhvr>
                                    </p:animEffect>
                                  </p:childTnLst>
                                </p:cTn>
                              </p:par>
                              <p:par>
                                <p:cTn id="133" presetID="10" presetClass="entr" presetSubtype="0" fill="hold" nodeType="withEffect">
                                  <p:stCondLst>
                                    <p:cond delay="0"/>
                                  </p:stCondLst>
                                  <p:childTnLst>
                                    <p:set>
                                      <p:cBhvr>
                                        <p:cTn id="134" dur="1" fill="hold">
                                          <p:stCondLst>
                                            <p:cond delay="0"/>
                                          </p:stCondLst>
                                        </p:cTn>
                                        <p:tgtEl>
                                          <p:spTgt spid="72"/>
                                        </p:tgtEl>
                                        <p:attrNameLst>
                                          <p:attrName>style.visibility</p:attrName>
                                        </p:attrNameLst>
                                      </p:cBhvr>
                                      <p:to>
                                        <p:strVal val="visible"/>
                                      </p:to>
                                    </p:set>
                                    <p:animEffect transition="in" filter="fade">
                                      <p:cBhvr>
                                        <p:cTn id="135" dur="500"/>
                                        <p:tgtEl>
                                          <p:spTgt spid="72"/>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68"/>
                                        </p:tgtEl>
                                        <p:attrNameLst>
                                          <p:attrName>style.visibility</p:attrName>
                                        </p:attrNameLst>
                                      </p:cBhvr>
                                      <p:to>
                                        <p:strVal val="visible"/>
                                      </p:to>
                                    </p:set>
                                    <p:animEffect transition="in" filter="fade">
                                      <p:cBhvr>
                                        <p:cTn id="138" dur="500"/>
                                        <p:tgtEl>
                                          <p:spTgt spid="68"/>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69"/>
                                        </p:tgtEl>
                                        <p:attrNameLst>
                                          <p:attrName>style.visibility</p:attrName>
                                        </p:attrNameLst>
                                      </p:cBhvr>
                                      <p:to>
                                        <p:strVal val="visible"/>
                                      </p:to>
                                    </p:set>
                                    <p:animEffect transition="in" filter="fade">
                                      <p:cBhvr>
                                        <p:cTn id="141" dur="500"/>
                                        <p:tgtEl>
                                          <p:spTgt spid="69"/>
                                        </p:tgtEl>
                                      </p:cBhvr>
                                    </p:animEffect>
                                  </p:childTnLst>
                                </p:cTn>
                              </p:par>
                            </p:childTnLst>
                          </p:cTn>
                        </p:par>
                      </p:childTnLst>
                    </p:cTn>
                  </p:par>
                  <p:par>
                    <p:cTn id="142" fill="hold">
                      <p:stCondLst>
                        <p:cond delay="indefinite"/>
                      </p:stCondLst>
                      <p:childTnLst>
                        <p:par>
                          <p:cTn id="143" fill="hold">
                            <p:stCondLst>
                              <p:cond delay="0"/>
                            </p:stCondLst>
                            <p:childTnLst>
                              <p:par>
                                <p:cTn id="144" presetID="10" presetClass="entr" presetSubtype="0" fill="hold" grpId="0" nodeType="clickEffect">
                                  <p:stCondLst>
                                    <p:cond delay="0"/>
                                  </p:stCondLst>
                                  <p:childTnLst>
                                    <p:set>
                                      <p:cBhvr>
                                        <p:cTn id="145" dur="1" fill="hold">
                                          <p:stCondLst>
                                            <p:cond delay="0"/>
                                          </p:stCondLst>
                                        </p:cTn>
                                        <p:tgtEl>
                                          <p:spTgt spid="74"/>
                                        </p:tgtEl>
                                        <p:attrNameLst>
                                          <p:attrName>style.visibility</p:attrName>
                                        </p:attrNameLst>
                                      </p:cBhvr>
                                      <p:to>
                                        <p:strVal val="visible"/>
                                      </p:to>
                                    </p:set>
                                    <p:animEffect transition="in" filter="fade">
                                      <p:cBhvr>
                                        <p:cTn id="146" dur="500"/>
                                        <p:tgtEl>
                                          <p:spTgt spid="74"/>
                                        </p:tgtEl>
                                      </p:cBhvr>
                                    </p:animEffect>
                                  </p:childTnLst>
                                </p:cTn>
                              </p:par>
                              <p:par>
                                <p:cTn id="147" presetID="10" presetClass="entr" presetSubtype="0" fill="hold" nodeType="withEffect">
                                  <p:stCondLst>
                                    <p:cond delay="0"/>
                                  </p:stCondLst>
                                  <p:childTnLst>
                                    <p:set>
                                      <p:cBhvr>
                                        <p:cTn id="148" dur="1" fill="hold">
                                          <p:stCondLst>
                                            <p:cond delay="0"/>
                                          </p:stCondLst>
                                        </p:cTn>
                                        <p:tgtEl>
                                          <p:spTgt spid="75"/>
                                        </p:tgtEl>
                                        <p:attrNameLst>
                                          <p:attrName>style.visibility</p:attrName>
                                        </p:attrNameLst>
                                      </p:cBhvr>
                                      <p:to>
                                        <p:strVal val="visible"/>
                                      </p:to>
                                    </p:set>
                                    <p:animEffect transition="in" filter="fade">
                                      <p:cBhvr>
                                        <p:cTn id="149" dur="500"/>
                                        <p:tgtEl>
                                          <p:spTgt spid="75"/>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38"/>
                                        </p:tgtEl>
                                        <p:attrNameLst>
                                          <p:attrName>style.visibility</p:attrName>
                                        </p:attrNameLst>
                                      </p:cBhvr>
                                      <p:to>
                                        <p:strVal val="visible"/>
                                      </p:to>
                                    </p:set>
                                    <p:animEffect transition="in" filter="fade">
                                      <p:cBhvr>
                                        <p:cTn id="152" dur="500"/>
                                        <p:tgtEl>
                                          <p:spTgt spid="38"/>
                                        </p:tgtEl>
                                      </p:cBhvr>
                                    </p:animEffect>
                                  </p:childTnLst>
                                </p:cTn>
                              </p:par>
                            </p:childTnLst>
                          </p:cTn>
                        </p:par>
                      </p:childTnLst>
                    </p:cTn>
                  </p:par>
                  <p:par>
                    <p:cTn id="153" fill="hold">
                      <p:stCondLst>
                        <p:cond delay="indefinite"/>
                      </p:stCondLst>
                      <p:childTnLst>
                        <p:par>
                          <p:cTn id="154" fill="hold">
                            <p:stCondLst>
                              <p:cond delay="0"/>
                            </p:stCondLst>
                            <p:childTnLst>
                              <p:par>
                                <p:cTn id="155" presetID="42" presetClass="entr" presetSubtype="0" fill="hold" grpId="0" nodeType="clickEffect">
                                  <p:stCondLst>
                                    <p:cond delay="0"/>
                                  </p:stCondLst>
                                  <p:childTnLst>
                                    <p:set>
                                      <p:cBhvr>
                                        <p:cTn id="156" dur="1" fill="hold">
                                          <p:stCondLst>
                                            <p:cond delay="0"/>
                                          </p:stCondLst>
                                        </p:cTn>
                                        <p:tgtEl>
                                          <p:spTgt spid="39"/>
                                        </p:tgtEl>
                                        <p:attrNameLst>
                                          <p:attrName>style.visibility</p:attrName>
                                        </p:attrNameLst>
                                      </p:cBhvr>
                                      <p:to>
                                        <p:strVal val="visible"/>
                                      </p:to>
                                    </p:set>
                                    <p:animEffect transition="in" filter="fade">
                                      <p:cBhvr>
                                        <p:cTn id="157" dur="1000"/>
                                        <p:tgtEl>
                                          <p:spTgt spid="39"/>
                                        </p:tgtEl>
                                      </p:cBhvr>
                                    </p:animEffect>
                                    <p:anim calcmode="lin" valueType="num">
                                      <p:cBhvr>
                                        <p:cTn id="158" dur="1000" fill="hold"/>
                                        <p:tgtEl>
                                          <p:spTgt spid="39"/>
                                        </p:tgtEl>
                                        <p:attrNameLst>
                                          <p:attrName>ppt_x</p:attrName>
                                        </p:attrNameLst>
                                      </p:cBhvr>
                                      <p:tavLst>
                                        <p:tav tm="0">
                                          <p:val>
                                            <p:strVal val="#ppt_x"/>
                                          </p:val>
                                        </p:tav>
                                        <p:tav tm="100000">
                                          <p:val>
                                            <p:strVal val="#ppt_x"/>
                                          </p:val>
                                        </p:tav>
                                      </p:tavLst>
                                    </p:anim>
                                    <p:anim calcmode="lin" valueType="num">
                                      <p:cBhvr>
                                        <p:cTn id="159" dur="1000" fill="hold"/>
                                        <p:tgtEl>
                                          <p:spTgt spid="39"/>
                                        </p:tgtEl>
                                        <p:attrNameLst>
                                          <p:attrName>ppt_y</p:attrName>
                                        </p:attrNameLst>
                                      </p:cBhvr>
                                      <p:tavLst>
                                        <p:tav tm="0">
                                          <p:val>
                                            <p:strVal val="#ppt_y+.1"/>
                                          </p:val>
                                        </p:tav>
                                        <p:tav tm="100000">
                                          <p:val>
                                            <p:strVal val="#ppt_y"/>
                                          </p:val>
                                        </p:tav>
                                      </p:tavLst>
                                    </p:anim>
                                  </p:childTnLst>
                                </p:cTn>
                              </p:par>
                              <p:par>
                                <p:cTn id="160" presetID="42" presetClass="entr" presetSubtype="0" fill="hold" nodeType="withEffect">
                                  <p:stCondLst>
                                    <p:cond delay="0"/>
                                  </p:stCondLst>
                                  <p:childTnLst>
                                    <p:set>
                                      <p:cBhvr>
                                        <p:cTn id="161" dur="1" fill="hold">
                                          <p:stCondLst>
                                            <p:cond delay="0"/>
                                          </p:stCondLst>
                                        </p:cTn>
                                        <p:tgtEl>
                                          <p:spTgt spid="76"/>
                                        </p:tgtEl>
                                        <p:attrNameLst>
                                          <p:attrName>style.visibility</p:attrName>
                                        </p:attrNameLst>
                                      </p:cBhvr>
                                      <p:to>
                                        <p:strVal val="visible"/>
                                      </p:to>
                                    </p:set>
                                    <p:animEffect transition="in" filter="fade">
                                      <p:cBhvr>
                                        <p:cTn id="162" dur="1000"/>
                                        <p:tgtEl>
                                          <p:spTgt spid="76"/>
                                        </p:tgtEl>
                                      </p:cBhvr>
                                    </p:animEffect>
                                    <p:anim calcmode="lin" valueType="num">
                                      <p:cBhvr>
                                        <p:cTn id="163" dur="1000" fill="hold"/>
                                        <p:tgtEl>
                                          <p:spTgt spid="76"/>
                                        </p:tgtEl>
                                        <p:attrNameLst>
                                          <p:attrName>ppt_x</p:attrName>
                                        </p:attrNameLst>
                                      </p:cBhvr>
                                      <p:tavLst>
                                        <p:tav tm="0">
                                          <p:val>
                                            <p:strVal val="#ppt_x"/>
                                          </p:val>
                                        </p:tav>
                                        <p:tav tm="100000">
                                          <p:val>
                                            <p:strVal val="#ppt_x"/>
                                          </p:val>
                                        </p:tav>
                                      </p:tavLst>
                                    </p:anim>
                                    <p:anim calcmode="lin" valueType="num">
                                      <p:cBhvr>
                                        <p:cTn id="164" dur="1000" fill="hold"/>
                                        <p:tgtEl>
                                          <p:spTgt spid="76"/>
                                        </p:tgtEl>
                                        <p:attrNameLst>
                                          <p:attrName>ppt_y</p:attrName>
                                        </p:attrNameLst>
                                      </p:cBhvr>
                                      <p:tavLst>
                                        <p:tav tm="0">
                                          <p:val>
                                            <p:strVal val="#ppt_y+.1"/>
                                          </p:val>
                                        </p:tav>
                                        <p:tav tm="100000">
                                          <p:val>
                                            <p:strVal val="#ppt_y"/>
                                          </p:val>
                                        </p:tav>
                                      </p:tavLst>
                                    </p:anim>
                                  </p:childTnLst>
                                </p:cTn>
                              </p:par>
                              <p:par>
                                <p:cTn id="165" presetID="42" presetClass="entr" presetSubtype="0" fill="hold" grpId="0" nodeType="withEffect">
                                  <p:stCondLst>
                                    <p:cond delay="0"/>
                                  </p:stCondLst>
                                  <p:childTnLst>
                                    <p:set>
                                      <p:cBhvr>
                                        <p:cTn id="166" dur="1" fill="hold">
                                          <p:stCondLst>
                                            <p:cond delay="0"/>
                                          </p:stCondLst>
                                        </p:cTn>
                                        <p:tgtEl>
                                          <p:spTgt spid="33"/>
                                        </p:tgtEl>
                                        <p:attrNameLst>
                                          <p:attrName>style.visibility</p:attrName>
                                        </p:attrNameLst>
                                      </p:cBhvr>
                                      <p:to>
                                        <p:strVal val="visible"/>
                                      </p:to>
                                    </p:set>
                                    <p:animEffect transition="in" filter="fade">
                                      <p:cBhvr>
                                        <p:cTn id="167" dur="1000"/>
                                        <p:tgtEl>
                                          <p:spTgt spid="33"/>
                                        </p:tgtEl>
                                      </p:cBhvr>
                                    </p:animEffect>
                                    <p:anim calcmode="lin" valueType="num">
                                      <p:cBhvr>
                                        <p:cTn id="168" dur="1000" fill="hold"/>
                                        <p:tgtEl>
                                          <p:spTgt spid="33"/>
                                        </p:tgtEl>
                                        <p:attrNameLst>
                                          <p:attrName>ppt_x</p:attrName>
                                        </p:attrNameLst>
                                      </p:cBhvr>
                                      <p:tavLst>
                                        <p:tav tm="0">
                                          <p:val>
                                            <p:strVal val="#ppt_x"/>
                                          </p:val>
                                        </p:tav>
                                        <p:tav tm="100000">
                                          <p:val>
                                            <p:strVal val="#ppt_x"/>
                                          </p:val>
                                        </p:tav>
                                      </p:tavLst>
                                    </p:anim>
                                    <p:anim calcmode="lin" valueType="num">
                                      <p:cBhvr>
                                        <p:cTn id="169"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170" fill="hold">
                      <p:stCondLst>
                        <p:cond delay="indefinite"/>
                      </p:stCondLst>
                      <p:childTnLst>
                        <p:par>
                          <p:cTn id="171" fill="hold">
                            <p:stCondLst>
                              <p:cond delay="0"/>
                            </p:stCondLst>
                            <p:childTnLst>
                              <p:par>
                                <p:cTn id="172" presetID="42" presetClass="entr" presetSubtype="0" fill="hold" nodeType="clickEffect">
                                  <p:stCondLst>
                                    <p:cond delay="0"/>
                                  </p:stCondLst>
                                  <p:childTnLst>
                                    <p:set>
                                      <p:cBhvr>
                                        <p:cTn id="173" dur="1" fill="hold">
                                          <p:stCondLst>
                                            <p:cond delay="0"/>
                                          </p:stCondLst>
                                        </p:cTn>
                                        <p:tgtEl>
                                          <p:spTgt spid="35"/>
                                        </p:tgtEl>
                                        <p:attrNameLst>
                                          <p:attrName>style.visibility</p:attrName>
                                        </p:attrNameLst>
                                      </p:cBhvr>
                                      <p:to>
                                        <p:strVal val="visible"/>
                                      </p:to>
                                    </p:set>
                                    <p:animEffect transition="in" filter="fade">
                                      <p:cBhvr>
                                        <p:cTn id="174" dur="1000"/>
                                        <p:tgtEl>
                                          <p:spTgt spid="35"/>
                                        </p:tgtEl>
                                      </p:cBhvr>
                                    </p:animEffect>
                                    <p:anim calcmode="lin" valueType="num">
                                      <p:cBhvr>
                                        <p:cTn id="175" dur="1000" fill="hold"/>
                                        <p:tgtEl>
                                          <p:spTgt spid="35"/>
                                        </p:tgtEl>
                                        <p:attrNameLst>
                                          <p:attrName>ppt_x</p:attrName>
                                        </p:attrNameLst>
                                      </p:cBhvr>
                                      <p:tavLst>
                                        <p:tav tm="0">
                                          <p:val>
                                            <p:strVal val="#ppt_x"/>
                                          </p:val>
                                        </p:tav>
                                        <p:tav tm="100000">
                                          <p:val>
                                            <p:strVal val="#ppt_x"/>
                                          </p:val>
                                        </p:tav>
                                      </p:tavLst>
                                    </p:anim>
                                    <p:anim calcmode="lin" valueType="num">
                                      <p:cBhvr>
                                        <p:cTn id="176" dur="1000" fill="hold"/>
                                        <p:tgtEl>
                                          <p:spTgt spid="35"/>
                                        </p:tgtEl>
                                        <p:attrNameLst>
                                          <p:attrName>ppt_y</p:attrName>
                                        </p:attrNameLst>
                                      </p:cBhvr>
                                      <p:tavLst>
                                        <p:tav tm="0">
                                          <p:val>
                                            <p:strVal val="#ppt_y+.1"/>
                                          </p:val>
                                        </p:tav>
                                        <p:tav tm="100000">
                                          <p:val>
                                            <p:strVal val="#ppt_y"/>
                                          </p:val>
                                        </p:tav>
                                      </p:tavLst>
                                    </p:anim>
                                  </p:childTnLst>
                                </p:cTn>
                              </p:par>
                              <p:par>
                                <p:cTn id="177" presetID="42" presetClass="entr" presetSubtype="0" fill="hold" grpId="0" nodeType="withEffect">
                                  <p:stCondLst>
                                    <p:cond delay="0"/>
                                  </p:stCondLst>
                                  <p:childTnLst>
                                    <p:set>
                                      <p:cBhvr>
                                        <p:cTn id="178" dur="1" fill="hold">
                                          <p:stCondLst>
                                            <p:cond delay="0"/>
                                          </p:stCondLst>
                                        </p:cTn>
                                        <p:tgtEl>
                                          <p:spTgt spid="73"/>
                                        </p:tgtEl>
                                        <p:attrNameLst>
                                          <p:attrName>style.visibility</p:attrName>
                                        </p:attrNameLst>
                                      </p:cBhvr>
                                      <p:to>
                                        <p:strVal val="visible"/>
                                      </p:to>
                                    </p:set>
                                    <p:animEffect transition="in" filter="fade">
                                      <p:cBhvr>
                                        <p:cTn id="179" dur="1000"/>
                                        <p:tgtEl>
                                          <p:spTgt spid="73"/>
                                        </p:tgtEl>
                                      </p:cBhvr>
                                    </p:animEffect>
                                    <p:anim calcmode="lin" valueType="num">
                                      <p:cBhvr>
                                        <p:cTn id="180" dur="1000" fill="hold"/>
                                        <p:tgtEl>
                                          <p:spTgt spid="73"/>
                                        </p:tgtEl>
                                        <p:attrNameLst>
                                          <p:attrName>ppt_x</p:attrName>
                                        </p:attrNameLst>
                                      </p:cBhvr>
                                      <p:tavLst>
                                        <p:tav tm="0">
                                          <p:val>
                                            <p:strVal val="#ppt_x"/>
                                          </p:val>
                                        </p:tav>
                                        <p:tav tm="100000">
                                          <p:val>
                                            <p:strVal val="#ppt_x"/>
                                          </p:val>
                                        </p:tav>
                                      </p:tavLst>
                                    </p:anim>
                                    <p:anim calcmode="lin" valueType="num">
                                      <p:cBhvr>
                                        <p:cTn id="181" dur="1000" fill="hold"/>
                                        <p:tgtEl>
                                          <p:spTgt spid="73"/>
                                        </p:tgtEl>
                                        <p:attrNameLst>
                                          <p:attrName>ppt_y</p:attrName>
                                        </p:attrNameLst>
                                      </p:cBhvr>
                                      <p:tavLst>
                                        <p:tav tm="0">
                                          <p:val>
                                            <p:strVal val="#ppt_y+.1"/>
                                          </p:val>
                                        </p:tav>
                                        <p:tav tm="100000">
                                          <p:val>
                                            <p:strVal val="#ppt_y"/>
                                          </p:val>
                                        </p:tav>
                                      </p:tavLst>
                                    </p:anim>
                                  </p:childTnLst>
                                </p:cTn>
                              </p:par>
                              <p:par>
                                <p:cTn id="182" presetID="42" presetClass="entr" presetSubtype="0" fill="hold" nodeType="withEffect">
                                  <p:stCondLst>
                                    <p:cond delay="0"/>
                                  </p:stCondLst>
                                  <p:childTnLst>
                                    <p:set>
                                      <p:cBhvr>
                                        <p:cTn id="183" dur="1" fill="hold">
                                          <p:stCondLst>
                                            <p:cond delay="0"/>
                                          </p:stCondLst>
                                        </p:cTn>
                                        <p:tgtEl>
                                          <p:spTgt spid="37"/>
                                        </p:tgtEl>
                                        <p:attrNameLst>
                                          <p:attrName>style.visibility</p:attrName>
                                        </p:attrNameLst>
                                      </p:cBhvr>
                                      <p:to>
                                        <p:strVal val="visible"/>
                                      </p:to>
                                    </p:set>
                                    <p:animEffect transition="in" filter="fade">
                                      <p:cBhvr>
                                        <p:cTn id="184" dur="1000"/>
                                        <p:tgtEl>
                                          <p:spTgt spid="37"/>
                                        </p:tgtEl>
                                      </p:cBhvr>
                                    </p:animEffect>
                                    <p:anim calcmode="lin" valueType="num">
                                      <p:cBhvr>
                                        <p:cTn id="185" dur="1000" fill="hold"/>
                                        <p:tgtEl>
                                          <p:spTgt spid="37"/>
                                        </p:tgtEl>
                                        <p:attrNameLst>
                                          <p:attrName>ppt_x</p:attrName>
                                        </p:attrNameLst>
                                      </p:cBhvr>
                                      <p:tavLst>
                                        <p:tav tm="0">
                                          <p:val>
                                            <p:strVal val="#ppt_x"/>
                                          </p:val>
                                        </p:tav>
                                        <p:tav tm="100000">
                                          <p:val>
                                            <p:strVal val="#ppt_x"/>
                                          </p:val>
                                        </p:tav>
                                      </p:tavLst>
                                    </p:anim>
                                    <p:anim calcmode="lin" valueType="num">
                                      <p:cBhvr>
                                        <p:cTn id="186"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187" fill="hold">
                      <p:stCondLst>
                        <p:cond delay="indefinite"/>
                      </p:stCondLst>
                      <p:childTnLst>
                        <p:par>
                          <p:cTn id="188" fill="hold">
                            <p:stCondLst>
                              <p:cond delay="0"/>
                            </p:stCondLst>
                            <p:childTnLst>
                              <p:par>
                                <p:cTn id="189" presetID="42" presetClass="entr" presetSubtype="0" fill="hold" nodeType="clickEffect">
                                  <p:stCondLst>
                                    <p:cond delay="0"/>
                                  </p:stCondLst>
                                  <p:childTnLst>
                                    <p:set>
                                      <p:cBhvr>
                                        <p:cTn id="190" dur="1" fill="hold">
                                          <p:stCondLst>
                                            <p:cond delay="0"/>
                                          </p:stCondLst>
                                        </p:cTn>
                                        <p:tgtEl>
                                          <p:spTgt spid="82"/>
                                        </p:tgtEl>
                                        <p:attrNameLst>
                                          <p:attrName>style.visibility</p:attrName>
                                        </p:attrNameLst>
                                      </p:cBhvr>
                                      <p:to>
                                        <p:strVal val="visible"/>
                                      </p:to>
                                    </p:set>
                                    <p:animEffect transition="in" filter="fade">
                                      <p:cBhvr>
                                        <p:cTn id="191" dur="1000"/>
                                        <p:tgtEl>
                                          <p:spTgt spid="82"/>
                                        </p:tgtEl>
                                      </p:cBhvr>
                                    </p:animEffect>
                                    <p:anim calcmode="lin" valueType="num">
                                      <p:cBhvr>
                                        <p:cTn id="192" dur="1000" fill="hold"/>
                                        <p:tgtEl>
                                          <p:spTgt spid="82"/>
                                        </p:tgtEl>
                                        <p:attrNameLst>
                                          <p:attrName>ppt_x</p:attrName>
                                        </p:attrNameLst>
                                      </p:cBhvr>
                                      <p:tavLst>
                                        <p:tav tm="0">
                                          <p:val>
                                            <p:strVal val="#ppt_x"/>
                                          </p:val>
                                        </p:tav>
                                        <p:tav tm="100000">
                                          <p:val>
                                            <p:strVal val="#ppt_x"/>
                                          </p:val>
                                        </p:tav>
                                      </p:tavLst>
                                    </p:anim>
                                    <p:anim calcmode="lin" valueType="num">
                                      <p:cBhvr>
                                        <p:cTn id="193" dur="1000" fill="hold"/>
                                        <p:tgtEl>
                                          <p:spTgt spid="82"/>
                                        </p:tgtEl>
                                        <p:attrNameLst>
                                          <p:attrName>ppt_y</p:attrName>
                                        </p:attrNameLst>
                                      </p:cBhvr>
                                      <p:tavLst>
                                        <p:tav tm="0">
                                          <p:val>
                                            <p:strVal val="#ppt_y+.1"/>
                                          </p:val>
                                        </p:tav>
                                        <p:tav tm="100000">
                                          <p:val>
                                            <p:strVal val="#ppt_y"/>
                                          </p:val>
                                        </p:tav>
                                      </p:tavLst>
                                    </p:anim>
                                  </p:childTnLst>
                                </p:cTn>
                              </p:par>
                              <p:par>
                                <p:cTn id="194" presetID="42" presetClass="entr" presetSubtype="0" fill="hold" grpId="0" nodeType="withEffect">
                                  <p:stCondLst>
                                    <p:cond delay="0"/>
                                  </p:stCondLst>
                                  <p:childTnLst>
                                    <p:set>
                                      <p:cBhvr>
                                        <p:cTn id="195" dur="1" fill="hold">
                                          <p:stCondLst>
                                            <p:cond delay="0"/>
                                          </p:stCondLst>
                                        </p:cTn>
                                        <p:tgtEl>
                                          <p:spTgt spid="49"/>
                                        </p:tgtEl>
                                        <p:attrNameLst>
                                          <p:attrName>style.visibility</p:attrName>
                                        </p:attrNameLst>
                                      </p:cBhvr>
                                      <p:to>
                                        <p:strVal val="visible"/>
                                      </p:to>
                                    </p:set>
                                    <p:animEffect transition="in" filter="fade">
                                      <p:cBhvr>
                                        <p:cTn id="196" dur="1000"/>
                                        <p:tgtEl>
                                          <p:spTgt spid="49"/>
                                        </p:tgtEl>
                                      </p:cBhvr>
                                    </p:animEffect>
                                    <p:anim calcmode="lin" valueType="num">
                                      <p:cBhvr>
                                        <p:cTn id="197" dur="1000" fill="hold"/>
                                        <p:tgtEl>
                                          <p:spTgt spid="49"/>
                                        </p:tgtEl>
                                        <p:attrNameLst>
                                          <p:attrName>ppt_x</p:attrName>
                                        </p:attrNameLst>
                                      </p:cBhvr>
                                      <p:tavLst>
                                        <p:tav tm="0">
                                          <p:val>
                                            <p:strVal val="#ppt_x"/>
                                          </p:val>
                                        </p:tav>
                                        <p:tav tm="100000">
                                          <p:val>
                                            <p:strVal val="#ppt_x"/>
                                          </p:val>
                                        </p:tav>
                                      </p:tavLst>
                                    </p:anim>
                                    <p:anim calcmode="lin" valueType="num">
                                      <p:cBhvr>
                                        <p:cTn id="198"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199" fill="hold">
                      <p:stCondLst>
                        <p:cond delay="indefinite"/>
                      </p:stCondLst>
                      <p:childTnLst>
                        <p:par>
                          <p:cTn id="200" fill="hold">
                            <p:stCondLst>
                              <p:cond delay="0"/>
                            </p:stCondLst>
                            <p:childTnLst>
                              <p:par>
                                <p:cTn id="201" presetID="10" presetClass="entr" presetSubtype="0" fill="hold" nodeType="clickEffect">
                                  <p:stCondLst>
                                    <p:cond delay="0"/>
                                  </p:stCondLst>
                                  <p:childTnLst>
                                    <p:set>
                                      <p:cBhvr>
                                        <p:cTn id="202" dur="1" fill="hold">
                                          <p:stCondLst>
                                            <p:cond delay="0"/>
                                          </p:stCondLst>
                                        </p:cTn>
                                        <p:tgtEl>
                                          <p:spTgt spid="18"/>
                                        </p:tgtEl>
                                        <p:attrNameLst>
                                          <p:attrName>style.visibility</p:attrName>
                                        </p:attrNameLst>
                                      </p:cBhvr>
                                      <p:to>
                                        <p:strVal val="visible"/>
                                      </p:to>
                                    </p:set>
                                    <p:animEffect transition="in" filter="fade">
                                      <p:cBhvr>
                                        <p:cTn id="203" dur="500"/>
                                        <p:tgtEl>
                                          <p:spTgt spid="18"/>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17"/>
                                        </p:tgtEl>
                                        <p:attrNameLst>
                                          <p:attrName>style.visibility</p:attrName>
                                        </p:attrNameLst>
                                      </p:cBhvr>
                                      <p:to>
                                        <p:strVal val="visible"/>
                                      </p:to>
                                    </p:set>
                                    <p:animEffect transition="in" filter="fade">
                                      <p:cBhvr>
                                        <p:cTn id="206" dur="500"/>
                                        <p:tgtEl>
                                          <p:spTgt spid="17"/>
                                        </p:tgtEl>
                                      </p:cBhvr>
                                    </p:animEffect>
                                  </p:childTnLst>
                                </p:cTn>
                              </p:par>
                              <p:par>
                                <p:cTn id="207" presetID="10" presetClass="entr" presetSubtype="0" fill="hold" nodeType="withEffect">
                                  <p:stCondLst>
                                    <p:cond delay="0"/>
                                  </p:stCondLst>
                                  <p:childTnLst>
                                    <p:set>
                                      <p:cBhvr>
                                        <p:cTn id="208" dur="1" fill="hold">
                                          <p:stCondLst>
                                            <p:cond delay="0"/>
                                          </p:stCondLst>
                                        </p:cTn>
                                        <p:tgtEl>
                                          <p:spTgt spid="51"/>
                                        </p:tgtEl>
                                        <p:attrNameLst>
                                          <p:attrName>style.visibility</p:attrName>
                                        </p:attrNameLst>
                                      </p:cBhvr>
                                      <p:to>
                                        <p:strVal val="visible"/>
                                      </p:to>
                                    </p:set>
                                    <p:animEffect transition="in" filter="fade">
                                      <p:cBhvr>
                                        <p:cTn id="209" dur="500"/>
                                        <p:tgtEl>
                                          <p:spTgt spid="51"/>
                                        </p:tgtEl>
                                      </p:cBhvr>
                                    </p:animEffect>
                                  </p:childTnLst>
                                </p:cTn>
                              </p:par>
                            </p:childTnLst>
                          </p:cTn>
                        </p:par>
                      </p:childTnLst>
                    </p:cTn>
                  </p:par>
                  <p:par>
                    <p:cTn id="210" fill="hold">
                      <p:stCondLst>
                        <p:cond delay="indefinite"/>
                      </p:stCondLst>
                      <p:childTnLst>
                        <p:par>
                          <p:cTn id="211" fill="hold">
                            <p:stCondLst>
                              <p:cond delay="0"/>
                            </p:stCondLst>
                            <p:childTnLst>
                              <p:par>
                                <p:cTn id="212" presetID="10" presetClass="entr" presetSubtype="0" fill="hold" nodeType="clickEffect">
                                  <p:stCondLst>
                                    <p:cond delay="0"/>
                                  </p:stCondLst>
                                  <p:childTnLst>
                                    <p:set>
                                      <p:cBhvr>
                                        <p:cTn id="213" dur="1" fill="hold">
                                          <p:stCondLst>
                                            <p:cond delay="0"/>
                                          </p:stCondLst>
                                        </p:cTn>
                                        <p:tgtEl>
                                          <p:spTgt spid="30"/>
                                        </p:tgtEl>
                                        <p:attrNameLst>
                                          <p:attrName>style.visibility</p:attrName>
                                        </p:attrNameLst>
                                      </p:cBhvr>
                                      <p:to>
                                        <p:strVal val="visible"/>
                                      </p:to>
                                    </p:set>
                                    <p:animEffect transition="in" filter="fade">
                                      <p:cBhvr>
                                        <p:cTn id="214" dur="500"/>
                                        <p:tgtEl>
                                          <p:spTgt spid="30"/>
                                        </p:tgtEl>
                                      </p:cBhvr>
                                    </p:animEffect>
                                  </p:childTnLst>
                                </p:cTn>
                              </p:par>
                              <p:par>
                                <p:cTn id="215" presetID="10" presetClass="entr" presetSubtype="0" fill="hold" grpId="0" nodeType="withEffect">
                                  <p:stCondLst>
                                    <p:cond delay="0"/>
                                  </p:stCondLst>
                                  <p:childTnLst>
                                    <p:set>
                                      <p:cBhvr>
                                        <p:cTn id="216" dur="1" fill="hold">
                                          <p:stCondLst>
                                            <p:cond delay="0"/>
                                          </p:stCondLst>
                                        </p:cTn>
                                        <p:tgtEl>
                                          <p:spTgt spid="7"/>
                                        </p:tgtEl>
                                        <p:attrNameLst>
                                          <p:attrName>style.visibility</p:attrName>
                                        </p:attrNameLst>
                                      </p:cBhvr>
                                      <p:to>
                                        <p:strVal val="visible"/>
                                      </p:to>
                                    </p:set>
                                    <p:animEffect transition="in" filter="fade">
                                      <p:cBhvr>
                                        <p:cTn id="217" dur="500"/>
                                        <p:tgtEl>
                                          <p:spTgt spid="7"/>
                                        </p:tgtEl>
                                      </p:cBhvr>
                                    </p:animEffect>
                                  </p:childTnLst>
                                </p:cTn>
                              </p:par>
                            </p:childTnLst>
                          </p:cTn>
                        </p:par>
                      </p:childTnLst>
                    </p:cTn>
                  </p:par>
                  <p:par>
                    <p:cTn id="218" fill="hold">
                      <p:stCondLst>
                        <p:cond delay="indefinite"/>
                      </p:stCondLst>
                      <p:childTnLst>
                        <p:par>
                          <p:cTn id="219" fill="hold">
                            <p:stCondLst>
                              <p:cond delay="0"/>
                            </p:stCondLst>
                            <p:childTnLst>
                              <p:par>
                                <p:cTn id="220" presetID="10" presetClass="entr" presetSubtype="0" fill="hold" grpId="0" nodeType="clickEffect">
                                  <p:stCondLst>
                                    <p:cond delay="0"/>
                                  </p:stCondLst>
                                  <p:childTnLst>
                                    <p:set>
                                      <p:cBhvr>
                                        <p:cTn id="221" dur="1" fill="hold">
                                          <p:stCondLst>
                                            <p:cond delay="0"/>
                                          </p:stCondLst>
                                        </p:cTn>
                                        <p:tgtEl>
                                          <p:spTgt spid="29"/>
                                        </p:tgtEl>
                                        <p:attrNameLst>
                                          <p:attrName>style.visibility</p:attrName>
                                        </p:attrNameLst>
                                      </p:cBhvr>
                                      <p:to>
                                        <p:strVal val="visible"/>
                                      </p:to>
                                    </p:set>
                                    <p:animEffect transition="in" filter="fade">
                                      <p:cBhvr>
                                        <p:cTn id="222" dur="500"/>
                                        <p:tgtEl>
                                          <p:spTgt spid="29"/>
                                        </p:tgtEl>
                                      </p:cBhvr>
                                    </p:animEffect>
                                  </p:childTnLst>
                                </p:cTn>
                              </p:par>
                              <p:par>
                                <p:cTn id="223" presetID="10" presetClass="entr" presetSubtype="0" fill="hold" nodeType="withEffect">
                                  <p:stCondLst>
                                    <p:cond delay="0"/>
                                  </p:stCondLst>
                                  <p:childTnLst>
                                    <p:set>
                                      <p:cBhvr>
                                        <p:cTn id="224" dur="1" fill="hold">
                                          <p:stCondLst>
                                            <p:cond delay="0"/>
                                          </p:stCondLst>
                                        </p:cTn>
                                        <p:tgtEl>
                                          <p:spTgt spid="19"/>
                                        </p:tgtEl>
                                        <p:attrNameLst>
                                          <p:attrName>style.visibility</p:attrName>
                                        </p:attrNameLst>
                                      </p:cBhvr>
                                      <p:to>
                                        <p:strVal val="visible"/>
                                      </p:to>
                                    </p:set>
                                    <p:animEffect transition="in" filter="fade">
                                      <p:cBhvr>
                                        <p:cTn id="225" dur="500"/>
                                        <p:tgtEl>
                                          <p:spTgt spid="19"/>
                                        </p:tgtEl>
                                      </p:cBhvr>
                                    </p:animEffect>
                                  </p:childTnLst>
                                </p:cTn>
                              </p:par>
                              <p:par>
                                <p:cTn id="226" presetID="10" presetClass="entr" presetSubtype="0" fill="hold" nodeType="withEffect">
                                  <p:stCondLst>
                                    <p:cond delay="0"/>
                                  </p:stCondLst>
                                  <p:childTnLst>
                                    <p:set>
                                      <p:cBhvr>
                                        <p:cTn id="227" dur="1" fill="hold">
                                          <p:stCondLst>
                                            <p:cond delay="0"/>
                                          </p:stCondLst>
                                        </p:cTn>
                                        <p:tgtEl>
                                          <p:spTgt spid="57"/>
                                        </p:tgtEl>
                                        <p:attrNameLst>
                                          <p:attrName>style.visibility</p:attrName>
                                        </p:attrNameLst>
                                      </p:cBhvr>
                                      <p:to>
                                        <p:strVal val="visible"/>
                                      </p:to>
                                    </p:set>
                                    <p:animEffect transition="in" filter="fade">
                                      <p:cBhvr>
                                        <p:cTn id="228" dur="500"/>
                                        <p:tgtEl>
                                          <p:spTgt spid="57"/>
                                        </p:tgtEl>
                                      </p:cBhvr>
                                    </p:animEffect>
                                  </p:childTnLst>
                                </p:cTn>
                              </p:par>
                            </p:childTnLst>
                          </p:cTn>
                        </p:par>
                      </p:childTnLst>
                    </p:cTn>
                  </p:par>
                  <p:par>
                    <p:cTn id="229" fill="hold">
                      <p:stCondLst>
                        <p:cond delay="indefinite"/>
                      </p:stCondLst>
                      <p:childTnLst>
                        <p:par>
                          <p:cTn id="230" fill="hold">
                            <p:stCondLst>
                              <p:cond delay="0"/>
                            </p:stCondLst>
                            <p:childTnLst>
                              <p:par>
                                <p:cTn id="231" presetID="10" presetClass="entr" presetSubtype="0" fill="hold" nodeType="clickEffect">
                                  <p:stCondLst>
                                    <p:cond delay="0"/>
                                  </p:stCondLst>
                                  <p:childTnLst>
                                    <p:set>
                                      <p:cBhvr>
                                        <p:cTn id="232" dur="1" fill="hold">
                                          <p:stCondLst>
                                            <p:cond delay="0"/>
                                          </p:stCondLst>
                                        </p:cTn>
                                        <p:tgtEl>
                                          <p:spTgt spid="31"/>
                                        </p:tgtEl>
                                        <p:attrNameLst>
                                          <p:attrName>style.visibility</p:attrName>
                                        </p:attrNameLst>
                                      </p:cBhvr>
                                      <p:to>
                                        <p:strVal val="visible"/>
                                      </p:to>
                                    </p:set>
                                    <p:animEffect transition="in" filter="fade">
                                      <p:cBhvr>
                                        <p:cTn id="233" dur="500"/>
                                        <p:tgtEl>
                                          <p:spTgt spid="31"/>
                                        </p:tgtEl>
                                      </p:cBhvr>
                                    </p:animEffect>
                                  </p:childTnLst>
                                </p:cTn>
                              </p:par>
                              <p:par>
                                <p:cTn id="234" presetID="10" presetClass="entr" presetSubtype="0" fill="hold" nodeType="withEffect">
                                  <p:stCondLst>
                                    <p:cond delay="0"/>
                                  </p:stCondLst>
                                  <p:childTnLst>
                                    <p:set>
                                      <p:cBhvr>
                                        <p:cTn id="235" dur="1" fill="hold">
                                          <p:stCondLst>
                                            <p:cond delay="0"/>
                                          </p:stCondLst>
                                        </p:cTn>
                                        <p:tgtEl>
                                          <p:spTgt spid="79"/>
                                        </p:tgtEl>
                                        <p:attrNameLst>
                                          <p:attrName>style.visibility</p:attrName>
                                        </p:attrNameLst>
                                      </p:cBhvr>
                                      <p:to>
                                        <p:strVal val="visible"/>
                                      </p:to>
                                    </p:set>
                                    <p:animEffect transition="in" filter="fade">
                                      <p:cBhvr>
                                        <p:cTn id="236" dur="500"/>
                                        <p:tgtEl>
                                          <p:spTgt spid="79"/>
                                        </p:tgtEl>
                                      </p:cBhvr>
                                    </p:animEffect>
                                  </p:childTnLst>
                                </p:cTn>
                              </p:par>
                              <p:par>
                                <p:cTn id="237" presetID="10" presetClass="entr" presetSubtype="0" fill="hold" grpId="0" nodeType="withEffect">
                                  <p:stCondLst>
                                    <p:cond delay="0"/>
                                  </p:stCondLst>
                                  <p:childTnLst>
                                    <p:set>
                                      <p:cBhvr>
                                        <p:cTn id="238" dur="1" fill="hold">
                                          <p:stCondLst>
                                            <p:cond delay="0"/>
                                          </p:stCondLst>
                                        </p:cTn>
                                        <p:tgtEl>
                                          <p:spTgt spid="77"/>
                                        </p:tgtEl>
                                        <p:attrNameLst>
                                          <p:attrName>style.visibility</p:attrName>
                                        </p:attrNameLst>
                                      </p:cBhvr>
                                      <p:to>
                                        <p:strVal val="visible"/>
                                      </p:to>
                                    </p:set>
                                    <p:animEffect transition="in" filter="fade">
                                      <p:cBhvr>
                                        <p:cTn id="239" dur="500"/>
                                        <p:tgtEl>
                                          <p:spTgt spid="77"/>
                                        </p:tgtEl>
                                      </p:cBhvr>
                                    </p:animEffect>
                                  </p:childTnLst>
                                </p:cTn>
                              </p:par>
                              <p:par>
                                <p:cTn id="240" presetID="10" presetClass="entr" presetSubtype="0" fill="hold" nodeType="withEffect">
                                  <p:stCondLst>
                                    <p:cond delay="0"/>
                                  </p:stCondLst>
                                  <p:childTnLst>
                                    <p:set>
                                      <p:cBhvr>
                                        <p:cTn id="241" dur="1" fill="hold">
                                          <p:stCondLst>
                                            <p:cond delay="0"/>
                                          </p:stCondLst>
                                        </p:cTn>
                                        <p:tgtEl>
                                          <p:spTgt spid="78"/>
                                        </p:tgtEl>
                                        <p:attrNameLst>
                                          <p:attrName>style.visibility</p:attrName>
                                        </p:attrNameLst>
                                      </p:cBhvr>
                                      <p:to>
                                        <p:strVal val="visible"/>
                                      </p:to>
                                    </p:set>
                                    <p:animEffect transition="in" filter="fade">
                                      <p:cBhvr>
                                        <p:cTn id="242" dur="500"/>
                                        <p:tgtEl>
                                          <p:spTgt spid="78"/>
                                        </p:tgtEl>
                                      </p:cBhvr>
                                    </p:animEffect>
                                  </p:childTnLst>
                                </p:cTn>
                              </p:par>
                              <p:par>
                                <p:cTn id="243" presetID="10" presetClass="entr" presetSubtype="0" fill="hold" grpId="0" nodeType="withEffect">
                                  <p:stCondLst>
                                    <p:cond delay="0"/>
                                  </p:stCondLst>
                                  <p:childTnLst>
                                    <p:set>
                                      <p:cBhvr>
                                        <p:cTn id="244" dur="1" fill="hold">
                                          <p:stCondLst>
                                            <p:cond delay="0"/>
                                          </p:stCondLst>
                                        </p:cTn>
                                        <p:tgtEl>
                                          <p:spTgt spid="45"/>
                                        </p:tgtEl>
                                        <p:attrNameLst>
                                          <p:attrName>style.visibility</p:attrName>
                                        </p:attrNameLst>
                                      </p:cBhvr>
                                      <p:to>
                                        <p:strVal val="visible"/>
                                      </p:to>
                                    </p:set>
                                    <p:animEffect transition="in" filter="fade">
                                      <p:cBhvr>
                                        <p:cTn id="245" dur="500"/>
                                        <p:tgtEl>
                                          <p:spTgt spid="45"/>
                                        </p:tgtEl>
                                      </p:cBhvr>
                                    </p:animEffect>
                                  </p:childTnLst>
                                </p:cTn>
                              </p:par>
                            </p:childTnLst>
                          </p:cTn>
                        </p:par>
                      </p:childTnLst>
                    </p:cTn>
                  </p:par>
                  <p:par>
                    <p:cTn id="246" fill="hold">
                      <p:stCondLst>
                        <p:cond delay="indefinite"/>
                      </p:stCondLst>
                      <p:childTnLst>
                        <p:par>
                          <p:cTn id="247" fill="hold">
                            <p:stCondLst>
                              <p:cond delay="0"/>
                            </p:stCondLst>
                            <p:childTnLst>
                              <p:par>
                                <p:cTn id="248" presetID="10" presetClass="entr" presetSubtype="0" fill="hold" nodeType="clickEffect">
                                  <p:stCondLst>
                                    <p:cond delay="0"/>
                                  </p:stCondLst>
                                  <p:childTnLst>
                                    <p:set>
                                      <p:cBhvr>
                                        <p:cTn id="249" dur="1" fill="hold">
                                          <p:stCondLst>
                                            <p:cond delay="0"/>
                                          </p:stCondLst>
                                        </p:cTn>
                                        <p:tgtEl>
                                          <p:spTgt spid="46"/>
                                        </p:tgtEl>
                                        <p:attrNameLst>
                                          <p:attrName>style.visibility</p:attrName>
                                        </p:attrNameLst>
                                      </p:cBhvr>
                                      <p:to>
                                        <p:strVal val="visible"/>
                                      </p:to>
                                    </p:set>
                                    <p:animEffect transition="in" filter="fade">
                                      <p:cBhvr>
                                        <p:cTn id="250" dur="500"/>
                                        <p:tgtEl>
                                          <p:spTgt spid="46"/>
                                        </p:tgtEl>
                                      </p:cBhvr>
                                    </p:animEffect>
                                  </p:childTnLst>
                                </p:cTn>
                              </p:par>
                              <p:par>
                                <p:cTn id="251" presetID="10" presetClass="entr" presetSubtype="0" fill="hold" grpId="0" nodeType="withEffect">
                                  <p:stCondLst>
                                    <p:cond delay="0"/>
                                  </p:stCondLst>
                                  <p:childTnLst>
                                    <p:set>
                                      <p:cBhvr>
                                        <p:cTn id="252" dur="1" fill="hold">
                                          <p:stCondLst>
                                            <p:cond delay="0"/>
                                          </p:stCondLst>
                                        </p:cTn>
                                        <p:tgtEl>
                                          <p:spTgt spid="32"/>
                                        </p:tgtEl>
                                        <p:attrNameLst>
                                          <p:attrName>style.visibility</p:attrName>
                                        </p:attrNameLst>
                                      </p:cBhvr>
                                      <p:to>
                                        <p:strVal val="visible"/>
                                      </p:to>
                                    </p:set>
                                    <p:animEffect transition="in" filter="fade">
                                      <p:cBhvr>
                                        <p:cTn id="253" dur="500"/>
                                        <p:tgtEl>
                                          <p:spTgt spid="32"/>
                                        </p:tgtEl>
                                      </p:cBhvr>
                                    </p:animEffect>
                                  </p:childTnLst>
                                </p:cTn>
                              </p:par>
                              <p:par>
                                <p:cTn id="254" presetID="10" presetClass="entr" presetSubtype="0" fill="hold" nodeType="withEffect">
                                  <p:stCondLst>
                                    <p:cond delay="0"/>
                                  </p:stCondLst>
                                  <p:childTnLst>
                                    <p:set>
                                      <p:cBhvr>
                                        <p:cTn id="255" dur="1" fill="hold">
                                          <p:stCondLst>
                                            <p:cond delay="0"/>
                                          </p:stCondLst>
                                        </p:cTn>
                                        <p:tgtEl>
                                          <p:spTgt spid="22"/>
                                        </p:tgtEl>
                                        <p:attrNameLst>
                                          <p:attrName>style.visibility</p:attrName>
                                        </p:attrNameLst>
                                      </p:cBhvr>
                                      <p:to>
                                        <p:strVal val="visible"/>
                                      </p:to>
                                    </p:set>
                                    <p:animEffect transition="in" filter="fade">
                                      <p:cBhvr>
                                        <p:cTn id="256" dur="500"/>
                                        <p:tgtEl>
                                          <p:spTgt spid="22"/>
                                        </p:tgtEl>
                                      </p:cBhvr>
                                    </p:animEffect>
                                  </p:childTnLst>
                                </p:cTn>
                              </p:par>
                              <p:par>
                                <p:cTn id="257" presetID="10" presetClass="entr" presetSubtype="0" fill="hold" nodeType="withEffect">
                                  <p:stCondLst>
                                    <p:cond delay="0"/>
                                  </p:stCondLst>
                                  <p:childTnLst>
                                    <p:set>
                                      <p:cBhvr>
                                        <p:cTn id="258" dur="1" fill="hold">
                                          <p:stCondLst>
                                            <p:cond delay="0"/>
                                          </p:stCondLst>
                                        </p:cTn>
                                        <p:tgtEl>
                                          <p:spTgt spid="41"/>
                                        </p:tgtEl>
                                        <p:attrNameLst>
                                          <p:attrName>style.visibility</p:attrName>
                                        </p:attrNameLst>
                                      </p:cBhvr>
                                      <p:to>
                                        <p:strVal val="visible"/>
                                      </p:to>
                                    </p:set>
                                    <p:animEffect transition="in" filter="fade">
                                      <p:cBhvr>
                                        <p:cTn id="259" dur="500"/>
                                        <p:tgtEl>
                                          <p:spTgt spid="41"/>
                                        </p:tgtEl>
                                      </p:cBhvr>
                                    </p:animEffect>
                                  </p:childTnLst>
                                </p:cTn>
                              </p:par>
                            </p:childTnLst>
                          </p:cTn>
                        </p:par>
                      </p:childTnLst>
                    </p:cTn>
                  </p:par>
                  <p:par>
                    <p:cTn id="260" fill="hold">
                      <p:stCondLst>
                        <p:cond delay="indefinite"/>
                      </p:stCondLst>
                      <p:childTnLst>
                        <p:par>
                          <p:cTn id="261" fill="hold">
                            <p:stCondLst>
                              <p:cond delay="0"/>
                            </p:stCondLst>
                            <p:childTnLst>
                              <p:par>
                                <p:cTn id="262" presetID="10" presetClass="entr" presetSubtype="0" fill="hold" nodeType="clickEffect">
                                  <p:stCondLst>
                                    <p:cond delay="0"/>
                                  </p:stCondLst>
                                  <p:childTnLst>
                                    <p:set>
                                      <p:cBhvr>
                                        <p:cTn id="263" dur="1" fill="hold">
                                          <p:stCondLst>
                                            <p:cond delay="0"/>
                                          </p:stCondLst>
                                        </p:cTn>
                                        <p:tgtEl>
                                          <p:spTgt spid="47"/>
                                        </p:tgtEl>
                                        <p:attrNameLst>
                                          <p:attrName>style.visibility</p:attrName>
                                        </p:attrNameLst>
                                      </p:cBhvr>
                                      <p:to>
                                        <p:strVal val="visible"/>
                                      </p:to>
                                    </p:set>
                                    <p:animEffect transition="in" filter="fade">
                                      <p:cBhvr>
                                        <p:cTn id="264" dur="500"/>
                                        <p:tgtEl>
                                          <p:spTgt spid="47"/>
                                        </p:tgtEl>
                                      </p:cBhvr>
                                    </p:animEffect>
                                  </p:childTnLst>
                                </p:cTn>
                              </p:par>
                              <p:par>
                                <p:cTn id="265" presetID="10" presetClass="entr" presetSubtype="0" fill="hold" nodeType="withEffect">
                                  <p:stCondLst>
                                    <p:cond delay="0"/>
                                  </p:stCondLst>
                                  <p:childTnLst>
                                    <p:set>
                                      <p:cBhvr>
                                        <p:cTn id="266" dur="1" fill="hold">
                                          <p:stCondLst>
                                            <p:cond delay="0"/>
                                          </p:stCondLst>
                                        </p:cTn>
                                        <p:tgtEl>
                                          <p:spTgt spid="48"/>
                                        </p:tgtEl>
                                        <p:attrNameLst>
                                          <p:attrName>style.visibility</p:attrName>
                                        </p:attrNameLst>
                                      </p:cBhvr>
                                      <p:to>
                                        <p:strVal val="visible"/>
                                      </p:to>
                                    </p:set>
                                    <p:animEffect transition="in" filter="fade">
                                      <p:cBhvr>
                                        <p:cTn id="267" dur="500"/>
                                        <p:tgtEl>
                                          <p:spTgt spid="48"/>
                                        </p:tgtEl>
                                      </p:cBhvr>
                                    </p:animEffect>
                                  </p:childTnLst>
                                </p:cTn>
                              </p:par>
                              <p:par>
                                <p:cTn id="268" presetID="10" presetClass="entr" presetSubtype="0" fill="hold" grpId="0" nodeType="withEffect">
                                  <p:stCondLst>
                                    <p:cond delay="0"/>
                                  </p:stCondLst>
                                  <p:childTnLst>
                                    <p:set>
                                      <p:cBhvr>
                                        <p:cTn id="269" dur="1" fill="hold">
                                          <p:stCondLst>
                                            <p:cond delay="0"/>
                                          </p:stCondLst>
                                        </p:cTn>
                                        <p:tgtEl>
                                          <p:spTgt spid="44"/>
                                        </p:tgtEl>
                                        <p:attrNameLst>
                                          <p:attrName>style.visibility</p:attrName>
                                        </p:attrNameLst>
                                      </p:cBhvr>
                                      <p:to>
                                        <p:strVal val="visible"/>
                                      </p:to>
                                    </p:set>
                                    <p:animEffect transition="in" filter="fade">
                                      <p:cBhvr>
                                        <p:cTn id="270" dur="500"/>
                                        <p:tgtEl>
                                          <p:spTgt spid="44"/>
                                        </p:tgtEl>
                                      </p:cBhvr>
                                    </p:animEffect>
                                  </p:childTnLst>
                                </p:cTn>
                              </p:par>
                            </p:childTnLst>
                          </p:cTn>
                        </p:par>
                      </p:childTnLst>
                    </p:cTn>
                  </p:par>
                  <p:par>
                    <p:cTn id="271" fill="hold">
                      <p:stCondLst>
                        <p:cond delay="indefinite"/>
                      </p:stCondLst>
                      <p:childTnLst>
                        <p:par>
                          <p:cTn id="272" fill="hold">
                            <p:stCondLst>
                              <p:cond delay="0"/>
                            </p:stCondLst>
                            <p:childTnLst>
                              <p:par>
                                <p:cTn id="273" presetID="10" presetClass="entr" presetSubtype="0" fill="hold" nodeType="clickEffect">
                                  <p:stCondLst>
                                    <p:cond delay="0"/>
                                  </p:stCondLst>
                                  <p:childTnLst>
                                    <p:set>
                                      <p:cBhvr>
                                        <p:cTn id="274" dur="1" fill="hold">
                                          <p:stCondLst>
                                            <p:cond delay="0"/>
                                          </p:stCondLst>
                                        </p:cTn>
                                        <p:tgtEl>
                                          <p:spTgt spid="59"/>
                                        </p:tgtEl>
                                        <p:attrNameLst>
                                          <p:attrName>style.visibility</p:attrName>
                                        </p:attrNameLst>
                                      </p:cBhvr>
                                      <p:to>
                                        <p:strVal val="visible"/>
                                      </p:to>
                                    </p:set>
                                    <p:animEffect transition="in" filter="fade">
                                      <p:cBhvr>
                                        <p:cTn id="275" dur="500"/>
                                        <p:tgtEl>
                                          <p:spTgt spid="59"/>
                                        </p:tgtEl>
                                      </p:cBhvr>
                                    </p:animEffect>
                                  </p:childTnLst>
                                </p:cTn>
                              </p:par>
                              <p:par>
                                <p:cTn id="276" presetID="10" presetClass="entr" presetSubtype="0" fill="hold" grpId="0" nodeType="withEffect">
                                  <p:stCondLst>
                                    <p:cond delay="0"/>
                                  </p:stCondLst>
                                  <p:childTnLst>
                                    <p:set>
                                      <p:cBhvr>
                                        <p:cTn id="277" dur="1" fill="hold">
                                          <p:stCondLst>
                                            <p:cond delay="0"/>
                                          </p:stCondLst>
                                        </p:cTn>
                                        <p:tgtEl>
                                          <p:spTgt spid="67"/>
                                        </p:tgtEl>
                                        <p:attrNameLst>
                                          <p:attrName>style.visibility</p:attrName>
                                        </p:attrNameLst>
                                      </p:cBhvr>
                                      <p:to>
                                        <p:strVal val="visible"/>
                                      </p:to>
                                    </p:set>
                                    <p:animEffect transition="in" filter="fade">
                                      <p:cBhvr>
                                        <p:cTn id="278" dur="500"/>
                                        <p:tgtEl>
                                          <p:spTgt spid="67"/>
                                        </p:tgtEl>
                                      </p:cBhvr>
                                    </p:animEffect>
                                  </p:childTnLst>
                                </p:cTn>
                              </p:par>
                              <p:par>
                                <p:cTn id="279" presetID="10" presetClass="entr" presetSubtype="0" fill="hold" grpId="0" nodeType="withEffect">
                                  <p:stCondLst>
                                    <p:cond delay="0"/>
                                  </p:stCondLst>
                                  <p:childTnLst>
                                    <p:set>
                                      <p:cBhvr>
                                        <p:cTn id="280" dur="1" fill="hold">
                                          <p:stCondLst>
                                            <p:cond delay="0"/>
                                          </p:stCondLst>
                                        </p:cTn>
                                        <p:tgtEl>
                                          <p:spTgt spid="58"/>
                                        </p:tgtEl>
                                        <p:attrNameLst>
                                          <p:attrName>style.visibility</p:attrName>
                                        </p:attrNameLst>
                                      </p:cBhvr>
                                      <p:to>
                                        <p:strVal val="visible"/>
                                      </p:to>
                                    </p:set>
                                    <p:animEffect transition="in" filter="fade">
                                      <p:cBhvr>
                                        <p:cTn id="281" dur="500"/>
                                        <p:tgtEl>
                                          <p:spTgt spid="58"/>
                                        </p:tgtEl>
                                      </p:cBhvr>
                                    </p:animEffect>
                                  </p:childTnLst>
                                </p:cTn>
                              </p:par>
                            </p:childTnLst>
                          </p:cTn>
                        </p:par>
                      </p:childTnLst>
                    </p:cTn>
                  </p:par>
                  <p:par>
                    <p:cTn id="282" fill="hold">
                      <p:stCondLst>
                        <p:cond delay="indefinite"/>
                      </p:stCondLst>
                      <p:childTnLst>
                        <p:par>
                          <p:cTn id="283" fill="hold">
                            <p:stCondLst>
                              <p:cond delay="0"/>
                            </p:stCondLst>
                            <p:childTnLst>
                              <p:par>
                                <p:cTn id="284" presetID="10" presetClass="entr" presetSubtype="0" fill="hold" nodeType="clickEffect">
                                  <p:stCondLst>
                                    <p:cond delay="0"/>
                                  </p:stCondLst>
                                  <p:childTnLst>
                                    <p:set>
                                      <p:cBhvr>
                                        <p:cTn id="285" dur="1" fill="hold">
                                          <p:stCondLst>
                                            <p:cond delay="0"/>
                                          </p:stCondLst>
                                        </p:cTn>
                                        <p:tgtEl>
                                          <p:spTgt spid="60"/>
                                        </p:tgtEl>
                                        <p:attrNameLst>
                                          <p:attrName>style.visibility</p:attrName>
                                        </p:attrNameLst>
                                      </p:cBhvr>
                                      <p:to>
                                        <p:strVal val="visible"/>
                                      </p:to>
                                    </p:set>
                                    <p:animEffect transition="in" filter="fade">
                                      <p:cBhvr>
                                        <p:cTn id="286" dur="500"/>
                                        <p:tgtEl>
                                          <p:spTgt spid="60"/>
                                        </p:tgtEl>
                                      </p:cBhvr>
                                    </p:animEffect>
                                  </p:childTnLst>
                                </p:cTn>
                              </p:par>
                              <p:par>
                                <p:cTn id="287" presetID="10" presetClass="entr" presetSubtype="0" fill="hold" nodeType="withEffect">
                                  <p:stCondLst>
                                    <p:cond delay="0"/>
                                  </p:stCondLst>
                                  <p:childTnLst>
                                    <p:set>
                                      <p:cBhvr>
                                        <p:cTn id="288" dur="1" fill="hold">
                                          <p:stCondLst>
                                            <p:cond delay="0"/>
                                          </p:stCondLst>
                                        </p:cTn>
                                        <p:tgtEl>
                                          <p:spTgt spid="61"/>
                                        </p:tgtEl>
                                        <p:attrNameLst>
                                          <p:attrName>style.visibility</p:attrName>
                                        </p:attrNameLst>
                                      </p:cBhvr>
                                      <p:to>
                                        <p:strVal val="visible"/>
                                      </p:to>
                                    </p:set>
                                    <p:animEffect transition="in" filter="fade">
                                      <p:cBhvr>
                                        <p:cTn id="289" dur="500"/>
                                        <p:tgtEl>
                                          <p:spTgt spid="61"/>
                                        </p:tgtEl>
                                      </p:cBhvr>
                                    </p:animEffect>
                                  </p:childTnLst>
                                </p:cTn>
                              </p:par>
                              <p:par>
                                <p:cTn id="290" presetID="10" presetClass="entr" presetSubtype="0" fill="hold" grpId="0" nodeType="withEffect">
                                  <p:stCondLst>
                                    <p:cond delay="0"/>
                                  </p:stCondLst>
                                  <p:childTnLst>
                                    <p:set>
                                      <p:cBhvr>
                                        <p:cTn id="291" dur="1" fill="hold">
                                          <p:stCondLst>
                                            <p:cond delay="0"/>
                                          </p:stCondLst>
                                        </p:cTn>
                                        <p:tgtEl>
                                          <p:spTgt spid="42"/>
                                        </p:tgtEl>
                                        <p:attrNameLst>
                                          <p:attrName>style.visibility</p:attrName>
                                        </p:attrNameLst>
                                      </p:cBhvr>
                                      <p:to>
                                        <p:strVal val="visible"/>
                                      </p:to>
                                    </p:set>
                                    <p:animEffect transition="in" filter="fade">
                                      <p:cBhvr>
                                        <p:cTn id="292" dur="500"/>
                                        <p:tgtEl>
                                          <p:spTgt spid="42"/>
                                        </p:tgtEl>
                                      </p:cBhvr>
                                    </p:animEffect>
                                  </p:childTnLst>
                                </p:cTn>
                              </p:par>
                              <p:par>
                                <p:cTn id="293" presetID="10" presetClass="entr" presetSubtype="0" fill="hold" grpId="0" nodeType="withEffect">
                                  <p:stCondLst>
                                    <p:cond delay="0"/>
                                  </p:stCondLst>
                                  <p:childTnLst>
                                    <p:set>
                                      <p:cBhvr>
                                        <p:cTn id="294" dur="1" fill="hold">
                                          <p:stCondLst>
                                            <p:cond delay="0"/>
                                          </p:stCondLst>
                                        </p:cTn>
                                        <p:tgtEl>
                                          <p:spTgt spid="43"/>
                                        </p:tgtEl>
                                        <p:attrNameLst>
                                          <p:attrName>style.visibility</p:attrName>
                                        </p:attrNameLst>
                                      </p:cBhvr>
                                      <p:to>
                                        <p:strVal val="visible"/>
                                      </p:to>
                                    </p:set>
                                    <p:animEffect transition="in" filter="fade">
                                      <p:cBhvr>
                                        <p:cTn id="295" dur="500"/>
                                        <p:tgtEl>
                                          <p:spTgt spid="43"/>
                                        </p:tgtEl>
                                      </p:cBhvr>
                                    </p:animEffect>
                                  </p:childTnLst>
                                </p:cTn>
                              </p:par>
                            </p:childTnLst>
                          </p:cTn>
                        </p:par>
                      </p:childTnLst>
                    </p:cTn>
                  </p:par>
                  <p:par>
                    <p:cTn id="296" fill="hold">
                      <p:stCondLst>
                        <p:cond delay="indefinite"/>
                      </p:stCondLst>
                      <p:childTnLst>
                        <p:par>
                          <p:cTn id="297" fill="hold">
                            <p:stCondLst>
                              <p:cond delay="0"/>
                            </p:stCondLst>
                            <p:childTnLst>
                              <p:par>
                                <p:cTn id="298" presetID="10" presetClass="entr" presetSubtype="0" fill="hold" grpId="0" nodeType="clickEffect">
                                  <p:stCondLst>
                                    <p:cond delay="0"/>
                                  </p:stCondLst>
                                  <p:childTnLst>
                                    <p:set>
                                      <p:cBhvr>
                                        <p:cTn id="299" dur="1" fill="hold">
                                          <p:stCondLst>
                                            <p:cond delay="0"/>
                                          </p:stCondLst>
                                        </p:cTn>
                                        <p:tgtEl>
                                          <p:spTgt spid="66"/>
                                        </p:tgtEl>
                                        <p:attrNameLst>
                                          <p:attrName>style.visibility</p:attrName>
                                        </p:attrNameLst>
                                      </p:cBhvr>
                                      <p:to>
                                        <p:strVal val="visible"/>
                                      </p:to>
                                    </p:set>
                                    <p:animEffect transition="in" filter="fade">
                                      <p:cBhvr>
                                        <p:cTn id="300" dur="500"/>
                                        <p:tgtEl>
                                          <p:spTgt spid="66"/>
                                        </p:tgtEl>
                                      </p:cBhvr>
                                    </p:animEffect>
                                  </p:childTnLst>
                                </p:cTn>
                              </p:par>
                              <p:par>
                                <p:cTn id="301" presetID="10" presetClass="entr" presetSubtype="0" fill="hold" nodeType="withEffect">
                                  <p:stCondLst>
                                    <p:cond delay="0"/>
                                  </p:stCondLst>
                                  <p:childTnLst>
                                    <p:set>
                                      <p:cBhvr>
                                        <p:cTn id="302" dur="1" fill="hold">
                                          <p:stCondLst>
                                            <p:cond delay="0"/>
                                          </p:stCondLst>
                                        </p:cTn>
                                        <p:tgtEl>
                                          <p:spTgt spid="63"/>
                                        </p:tgtEl>
                                        <p:attrNameLst>
                                          <p:attrName>style.visibility</p:attrName>
                                        </p:attrNameLst>
                                      </p:cBhvr>
                                      <p:to>
                                        <p:strVal val="visible"/>
                                      </p:to>
                                    </p:set>
                                    <p:animEffect transition="in" filter="fade">
                                      <p:cBhvr>
                                        <p:cTn id="303" dur="500"/>
                                        <p:tgtEl>
                                          <p:spTgt spid="63"/>
                                        </p:tgtEl>
                                      </p:cBhvr>
                                    </p:animEffect>
                                  </p:childTnLst>
                                </p:cTn>
                              </p:par>
                              <p:par>
                                <p:cTn id="304" presetID="10" presetClass="entr" presetSubtype="0" fill="hold" grpId="0" nodeType="withEffect">
                                  <p:stCondLst>
                                    <p:cond delay="0"/>
                                  </p:stCondLst>
                                  <p:childTnLst>
                                    <p:set>
                                      <p:cBhvr>
                                        <p:cTn id="305" dur="1" fill="hold">
                                          <p:stCondLst>
                                            <p:cond delay="0"/>
                                          </p:stCondLst>
                                        </p:cTn>
                                        <p:tgtEl>
                                          <p:spTgt spid="62"/>
                                        </p:tgtEl>
                                        <p:attrNameLst>
                                          <p:attrName>style.visibility</p:attrName>
                                        </p:attrNameLst>
                                      </p:cBhvr>
                                      <p:to>
                                        <p:strVal val="visible"/>
                                      </p:to>
                                    </p:set>
                                    <p:animEffect transition="in" filter="fade">
                                      <p:cBhvr>
                                        <p:cTn id="306" dur="500"/>
                                        <p:tgtEl>
                                          <p:spTgt spid="62"/>
                                        </p:tgtEl>
                                      </p:cBhvr>
                                    </p:animEffect>
                                  </p:childTnLst>
                                </p:cTn>
                              </p:par>
                            </p:childTnLst>
                          </p:cTn>
                        </p:par>
                      </p:childTnLst>
                    </p:cTn>
                  </p:par>
                  <p:par>
                    <p:cTn id="307" fill="hold">
                      <p:stCondLst>
                        <p:cond delay="indefinite"/>
                      </p:stCondLst>
                      <p:childTnLst>
                        <p:par>
                          <p:cTn id="308" fill="hold">
                            <p:stCondLst>
                              <p:cond delay="0"/>
                            </p:stCondLst>
                            <p:childTnLst>
                              <p:par>
                                <p:cTn id="309" presetID="10" presetClass="entr" presetSubtype="0" fill="hold" nodeType="clickEffect">
                                  <p:stCondLst>
                                    <p:cond delay="0"/>
                                  </p:stCondLst>
                                  <p:childTnLst>
                                    <p:set>
                                      <p:cBhvr>
                                        <p:cTn id="310" dur="1" fill="hold">
                                          <p:stCondLst>
                                            <p:cond delay="0"/>
                                          </p:stCondLst>
                                        </p:cTn>
                                        <p:tgtEl>
                                          <p:spTgt spid="65"/>
                                        </p:tgtEl>
                                        <p:attrNameLst>
                                          <p:attrName>style.visibility</p:attrName>
                                        </p:attrNameLst>
                                      </p:cBhvr>
                                      <p:to>
                                        <p:strVal val="visible"/>
                                      </p:to>
                                    </p:set>
                                    <p:animEffect transition="in" filter="fade">
                                      <p:cBhvr>
                                        <p:cTn id="311" dur="500"/>
                                        <p:tgtEl>
                                          <p:spTgt spid="65"/>
                                        </p:tgtEl>
                                      </p:cBhvr>
                                    </p:animEffect>
                                  </p:childTnLst>
                                </p:cTn>
                              </p:par>
                              <p:par>
                                <p:cTn id="312" presetID="10" presetClass="entr" presetSubtype="0" fill="hold" grpId="0" nodeType="withEffect">
                                  <p:stCondLst>
                                    <p:cond delay="0"/>
                                  </p:stCondLst>
                                  <p:childTnLst>
                                    <p:set>
                                      <p:cBhvr>
                                        <p:cTn id="313" dur="1" fill="hold">
                                          <p:stCondLst>
                                            <p:cond delay="0"/>
                                          </p:stCondLst>
                                        </p:cTn>
                                        <p:tgtEl>
                                          <p:spTgt spid="64"/>
                                        </p:tgtEl>
                                        <p:attrNameLst>
                                          <p:attrName>style.visibility</p:attrName>
                                        </p:attrNameLst>
                                      </p:cBhvr>
                                      <p:to>
                                        <p:strVal val="visible"/>
                                      </p:to>
                                    </p:set>
                                    <p:animEffect transition="in" filter="fade">
                                      <p:cBhvr>
                                        <p:cTn id="314" dur="500"/>
                                        <p:tgtEl>
                                          <p:spTgt spid="64"/>
                                        </p:tgtEl>
                                      </p:cBhvr>
                                    </p:animEffect>
                                  </p:childTnLst>
                                </p:cTn>
                              </p:par>
                              <p:par>
                                <p:cTn id="315" presetID="42" presetClass="entr" presetSubtype="0" fill="hold" grpId="0" nodeType="withEffect">
                                  <p:stCondLst>
                                    <p:cond delay="0"/>
                                  </p:stCondLst>
                                  <p:childTnLst>
                                    <p:set>
                                      <p:cBhvr>
                                        <p:cTn id="316" dur="1" fill="hold">
                                          <p:stCondLst>
                                            <p:cond delay="0"/>
                                          </p:stCondLst>
                                        </p:cTn>
                                        <p:tgtEl>
                                          <p:spTgt spid="83"/>
                                        </p:tgtEl>
                                        <p:attrNameLst>
                                          <p:attrName>style.visibility</p:attrName>
                                        </p:attrNameLst>
                                      </p:cBhvr>
                                      <p:to>
                                        <p:strVal val="visible"/>
                                      </p:to>
                                    </p:set>
                                    <p:animEffect transition="in" filter="fade">
                                      <p:cBhvr>
                                        <p:cTn id="317" dur="1000"/>
                                        <p:tgtEl>
                                          <p:spTgt spid="83"/>
                                        </p:tgtEl>
                                      </p:cBhvr>
                                    </p:animEffect>
                                    <p:anim calcmode="lin" valueType="num">
                                      <p:cBhvr>
                                        <p:cTn id="318" dur="1000" fill="hold"/>
                                        <p:tgtEl>
                                          <p:spTgt spid="83"/>
                                        </p:tgtEl>
                                        <p:attrNameLst>
                                          <p:attrName>ppt_x</p:attrName>
                                        </p:attrNameLst>
                                      </p:cBhvr>
                                      <p:tavLst>
                                        <p:tav tm="0">
                                          <p:val>
                                            <p:strVal val="#ppt_x"/>
                                          </p:val>
                                        </p:tav>
                                        <p:tav tm="100000">
                                          <p:val>
                                            <p:strVal val="#ppt_x"/>
                                          </p:val>
                                        </p:tav>
                                      </p:tavLst>
                                    </p:anim>
                                    <p:anim calcmode="lin" valueType="num">
                                      <p:cBhvr>
                                        <p:cTn id="319" dur="1000" fill="hold"/>
                                        <p:tgtEl>
                                          <p:spTgt spid="8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P spid="12" grpId="0" animBg="1"/>
      <p:bldP spid="14" grpId="0"/>
      <p:bldP spid="17" grpId="0" animBg="1"/>
      <p:bldP spid="23" grpId="0" animBg="1"/>
      <p:bldP spid="24" grpId="0" animBg="1"/>
      <p:bldP spid="25" grpId="0" animBg="1"/>
      <p:bldP spid="29" grpId="0" animBg="1"/>
      <p:bldP spid="32" grpId="0" animBg="1"/>
      <p:bldP spid="33" grpId="0" animBg="1"/>
      <p:bldP spid="36" grpId="0" animBg="1"/>
      <p:bldP spid="38" grpId="0"/>
      <p:bldP spid="39" grpId="0"/>
      <p:bldP spid="42" grpId="0" animBg="1"/>
      <p:bldP spid="43" grpId="0" animBg="1"/>
      <p:bldP spid="44" grpId="0" animBg="1"/>
      <p:bldP spid="45" grpId="0" animBg="1"/>
      <p:bldP spid="49" grpId="0" animBg="1"/>
      <p:bldP spid="50" grpId="0" animBg="1"/>
      <p:bldP spid="58" grpId="0" animBg="1"/>
      <p:bldP spid="62" grpId="0" animBg="1"/>
      <p:bldP spid="64" grpId="0" animBg="1"/>
      <p:bldP spid="66" grpId="0"/>
      <p:bldP spid="67" grpId="0"/>
      <p:bldP spid="68" grpId="0" animBg="1"/>
      <p:bldP spid="69" grpId="0" animBg="1"/>
      <p:bldP spid="70" grpId="0" animBg="1"/>
      <p:bldP spid="73" grpId="0"/>
      <p:bldP spid="74" grpId="0" animBg="1"/>
      <p:bldP spid="77" grpId="0" animBg="1"/>
      <p:bldP spid="81" grpId="0"/>
      <p:bldP spid="8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1A252E-8B02-39A5-C27C-72DB5E5EDFBF}"/>
              </a:ext>
            </a:extLst>
          </p:cNvPr>
          <p:cNvSpPr>
            <a:spLocks noGrp="1"/>
          </p:cNvSpPr>
          <p:nvPr>
            <p:ph type="title"/>
          </p:nvPr>
        </p:nvSpPr>
        <p:spPr/>
        <p:txBody>
          <a:bodyPr>
            <a:normAutofit/>
          </a:bodyPr>
          <a:lstStyle/>
          <a:p>
            <a:r>
              <a:rPr lang="zh-CN" altLang="en-US" sz="5400" b="1" dirty="0">
                <a:latin typeface="方正小标宋简体" panose="02010601030101010101" pitchFamily="2" charset="-122"/>
                <a:ea typeface="方正小标宋简体" panose="02010601030101010101" pitchFamily="2" charset="-122"/>
              </a:rPr>
              <a:t>授课完毕，谢谢</a:t>
            </a:r>
          </a:p>
        </p:txBody>
      </p:sp>
      <p:sp>
        <p:nvSpPr>
          <p:cNvPr id="3" name="箭头: 五边形 2">
            <a:extLst>
              <a:ext uri="{FF2B5EF4-FFF2-40B4-BE49-F238E27FC236}">
                <a16:creationId xmlns:a16="http://schemas.microsoft.com/office/drawing/2014/main" id="{C97ED21F-F411-BAEF-F40B-C999905ACD1C}"/>
              </a:ext>
            </a:extLst>
          </p:cNvPr>
          <p:cNvSpPr/>
          <p:nvPr/>
        </p:nvSpPr>
        <p:spPr>
          <a:xfrm>
            <a:off x="-1" y="0"/>
            <a:ext cx="6528392" cy="728071"/>
          </a:xfrm>
          <a:prstGeom prst="homePlate">
            <a:avLst/>
          </a:prstGeom>
          <a:solidFill>
            <a:srgbClr val="B890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600" dirty="0">
                <a:solidFill>
                  <a:srgbClr val="00324D"/>
                </a:solidFill>
                <a:latin typeface="隶书" panose="02010509060101010101" pitchFamily="49" charset="-122"/>
                <a:ea typeface="隶书" panose="02010509060101010101" pitchFamily="49" charset="-122"/>
              </a:rPr>
              <a:t>研究生课程</a:t>
            </a:r>
            <a:r>
              <a:rPr lang="en-US" altLang="zh-CN" sz="3600" dirty="0">
                <a:solidFill>
                  <a:srgbClr val="00324D"/>
                </a:solidFill>
                <a:latin typeface="隶书" panose="02010509060101010101" pitchFamily="49" charset="-122"/>
                <a:ea typeface="隶书" panose="02010509060101010101" pitchFamily="49" charset="-122"/>
              </a:rPr>
              <a:t>《</a:t>
            </a:r>
            <a:r>
              <a:rPr lang="zh-CN" altLang="en-US" sz="3600" dirty="0">
                <a:solidFill>
                  <a:srgbClr val="00324D"/>
                </a:solidFill>
                <a:latin typeface="隶书" panose="02010509060101010101" pitchFamily="49" charset="-122"/>
                <a:ea typeface="隶书" panose="02010509060101010101" pitchFamily="49" charset="-122"/>
              </a:rPr>
              <a:t>人工智能</a:t>
            </a:r>
            <a:r>
              <a:rPr lang="en-US" altLang="zh-CN" sz="3600" dirty="0">
                <a:solidFill>
                  <a:srgbClr val="00324D"/>
                </a:solidFill>
                <a:latin typeface="隶书" panose="02010509060101010101" pitchFamily="49" charset="-122"/>
                <a:ea typeface="隶书" panose="02010509060101010101" pitchFamily="49" charset="-122"/>
              </a:rPr>
              <a:t>》</a:t>
            </a:r>
            <a:endParaRPr lang="zh-CN" altLang="en-US" sz="3600" dirty="0">
              <a:solidFill>
                <a:srgbClr val="00324D"/>
              </a:solidFill>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123002435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49064</TotalTime>
  <Words>5112</Words>
  <Application>Microsoft Office PowerPoint</Application>
  <PresentationFormat>宽屏</PresentationFormat>
  <Paragraphs>582</Paragraphs>
  <Slides>55</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55</vt:i4>
      </vt:variant>
    </vt:vector>
  </HeadingPairs>
  <TitlesOfParts>
    <vt:vector size="69" baseType="lpstr">
      <vt:lpstr>Aa花间辞楷书 (非商业使用)</vt:lpstr>
      <vt:lpstr>等线</vt:lpstr>
      <vt:lpstr>方正粗黑宋简体</vt:lpstr>
      <vt:lpstr>方正屏显雅宋简体</vt:lpstr>
      <vt:lpstr>方正小标宋简体</vt:lpstr>
      <vt:lpstr>楷体</vt:lpstr>
      <vt:lpstr>隶书</vt:lpstr>
      <vt:lpstr>微软雅黑</vt:lpstr>
      <vt:lpstr>香萃等粗宋</vt:lpstr>
      <vt:lpstr>Arial</vt:lpstr>
      <vt:lpstr>Cambria Math</vt:lpstr>
      <vt:lpstr>Courier Prime</vt:lpstr>
      <vt:lpstr>Times New Roman</vt:lpstr>
      <vt:lpstr>Office 主题​​</vt:lpstr>
      <vt:lpstr>第9章 一阶逻辑的推理</vt:lpstr>
      <vt:lpstr>引子</vt:lpstr>
      <vt:lpstr>主要内容</vt:lpstr>
      <vt:lpstr>9.1 一阶逻辑命题化</vt:lpstr>
      <vt:lpstr>9.1 一阶逻辑命题化</vt:lpstr>
      <vt:lpstr>9.1 一阶逻辑命题化</vt:lpstr>
      <vt:lpstr>9.1 一阶逻辑命题化</vt:lpstr>
      <vt:lpstr>9.1 一阶逻辑命题化</vt:lpstr>
      <vt:lpstr>9.1 一阶逻辑命题化</vt:lpstr>
      <vt:lpstr>9.1 一阶逻辑命题化</vt:lpstr>
      <vt:lpstr>9.1 一阶逻辑命题化</vt:lpstr>
      <vt:lpstr>9.1 一阶逻辑命题化</vt:lpstr>
      <vt:lpstr>9.1 一阶逻辑命题化</vt:lpstr>
      <vt:lpstr>9.2 合一与GMP</vt:lpstr>
      <vt:lpstr>PowerPoint 演示文稿</vt:lpstr>
      <vt:lpstr>9.2 合一与GMP</vt:lpstr>
      <vt:lpstr>9.2 合一与GMP</vt:lpstr>
      <vt:lpstr>9.2 合一与GMP</vt:lpstr>
      <vt:lpstr>9.2 合一与GMP</vt:lpstr>
      <vt:lpstr>9.2 合一与GMP</vt:lpstr>
      <vt:lpstr>9.2 合一与GMP</vt:lpstr>
      <vt:lpstr>9.2 合一与GMP</vt:lpstr>
      <vt:lpstr>9.2 合一与GMP</vt:lpstr>
      <vt:lpstr>9.3 前向链接</vt:lpstr>
      <vt:lpstr>9.3 前向链接</vt:lpstr>
      <vt:lpstr>9.3 前向链接</vt:lpstr>
      <vt:lpstr>9.3 前向链接</vt:lpstr>
      <vt:lpstr>9.3 前向链接</vt:lpstr>
      <vt:lpstr>9.3 前向链接</vt:lpstr>
      <vt:lpstr>9.3 前向链接</vt:lpstr>
      <vt:lpstr>9.3 前向链接</vt:lpstr>
      <vt:lpstr>9.3 前向链接</vt:lpstr>
      <vt:lpstr>9.3 前向链接</vt:lpstr>
      <vt:lpstr>9.3 前向链接</vt:lpstr>
      <vt:lpstr>9.3 前向链接</vt:lpstr>
      <vt:lpstr>9.3 前向链接</vt:lpstr>
      <vt:lpstr>9.3 前向链接</vt:lpstr>
      <vt:lpstr>9.3 前向链接</vt:lpstr>
      <vt:lpstr>9.3 前向链接</vt:lpstr>
      <vt:lpstr>9.3 前向链接</vt:lpstr>
      <vt:lpstr>9.3 前向链接</vt:lpstr>
      <vt:lpstr>9.4 反向链接</vt:lpstr>
      <vt:lpstr>9.4 反向链接</vt:lpstr>
      <vt:lpstr>9.4 反向链接</vt:lpstr>
      <vt:lpstr>9.4 反向链接</vt:lpstr>
      <vt:lpstr>9.4 反向链接</vt:lpstr>
      <vt:lpstr>9.4 反向链接</vt:lpstr>
      <vt:lpstr>9.4 反向链接</vt:lpstr>
      <vt:lpstr>9.5 一阶逻辑的归结算法</vt:lpstr>
      <vt:lpstr>9.5 一阶逻辑的归结算法</vt:lpstr>
      <vt:lpstr>9.5 一阶逻辑的归结算法</vt:lpstr>
      <vt:lpstr>9.5 一阶逻辑的归结算法</vt:lpstr>
      <vt:lpstr>9.5 一阶逻辑的归结算法</vt:lpstr>
      <vt:lpstr>逻辑Agent总结</vt:lpstr>
      <vt:lpstr>授课完毕，谢谢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ppmoon0916@outlook.com</dc:creator>
  <cp:lastModifiedBy>Donkey_Punch</cp:lastModifiedBy>
  <cp:revision>366</cp:revision>
  <dcterms:created xsi:type="dcterms:W3CDTF">2024-04-10T12:13:52Z</dcterms:created>
  <dcterms:modified xsi:type="dcterms:W3CDTF">2025-12-01T14:53:33Z</dcterms:modified>
</cp:coreProperties>
</file>