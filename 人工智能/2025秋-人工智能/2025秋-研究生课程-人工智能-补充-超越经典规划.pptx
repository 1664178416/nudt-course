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1" r:id="rId1"/>
  </p:sldMasterIdLst>
  <p:notesMasterIdLst>
    <p:notesMasterId r:id="rId11"/>
  </p:notesMasterIdLst>
  <p:sldIdLst>
    <p:sldId id="509" r:id="rId2"/>
    <p:sldId id="510" r:id="rId3"/>
    <p:sldId id="511" r:id="rId4"/>
    <p:sldId id="512" r:id="rId5"/>
    <p:sldId id="513" r:id="rId6"/>
    <p:sldId id="514" r:id="rId7"/>
    <p:sldId id="515" r:id="rId8"/>
    <p:sldId id="516" r:id="rId9"/>
    <p:sldId id="361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6"/>
    <a:srgbClr val="3B7552"/>
    <a:srgbClr val="69B3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319" autoAdjust="0"/>
    <p:restoredTop sz="84253" autoAdjust="0"/>
  </p:normalViewPr>
  <p:slideViewPr>
    <p:cSldViewPr snapToGrid="0">
      <p:cViewPr varScale="1">
        <p:scale>
          <a:sx n="81" d="100"/>
          <a:sy n="81" d="100"/>
        </p:scale>
        <p:origin x="804" y="7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2491" y="35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B77E8A-A707-4AB2-A6C6-7403BA539394}" type="datetimeFigureOut">
              <a:rPr lang="zh-CN" altLang="en-US" smtClean="0"/>
              <a:t>2024/5/6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0C158-2C89-4985-B649-E7349DF127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4334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C0C158-2C89-4985-B649-E7349DF127C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1984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EED4288C-4258-4C22-A66E-FA16DCF9D2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8108"/>
            <a:ext cx="8319735" cy="3441302"/>
          </a:xfrm>
          <a:custGeom>
            <a:avLst/>
            <a:gdLst>
              <a:gd name="connsiteX0" fmla="*/ 0 w 8413003"/>
              <a:gd name="connsiteY0" fmla="*/ 0 h 3441302"/>
              <a:gd name="connsiteX1" fmla="*/ 7839441 w 8413003"/>
              <a:gd name="connsiteY1" fmla="*/ 0 h 3441302"/>
              <a:gd name="connsiteX2" fmla="*/ 8413003 w 8413003"/>
              <a:gd name="connsiteY2" fmla="*/ 573562 h 3441302"/>
              <a:gd name="connsiteX3" fmla="*/ 8413003 w 8413003"/>
              <a:gd name="connsiteY3" fmla="*/ 2867740 h 3441302"/>
              <a:gd name="connsiteX4" fmla="*/ 7839441 w 8413003"/>
              <a:gd name="connsiteY4" fmla="*/ 3441302 h 3441302"/>
              <a:gd name="connsiteX5" fmla="*/ 0 w 8413003"/>
              <a:gd name="connsiteY5" fmla="*/ 3441302 h 3441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13003" h="3441302">
                <a:moveTo>
                  <a:pt x="0" y="0"/>
                </a:moveTo>
                <a:lnTo>
                  <a:pt x="7839441" y="0"/>
                </a:lnTo>
                <a:cubicBezTo>
                  <a:pt x="8156211" y="0"/>
                  <a:pt x="8413003" y="256792"/>
                  <a:pt x="8413003" y="573562"/>
                </a:cubicBezTo>
                <a:lnTo>
                  <a:pt x="8413003" y="2867740"/>
                </a:lnTo>
                <a:cubicBezTo>
                  <a:pt x="8413003" y="3184510"/>
                  <a:pt x="8156211" y="3441302"/>
                  <a:pt x="7839441" y="3441302"/>
                </a:cubicBezTo>
                <a:lnTo>
                  <a:pt x="0" y="3441302"/>
                </a:lnTo>
                <a:close/>
              </a:path>
            </a:pathLst>
          </a:custGeom>
          <a:ln w="1905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4315760"/>
            <a:ext cx="6858000" cy="827775"/>
          </a:xfrm>
          <a:solidFill>
            <a:schemeClr val="bg2"/>
          </a:solidFill>
        </p:spPr>
        <p:txBody>
          <a:bodyPr anchor="b">
            <a:noAutofit/>
          </a:bodyPr>
          <a:lstStyle>
            <a:lvl1pPr algn="ctr">
              <a:defRPr sz="4000">
                <a:latin typeface="方正屏显雅宋简体" panose="02010600010101010101" pitchFamily="2" charset="-122"/>
                <a:ea typeface="方正屏显雅宋简体" panose="0201060001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5176484"/>
            <a:ext cx="6858000" cy="1113971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FE596-35CF-4558-A980-483C7A980144}" type="datetimeFigureOut">
              <a:rPr lang="zh-CN" altLang="en-US" smtClean="0"/>
              <a:t>2024/5/6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1FEC4-1FA1-480B-A396-F3B074CB2BD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1DBA254F-78C6-4465-9AB1-0965A644493F}"/>
              </a:ext>
            </a:extLst>
          </p:cNvPr>
          <p:cNvSpPr/>
          <p:nvPr userDrawn="1"/>
        </p:nvSpPr>
        <p:spPr>
          <a:xfrm>
            <a:off x="1" y="361757"/>
            <a:ext cx="8182465" cy="623344"/>
          </a:xfrm>
          <a:prstGeom prst="homePlate">
            <a:avLst/>
          </a:prstGeom>
          <a:solidFill>
            <a:srgbClr val="C00000"/>
          </a:solidFill>
        </p:spPr>
        <p:txBody>
          <a:bodyPr wrap="square" lIns="144000" rIns="180000" anchor="ctr">
            <a:noAutofit/>
          </a:bodyPr>
          <a:lstStyle/>
          <a:p>
            <a:pPr marL="0" marR="0" lvl="0" indent="0" algn="di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黑宋简体" panose="02000000000000000000" pitchFamily="2" charset="-122"/>
                <a:ea typeface="方正粗黑宋简体" panose="02000000000000000000" pitchFamily="2" charset="-122"/>
                <a:cs typeface="+mn-cs"/>
              </a:rPr>
              <a:t>2023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黑宋简体" panose="02000000000000000000" pitchFamily="2" charset="-122"/>
                <a:ea typeface="方正粗黑宋简体" panose="02000000000000000000" pitchFamily="2" charset="-122"/>
                <a:cs typeface="+mn-cs"/>
              </a:rPr>
              <a:t>年秋季学期研究生课程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黑宋简体" panose="02000000000000000000" pitchFamily="2" charset="-122"/>
                <a:ea typeface="方正粗黑宋简体" panose="02000000000000000000" pitchFamily="2" charset="-122"/>
                <a:cs typeface="+mn-cs"/>
              </a:rPr>
              <a:t>——Artificial Intelligence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方正粗黑宋简体" panose="02000000000000000000" pitchFamily="2" charset="-122"/>
              <a:ea typeface="方正粗黑宋简体" panose="02000000000000000000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8467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图片 49">
            <a:extLst>
              <a:ext uri="{FF2B5EF4-FFF2-40B4-BE49-F238E27FC236}">
                <a16:creationId xmlns:a16="http://schemas.microsoft.com/office/drawing/2014/main" id="{6D75C877-5836-4709-A27D-84E803215F2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16" t="60" r="11775"/>
          <a:stretch/>
        </p:blipFill>
        <p:spPr>
          <a:xfrm>
            <a:off x="0" y="-6291"/>
            <a:ext cx="6115957" cy="6874682"/>
          </a:xfrm>
          <a:custGeom>
            <a:avLst/>
            <a:gdLst>
              <a:gd name="connsiteX0" fmla="*/ 6115957 w 6115957"/>
              <a:gd name="connsiteY0" fmla="*/ 0 h 6874682"/>
              <a:gd name="connsiteX1" fmla="*/ 6087443 w 6115957"/>
              <a:gd name="connsiteY1" fmla="*/ 148850 h 6874682"/>
              <a:gd name="connsiteX2" fmla="*/ 4298524 w 6115957"/>
              <a:gd name="connsiteY2" fmla="*/ 6866216 h 6874682"/>
              <a:gd name="connsiteX3" fmla="*/ 0 w 6115957"/>
              <a:gd name="connsiteY3" fmla="*/ 6874682 h 6874682"/>
              <a:gd name="connsiteX4" fmla="*/ 0 w 6115957"/>
              <a:gd name="connsiteY4" fmla="*/ 8312 h 6874682"/>
              <a:gd name="connsiteX5" fmla="*/ 7263 w 6115957"/>
              <a:gd name="connsiteY5" fmla="*/ 8282 h 6874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15957" h="6874682">
                <a:moveTo>
                  <a:pt x="6115957" y="0"/>
                </a:moveTo>
                <a:lnTo>
                  <a:pt x="6087443" y="148850"/>
                </a:lnTo>
                <a:lnTo>
                  <a:pt x="4298524" y="6866216"/>
                </a:lnTo>
                <a:lnTo>
                  <a:pt x="0" y="6874682"/>
                </a:lnTo>
                <a:lnTo>
                  <a:pt x="0" y="8312"/>
                </a:lnTo>
                <a:lnTo>
                  <a:pt x="7263" y="8282"/>
                </a:lnTo>
                <a:close/>
              </a:path>
            </a:pathLst>
          </a:custGeom>
        </p:spPr>
      </p:pic>
      <p:grpSp>
        <p:nvGrpSpPr>
          <p:cNvPr id="21" name="组合 20"/>
          <p:cNvGrpSpPr/>
          <p:nvPr userDrawn="1"/>
        </p:nvGrpSpPr>
        <p:grpSpPr bwMode="auto">
          <a:xfrm>
            <a:off x="6660225" y="405468"/>
            <a:ext cx="1994921" cy="1650921"/>
            <a:chOff x="6444208" y="260648"/>
            <a:chExt cx="2440498" cy="2019854"/>
          </a:xfrm>
        </p:grpSpPr>
        <p:sp>
          <p:nvSpPr>
            <p:cNvPr id="22" name="Freeform 5"/>
            <p:cNvSpPr/>
            <p:nvPr/>
          </p:nvSpPr>
          <p:spPr bwMode="auto">
            <a:xfrm>
              <a:off x="6444208" y="260648"/>
              <a:ext cx="2212496" cy="1960914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 w="15875"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100000">
                    <a:schemeClr val="bg1"/>
                  </a:gs>
                </a:gsLst>
                <a:lin ang="2700000" scaled="1"/>
                <a:tileRect/>
              </a:gradFill>
            </a:ln>
            <a:effectLst>
              <a:innerShdw blurRad="114300">
                <a:prstClr val="black"/>
              </a:innerShdw>
            </a:effectLst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5A9E"/>
                </a:solidFill>
                <a:effectLst/>
                <a:uLnTx/>
                <a:uFillTx/>
                <a:latin typeface="Calibri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23" name="Freeform 5"/>
            <p:cNvSpPr/>
            <p:nvPr/>
          </p:nvSpPr>
          <p:spPr bwMode="auto">
            <a:xfrm>
              <a:off x="6672207" y="319587"/>
              <a:ext cx="2212499" cy="1960915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bg1">
                    <a:lumMod val="61000"/>
                    <a:lumOff val="39000"/>
                  </a:schemeClr>
                </a:gs>
                <a:gs pos="0">
                  <a:schemeClr val="bg1">
                    <a:lumMod val="85000"/>
                  </a:schemeClr>
                </a:gs>
              </a:gsLst>
              <a:lin ang="2700000" scaled="1"/>
              <a:tileRect/>
            </a:gra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>
              <a:outerShdw blurRad="266700" dist="203200" dir="678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5A9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24" name="矩形 23"/>
            <p:cNvSpPr>
              <a:spLocks noChangeArrowheads="1"/>
            </p:cNvSpPr>
            <p:nvPr/>
          </p:nvSpPr>
          <p:spPr bwMode="auto">
            <a:xfrm>
              <a:off x="6926338" y="744675"/>
              <a:ext cx="1638756" cy="7905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18" tIns="45709" rIns="91418" bIns="45709">
              <a:spAutoFit/>
            </a:bodyPr>
            <a:lstStyle>
              <a:lvl1pPr defTabSz="9334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 defTabSz="9334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 defTabSz="9334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 defTabSz="9334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 defTabSz="9334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defTabSz="9334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defTabSz="9334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defTabSz="9334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defTabSz="9334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93326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599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方正粗宋简体" panose="03000509000000000000" pitchFamily="65" charset="-122"/>
                  <a:ea typeface="方正粗宋简体" panose="03000509000000000000" pitchFamily="65" charset="-122"/>
                  <a:cs typeface="+mn-cs"/>
                  <a:sym typeface="+mn-lt"/>
                </a:rPr>
                <a:t>内 容</a:t>
              </a:r>
            </a:p>
          </p:txBody>
        </p:sp>
        <p:sp>
          <p:nvSpPr>
            <p:cNvPr id="25" name="Rectangle 4"/>
            <p:cNvSpPr txBox="1">
              <a:spLocks noChangeArrowheads="1"/>
            </p:cNvSpPr>
            <p:nvPr/>
          </p:nvSpPr>
          <p:spPr bwMode="auto">
            <a:xfrm>
              <a:off x="7005690" y="1497582"/>
              <a:ext cx="1480053" cy="3809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54" tIns="34277" rIns="68554" bIns="34277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lt"/>
                </a:rPr>
                <a:t>CONTENTS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sp>
        <p:nvSpPr>
          <p:cNvPr id="51" name="矩形 45">
            <a:extLst>
              <a:ext uri="{FF2B5EF4-FFF2-40B4-BE49-F238E27FC236}">
                <a16:creationId xmlns:a16="http://schemas.microsoft.com/office/drawing/2014/main" id="{C775D4D4-0C49-42E5-B836-3210DB61DD2D}"/>
              </a:ext>
            </a:extLst>
          </p:cNvPr>
          <p:cNvSpPr/>
          <p:nvPr userDrawn="1"/>
        </p:nvSpPr>
        <p:spPr>
          <a:xfrm>
            <a:off x="19437" y="-8370"/>
            <a:ext cx="6106696" cy="6866370"/>
          </a:xfrm>
          <a:custGeom>
            <a:avLst/>
            <a:gdLst>
              <a:gd name="connsiteX0" fmla="*/ 0 w 5684440"/>
              <a:gd name="connsiteY0" fmla="*/ 0 h 6866370"/>
              <a:gd name="connsiteX1" fmla="*/ 5684440 w 5684440"/>
              <a:gd name="connsiteY1" fmla="*/ 0 h 6866370"/>
              <a:gd name="connsiteX2" fmla="*/ 5684440 w 5684440"/>
              <a:gd name="connsiteY2" fmla="*/ 6866370 h 6866370"/>
              <a:gd name="connsiteX3" fmla="*/ 0 w 5684440"/>
              <a:gd name="connsiteY3" fmla="*/ 6866370 h 6866370"/>
              <a:gd name="connsiteX4" fmla="*/ 0 w 5684440"/>
              <a:gd name="connsiteY4" fmla="*/ 0 h 6866370"/>
              <a:gd name="connsiteX0" fmla="*/ 0 w 6962906"/>
              <a:gd name="connsiteY0" fmla="*/ 25400 h 6891770"/>
              <a:gd name="connsiteX1" fmla="*/ 6962906 w 6962906"/>
              <a:gd name="connsiteY1" fmla="*/ 0 h 6891770"/>
              <a:gd name="connsiteX2" fmla="*/ 5684440 w 6962906"/>
              <a:gd name="connsiteY2" fmla="*/ 6891770 h 6891770"/>
              <a:gd name="connsiteX3" fmla="*/ 0 w 6962906"/>
              <a:gd name="connsiteY3" fmla="*/ 6891770 h 6891770"/>
              <a:gd name="connsiteX4" fmla="*/ 0 w 6962906"/>
              <a:gd name="connsiteY4" fmla="*/ 25400 h 6891770"/>
              <a:gd name="connsiteX0" fmla="*/ 0 w 6962906"/>
              <a:gd name="connsiteY0" fmla="*/ 25400 h 6891770"/>
              <a:gd name="connsiteX1" fmla="*/ 6962906 w 6962906"/>
              <a:gd name="connsiteY1" fmla="*/ 0 h 6891770"/>
              <a:gd name="connsiteX2" fmla="*/ 3982640 w 6962906"/>
              <a:gd name="connsiteY2" fmla="*/ 6883304 h 6891770"/>
              <a:gd name="connsiteX3" fmla="*/ 0 w 6962906"/>
              <a:gd name="connsiteY3" fmla="*/ 6891770 h 6891770"/>
              <a:gd name="connsiteX4" fmla="*/ 0 w 6962906"/>
              <a:gd name="connsiteY4" fmla="*/ 25400 h 6891770"/>
              <a:gd name="connsiteX0" fmla="*/ 0 w 6962906"/>
              <a:gd name="connsiteY0" fmla="*/ 25400 h 6891770"/>
              <a:gd name="connsiteX1" fmla="*/ 6962906 w 6962906"/>
              <a:gd name="connsiteY1" fmla="*/ 0 h 6891770"/>
              <a:gd name="connsiteX2" fmla="*/ 4273585 w 6962906"/>
              <a:gd name="connsiteY2" fmla="*/ 6883304 h 6891770"/>
              <a:gd name="connsiteX3" fmla="*/ 0 w 6962906"/>
              <a:gd name="connsiteY3" fmla="*/ 6891770 h 6891770"/>
              <a:gd name="connsiteX4" fmla="*/ 0 w 6962906"/>
              <a:gd name="connsiteY4" fmla="*/ 25400 h 6891770"/>
              <a:gd name="connsiteX0" fmla="*/ 0 w 6106696"/>
              <a:gd name="connsiteY0" fmla="*/ 0 h 6866370"/>
              <a:gd name="connsiteX1" fmla="*/ 6106696 w 6106696"/>
              <a:gd name="connsiteY1" fmla="*/ 7851 h 6866370"/>
              <a:gd name="connsiteX2" fmla="*/ 4273585 w 6106696"/>
              <a:gd name="connsiteY2" fmla="*/ 6857904 h 6866370"/>
              <a:gd name="connsiteX3" fmla="*/ 0 w 6106696"/>
              <a:gd name="connsiteY3" fmla="*/ 6866370 h 6866370"/>
              <a:gd name="connsiteX4" fmla="*/ 0 w 6106696"/>
              <a:gd name="connsiteY4" fmla="*/ 0 h 6866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06696" h="6866370">
                <a:moveTo>
                  <a:pt x="0" y="0"/>
                </a:moveTo>
                <a:lnTo>
                  <a:pt x="6106696" y="7851"/>
                </a:lnTo>
                <a:lnTo>
                  <a:pt x="4273585" y="6857904"/>
                </a:lnTo>
                <a:lnTo>
                  <a:pt x="0" y="686637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64086">
                  <a:alpha val="80000"/>
                </a:srgbClr>
              </a:gs>
              <a:gs pos="100000">
                <a:srgbClr val="164086">
                  <a:alpha val="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8423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FE596-35CF-4558-A980-483C7A980144}" type="datetimeFigureOut">
              <a:rPr lang="zh-CN" altLang="en-US" smtClean="0"/>
              <a:t>2024/5/6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1FEC4-1FA1-480B-A396-F3B074CB2BD4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4DE2EB2E-52A7-4EA9-A125-F8AD42337C76}"/>
              </a:ext>
            </a:extLst>
          </p:cNvPr>
          <p:cNvGrpSpPr/>
          <p:nvPr userDrawn="1"/>
        </p:nvGrpSpPr>
        <p:grpSpPr>
          <a:xfrm>
            <a:off x="0" y="-41988"/>
            <a:ext cx="9144000" cy="746449"/>
            <a:chOff x="0" y="-41988"/>
            <a:chExt cx="9139836" cy="746449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C0B2B738-AC10-4241-AC1E-D4AA39AA80C9}"/>
                </a:ext>
              </a:extLst>
            </p:cNvPr>
            <p:cNvGrpSpPr/>
            <p:nvPr userDrawn="1"/>
          </p:nvGrpSpPr>
          <p:grpSpPr>
            <a:xfrm>
              <a:off x="0" y="0"/>
              <a:ext cx="9139836" cy="681134"/>
              <a:chOff x="4164" y="0"/>
              <a:chExt cx="9139836" cy="681134"/>
            </a:xfrm>
          </p:grpSpPr>
          <p:pic>
            <p:nvPicPr>
              <p:cNvPr id="10" name="图片 9">
                <a:extLst>
                  <a:ext uri="{FF2B5EF4-FFF2-40B4-BE49-F238E27FC236}">
                    <a16:creationId xmlns:a16="http://schemas.microsoft.com/office/drawing/2014/main" id="{50D81F6F-1D64-4362-A548-005ED5295A4B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4752" b="76328"/>
              <a:stretch/>
            </p:blipFill>
            <p:spPr>
              <a:xfrm>
                <a:off x="1942791" y="0"/>
                <a:ext cx="7201209" cy="681134"/>
              </a:xfrm>
              <a:prstGeom prst="rect">
                <a:avLst/>
              </a:prstGeom>
            </p:spPr>
          </p:pic>
          <p:sp>
            <p:nvSpPr>
              <p:cNvPr id="11" name="矩形: 圆角 6">
                <a:extLst>
                  <a:ext uri="{FF2B5EF4-FFF2-40B4-BE49-F238E27FC236}">
                    <a16:creationId xmlns:a16="http://schemas.microsoft.com/office/drawing/2014/main" id="{E0835100-8438-4487-82E0-EDDAEDB93862}"/>
                  </a:ext>
                </a:extLst>
              </p:cNvPr>
              <p:cNvSpPr/>
              <p:nvPr userDrawn="1"/>
            </p:nvSpPr>
            <p:spPr>
              <a:xfrm>
                <a:off x="4164" y="0"/>
                <a:ext cx="9139835" cy="681134"/>
              </a:xfrm>
              <a:prstGeom prst="rect">
                <a:avLst/>
              </a:prstGeom>
              <a:gradFill>
                <a:gsLst>
                  <a:gs pos="23000">
                    <a:srgbClr val="050A2D"/>
                  </a:gs>
                  <a:gs pos="0">
                    <a:srgbClr val="030424"/>
                  </a:gs>
                  <a:gs pos="100000">
                    <a:srgbClr val="164086">
                      <a:alpha val="10000"/>
                    </a:srgbClr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21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98CD5"/>
                    </a:solidFill>
                    <a:effectLst/>
                    <a:uLnTx/>
                    <a:uFillTx/>
                    <a:latin typeface="Calibri"/>
                    <a:ea typeface="微软雅黑"/>
                    <a:cs typeface="+mn-cs"/>
                  </a:rPr>
                  <a:t> </a:t>
                </a:r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98CD5"/>
                  </a:solidFill>
                  <a:effectLst/>
                  <a:uLnTx/>
                  <a:uFillTx/>
                  <a:latin typeface="Calibri"/>
                  <a:ea typeface="微软雅黑"/>
                  <a:cs typeface="+mn-cs"/>
                </a:endParaRPr>
              </a:p>
            </p:txBody>
          </p:sp>
        </p:grpSp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B32F8DEC-7571-4BD5-863E-7B880DF926B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309" y="-41988"/>
              <a:ext cx="720410" cy="746449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1028" y="43539"/>
            <a:ext cx="7886700" cy="570367"/>
          </a:xfrm>
        </p:spPr>
        <p:txBody>
          <a:bodyPr/>
          <a:lstStyle>
            <a:lvl1pPr algn="ctr">
              <a:defRPr b="1" i="0" spc="300" baseline="0">
                <a:solidFill>
                  <a:schemeClr val="bg1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3" name="内容占位符 12">
            <a:extLst>
              <a:ext uri="{FF2B5EF4-FFF2-40B4-BE49-F238E27FC236}">
                <a16:creationId xmlns:a16="http://schemas.microsoft.com/office/drawing/2014/main" id="{B37B92F1-0919-438C-A34D-A0CC12B100A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8113" y="798513"/>
            <a:ext cx="8875712" cy="5467350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3200" b="1" i="0" spc="300" baseline="0">
                <a:solidFill>
                  <a:schemeClr val="tx1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defRPr>
            </a:lvl1pPr>
            <a:lvl2pPr marL="342900" indent="0">
              <a:lnSpc>
                <a:spcPct val="120000"/>
              </a:lnSpc>
              <a:buNone/>
              <a:defRPr sz="2800" b="0" i="0" spc="100" baseline="0">
                <a:solidFill>
                  <a:schemeClr val="tx1"/>
                </a:solidFill>
                <a:latin typeface="方正屏显雅宋简体" panose="02010600010101010101" pitchFamily="2" charset="-122"/>
                <a:ea typeface="方正屏显雅宋简体" panose="02010600010101010101" pitchFamily="2" charset="-122"/>
              </a:defRPr>
            </a:lvl2pPr>
            <a:lvl3pPr marL="685800" indent="0">
              <a:lnSpc>
                <a:spcPct val="120000"/>
              </a:lnSpc>
              <a:buNone/>
              <a:defRPr sz="2400" b="0" i="0" spc="100" baseline="0">
                <a:solidFill>
                  <a:schemeClr val="tx1"/>
                </a:solidFill>
                <a:latin typeface="方正屏显雅宋简体" panose="02010600010101010101" pitchFamily="2" charset="-122"/>
                <a:ea typeface="方正屏显雅宋简体" panose="02010600010101010101" pitchFamily="2" charset="-122"/>
              </a:defRPr>
            </a:lvl3pPr>
            <a:lvl4pPr marL="1028700" indent="0">
              <a:lnSpc>
                <a:spcPct val="120000"/>
              </a:lnSpc>
              <a:buNone/>
              <a:defRPr sz="2000" b="0" i="0" spc="100" baseline="0">
                <a:solidFill>
                  <a:schemeClr val="tx1"/>
                </a:solidFill>
                <a:latin typeface="方正屏显雅宋简体" panose="02010600010101010101" pitchFamily="2" charset="-122"/>
                <a:ea typeface="方正屏显雅宋简体" panose="02010600010101010101" pitchFamily="2" charset="-122"/>
              </a:defRPr>
            </a:lvl4pPr>
            <a:lvl5pPr marL="1371600" indent="0">
              <a:lnSpc>
                <a:spcPct val="120000"/>
              </a:lnSpc>
              <a:buNone/>
              <a:defRPr sz="2000" b="0" i="0" spc="100" baseline="0">
                <a:solidFill>
                  <a:schemeClr val="tx1"/>
                </a:solidFill>
                <a:latin typeface="方正屏显雅宋简体" panose="02010600010101010101" pitchFamily="2" charset="-122"/>
                <a:ea typeface="方正屏显雅宋简体" panose="02010600010101010101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346991218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23888" y="1712423"/>
            <a:ext cx="7886700" cy="2851208"/>
          </a:xfrm>
        </p:spPr>
        <p:txBody>
          <a:bodyPr anchor="b">
            <a:normAutofit/>
          </a:bodyPr>
          <a:lstStyle>
            <a:lvl1pPr>
              <a:defRPr sz="4500" b="1" i="0" baseline="0">
                <a:solidFill>
                  <a:srgbClr val="002060"/>
                </a:solidFill>
                <a:latin typeface="Cambria" panose="02040503050406030204" pitchFamily="18" charset="0"/>
                <a:ea typeface="方正屏显雅宋简体" panose="02010600010101010101" pitchFamily="2" charset="-122"/>
              </a:defRPr>
            </a:lvl1pPr>
          </a:lstStyle>
          <a:p>
            <a:r>
              <a:rPr lang="zh-CN" altLang="en-US" dirty="0"/>
              <a:t>谢谢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52634"/>
            <a:ext cx="78867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18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FE596-35CF-4558-A980-483C7A980144}" type="datetimeFigureOut">
              <a:rPr lang="zh-CN" altLang="en-US" smtClean="0"/>
              <a:t>2024/5/6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1FEC4-1FA1-480B-A396-F3B074CB2B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803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方正屏显雅宋简体" panose="02010600010101010101" pitchFamily="2" charset="-122"/>
                <a:ea typeface="方正屏显雅宋简体" panose="0201060001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3845" y="1828801"/>
            <a:ext cx="3886200" cy="43513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8801"/>
            <a:ext cx="3886200" cy="43513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FE596-35CF-4558-A980-483C7A980144}" type="datetimeFigureOut">
              <a:rPr lang="zh-CN" altLang="en-US" smtClean="0"/>
              <a:t>2024/5/6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1FEC4-1FA1-480B-A396-F3B074CB2B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6229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681851"/>
            <a:ext cx="386715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45" y="2507551"/>
            <a:ext cx="3867150" cy="3680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851"/>
            <a:ext cx="38862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7551"/>
            <a:ext cx="3886201" cy="3680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FE596-35CF-4558-A980-483C7A980144}" type="datetimeFigureOut">
              <a:rPr lang="zh-CN" altLang="en-US" smtClean="0"/>
              <a:t>2024/5/6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1FEC4-1FA1-480B-A396-F3B074CB2BD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01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FE596-35CF-4558-A980-483C7A980144}" type="datetimeFigureOut">
              <a:rPr lang="zh-CN" altLang="en-US" smtClean="0"/>
              <a:t>2024/5/6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1FEC4-1FA1-480B-A396-F3B074CB2BD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方正屏显雅宋简体" panose="02010600010101010101" pitchFamily="2" charset="-122"/>
                <a:ea typeface="方正屏显雅宋简体" panose="0201060001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882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FE596-35CF-4558-A980-483C7A980144}" type="datetimeFigureOut">
              <a:rPr lang="zh-CN" altLang="en-US" smtClean="0"/>
              <a:t>2024/5/6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1FEC4-1FA1-480B-A396-F3B074CB2B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9195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94894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399"/>
            <a:ext cx="294894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FE596-35CF-4558-A980-483C7A980144}" type="datetimeFigureOut">
              <a:rPr lang="zh-CN" altLang="en-US" smtClean="0"/>
              <a:t>2024/5/6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1FEC4-1FA1-480B-A396-F3B074CB2B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5261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0"/>
            <a:ext cx="294894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400"/>
            <a:ext cx="294894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FE596-35CF-4558-A980-483C7A980144}" type="datetimeFigureOut">
              <a:rPr lang="zh-CN" altLang="en-US" smtClean="0"/>
              <a:t>2024/5/6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1FEC4-1FA1-480B-A396-F3B074CB2B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5093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FE596-35CF-4558-A980-483C7A980144}" type="datetimeFigureOut">
              <a:rPr lang="zh-CN" altLang="en-US" smtClean="0"/>
              <a:t>2024/5/6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1FEC4-1FA1-480B-A396-F3B074CB2B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15636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0362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0363"/>
            <a:ext cx="5800725" cy="5811837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FE596-35CF-4558-A980-483C7A980144}" type="datetimeFigureOut">
              <a:rPr lang="zh-CN" altLang="en-US" smtClean="0"/>
              <a:t>2024/5/6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1FEC4-1FA1-480B-A396-F3B074CB2B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6920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796583"/>
            <a:ext cx="7886700" cy="786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828801"/>
            <a:ext cx="7886700" cy="44576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F17FE596-35CF-4558-A980-483C7A980144}" type="datetimeFigureOut">
              <a:rPr lang="zh-CN" altLang="en-US" smtClean="0"/>
              <a:t>2024/5/6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63145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E1FEC4-1FA1-480B-A396-F3B074CB2B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086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803" r:id="rId2"/>
    <p:sldLayoutId id="2147483793" r:id="rId3"/>
    <p:sldLayoutId id="2147483794" r:id="rId4"/>
    <p:sldLayoutId id="2147483795" r:id="rId5"/>
    <p:sldLayoutId id="2147483796" r:id="rId6"/>
    <p:sldLayoutId id="2147483797" r:id="rId7"/>
    <p:sldLayoutId id="2147483798" r:id="rId8"/>
    <p:sldLayoutId id="2147483799" r:id="rId9"/>
    <p:sldLayoutId id="2147483800" r:id="rId10"/>
    <p:sldLayoutId id="2147483801" r:id="rId11"/>
    <p:sldLayoutId id="2147483802" r:id="rId12"/>
  </p:sldLayoutIdLst>
  <p:txStyles>
    <p:titleStyle>
      <a:lvl1pPr algn="ctr" defTabSz="685800" rtl="0" eaLnBrk="1" latinLnBrk="0" hangingPunct="1">
        <a:lnSpc>
          <a:spcPct val="90000"/>
        </a:lnSpc>
        <a:spcBef>
          <a:spcPct val="0"/>
        </a:spcBef>
        <a:buNone/>
        <a:defRPr sz="3300" b="1" kern="1200">
          <a:solidFill>
            <a:schemeClr val="tx1"/>
          </a:solidFill>
          <a:latin typeface="方正屏显雅宋简体" panose="02010600010101010101" pitchFamily="2" charset="-122"/>
          <a:ea typeface="方正屏显雅宋简体" panose="02010600010101010101" pitchFamily="2" charset="-122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 2" pitchFamily="18" charset="2"/>
        <a:buChar char=""/>
        <a:defRPr sz="2100" b="1" kern="1200" baseline="0">
          <a:solidFill>
            <a:schemeClr val="tx1"/>
          </a:solidFill>
          <a:latin typeface="Courier New" panose="02070309020205020404" pitchFamily="49" charset="0"/>
          <a:ea typeface="方正屏显雅宋简体" panose="02010600010101010101" pitchFamily="2" charset="-122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800" b="1" kern="1200" baseline="0">
          <a:solidFill>
            <a:schemeClr val="tx1"/>
          </a:solidFill>
          <a:latin typeface="Courier New" panose="02070309020205020404" pitchFamily="49" charset="0"/>
          <a:ea typeface="方正屏显雅宋简体" panose="02010600010101010101" pitchFamily="2" charset="-122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500" b="1" kern="1200" baseline="0">
          <a:solidFill>
            <a:schemeClr val="tx1"/>
          </a:solidFill>
          <a:latin typeface="Courier New" panose="02070309020205020404" pitchFamily="49" charset="0"/>
          <a:ea typeface="方正屏显雅宋简体" panose="02010600010101010101" pitchFamily="2" charset="-122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b="1" kern="1200" baseline="0">
          <a:solidFill>
            <a:schemeClr val="tx1"/>
          </a:solidFill>
          <a:latin typeface="Courier New" panose="02070309020205020404" pitchFamily="49" charset="0"/>
          <a:ea typeface="方正屏显雅宋简体" panose="02010600010101010101" pitchFamily="2" charset="-122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b="1" kern="1200" baseline="0">
          <a:solidFill>
            <a:schemeClr val="tx1"/>
          </a:solidFill>
          <a:latin typeface="Courier New" panose="02070309020205020404" pitchFamily="49" charset="0"/>
          <a:ea typeface="方正屏显雅宋简体" panose="02010600010101010101" pitchFamily="2" charset="-122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noFill/>
        </p:spPr>
        <p:txBody>
          <a:bodyPr/>
          <a:lstStyle/>
          <a:p>
            <a:r>
              <a:rPr lang="zh-CN" altLang="en-US" spc="600" dirty="0">
                <a:latin typeface="方正粗宋简体" panose="03000509000000000000" pitchFamily="65" charset="-122"/>
                <a:ea typeface="方正粗宋简体" panose="03000509000000000000" pitchFamily="65" charset="-122"/>
              </a:rPr>
              <a:t>人工智能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>
                <a:solidFill>
                  <a:schemeClr val="accent5">
                    <a:lumMod val="50000"/>
                  </a:schemeClr>
                </a:solidFill>
              </a:rPr>
              <a:t>教员：庄东晔</a:t>
            </a:r>
            <a:endParaRPr lang="en-US" altLang="zh-CN" sz="2000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zh-CN" altLang="en-US" sz="2000" dirty="0">
                <a:solidFill>
                  <a:schemeClr val="accent5">
                    <a:lumMod val="50000"/>
                  </a:schemeClr>
                </a:solidFill>
              </a:rPr>
              <a:t>智能科学学院</a:t>
            </a:r>
          </a:p>
        </p:txBody>
      </p:sp>
    </p:spTree>
    <p:extLst>
      <p:ext uri="{BB962C8B-B14F-4D97-AF65-F5344CB8AC3E}">
        <p14:creationId xmlns:p14="http://schemas.microsoft.com/office/powerpoint/2010/main" val="3412990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DE5A87F-1528-0256-D343-3966176CD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1FEC4-1FA1-480B-A396-F3B074CB2BD4}" type="slidenum">
              <a:rPr lang="zh-CN" altLang="en-US" smtClean="0">
                <a:latin typeface="+mn-ea"/>
              </a:rPr>
              <a:t>2</a:t>
            </a:fld>
            <a:endParaRPr lang="zh-CN" altLang="en-US">
              <a:latin typeface="+mn-ea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BEE7890-22F1-1103-68F0-C9778A86B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规划的启发式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327CE5B6-432D-0F0B-4E5E-EBB13ABEDC79}"/>
              </a:ext>
            </a:extLst>
          </p:cNvPr>
          <p:cNvSpPr/>
          <p:nvPr/>
        </p:nvSpPr>
        <p:spPr>
          <a:xfrm>
            <a:off x="590537" y="1525131"/>
            <a:ext cx="2114563" cy="792480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rgbClr val="C00000"/>
                </a:solidFill>
                <a:latin typeface="+mn-ea"/>
              </a:rPr>
              <a:t>空间搜索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8D54B0E0-6366-AE30-DD19-79208F3C8CAB}"/>
              </a:ext>
            </a:extLst>
          </p:cNvPr>
          <p:cNvSpPr/>
          <p:nvPr/>
        </p:nvSpPr>
        <p:spPr>
          <a:xfrm>
            <a:off x="5433060" y="1525131"/>
            <a:ext cx="3375659" cy="792480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rgbClr val="C00000"/>
                </a:solidFill>
                <a:latin typeface="+mn-ea"/>
              </a:rPr>
              <a:t>发现良好的启发式比较困难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86ED8D6-F153-5237-F20B-C932951F34BB}"/>
              </a:ext>
            </a:extLst>
          </p:cNvPr>
          <p:cNvSpPr/>
          <p:nvPr/>
        </p:nvSpPr>
        <p:spPr>
          <a:xfrm>
            <a:off x="281940" y="784860"/>
            <a:ext cx="8641080" cy="21640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4D3C5AF6-A784-F0A4-24BE-20E27EE18634}"/>
              </a:ext>
            </a:extLst>
          </p:cNvPr>
          <p:cNvSpPr/>
          <p:nvPr/>
        </p:nvSpPr>
        <p:spPr>
          <a:xfrm>
            <a:off x="3331838" y="909042"/>
            <a:ext cx="2480323" cy="49734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accent5">
                    <a:lumMod val="50000"/>
                  </a:schemeClr>
                </a:solidFill>
                <a:latin typeface="+mn-ea"/>
              </a:rPr>
              <a:t>问题求解</a:t>
            </a:r>
            <a:r>
              <a:rPr lang="en-US" altLang="zh-CN" sz="2400" dirty="0">
                <a:solidFill>
                  <a:schemeClr val="accent5">
                    <a:lumMod val="50000"/>
                  </a:schemeClr>
                </a:solidFill>
                <a:latin typeface="+mn-ea"/>
              </a:rPr>
              <a:t>Agent</a:t>
            </a:r>
            <a:endParaRPr lang="zh-CN" altLang="en-US" sz="2400" dirty="0">
              <a:solidFill>
                <a:schemeClr val="accent5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DDCA35B6-DC5D-8B88-8549-6551FB58CEF9}"/>
              </a:ext>
            </a:extLst>
          </p:cNvPr>
          <p:cNvSpPr/>
          <p:nvPr/>
        </p:nvSpPr>
        <p:spPr>
          <a:xfrm>
            <a:off x="3288979" y="1532751"/>
            <a:ext cx="1560202" cy="792480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rgbClr val="C00000"/>
                </a:solidFill>
                <a:latin typeface="+mn-ea"/>
              </a:rPr>
              <a:t>原子状态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D4A29ED3-C5E2-8DA9-002E-2E0975162F4C}"/>
              </a:ext>
            </a:extLst>
          </p:cNvPr>
          <p:cNvCxnSpPr>
            <a:stCxn id="5" idx="3"/>
            <a:endCxn id="9" idx="1"/>
          </p:cNvCxnSpPr>
          <p:nvPr/>
        </p:nvCxnSpPr>
        <p:spPr>
          <a:xfrm>
            <a:off x="2705100" y="1921371"/>
            <a:ext cx="583879" cy="762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B394933E-C92A-ADEE-02BE-AE1E632A6327}"/>
              </a:ext>
            </a:extLst>
          </p:cNvPr>
          <p:cNvCxnSpPr>
            <a:cxnSpLocks/>
            <a:stCxn id="9" idx="3"/>
            <a:endCxn id="6" idx="1"/>
          </p:cNvCxnSpPr>
          <p:nvPr/>
        </p:nvCxnSpPr>
        <p:spPr>
          <a:xfrm flipV="1">
            <a:off x="4849181" y="1921371"/>
            <a:ext cx="583879" cy="762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43B9CBD4-3B95-E577-E828-434EE71ABEA2}"/>
              </a:ext>
            </a:extLst>
          </p:cNvPr>
          <p:cNvSpPr/>
          <p:nvPr/>
        </p:nvSpPr>
        <p:spPr>
          <a:xfrm>
            <a:off x="590537" y="4472028"/>
            <a:ext cx="2114563" cy="792480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rgbClr val="C00000"/>
                </a:solidFill>
                <a:latin typeface="+mn-ea"/>
              </a:rPr>
              <a:t>状态</a:t>
            </a:r>
            <a:r>
              <a:rPr lang="en-US" altLang="zh-CN" sz="2000" dirty="0">
                <a:solidFill>
                  <a:srgbClr val="C00000"/>
                </a:solidFill>
                <a:latin typeface="+mn-ea"/>
              </a:rPr>
              <a:t>-</a:t>
            </a:r>
            <a:r>
              <a:rPr lang="zh-CN" altLang="en-US" sz="2000" dirty="0">
                <a:solidFill>
                  <a:srgbClr val="C00000"/>
                </a:solidFill>
                <a:latin typeface="+mn-ea"/>
              </a:rPr>
              <a:t>动作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C172AED5-9DAC-F6BC-331D-FDF9638F022A}"/>
              </a:ext>
            </a:extLst>
          </p:cNvPr>
          <p:cNvSpPr/>
          <p:nvPr/>
        </p:nvSpPr>
        <p:spPr>
          <a:xfrm>
            <a:off x="5433060" y="4472028"/>
            <a:ext cx="3375659" cy="792480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rgbClr val="C00000"/>
                </a:solidFill>
                <a:latin typeface="+mn-ea"/>
              </a:rPr>
              <a:t>良好的、领域无关的启发式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2E46B17-C498-5C84-962B-E2D8B61B9A4F}"/>
              </a:ext>
            </a:extLst>
          </p:cNvPr>
          <p:cNvSpPr/>
          <p:nvPr/>
        </p:nvSpPr>
        <p:spPr>
          <a:xfrm>
            <a:off x="281940" y="3731757"/>
            <a:ext cx="8641080" cy="21640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A24E03FD-5158-851C-6AA8-663D2D61F82A}"/>
              </a:ext>
            </a:extLst>
          </p:cNvPr>
          <p:cNvSpPr/>
          <p:nvPr/>
        </p:nvSpPr>
        <p:spPr>
          <a:xfrm>
            <a:off x="3331838" y="3855939"/>
            <a:ext cx="2480323" cy="49734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accent5">
                    <a:lumMod val="50000"/>
                  </a:schemeClr>
                </a:solidFill>
                <a:latin typeface="+mn-ea"/>
              </a:rPr>
              <a:t>规划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0D95723C-A69B-692F-C320-7ECC6E546E29}"/>
              </a:ext>
            </a:extLst>
          </p:cNvPr>
          <p:cNvSpPr/>
          <p:nvPr/>
        </p:nvSpPr>
        <p:spPr>
          <a:xfrm>
            <a:off x="3288979" y="4479648"/>
            <a:ext cx="1560202" cy="792480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rgbClr val="C00000"/>
                </a:solidFill>
                <a:latin typeface="+mn-ea"/>
              </a:rPr>
              <a:t>因子化</a:t>
            </a:r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01DF99CC-982C-688C-A05F-63CCB8D7E80E}"/>
              </a:ext>
            </a:extLst>
          </p:cNvPr>
          <p:cNvCxnSpPr>
            <a:stCxn id="15" idx="3"/>
            <a:endCxn id="19" idx="1"/>
          </p:cNvCxnSpPr>
          <p:nvPr/>
        </p:nvCxnSpPr>
        <p:spPr>
          <a:xfrm>
            <a:off x="2705100" y="4868268"/>
            <a:ext cx="583879" cy="762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6EB9FE1C-7E22-8F79-DCB2-95C915CB6613}"/>
              </a:ext>
            </a:extLst>
          </p:cNvPr>
          <p:cNvCxnSpPr>
            <a:cxnSpLocks/>
            <a:stCxn id="19" idx="3"/>
            <a:endCxn id="16" idx="1"/>
          </p:cNvCxnSpPr>
          <p:nvPr/>
        </p:nvCxnSpPr>
        <p:spPr>
          <a:xfrm flipV="1">
            <a:off x="4849181" y="4868268"/>
            <a:ext cx="583879" cy="762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8215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1BC15B5-99A9-828B-BA94-AB97E30DA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1FEC4-1FA1-480B-A396-F3B074CB2BD4}" type="slidenum">
              <a:rPr lang="zh-CN" altLang="en-US" smtClean="0">
                <a:latin typeface="+mn-ea"/>
              </a:rPr>
              <a:t>3</a:t>
            </a:fld>
            <a:endParaRPr lang="zh-CN" altLang="en-US">
              <a:latin typeface="+mn-ea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9E71A00-0611-5C97-8FDE-9F39850B6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规划的启发式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55BAD55-620F-6CB5-12BD-92E6682658F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启发式策略：</a:t>
            </a:r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05E3C966-F2D4-49B4-9B32-4F5DF1642851}"/>
              </a:ext>
            </a:extLst>
          </p:cNvPr>
          <p:cNvSpPr/>
          <p:nvPr/>
        </p:nvSpPr>
        <p:spPr>
          <a:xfrm>
            <a:off x="487680" y="1807340"/>
            <a:ext cx="3707143" cy="1096149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rgbClr val="C00000"/>
                </a:solidFill>
                <a:latin typeface="+mn-ea"/>
              </a:rPr>
              <a:t>搜索：</a:t>
            </a:r>
            <a:endParaRPr lang="en-US" altLang="zh-CN" sz="2000" dirty="0">
              <a:solidFill>
                <a:srgbClr val="C00000"/>
              </a:solidFill>
              <a:latin typeface="+mn-ea"/>
            </a:endParaRPr>
          </a:p>
          <a:p>
            <a:pPr algn="ctr"/>
            <a:r>
              <a:rPr lang="zh-CN" altLang="en-US" sz="2000" dirty="0">
                <a:solidFill>
                  <a:srgbClr val="C00000"/>
                </a:solidFill>
                <a:latin typeface="+mn-ea"/>
              </a:rPr>
              <a:t>节点为状态、边为动作的图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B0189ECE-765E-63DD-7F2B-3CAC8457DF03}"/>
              </a:ext>
            </a:extLst>
          </p:cNvPr>
          <p:cNvSpPr/>
          <p:nvPr/>
        </p:nvSpPr>
        <p:spPr>
          <a:xfrm>
            <a:off x="4949179" y="1807339"/>
            <a:ext cx="3707143" cy="1096149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rgbClr val="C00000"/>
                </a:solidFill>
                <a:latin typeface="+mn-ea"/>
              </a:rPr>
              <a:t>解：</a:t>
            </a:r>
            <a:endParaRPr lang="en-US" altLang="zh-CN" sz="2000" dirty="0">
              <a:solidFill>
                <a:srgbClr val="C00000"/>
              </a:solidFill>
              <a:latin typeface="+mn-ea"/>
            </a:endParaRPr>
          </a:p>
          <a:p>
            <a:pPr algn="ctr"/>
            <a:r>
              <a:rPr lang="zh-CN" altLang="en-US" sz="2000" dirty="0">
                <a:solidFill>
                  <a:srgbClr val="C00000"/>
                </a:solidFill>
                <a:latin typeface="+mn-ea"/>
              </a:rPr>
              <a:t>找到一条路径连接初始和目标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D730BCC-4CBB-0E8D-0F9A-4E9DF7FF4ACB}"/>
              </a:ext>
            </a:extLst>
          </p:cNvPr>
          <p:cNvSpPr/>
          <p:nvPr/>
        </p:nvSpPr>
        <p:spPr>
          <a:xfrm>
            <a:off x="2756002" y="3238829"/>
            <a:ext cx="3707143" cy="685233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rgbClr val="C00000"/>
                </a:solidFill>
                <a:latin typeface="+mn-ea"/>
              </a:rPr>
              <a:t>松弛问题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81AB449A-44A8-8A8D-FFE4-4C7F97E64745}"/>
              </a:ext>
            </a:extLst>
          </p:cNvPr>
          <p:cNvSpPr/>
          <p:nvPr/>
        </p:nvSpPr>
        <p:spPr>
          <a:xfrm>
            <a:off x="487680" y="4242059"/>
            <a:ext cx="3863340" cy="2479417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>
              <a:solidFill>
                <a:srgbClr val="C00000"/>
              </a:solidFill>
              <a:latin typeface="+mn-ea"/>
            </a:endParaRPr>
          </a:p>
          <a:p>
            <a:pPr algn="ctr"/>
            <a:r>
              <a:rPr lang="zh-CN" altLang="en-US" sz="2000" dirty="0">
                <a:solidFill>
                  <a:srgbClr val="C00000"/>
                </a:solidFill>
                <a:latin typeface="+mn-ea"/>
              </a:rPr>
              <a:t>忽略前提启发式：</a:t>
            </a:r>
            <a:endParaRPr lang="en-US" altLang="zh-CN" sz="2000" dirty="0">
              <a:solidFill>
                <a:srgbClr val="C00000"/>
              </a:solidFill>
              <a:latin typeface="+mn-ea"/>
            </a:endParaRPr>
          </a:p>
          <a:p>
            <a:pPr algn="ctr"/>
            <a:r>
              <a:rPr lang="zh-CN" altLang="en-US" sz="2000" dirty="0">
                <a:solidFill>
                  <a:srgbClr val="C00000"/>
                </a:solidFill>
                <a:latin typeface="+mn-ea"/>
              </a:rPr>
              <a:t>从动作中去掉所有的前提，没一个动作都适用于所有状态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7D1FF7C9-DCC8-7696-B0E5-D1BC069BC5FA}"/>
              </a:ext>
            </a:extLst>
          </p:cNvPr>
          <p:cNvSpPr/>
          <p:nvPr/>
        </p:nvSpPr>
        <p:spPr>
          <a:xfrm>
            <a:off x="4949178" y="4242058"/>
            <a:ext cx="3863340" cy="2479417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rgbClr val="C00000"/>
                </a:solidFill>
                <a:latin typeface="+mn-ea"/>
              </a:rPr>
              <a:t>忽略动作删除列表：</a:t>
            </a:r>
            <a:endParaRPr lang="en-US" altLang="zh-CN" sz="2000" dirty="0">
              <a:solidFill>
                <a:srgbClr val="C00000"/>
              </a:solidFill>
              <a:latin typeface="+mn-ea"/>
            </a:endParaRPr>
          </a:p>
          <a:p>
            <a:pPr algn="ctr"/>
            <a:r>
              <a:rPr lang="zh-CN" altLang="en-US" sz="2000" dirty="0">
                <a:solidFill>
                  <a:srgbClr val="C00000"/>
                </a:solidFill>
                <a:latin typeface="+mn-ea"/>
              </a:rPr>
              <a:t>任何动作不会抵消另一个动作的效果，向着目标单调前进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513B2068-DB39-EC8C-0E10-1B7549111B51}"/>
              </a:ext>
            </a:extLst>
          </p:cNvPr>
          <p:cNvSpPr/>
          <p:nvPr/>
        </p:nvSpPr>
        <p:spPr>
          <a:xfrm>
            <a:off x="1503051" y="4421086"/>
            <a:ext cx="1676400" cy="449251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rgbClr val="C00000"/>
                </a:solidFill>
                <a:latin typeface="+mn-ea"/>
              </a:rPr>
              <a:t>更多的边</a:t>
            </a:r>
            <a:endParaRPr lang="en-US" altLang="zh-CN" sz="2000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991ABFE-8688-9DEC-EC6E-81B570E62F97}"/>
              </a:ext>
            </a:extLst>
          </p:cNvPr>
          <p:cNvSpPr/>
          <p:nvPr/>
        </p:nvSpPr>
        <p:spPr>
          <a:xfrm>
            <a:off x="5964549" y="4421086"/>
            <a:ext cx="1676400" cy="449251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rgbClr val="C00000"/>
                </a:solidFill>
                <a:latin typeface="+mn-ea"/>
              </a:rPr>
              <a:t>更少的点</a:t>
            </a:r>
            <a:endParaRPr lang="en-US" altLang="zh-CN" sz="2000" dirty="0">
              <a:solidFill>
                <a:srgbClr val="C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66849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409B6A5-67EE-917B-4D59-13DDEA0C2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1FEC4-1FA1-480B-A396-F3B074CB2BD4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C0EA9CE-B10F-9A32-5D60-150251F92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规划的启发式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5D09786-74C9-BE57-0E5F-02AD28124BF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启发式策略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8CB20EB-1F8D-B723-6B55-13FAEC521F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12" y="1331685"/>
            <a:ext cx="9144000" cy="4401006"/>
          </a:xfrm>
          <a:prstGeom prst="rect">
            <a:avLst/>
          </a:prstGeom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8FB357A2-29F6-E6D6-826A-CEADE500CFB7}"/>
              </a:ext>
            </a:extLst>
          </p:cNvPr>
          <p:cNvSpPr/>
          <p:nvPr/>
        </p:nvSpPr>
        <p:spPr>
          <a:xfrm>
            <a:off x="464820" y="5732691"/>
            <a:ext cx="7886700" cy="1055101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rgbClr val="C00000"/>
                </a:solidFill>
                <a:latin typeface="+mn-ea"/>
              </a:rPr>
              <a:t>忽略动作删除列表：</a:t>
            </a:r>
            <a:endParaRPr lang="en-US" altLang="zh-CN" sz="2000" dirty="0">
              <a:solidFill>
                <a:srgbClr val="C00000"/>
              </a:solidFill>
              <a:latin typeface="+mn-ea"/>
            </a:endParaRPr>
          </a:p>
          <a:p>
            <a:pPr algn="ctr"/>
            <a:r>
              <a:rPr lang="zh-CN" altLang="en-US" sz="2000" dirty="0">
                <a:solidFill>
                  <a:srgbClr val="C00000"/>
                </a:solidFill>
                <a:latin typeface="+mn-ea"/>
              </a:rPr>
              <a:t>任何动作不会抵消另一个动作的效果，向着目标单调前进</a:t>
            </a:r>
          </a:p>
        </p:txBody>
      </p:sp>
    </p:spTree>
    <p:extLst>
      <p:ext uri="{BB962C8B-B14F-4D97-AF65-F5344CB8AC3E}">
        <p14:creationId xmlns:p14="http://schemas.microsoft.com/office/powerpoint/2010/main" val="2551061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AE0FFA0-6258-BE83-3E5D-DD33306D2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1FEC4-1FA1-480B-A396-F3B074CB2BD4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5040A970-A0E1-D63C-D6FB-23F115C66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规划的启发式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1A995CE-5341-11EF-8E97-F34FD4446DF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2.</a:t>
            </a:r>
            <a:r>
              <a:rPr lang="zh-CN" altLang="en-US" dirty="0"/>
              <a:t>领域无关剪枝</a:t>
            </a:r>
          </a:p>
        </p:txBody>
      </p:sp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EC6F6DF9-253D-F21B-8773-7C8AAF0F9755}"/>
              </a:ext>
            </a:extLst>
          </p:cNvPr>
          <p:cNvSpPr txBox="1">
            <a:spLocks/>
          </p:cNvSpPr>
          <p:nvPr/>
        </p:nvSpPr>
        <p:spPr>
          <a:xfrm>
            <a:off x="6388355" y="362077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82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E1FEC4-1FA1-480B-A396-F3B074CB2BD4}" type="slidenum">
              <a:rPr lang="zh-CN" altLang="en-US" smtClean="0">
                <a:latin typeface="+mn-ea"/>
              </a:rPr>
              <a:pPr/>
              <a:t>5</a:t>
            </a:fld>
            <a:endParaRPr lang="zh-CN" altLang="en-US">
              <a:latin typeface="+mn-ea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FD683825-0FE6-27B6-0CD3-D32CD51404B5}"/>
              </a:ext>
            </a:extLst>
          </p:cNvPr>
          <p:cNvSpPr/>
          <p:nvPr/>
        </p:nvSpPr>
        <p:spPr>
          <a:xfrm>
            <a:off x="412890" y="1506479"/>
            <a:ext cx="3863340" cy="2479417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>
              <a:solidFill>
                <a:srgbClr val="C00000"/>
              </a:solidFill>
              <a:latin typeface="+mn-ea"/>
            </a:endParaRPr>
          </a:p>
          <a:p>
            <a:pPr algn="ctr"/>
            <a:r>
              <a:rPr lang="zh-CN" altLang="en-US" sz="2000" dirty="0">
                <a:solidFill>
                  <a:srgbClr val="C00000"/>
                </a:solidFill>
                <a:latin typeface="+mn-ea"/>
              </a:rPr>
              <a:t>修剪掉搜索树中所有对称分支，至保留一个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06FCDFF8-D456-A2AF-B014-82DDEE27C6B7}"/>
              </a:ext>
            </a:extLst>
          </p:cNvPr>
          <p:cNvSpPr/>
          <p:nvPr/>
        </p:nvSpPr>
        <p:spPr>
          <a:xfrm>
            <a:off x="4874388" y="1506478"/>
            <a:ext cx="3863340" cy="2479417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rgbClr val="C00000"/>
                </a:solidFill>
                <a:latin typeface="+mn-ea"/>
              </a:rPr>
              <a:t>首先定义一个松弛版本，并求解得到一个松弛规划，优先动作要么是松弛规划的一步，或者是满足松弛规划的某个前提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CFBFD7E0-BA60-5FE8-546F-CF7A48269156}"/>
              </a:ext>
            </a:extLst>
          </p:cNvPr>
          <p:cNvSpPr/>
          <p:nvPr/>
        </p:nvSpPr>
        <p:spPr>
          <a:xfrm>
            <a:off x="1428261" y="1685506"/>
            <a:ext cx="1676400" cy="449251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rgbClr val="C00000"/>
                </a:solidFill>
                <a:latin typeface="+mn-ea"/>
              </a:rPr>
              <a:t>对称约简</a:t>
            </a:r>
            <a:endParaRPr lang="en-US" altLang="zh-CN" sz="2000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5EFC2432-9F72-0C15-C24D-DB618ACEAFAE}"/>
              </a:ext>
            </a:extLst>
          </p:cNvPr>
          <p:cNvSpPr/>
          <p:nvPr/>
        </p:nvSpPr>
        <p:spPr>
          <a:xfrm>
            <a:off x="5889759" y="1685506"/>
            <a:ext cx="1676400" cy="449251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rgbClr val="C00000"/>
                </a:solidFill>
                <a:latin typeface="+mn-ea"/>
              </a:rPr>
              <a:t>优先动作</a:t>
            </a:r>
            <a:endParaRPr lang="en-US" altLang="zh-CN" sz="2000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A324A691-F14C-F26B-E07B-47806D48258A}"/>
              </a:ext>
            </a:extLst>
          </p:cNvPr>
          <p:cNvSpPr/>
          <p:nvPr/>
        </p:nvSpPr>
        <p:spPr>
          <a:xfrm>
            <a:off x="412890" y="4231221"/>
            <a:ext cx="3863340" cy="2479417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rgbClr val="C00000"/>
                </a:solidFill>
                <a:latin typeface="+mn-ea"/>
              </a:rPr>
              <a:t>存在子目标的某种顺序，如果按照这个顺序，则不会撤销已完成的子目标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70FF947E-670A-481A-5374-CFF247C1E5F9}"/>
              </a:ext>
            </a:extLst>
          </p:cNvPr>
          <p:cNvSpPr/>
          <p:nvPr/>
        </p:nvSpPr>
        <p:spPr>
          <a:xfrm>
            <a:off x="1235850" y="4340182"/>
            <a:ext cx="2217420" cy="449251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rgbClr val="C00000"/>
                </a:solidFill>
                <a:latin typeface="+mn-ea"/>
              </a:rPr>
              <a:t>可序列化子目标</a:t>
            </a:r>
            <a:endParaRPr lang="en-US" altLang="zh-CN" sz="2000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6A63880E-FF54-3CA9-9737-2D113CA42CED}"/>
              </a:ext>
            </a:extLst>
          </p:cNvPr>
          <p:cNvSpPr/>
          <p:nvPr/>
        </p:nvSpPr>
        <p:spPr>
          <a:xfrm>
            <a:off x="5471160" y="4960388"/>
            <a:ext cx="2513598" cy="1021081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rgbClr val="C00000"/>
                </a:solidFill>
                <a:latin typeface="+mn-ea"/>
              </a:rPr>
              <a:t>偏序规划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5B885F2B-E092-E6E6-5884-65C63761281B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>
          <a:xfrm flipV="1">
            <a:off x="4276230" y="5470929"/>
            <a:ext cx="1194930" cy="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602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F0E5BBB-06CF-4213-81D7-DF1F6768E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1FEC4-1FA1-480B-A396-F3B074CB2BD4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C8EA6CB-4292-A90F-5120-444D9EAF9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</a:t>
            </a:r>
            <a:r>
              <a:rPr lang="zh-CN" altLang="en-US" dirty="0"/>
              <a:t>分层规划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DE562952-85BB-DF5A-9E4B-267169C5555C}"/>
              </a:ext>
            </a:extLst>
          </p:cNvPr>
          <p:cNvSpPr/>
          <p:nvPr/>
        </p:nvSpPr>
        <p:spPr>
          <a:xfrm>
            <a:off x="171640" y="907515"/>
            <a:ext cx="2974212" cy="1335782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rgbClr val="C00000"/>
                </a:solidFill>
                <a:latin typeface="+mn-ea"/>
              </a:rPr>
              <a:t>问题求解和规划都基于固定的原子动作集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380FFDB-5E81-8F56-B57B-C22CDE3BE640}"/>
              </a:ext>
            </a:extLst>
          </p:cNvPr>
          <p:cNvSpPr/>
          <p:nvPr/>
        </p:nvSpPr>
        <p:spPr>
          <a:xfrm>
            <a:off x="171640" y="2945509"/>
            <a:ext cx="2974212" cy="1335782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rgbClr val="C00000"/>
                </a:solidFill>
                <a:latin typeface="+mn-ea"/>
              </a:rPr>
              <a:t>动作爆炸的问题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D3E16F9D-E64C-6385-900D-C15D929BEED8}"/>
              </a:ext>
            </a:extLst>
          </p:cNvPr>
          <p:cNvSpPr/>
          <p:nvPr/>
        </p:nvSpPr>
        <p:spPr>
          <a:xfrm>
            <a:off x="171640" y="4983503"/>
            <a:ext cx="2974212" cy="1335782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rgbClr val="C00000"/>
                </a:solidFill>
                <a:latin typeface="+mn-ea"/>
              </a:rPr>
              <a:t>在更高抽象层次上规划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3D752C25-6BF5-A2E8-92D7-47819D0B3C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6180" y="907515"/>
            <a:ext cx="5093845" cy="1710747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F712183E-FE88-497D-FC49-8FB78A3527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6180" y="3261970"/>
            <a:ext cx="4884783" cy="2863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6002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0A9DB5B-5B1C-5E32-04F3-03CF493FC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1FEC4-1FA1-480B-A396-F3B074CB2BD4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303338C-55D7-ECC3-CFE2-D82D83346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</a:t>
            </a:r>
            <a:r>
              <a:rPr lang="zh-CN" altLang="en-US" dirty="0"/>
              <a:t>分层规划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4F7D633-A845-D29F-BA9C-023C79BADDB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高层动作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8FC60F3B-9040-7ABB-8C55-7746415E194A}"/>
              </a:ext>
            </a:extLst>
          </p:cNvPr>
          <p:cNvSpPr/>
          <p:nvPr/>
        </p:nvSpPr>
        <p:spPr>
          <a:xfrm>
            <a:off x="3238817" y="1288515"/>
            <a:ext cx="2666365" cy="746025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rgbClr val="C00000"/>
                </a:solidFill>
                <a:latin typeface="+mn-ea"/>
              </a:rPr>
              <a:t>分层任务网络</a:t>
            </a:r>
            <a:r>
              <a:rPr lang="en-US" altLang="zh-CN" sz="2000" dirty="0">
                <a:solidFill>
                  <a:srgbClr val="C00000"/>
                </a:solidFill>
                <a:latin typeface="+mn-ea"/>
              </a:rPr>
              <a:t>HTN</a:t>
            </a:r>
            <a:endParaRPr lang="zh-CN" altLang="en-US" sz="2000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8C40EE33-1EB2-BA98-867A-F6FE65966DC2}"/>
              </a:ext>
            </a:extLst>
          </p:cNvPr>
          <p:cNvSpPr/>
          <p:nvPr/>
        </p:nvSpPr>
        <p:spPr>
          <a:xfrm>
            <a:off x="6802565" y="2294353"/>
            <a:ext cx="1935163" cy="746025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rgbClr val="C00000"/>
                </a:solidFill>
                <a:latin typeface="+mn-ea"/>
              </a:rPr>
              <a:t>基元动作</a:t>
            </a:r>
            <a:endParaRPr lang="en-US" altLang="zh-CN" sz="2000" dirty="0">
              <a:solidFill>
                <a:srgbClr val="C00000"/>
              </a:solidFill>
              <a:latin typeface="+mn-ea"/>
            </a:endParaRPr>
          </a:p>
          <a:p>
            <a:pPr algn="ctr"/>
            <a:r>
              <a:rPr lang="en-US" altLang="zh-CN" sz="2000" dirty="0">
                <a:solidFill>
                  <a:srgbClr val="C00000"/>
                </a:solidFill>
                <a:latin typeface="+mn-ea"/>
              </a:rPr>
              <a:t>PA</a:t>
            </a:r>
            <a:endParaRPr lang="zh-CN" altLang="en-US" sz="2000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AC1ABFAF-ABA9-F617-38CF-4C4699A03A32}"/>
              </a:ext>
            </a:extLst>
          </p:cNvPr>
          <p:cNvSpPr/>
          <p:nvPr/>
        </p:nvSpPr>
        <p:spPr>
          <a:xfrm>
            <a:off x="282097" y="2319188"/>
            <a:ext cx="1935163" cy="746025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rgbClr val="C00000"/>
                </a:solidFill>
                <a:latin typeface="+mn-ea"/>
              </a:rPr>
              <a:t>高层动作</a:t>
            </a:r>
            <a:endParaRPr lang="en-US" altLang="zh-CN" sz="2000" dirty="0">
              <a:solidFill>
                <a:srgbClr val="C00000"/>
              </a:solidFill>
              <a:latin typeface="+mn-ea"/>
            </a:endParaRPr>
          </a:p>
          <a:p>
            <a:pPr algn="ctr"/>
            <a:r>
              <a:rPr lang="en-US" altLang="zh-CN" sz="2000" dirty="0">
                <a:solidFill>
                  <a:srgbClr val="C00000"/>
                </a:solidFill>
                <a:latin typeface="+mn-ea"/>
              </a:rPr>
              <a:t>HLA</a:t>
            </a:r>
            <a:endParaRPr lang="zh-CN" altLang="en-US" sz="2000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D8C79729-20DE-A069-C0B7-6FA631D0FE0E}"/>
              </a:ext>
            </a:extLst>
          </p:cNvPr>
          <p:cNvSpPr/>
          <p:nvPr/>
        </p:nvSpPr>
        <p:spPr>
          <a:xfrm>
            <a:off x="3604417" y="2319187"/>
            <a:ext cx="1935163" cy="746025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rgbClr val="C00000"/>
                </a:solidFill>
                <a:latin typeface="+mn-ea"/>
              </a:rPr>
              <a:t>细化</a:t>
            </a:r>
            <a:r>
              <a:rPr lang="en-US" altLang="zh-CN" sz="2000" dirty="0">
                <a:solidFill>
                  <a:srgbClr val="C00000"/>
                </a:solidFill>
                <a:latin typeface="+mn-ea"/>
              </a:rPr>
              <a:t>refinement</a:t>
            </a:r>
            <a:endParaRPr lang="zh-CN" altLang="en-US" sz="2000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7AD6C5C3-3B9A-BCE1-A6E5-87855A74186A}"/>
              </a:ext>
            </a:extLst>
          </p:cNvPr>
          <p:cNvSpPr/>
          <p:nvPr/>
        </p:nvSpPr>
        <p:spPr>
          <a:xfrm>
            <a:off x="6463145" y="3369765"/>
            <a:ext cx="2550680" cy="1065075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rgbClr val="C00000"/>
                </a:solidFill>
                <a:latin typeface="+mn-ea"/>
              </a:rPr>
              <a:t>具有标准</a:t>
            </a:r>
            <a:endParaRPr lang="en-US" altLang="zh-CN" sz="2000" dirty="0">
              <a:solidFill>
                <a:srgbClr val="C00000"/>
              </a:solidFill>
              <a:latin typeface="+mn-ea"/>
            </a:endParaRPr>
          </a:p>
          <a:p>
            <a:pPr algn="ctr"/>
            <a:r>
              <a:rPr lang="zh-CN" altLang="en-US" sz="2000" dirty="0">
                <a:solidFill>
                  <a:srgbClr val="C00000"/>
                </a:solidFill>
                <a:latin typeface="+mn-ea"/>
              </a:rPr>
              <a:t>前提</a:t>
            </a:r>
            <a:r>
              <a:rPr lang="en-US" altLang="zh-CN" sz="2000" dirty="0">
                <a:solidFill>
                  <a:srgbClr val="C00000"/>
                </a:solidFill>
                <a:latin typeface="+mn-ea"/>
              </a:rPr>
              <a:t>-</a:t>
            </a:r>
            <a:r>
              <a:rPr lang="zh-CN" altLang="en-US" sz="2000" dirty="0">
                <a:solidFill>
                  <a:srgbClr val="C00000"/>
                </a:solidFill>
                <a:latin typeface="+mn-ea"/>
              </a:rPr>
              <a:t>效果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01D57875-D95A-8E5D-4414-868FC249057D}"/>
              </a:ext>
            </a:extLst>
          </p:cNvPr>
          <p:cNvSpPr/>
          <p:nvPr/>
        </p:nvSpPr>
        <p:spPr>
          <a:xfrm>
            <a:off x="3296658" y="3369765"/>
            <a:ext cx="2550680" cy="1827075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rgbClr val="C00000"/>
                </a:solidFill>
                <a:latin typeface="+mn-ea"/>
              </a:rPr>
              <a:t>每个</a:t>
            </a:r>
            <a:r>
              <a:rPr lang="en-US" altLang="zh-CN" sz="2000" dirty="0">
                <a:solidFill>
                  <a:srgbClr val="C00000"/>
                </a:solidFill>
                <a:latin typeface="+mn-ea"/>
              </a:rPr>
              <a:t>HLA</a:t>
            </a:r>
            <a:r>
              <a:rPr lang="zh-CN" altLang="en-US" sz="2000" dirty="0">
                <a:solidFill>
                  <a:srgbClr val="C00000"/>
                </a:solidFill>
                <a:latin typeface="+mn-ea"/>
              </a:rPr>
              <a:t>都有一个或多个可能的细化来形成一个动作序列，其中每个动作可能是要给</a:t>
            </a:r>
            <a:r>
              <a:rPr lang="en-US" altLang="zh-CN" sz="2000" dirty="0">
                <a:solidFill>
                  <a:srgbClr val="C00000"/>
                </a:solidFill>
                <a:latin typeface="+mn-ea"/>
              </a:rPr>
              <a:t>HLA</a:t>
            </a:r>
            <a:r>
              <a:rPr lang="zh-CN" altLang="en-US" sz="2000" dirty="0">
                <a:solidFill>
                  <a:srgbClr val="C00000"/>
                </a:solidFill>
                <a:latin typeface="+mn-ea"/>
              </a:rPr>
              <a:t>或者一个</a:t>
            </a:r>
            <a:r>
              <a:rPr lang="en-US" altLang="zh-CN" sz="2000" dirty="0">
                <a:solidFill>
                  <a:srgbClr val="C00000"/>
                </a:solidFill>
                <a:latin typeface="+mn-ea"/>
              </a:rPr>
              <a:t>PA</a:t>
            </a:r>
            <a:endParaRPr lang="zh-CN" altLang="en-US" sz="2000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7F73333-499C-0E7A-D006-E96454EE043A}"/>
              </a:ext>
            </a:extLst>
          </p:cNvPr>
          <p:cNvSpPr/>
          <p:nvPr/>
        </p:nvSpPr>
        <p:spPr>
          <a:xfrm>
            <a:off x="130171" y="3369765"/>
            <a:ext cx="2550680" cy="1065075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C00000"/>
                </a:solidFill>
                <a:latin typeface="+mn-ea"/>
              </a:rPr>
              <a:t>HLA</a:t>
            </a:r>
            <a:r>
              <a:rPr lang="zh-CN" altLang="en-US" sz="2000" dirty="0">
                <a:solidFill>
                  <a:srgbClr val="C00000"/>
                </a:solidFill>
                <a:latin typeface="+mn-ea"/>
              </a:rPr>
              <a:t>可以对应一个或多个细化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F3B4539-E3C4-BD55-EDBC-91E8C45D1739}"/>
              </a:ext>
            </a:extLst>
          </p:cNvPr>
          <p:cNvSpPr/>
          <p:nvPr/>
        </p:nvSpPr>
        <p:spPr>
          <a:xfrm>
            <a:off x="53340" y="2034539"/>
            <a:ext cx="9037319" cy="47213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8BB1AD1D-1BC4-FD06-B631-29DF6BA092AA}"/>
              </a:ext>
            </a:extLst>
          </p:cNvPr>
          <p:cNvSpPr/>
          <p:nvPr/>
        </p:nvSpPr>
        <p:spPr>
          <a:xfrm>
            <a:off x="2982882" y="5370324"/>
            <a:ext cx="3178229" cy="398321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rgbClr val="C00000"/>
                </a:solidFill>
                <a:latin typeface="+mn-ea"/>
              </a:rPr>
              <a:t>只包含基元动作的细化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5D9A44B7-3DC5-EBF3-5110-74A53AE0DFA8}"/>
              </a:ext>
            </a:extLst>
          </p:cNvPr>
          <p:cNvSpPr/>
          <p:nvPr/>
        </p:nvSpPr>
        <p:spPr>
          <a:xfrm>
            <a:off x="3478449" y="5938095"/>
            <a:ext cx="2187097" cy="746025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rgbClr val="C00000"/>
                </a:solidFill>
                <a:latin typeface="+mn-ea"/>
              </a:rPr>
              <a:t>实现</a:t>
            </a:r>
            <a:endParaRPr lang="en-US" altLang="zh-CN" sz="2000" dirty="0">
              <a:solidFill>
                <a:srgbClr val="C00000"/>
              </a:solidFill>
              <a:latin typeface="+mn-ea"/>
            </a:endParaRPr>
          </a:p>
          <a:p>
            <a:pPr algn="ctr"/>
            <a:r>
              <a:rPr lang="en-US" altLang="zh-CN" sz="2000" dirty="0" err="1">
                <a:solidFill>
                  <a:srgbClr val="C00000"/>
                </a:solidFill>
                <a:latin typeface="+mn-ea"/>
              </a:rPr>
              <a:t>implimentation</a:t>
            </a:r>
            <a:endParaRPr lang="zh-CN" altLang="en-US" sz="2000" dirty="0">
              <a:solidFill>
                <a:srgbClr val="C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648495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0A9DB5B-5B1C-5E32-04F3-03CF493FC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1FEC4-1FA1-480B-A396-F3B074CB2BD4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303338C-55D7-ECC3-CFE2-D82D83346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</a:t>
            </a:r>
            <a:r>
              <a:rPr lang="zh-CN" altLang="en-US" dirty="0"/>
              <a:t>分层规划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4F7D633-A845-D29F-BA9C-023C79BADDB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高层动作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8E68CF6D-9EB5-42ED-E3F4-2CC6A63F6C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20" y="1735373"/>
            <a:ext cx="5194986" cy="4863547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0050E1DF-62BD-6ED4-A07E-0645D40DE410}"/>
              </a:ext>
            </a:extLst>
          </p:cNvPr>
          <p:cNvSpPr/>
          <p:nvPr/>
        </p:nvSpPr>
        <p:spPr>
          <a:xfrm>
            <a:off x="130175" y="1668780"/>
            <a:ext cx="5523865" cy="16611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68F9010-8989-97D0-6C59-931B55882A87}"/>
              </a:ext>
            </a:extLst>
          </p:cNvPr>
          <p:cNvSpPr/>
          <p:nvPr/>
        </p:nvSpPr>
        <p:spPr>
          <a:xfrm>
            <a:off x="138113" y="3514546"/>
            <a:ext cx="5523865" cy="32069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6B0C29A8-D62C-7E68-A71E-883B426753C2}"/>
              </a:ext>
            </a:extLst>
          </p:cNvPr>
          <p:cNvSpPr/>
          <p:nvPr/>
        </p:nvSpPr>
        <p:spPr>
          <a:xfrm>
            <a:off x="6242800" y="1601925"/>
            <a:ext cx="2550680" cy="1827075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rgbClr val="C00000"/>
                </a:solidFill>
                <a:latin typeface="+mn-ea"/>
              </a:rPr>
              <a:t>高层动作的细化：可以有多个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9CE8288B-6990-2485-DA1C-D0AB35053A64}"/>
              </a:ext>
            </a:extLst>
          </p:cNvPr>
          <p:cNvSpPr/>
          <p:nvPr/>
        </p:nvSpPr>
        <p:spPr>
          <a:xfrm>
            <a:off x="6242800" y="4009847"/>
            <a:ext cx="2550680" cy="1827075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rgbClr val="C00000"/>
                </a:solidFill>
                <a:latin typeface="+mn-ea"/>
              </a:rPr>
              <a:t>注意是递归细化，前提的变化</a:t>
            </a:r>
          </a:p>
        </p:txBody>
      </p:sp>
    </p:spTree>
    <p:extLst>
      <p:ext uri="{BB962C8B-B14F-4D97-AF65-F5344CB8AC3E}">
        <p14:creationId xmlns:p14="http://schemas.microsoft.com/office/powerpoint/2010/main" val="24895783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CDA307-22B5-41DD-9EFA-B741F3C2E7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noFill/>
        </p:spPr>
        <p:txBody>
          <a:bodyPr/>
          <a:lstStyle/>
          <a:p>
            <a:pPr algn="l"/>
            <a:r>
              <a:rPr lang="zh-CN" altLang="en-US" sz="4800" dirty="0">
                <a:solidFill>
                  <a:srgbClr val="002060"/>
                </a:solidFill>
              </a:rPr>
              <a:t>授课完毕，谢谢</a:t>
            </a:r>
          </a:p>
        </p:txBody>
      </p:sp>
    </p:spTree>
    <p:extLst>
      <p:ext uri="{BB962C8B-B14F-4D97-AF65-F5344CB8AC3E}">
        <p14:creationId xmlns:p14="http://schemas.microsoft.com/office/powerpoint/2010/main" val="153845318"/>
      </p:ext>
    </p:extLst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TM02900688[[fn=平面]]</Template>
  <TotalTime>43902</TotalTime>
  <Words>365</Words>
  <Application>Microsoft Office PowerPoint</Application>
  <PresentationFormat>全屏显示(4:3)</PresentationFormat>
  <Paragraphs>73</Paragraphs>
  <Slides>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1" baseType="lpstr">
      <vt:lpstr>等线</vt:lpstr>
      <vt:lpstr>方正粗黑宋简体</vt:lpstr>
      <vt:lpstr>方正粗宋简体</vt:lpstr>
      <vt:lpstr>方正屏显雅宋简体</vt:lpstr>
      <vt:lpstr>楷体</vt:lpstr>
      <vt:lpstr>微软雅黑</vt:lpstr>
      <vt:lpstr>Arial</vt:lpstr>
      <vt:lpstr>Calibri</vt:lpstr>
      <vt:lpstr>Cambria</vt:lpstr>
      <vt:lpstr>Courier New</vt:lpstr>
      <vt:lpstr>Wingdings 2</vt:lpstr>
      <vt:lpstr>HDOfficeLightV0</vt:lpstr>
      <vt:lpstr>人工智能</vt:lpstr>
      <vt:lpstr>1.规划的启发式</vt:lpstr>
      <vt:lpstr>1.规划的启发式</vt:lpstr>
      <vt:lpstr>1.规划的启发式</vt:lpstr>
      <vt:lpstr>1.规划的启发式</vt:lpstr>
      <vt:lpstr>2.分层规划</vt:lpstr>
      <vt:lpstr>2.分层规划</vt:lpstr>
      <vt:lpstr>2.分层规划</vt:lpstr>
      <vt:lpstr>授课完毕，谢谢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第一讲</dc:title>
  <dc:creator>DONGYE ZHUANG</dc:creator>
  <cp:lastModifiedBy>admilder</cp:lastModifiedBy>
  <cp:revision>1392</cp:revision>
  <dcterms:created xsi:type="dcterms:W3CDTF">2018-02-24T10:48:33Z</dcterms:created>
  <dcterms:modified xsi:type="dcterms:W3CDTF">2024-05-06T10:55:18Z</dcterms:modified>
</cp:coreProperties>
</file>