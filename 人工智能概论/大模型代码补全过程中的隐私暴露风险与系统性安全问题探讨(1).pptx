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65" y="10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6827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375" y="571500"/>
            <a:ext cx="4629150" cy="1645853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294" b="1" dirty="0">
                <a:solidFill>
                  <a:srgbClr val="1A1A1A"/>
                </a:solidFill>
              </a:rPr>
              <a:t>大模型代码补全过程中的隐私暴露风险与系统性安全问题探讨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1000125" y="2360228"/>
            <a:ext cx="4343400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4" dirty="0">
                <a:solidFill>
                  <a:srgbClr val="333333"/>
                </a:solidFill>
              </a:rPr>
              <a:t>基于实证研究的机制分析与多层次缓解对策</a:t>
            </a:r>
            <a:endParaRPr lang="en-US" sz="1704" dirty="0"/>
          </a:p>
        </p:txBody>
      </p:sp>
      <p:sp>
        <p:nvSpPr>
          <p:cNvPr id="5" name="Shape 2"/>
          <p:cNvSpPr/>
          <p:nvPr/>
        </p:nvSpPr>
        <p:spPr>
          <a:xfrm>
            <a:off x="5572125" y="714375"/>
            <a:ext cx="2857500" cy="285750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1470189"/>
            <a:ext cx="2571750" cy="134587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14375" y="4143375"/>
            <a:ext cx="771525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汇报人：姓名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357188"/>
            <a:ext cx="8001000" cy="42505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1"/>
          <p:cNvSpPr/>
          <p:nvPr/>
        </p:nvSpPr>
        <p:spPr>
          <a:xfrm>
            <a:off x="571500" y="760809"/>
            <a:ext cx="8001000" cy="21431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571500" y="357188"/>
            <a:ext cx="8001000" cy="425053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D93025"/>
                </a:solidFill>
              </a:rPr>
              <a:t>代码生成模型：效率提升背后的系统性风险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571500" y="2007784"/>
            <a:ext cx="64461" cy="3085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269" dirty="0">
                <a:solidFill>
                  <a:srgbClr val="D93025"/>
                </a:solidFill>
              </a:rPr>
              <a:t>•</a:t>
            </a:r>
            <a:endParaRPr lang="en-US" sz="1269" dirty="0"/>
          </a:p>
        </p:txBody>
      </p:sp>
      <p:sp>
        <p:nvSpPr>
          <p:cNvPr id="7" name="Text 4"/>
          <p:cNvSpPr/>
          <p:nvPr/>
        </p:nvSpPr>
        <p:spPr>
          <a:xfrm>
            <a:off x="750094" y="2034573"/>
            <a:ext cx="4684961" cy="4064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LLMs在代码生成领域应用广泛，显著提升开发效率，但其训练数据来源复杂且具有“记忆性”。</a:t>
            </a:r>
            <a:endParaRPr lang="en-US" sz="942" dirty="0"/>
          </a:p>
        </p:txBody>
      </p:sp>
      <p:sp>
        <p:nvSpPr>
          <p:cNvPr id="8" name="Text 5"/>
          <p:cNvSpPr/>
          <p:nvPr/>
        </p:nvSpPr>
        <p:spPr>
          <a:xfrm>
            <a:off x="571500" y="2613552"/>
            <a:ext cx="64461" cy="3085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269" dirty="0">
                <a:solidFill>
                  <a:srgbClr val="D93025"/>
                </a:solidFill>
              </a:rPr>
              <a:t>•</a:t>
            </a:r>
            <a:endParaRPr lang="en-US" sz="1269" dirty="0"/>
          </a:p>
        </p:txBody>
      </p:sp>
      <p:sp>
        <p:nvSpPr>
          <p:cNvPr id="9" name="Text 6"/>
          <p:cNvSpPr/>
          <p:nvPr/>
        </p:nvSpPr>
        <p:spPr>
          <a:xfrm>
            <a:off x="750094" y="2640341"/>
            <a:ext cx="64296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核心问题：</a:t>
            </a:r>
            <a:endParaRPr lang="en-US" sz="885" dirty="0"/>
          </a:p>
        </p:txBody>
      </p:sp>
      <p:sp>
        <p:nvSpPr>
          <p:cNvPr id="10" name="Text 7"/>
          <p:cNvSpPr/>
          <p:nvPr/>
        </p:nvSpPr>
        <p:spPr>
          <a:xfrm>
            <a:off x="1393059" y="2640341"/>
            <a:ext cx="389108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模型无意间泄露训练数据中敏感内容，已成为工业界与学术界关注的</a:t>
            </a:r>
            <a:endParaRPr lang="en-US" sz="942" dirty="0"/>
          </a:p>
        </p:txBody>
      </p:sp>
      <p:sp>
        <p:nvSpPr>
          <p:cNvPr id="11" name="Text 8"/>
          <p:cNvSpPr/>
          <p:nvPr/>
        </p:nvSpPr>
        <p:spPr>
          <a:xfrm>
            <a:off x="745274" y="2497466"/>
            <a:ext cx="4662664" cy="4064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严峻安全与隐私隐患</a:t>
            </a:r>
            <a:endParaRPr lang="en-US" sz="885" dirty="0"/>
          </a:p>
        </p:txBody>
      </p:sp>
      <p:sp>
        <p:nvSpPr>
          <p:cNvPr id="12" name="Text 9"/>
          <p:cNvSpPr/>
          <p:nvPr/>
        </p:nvSpPr>
        <p:spPr>
          <a:xfrm>
            <a:off x="1778822" y="2871788"/>
            <a:ext cx="12861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。</a:t>
            </a:r>
            <a:endParaRPr lang="en-US" sz="942" dirty="0"/>
          </a:p>
        </p:txBody>
      </p:sp>
      <p:sp>
        <p:nvSpPr>
          <p:cNvPr id="13" name="Text 10"/>
          <p:cNvSpPr/>
          <p:nvPr/>
        </p:nvSpPr>
        <p:spPr>
          <a:xfrm>
            <a:off x="571500" y="3219320"/>
            <a:ext cx="64461" cy="3085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269" dirty="0">
                <a:solidFill>
                  <a:srgbClr val="D93025"/>
                </a:solidFill>
              </a:rPr>
              <a:t>•</a:t>
            </a:r>
            <a:endParaRPr lang="en-US" sz="1269" dirty="0"/>
          </a:p>
        </p:txBody>
      </p:sp>
      <p:sp>
        <p:nvSpPr>
          <p:cNvPr id="14" name="Text 11"/>
          <p:cNvSpPr/>
          <p:nvPr/>
        </p:nvSpPr>
        <p:spPr>
          <a:xfrm>
            <a:off x="750094" y="3246109"/>
            <a:ext cx="64296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研究目标：</a:t>
            </a:r>
            <a:endParaRPr lang="en-US" sz="885" dirty="0"/>
          </a:p>
        </p:txBody>
      </p:sp>
      <p:sp>
        <p:nvSpPr>
          <p:cNvPr id="15" name="Text 12"/>
          <p:cNvSpPr/>
          <p:nvPr/>
        </p:nvSpPr>
        <p:spPr>
          <a:xfrm>
            <a:off x="745274" y="3429474"/>
            <a:ext cx="4651697" cy="4064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通过对GitHub Copilot泄露事件和模型记忆性实证研究的分析，探讨泄露机制与成因，并提出多层次缓解对策，为安全使用和AI治理提供参考。</a:t>
            </a:r>
            <a:endParaRPr lang="en-US" sz="942" dirty="0"/>
          </a:p>
        </p:txBody>
      </p:sp>
      <p:sp>
        <p:nvSpPr>
          <p:cNvPr id="16" name="Shape 13"/>
          <p:cNvSpPr/>
          <p:nvPr/>
        </p:nvSpPr>
        <p:spPr>
          <a:xfrm>
            <a:off x="5810241" y="1046559"/>
            <a:ext cx="2762259" cy="3739753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3116" y="1996929"/>
            <a:ext cx="2476509" cy="183901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357188"/>
            <a:ext cx="8001000" cy="33218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1"/>
          <p:cNvSpPr/>
          <p:nvPr/>
        </p:nvSpPr>
        <p:spPr>
          <a:xfrm>
            <a:off x="571500" y="357188"/>
            <a:ext cx="57150" cy="332184"/>
          </a:xfrm>
          <a:prstGeom prst="rect">
            <a:avLst/>
          </a:prstGeom>
          <a:solidFill>
            <a:srgbClr val="D9302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571500" y="357188"/>
            <a:ext cx="8001000" cy="332184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案例分析 I：硬编码凭证可被诱导“回显”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571500" y="975122"/>
            <a:ext cx="128588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D93025"/>
                </a:solidFill>
              </a:rPr>
              <a:t></a:t>
            </a:r>
            <a:endParaRPr lang="en-US" sz="885" dirty="0"/>
          </a:p>
        </p:txBody>
      </p:sp>
      <p:sp>
        <p:nvSpPr>
          <p:cNvPr id="7" name="Text 4"/>
          <p:cNvSpPr/>
          <p:nvPr/>
        </p:nvSpPr>
        <p:spPr>
          <a:xfrm>
            <a:off x="750094" y="989409"/>
            <a:ext cx="38579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333333"/>
                </a:solidFill>
              </a:rPr>
              <a:t>背景：</a:t>
            </a:r>
            <a:endParaRPr lang="en-US" sz="885" dirty="0"/>
          </a:p>
        </p:txBody>
      </p:sp>
      <p:sp>
        <p:nvSpPr>
          <p:cNvPr id="8" name="Text 5"/>
          <p:cNvSpPr/>
          <p:nvPr/>
        </p:nvSpPr>
        <p:spPr>
          <a:xfrm>
            <a:off x="750094" y="1130120"/>
            <a:ext cx="4523361" cy="380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Copilot基于海量公开代码训练，其中包含大量历史硬编码凭证（如API密钥、OAuth token）。</a:t>
            </a:r>
            <a:endParaRPr lang="en-US" sz="942" dirty="0"/>
          </a:p>
        </p:txBody>
      </p:sp>
      <p:sp>
        <p:nvSpPr>
          <p:cNvPr id="9" name="Text 6"/>
          <p:cNvSpPr/>
          <p:nvPr/>
        </p:nvSpPr>
        <p:spPr>
          <a:xfrm>
            <a:off x="571500" y="1493713"/>
            <a:ext cx="128588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D93025"/>
                </a:solidFill>
              </a:rPr>
              <a:t></a:t>
            </a:r>
            <a:endParaRPr lang="en-US" sz="885" dirty="0"/>
          </a:p>
        </p:txBody>
      </p:sp>
      <p:sp>
        <p:nvSpPr>
          <p:cNvPr id="10" name="Text 7"/>
          <p:cNvSpPr/>
          <p:nvPr/>
        </p:nvSpPr>
        <p:spPr>
          <a:xfrm>
            <a:off x="750094" y="1508001"/>
            <a:ext cx="38579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333333"/>
                </a:solidFill>
              </a:rPr>
              <a:t>机制：</a:t>
            </a:r>
            <a:endParaRPr lang="en-US" sz="885" dirty="0"/>
          </a:p>
        </p:txBody>
      </p:sp>
      <p:sp>
        <p:nvSpPr>
          <p:cNvPr id="11" name="Text 8"/>
          <p:cNvSpPr/>
          <p:nvPr/>
        </p:nvSpPr>
        <p:spPr>
          <a:xfrm>
            <a:off x="1135884" y="1508001"/>
            <a:ext cx="391538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模型对高熵敏感字符串的“记忆”与Prompt Engineering的恶意利用。</a:t>
            </a:r>
            <a:endParaRPr lang="en-US" sz="942" dirty="0"/>
          </a:p>
        </p:txBody>
      </p:sp>
      <p:sp>
        <p:nvSpPr>
          <p:cNvPr id="12" name="Text 9"/>
          <p:cNvSpPr/>
          <p:nvPr/>
        </p:nvSpPr>
        <p:spPr>
          <a:xfrm>
            <a:off x="571500" y="1806587"/>
            <a:ext cx="128588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D93025"/>
                </a:solidFill>
              </a:rPr>
              <a:t></a:t>
            </a:r>
            <a:endParaRPr lang="en-US" sz="885" dirty="0"/>
          </a:p>
        </p:txBody>
      </p:sp>
      <p:sp>
        <p:nvSpPr>
          <p:cNvPr id="13" name="Text 10"/>
          <p:cNvSpPr/>
          <p:nvPr/>
        </p:nvSpPr>
        <p:spPr>
          <a:xfrm>
            <a:off x="750094" y="1820875"/>
            <a:ext cx="38579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333333"/>
                </a:solidFill>
              </a:rPr>
              <a:t>危害：</a:t>
            </a:r>
            <a:endParaRPr lang="en-US" sz="885" dirty="0"/>
          </a:p>
        </p:txBody>
      </p:sp>
      <p:sp>
        <p:nvSpPr>
          <p:cNvPr id="14" name="Text 11"/>
          <p:cNvSpPr/>
          <p:nvPr/>
        </p:nvSpPr>
        <p:spPr>
          <a:xfrm>
            <a:off x="1135884" y="1820875"/>
            <a:ext cx="435179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泄露真实、有效的API密钥，导致未授权访问、数据盗窃，风险具备长期性。</a:t>
            </a:r>
            <a:endParaRPr lang="en-US" sz="942" dirty="0"/>
          </a:p>
        </p:txBody>
      </p:sp>
      <p:sp>
        <p:nvSpPr>
          <p:cNvPr id="15" name="Text 12"/>
          <p:cNvSpPr/>
          <p:nvPr/>
        </p:nvSpPr>
        <p:spPr>
          <a:xfrm>
            <a:off x="607219" y="3691533"/>
            <a:ext cx="4917272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3333"/>
                </a:solidFill>
              </a:rPr>
              <a:t>实证发现：通过精心构造Prompt诱导，建议被识别为“有效凭证候选”的比例高达</a:t>
            </a:r>
            <a:endParaRPr lang="en-US" sz="987" dirty="0"/>
          </a:p>
        </p:txBody>
      </p:sp>
      <p:sp>
        <p:nvSpPr>
          <p:cNvPr id="16" name="Text 13"/>
          <p:cNvSpPr/>
          <p:nvPr/>
        </p:nvSpPr>
        <p:spPr>
          <a:xfrm>
            <a:off x="571500" y="4248745"/>
            <a:ext cx="4952991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D93025"/>
                </a:solidFill>
              </a:rPr>
              <a:t>33.2%</a:t>
            </a:r>
            <a:endParaRPr lang="en-US" sz="2436" dirty="0"/>
          </a:p>
        </p:txBody>
      </p:sp>
      <p:sp>
        <p:nvSpPr>
          <p:cNvPr id="17" name="Shape 14"/>
          <p:cNvSpPr/>
          <p:nvPr/>
        </p:nvSpPr>
        <p:spPr>
          <a:xfrm>
            <a:off x="5810241" y="975122"/>
            <a:ext cx="2762259" cy="3811191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3116" y="1515452"/>
            <a:ext cx="2476509" cy="273050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5400" y="-107826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357188"/>
            <a:ext cx="8001000" cy="33218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1"/>
          <p:cNvSpPr/>
          <p:nvPr/>
        </p:nvSpPr>
        <p:spPr>
          <a:xfrm>
            <a:off x="571500" y="357188"/>
            <a:ext cx="57150" cy="332184"/>
          </a:xfrm>
          <a:prstGeom prst="rect">
            <a:avLst/>
          </a:prstGeom>
          <a:solidFill>
            <a:srgbClr val="D9302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571500" y="357188"/>
            <a:ext cx="8001000" cy="332184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案例分析 II：模型记忆性导致的版权与敏感信息泄露</a:t>
            </a:r>
            <a:endParaRPr lang="en-US" sz="1602" dirty="0"/>
          </a:p>
        </p:txBody>
      </p:sp>
      <p:sp>
        <p:nvSpPr>
          <p:cNvPr id="6" name="Shape 3"/>
          <p:cNvSpPr/>
          <p:nvPr/>
        </p:nvSpPr>
        <p:spPr>
          <a:xfrm>
            <a:off x="571500" y="975122"/>
            <a:ext cx="2762259" cy="3811191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" y="2394440"/>
            <a:ext cx="2476509" cy="97252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619509" y="1843534"/>
            <a:ext cx="65" cy="1838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endParaRPr lang="en-US" sz="885" dirty="0"/>
          </a:p>
        </p:txBody>
      </p:sp>
      <p:sp>
        <p:nvSpPr>
          <p:cNvPr id="9" name="Text 5"/>
          <p:cNvSpPr/>
          <p:nvPr/>
        </p:nvSpPr>
        <p:spPr>
          <a:xfrm>
            <a:off x="3833822" y="1701581"/>
            <a:ext cx="38579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现象：</a:t>
            </a:r>
            <a:endParaRPr lang="en-US" sz="885" dirty="0"/>
          </a:p>
        </p:txBody>
      </p:sp>
      <p:sp>
        <p:nvSpPr>
          <p:cNvPr id="10" name="Text 6"/>
          <p:cNvSpPr/>
          <p:nvPr/>
        </p:nvSpPr>
        <p:spPr>
          <a:xfrm>
            <a:off x="3833822" y="1935450"/>
            <a:ext cx="3983422" cy="380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代码生成模型在生成过程中会“逐字复现”训练数据中的代码片段（Memorization）。</a:t>
            </a:r>
            <a:endParaRPr lang="en-US" sz="942" dirty="0"/>
          </a:p>
        </p:txBody>
      </p:sp>
      <p:sp>
        <p:nvSpPr>
          <p:cNvPr id="11" name="Text 7"/>
          <p:cNvSpPr/>
          <p:nvPr/>
        </p:nvSpPr>
        <p:spPr>
          <a:xfrm>
            <a:off x="3619509" y="2362126"/>
            <a:ext cx="65" cy="1838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endParaRPr lang="en-US" sz="885" dirty="0"/>
          </a:p>
        </p:txBody>
      </p:sp>
      <p:sp>
        <p:nvSpPr>
          <p:cNvPr id="12" name="Text 8"/>
          <p:cNvSpPr/>
          <p:nvPr/>
        </p:nvSpPr>
        <p:spPr>
          <a:xfrm>
            <a:off x="3833822" y="2376413"/>
            <a:ext cx="64296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实证发现：</a:t>
            </a:r>
            <a:endParaRPr lang="en-US" sz="885" dirty="0"/>
          </a:p>
        </p:txBody>
      </p:sp>
      <p:sp>
        <p:nvSpPr>
          <p:cNvPr id="13" name="Text 9"/>
          <p:cNvSpPr/>
          <p:nvPr/>
        </p:nvSpPr>
        <p:spPr>
          <a:xfrm>
            <a:off x="4476787" y="2376413"/>
            <a:ext cx="286238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在大规模随机生成测试中，检测到大量与训练数据</a:t>
            </a:r>
            <a:endParaRPr lang="en-US" sz="942" dirty="0"/>
          </a:p>
        </p:txBody>
      </p:sp>
      <p:sp>
        <p:nvSpPr>
          <p:cNvPr id="14" name="Text 10"/>
          <p:cNvSpPr/>
          <p:nvPr/>
        </p:nvSpPr>
        <p:spPr>
          <a:xfrm>
            <a:off x="7339171" y="2376413"/>
            <a:ext cx="51437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精确复制</a:t>
            </a:r>
            <a:endParaRPr lang="en-US" sz="885" dirty="0"/>
          </a:p>
        </p:txBody>
      </p:sp>
      <p:sp>
        <p:nvSpPr>
          <p:cNvPr id="15" name="Text 11"/>
          <p:cNvSpPr/>
          <p:nvPr/>
        </p:nvSpPr>
        <p:spPr>
          <a:xfrm>
            <a:off x="3833822" y="2585980"/>
            <a:ext cx="4662692" cy="380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的片段，涉及完整逻辑代码、函数定义等高价值内容。</a:t>
            </a:r>
            <a:endParaRPr lang="en-US" sz="942" dirty="0"/>
          </a:p>
        </p:txBody>
      </p:sp>
      <p:sp>
        <p:nvSpPr>
          <p:cNvPr id="16" name="Text 12"/>
          <p:cNvSpPr/>
          <p:nvPr/>
        </p:nvSpPr>
        <p:spPr>
          <a:xfrm>
            <a:off x="3619509" y="2880717"/>
            <a:ext cx="65" cy="1838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endParaRPr lang="en-US" sz="885" dirty="0"/>
          </a:p>
        </p:txBody>
      </p:sp>
      <p:sp>
        <p:nvSpPr>
          <p:cNvPr id="17" name="Text 13"/>
          <p:cNvSpPr/>
          <p:nvPr/>
        </p:nvSpPr>
        <p:spPr>
          <a:xfrm>
            <a:off x="3833822" y="2895005"/>
            <a:ext cx="64296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影响因素：</a:t>
            </a:r>
            <a:endParaRPr lang="en-US" sz="885" dirty="0"/>
          </a:p>
        </p:txBody>
      </p:sp>
      <p:sp>
        <p:nvSpPr>
          <p:cNvPr id="18" name="Text 14"/>
          <p:cNvSpPr/>
          <p:nvPr/>
        </p:nvSpPr>
        <p:spPr>
          <a:xfrm>
            <a:off x="3838510" y="3047218"/>
            <a:ext cx="4733990" cy="380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模型规模越大、输出长度越长、训练数据重复次数越高，Memorization越严重。</a:t>
            </a:r>
            <a:endParaRPr lang="en-US" sz="942" dirty="0"/>
          </a:p>
        </p:txBody>
      </p:sp>
      <p:sp>
        <p:nvSpPr>
          <p:cNvPr id="19" name="Text 15"/>
          <p:cNvSpPr/>
          <p:nvPr/>
        </p:nvSpPr>
        <p:spPr>
          <a:xfrm>
            <a:off x="3619509" y="3399309"/>
            <a:ext cx="65" cy="1838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endParaRPr lang="en-US" sz="885" dirty="0"/>
          </a:p>
        </p:txBody>
      </p:sp>
      <p:sp>
        <p:nvSpPr>
          <p:cNvPr id="20" name="Text 16"/>
          <p:cNvSpPr/>
          <p:nvPr/>
        </p:nvSpPr>
        <p:spPr>
          <a:xfrm>
            <a:off x="3833822" y="3413596"/>
            <a:ext cx="38579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风险：</a:t>
            </a:r>
            <a:endParaRPr lang="en-US" sz="885" dirty="0"/>
          </a:p>
        </p:txBody>
      </p:sp>
      <p:sp>
        <p:nvSpPr>
          <p:cNvPr id="21" name="Text 17"/>
          <p:cNvSpPr/>
          <p:nvPr/>
        </p:nvSpPr>
        <p:spPr>
          <a:xfrm>
            <a:off x="3809935" y="3606151"/>
            <a:ext cx="4710466" cy="380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泄露私有代码、违反许可证合规、输出不可信/不可控，对软件开发生态的诚信造成冲击。</a:t>
            </a:r>
            <a:endParaRPr lang="en-US" sz="942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357188"/>
            <a:ext cx="8001000" cy="33218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1"/>
          <p:cNvSpPr/>
          <p:nvPr/>
        </p:nvSpPr>
        <p:spPr>
          <a:xfrm>
            <a:off x="571500" y="357188"/>
            <a:ext cx="57150" cy="332184"/>
          </a:xfrm>
          <a:prstGeom prst="rect">
            <a:avLst/>
          </a:prstGeom>
          <a:solidFill>
            <a:srgbClr val="D9302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571500" y="357188"/>
            <a:ext cx="8001000" cy="332184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技术剖析 I：风险的内在机制与数据基础</a:t>
            </a:r>
            <a:endParaRPr lang="en-US" sz="1602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247170"/>
            <a:ext cx="150019" cy="1714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92956" y="1229311"/>
            <a:ext cx="17145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训练数据：复杂与未经清洗</a:t>
            </a:r>
            <a:endParaRPr lang="en-US" sz="987" dirty="0"/>
          </a:p>
        </p:txBody>
      </p:sp>
      <p:sp>
        <p:nvSpPr>
          <p:cNvPr id="8" name="Text 4"/>
          <p:cNvSpPr/>
          <p:nvPr/>
        </p:nvSpPr>
        <p:spPr>
          <a:xfrm>
            <a:off x="571500" y="1472199"/>
            <a:ext cx="4952991" cy="365727"/>
          </a:xfrm>
          <a:prstGeom prst="rect">
            <a:avLst/>
          </a:prstGeom>
          <a:noFill/>
          <a:ln/>
        </p:spPr>
        <p:txBody>
          <a:bodyPr wrap="square" lIns="289179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训练语料来源广泛，包含大量因疏忽或不规范提交的硬编码凭证、版权代码等，为风险埋下伏笔。</a:t>
            </a:r>
            <a:endParaRPr lang="en-US" sz="834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578503"/>
            <a:ext cx="171450" cy="1714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14388" y="2560644"/>
            <a:ext cx="22860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模型记忆性：高熵序列的强关联存储</a:t>
            </a:r>
            <a:endParaRPr lang="en-US" sz="987" dirty="0"/>
          </a:p>
        </p:txBody>
      </p:sp>
      <p:sp>
        <p:nvSpPr>
          <p:cNvPr id="11" name="Text 6"/>
          <p:cNvSpPr/>
          <p:nvPr/>
        </p:nvSpPr>
        <p:spPr>
          <a:xfrm>
            <a:off x="571500" y="2803531"/>
            <a:ext cx="4952991" cy="182863"/>
          </a:xfrm>
          <a:prstGeom prst="rect">
            <a:avLst/>
          </a:prstGeom>
          <a:noFill/>
          <a:ln/>
        </p:spPr>
        <p:txBody>
          <a:bodyPr wrap="none" lIns="289179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巨大参数规模使模型对高熵序列（如密钥、令牌）形成强关联存储，而非仅学习泛化模式。</a:t>
            </a:r>
            <a:endParaRPr lang="en-US" sz="834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726973"/>
            <a:ext cx="192881" cy="1714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35819" y="3709113"/>
            <a:ext cx="257175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结构性风险：数据、模型与机制的综合作</a:t>
            </a:r>
            <a:endParaRPr lang="en-US" sz="987" dirty="0"/>
          </a:p>
        </p:txBody>
      </p:sp>
      <p:sp>
        <p:nvSpPr>
          <p:cNvPr id="14" name="Text 8"/>
          <p:cNvSpPr/>
          <p:nvPr/>
        </p:nvSpPr>
        <p:spPr>
          <a:xfrm>
            <a:off x="571500" y="3952001"/>
            <a:ext cx="4952991" cy="365727"/>
          </a:xfrm>
          <a:prstGeom prst="rect">
            <a:avLst/>
          </a:prstGeom>
          <a:noFill/>
          <a:ln/>
        </p:spPr>
        <p:txBody>
          <a:bodyPr wrap="square" lIns="289179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敏感信息回显与训练数据复刻并非偶然缺陷，而是源于数据、模型与生成机制共同作用的结构性现象。</a:t>
            </a:r>
            <a:endParaRPr lang="en-US" sz="834" dirty="0"/>
          </a:p>
        </p:txBody>
      </p:sp>
      <p:sp>
        <p:nvSpPr>
          <p:cNvPr id="15" name="Shape 9"/>
          <p:cNvSpPr/>
          <p:nvPr/>
        </p:nvSpPr>
        <p:spPr>
          <a:xfrm>
            <a:off x="5810241" y="975122"/>
            <a:ext cx="2762259" cy="3811191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53116" y="2251258"/>
            <a:ext cx="2476509" cy="125889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0800" y="15013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357188"/>
            <a:ext cx="8001000" cy="33218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1"/>
          <p:cNvSpPr/>
          <p:nvPr/>
        </p:nvSpPr>
        <p:spPr>
          <a:xfrm>
            <a:off x="571500" y="357188"/>
            <a:ext cx="57150" cy="332184"/>
          </a:xfrm>
          <a:prstGeom prst="rect">
            <a:avLst/>
          </a:prstGeom>
          <a:solidFill>
            <a:srgbClr val="D9302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571500" y="357188"/>
            <a:ext cx="8001000" cy="332184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技术剖析 II：诱导触发与防护体系的缺失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571500" y="1918488"/>
            <a:ext cx="150019" cy="3085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193" b="1" dirty="0">
                <a:solidFill>
                  <a:srgbClr val="D93025"/>
                </a:solidFill>
              </a:rPr>
              <a:t>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821531" y="1945277"/>
            <a:ext cx="64296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诱导机制：</a:t>
            </a:r>
            <a:endParaRPr lang="en-US" sz="885" dirty="0"/>
          </a:p>
        </p:txBody>
      </p:sp>
      <p:sp>
        <p:nvSpPr>
          <p:cNvPr id="8" name="Text 5"/>
          <p:cNvSpPr/>
          <p:nvPr/>
        </p:nvSpPr>
        <p:spPr>
          <a:xfrm>
            <a:off x="821531" y="2131547"/>
            <a:ext cx="4692467" cy="4064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用户Prompt与训练数据中的片段接近时，模型被“诱导”生成高度相似内容，长序列输出更易触发。</a:t>
            </a:r>
            <a:endParaRPr lang="en-US" sz="942" dirty="0"/>
          </a:p>
        </p:txBody>
      </p:sp>
      <p:sp>
        <p:nvSpPr>
          <p:cNvPr id="9" name="Text 6"/>
          <p:cNvSpPr/>
          <p:nvPr/>
        </p:nvSpPr>
        <p:spPr>
          <a:xfrm>
            <a:off x="571500" y="2559974"/>
            <a:ext cx="150019" cy="3085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193" b="1" dirty="0">
                <a:solidFill>
                  <a:srgbClr val="D93025"/>
                </a:solidFill>
              </a:rPr>
              <a:t></a:t>
            </a:r>
            <a:endParaRPr lang="en-US" sz="1193" dirty="0"/>
          </a:p>
        </p:txBody>
      </p:sp>
      <p:sp>
        <p:nvSpPr>
          <p:cNvPr id="10" name="Text 7"/>
          <p:cNvSpPr/>
          <p:nvPr/>
        </p:nvSpPr>
        <p:spPr>
          <a:xfrm>
            <a:off x="821531" y="2586763"/>
            <a:ext cx="102872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高熵字符串风险：</a:t>
            </a:r>
            <a:endParaRPr lang="en-US" sz="885" dirty="0"/>
          </a:p>
        </p:txBody>
      </p:sp>
      <p:sp>
        <p:nvSpPr>
          <p:cNvPr id="11" name="Text 8"/>
          <p:cNvSpPr/>
          <p:nvPr/>
        </p:nvSpPr>
        <p:spPr>
          <a:xfrm>
            <a:off x="821531" y="2789997"/>
            <a:ext cx="4626359" cy="4064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密钥、令牌、连接串等高熵序列不易被模型“泛化”，反而容易成为被保留的异常模式，被原样复刻。</a:t>
            </a:r>
            <a:endParaRPr lang="en-US" sz="942" dirty="0"/>
          </a:p>
        </p:txBody>
      </p:sp>
      <p:sp>
        <p:nvSpPr>
          <p:cNvPr id="12" name="Text 9"/>
          <p:cNvSpPr/>
          <p:nvPr/>
        </p:nvSpPr>
        <p:spPr>
          <a:xfrm>
            <a:off x="571500" y="3201460"/>
            <a:ext cx="171450" cy="3085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193" b="1" dirty="0">
                <a:solidFill>
                  <a:srgbClr val="D93025"/>
                </a:solidFill>
              </a:rPr>
              <a:t></a:t>
            </a:r>
            <a:endParaRPr lang="en-US" sz="1193" dirty="0"/>
          </a:p>
        </p:txBody>
      </p:sp>
      <p:sp>
        <p:nvSpPr>
          <p:cNvPr id="13" name="Text 10"/>
          <p:cNvSpPr/>
          <p:nvPr/>
        </p:nvSpPr>
        <p:spPr>
          <a:xfrm>
            <a:off x="821531" y="3228249"/>
            <a:ext cx="64296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防护不足：</a:t>
            </a:r>
            <a:endParaRPr lang="en-US" sz="885" dirty="0"/>
          </a:p>
        </p:txBody>
      </p:sp>
      <p:sp>
        <p:nvSpPr>
          <p:cNvPr id="14" name="Text 11"/>
          <p:cNvSpPr/>
          <p:nvPr/>
        </p:nvSpPr>
        <p:spPr>
          <a:xfrm>
            <a:off x="821531" y="3403271"/>
            <a:ext cx="4662636" cy="4064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缺乏输出过滤、凭证扫描、重复检测或许可证检查等工具的配合，生成内容未经审查直接进入生产环境。</a:t>
            </a:r>
            <a:endParaRPr lang="en-US" sz="942" dirty="0"/>
          </a:p>
        </p:txBody>
      </p:sp>
      <p:sp>
        <p:nvSpPr>
          <p:cNvPr id="15" name="Shape 12"/>
          <p:cNvSpPr/>
          <p:nvPr/>
        </p:nvSpPr>
        <p:spPr>
          <a:xfrm>
            <a:off x="5810241" y="975122"/>
            <a:ext cx="2762259" cy="3811191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3116" y="2251258"/>
            <a:ext cx="2476509" cy="125889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357188"/>
            <a:ext cx="8001000" cy="42505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1"/>
          <p:cNvSpPr/>
          <p:nvPr/>
        </p:nvSpPr>
        <p:spPr>
          <a:xfrm>
            <a:off x="571500" y="760809"/>
            <a:ext cx="8001000" cy="21431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571500" y="357188"/>
            <a:ext cx="8001000" cy="425053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利弊权衡 I：效率收益与核心安全威胁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571500" y="975122"/>
            <a:ext cx="3821906" cy="307181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</a:rPr>
              <a:t>核心收益 (Benefits)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571500" y="1425178"/>
            <a:ext cx="128588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</a:t>
            </a:r>
            <a:endParaRPr lang="en-US" sz="885" dirty="0"/>
          </a:p>
        </p:txBody>
      </p:sp>
      <p:sp>
        <p:nvSpPr>
          <p:cNvPr id="8" name="Text 5"/>
          <p:cNvSpPr/>
          <p:nvPr/>
        </p:nvSpPr>
        <p:spPr>
          <a:xfrm>
            <a:off x="821531" y="1439466"/>
            <a:ext cx="64296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效率提升：</a:t>
            </a:r>
            <a:endParaRPr lang="en-US" sz="885" dirty="0"/>
          </a:p>
        </p:txBody>
      </p:sp>
      <p:sp>
        <p:nvSpPr>
          <p:cNvPr id="9" name="Text 6"/>
          <p:cNvSpPr/>
          <p:nvPr/>
        </p:nvSpPr>
        <p:spPr>
          <a:xfrm>
            <a:off x="821530" y="1628328"/>
            <a:ext cx="3505349" cy="380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快速生成模板、基础结构，显著减少编写琐碎代码的时间。</a:t>
            </a:r>
            <a:endParaRPr lang="en-US" sz="942" dirty="0"/>
          </a:p>
        </p:txBody>
      </p:sp>
      <p:sp>
        <p:nvSpPr>
          <p:cNvPr id="10" name="Text 7"/>
          <p:cNvSpPr/>
          <p:nvPr/>
        </p:nvSpPr>
        <p:spPr>
          <a:xfrm>
            <a:off x="571500" y="1943770"/>
            <a:ext cx="128588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</a:t>
            </a:r>
            <a:endParaRPr lang="en-US" sz="885" dirty="0"/>
          </a:p>
        </p:txBody>
      </p:sp>
      <p:sp>
        <p:nvSpPr>
          <p:cNvPr id="11" name="Text 8"/>
          <p:cNvSpPr/>
          <p:nvPr/>
        </p:nvSpPr>
        <p:spPr>
          <a:xfrm>
            <a:off x="821531" y="1958057"/>
            <a:ext cx="64296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降低门槛：</a:t>
            </a:r>
            <a:endParaRPr lang="en-US" sz="885" dirty="0"/>
          </a:p>
        </p:txBody>
      </p:sp>
      <p:sp>
        <p:nvSpPr>
          <p:cNvPr id="12" name="Text 9"/>
          <p:cNvSpPr/>
          <p:nvPr/>
        </p:nvSpPr>
        <p:spPr>
          <a:xfrm>
            <a:off x="1464497" y="1958057"/>
            <a:ext cx="273379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帮助新手快速熟悉语言或框架，降低学习曲线。</a:t>
            </a:r>
            <a:endParaRPr lang="en-US" sz="942" dirty="0"/>
          </a:p>
        </p:txBody>
      </p:sp>
      <p:sp>
        <p:nvSpPr>
          <p:cNvPr id="13" name="Text 10"/>
          <p:cNvSpPr/>
          <p:nvPr/>
        </p:nvSpPr>
        <p:spPr>
          <a:xfrm>
            <a:off x="571500" y="2256644"/>
            <a:ext cx="128588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</a:t>
            </a:r>
            <a:endParaRPr lang="en-US" sz="885" dirty="0"/>
          </a:p>
        </p:txBody>
      </p:sp>
      <p:sp>
        <p:nvSpPr>
          <p:cNvPr id="14" name="Text 11"/>
          <p:cNvSpPr/>
          <p:nvPr/>
        </p:nvSpPr>
        <p:spPr>
          <a:xfrm>
            <a:off x="821531" y="2270931"/>
            <a:ext cx="77155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代码一致性：</a:t>
            </a:r>
            <a:endParaRPr lang="en-US" sz="885" dirty="0"/>
          </a:p>
        </p:txBody>
      </p:sp>
      <p:sp>
        <p:nvSpPr>
          <p:cNvPr id="15" name="Text 12"/>
          <p:cNvSpPr/>
          <p:nvPr/>
        </p:nvSpPr>
        <p:spPr>
          <a:xfrm>
            <a:off x="1593084" y="2270931"/>
            <a:ext cx="273379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促进代码风格与结构的一致性，减少低级失误。</a:t>
            </a:r>
            <a:endParaRPr lang="en-US" sz="942" dirty="0"/>
          </a:p>
        </p:txBody>
      </p:sp>
      <p:sp>
        <p:nvSpPr>
          <p:cNvPr id="16" name="Text 13"/>
          <p:cNvSpPr/>
          <p:nvPr/>
        </p:nvSpPr>
        <p:spPr>
          <a:xfrm>
            <a:off x="4750594" y="975122"/>
            <a:ext cx="3821906" cy="307181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D93025"/>
                </a:solidFill>
              </a:rPr>
              <a:t>核心安全威胁 (Threats)</a:t>
            </a:r>
            <a:endParaRPr lang="en-US" sz="1193" dirty="0"/>
          </a:p>
        </p:txBody>
      </p:sp>
      <p:sp>
        <p:nvSpPr>
          <p:cNvPr id="17" name="Text 14"/>
          <p:cNvSpPr/>
          <p:nvPr/>
        </p:nvSpPr>
        <p:spPr>
          <a:xfrm>
            <a:off x="4750594" y="1425178"/>
            <a:ext cx="128588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D93025"/>
                </a:solidFill>
              </a:rPr>
              <a:t></a:t>
            </a:r>
            <a:endParaRPr lang="en-US" sz="885" dirty="0"/>
          </a:p>
        </p:txBody>
      </p:sp>
      <p:sp>
        <p:nvSpPr>
          <p:cNvPr id="18" name="Text 15"/>
          <p:cNvSpPr/>
          <p:nvPr/>
        </p:nvSpPr>
        <p:spPr>
          <a:xfrm>
            <a:off x="5000625" y="1439466"/>
            <a:ext cx="90014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敏感凭证泄露：</a:t>
            </a:r>
            <a:endParaRPr lang="en-US" sz="885" dirty="0"/>
          </a:p>
        </p:txBody>
      </p:sp>
      <p:sp>
        <p:nvSpPr>
          <p:cNvPr id="19" name="Text 16"/>
          <p:cNvSpPr/>
          <p:nvPr/>
        </p:nvSpPr>
        <p:spPr>
          <a:xfrm>
            <a:off x="5000624" y="1583903"/>
            <a:ext cx="3505349" cy="380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硬编码凭证被模型记忆并回显，导致未授权访问。</a:t>
            </a:r>
            <a:endParaRPr lang="en-US" sz="942" dirty="0"/>
          </a:p>
        </p:txBody>
      </p:sp>
      <p:sp>
        <p:nvSpPr>
          <p:cNvPr id="20" name="Text 17"/>
          <p:cNvSpPr/>
          <p:nvPr/>
        </p:nvSpPr>
        <p:spPr>
          <a:xfrm>
            <a:off x="4750594" y="1943770"/>
            <a:ext cx="128588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D93025"/>
                </a:solidFill>
              </a:rPr>
              <a:t></a:t>
            </a:r>
            <a:endParaRPr lang="en-US" sz="885" dirty="0"/>
          </a:p>
        </p:txBody>
      </p:sp>
      <p:sp>
        <p:nvSpPr>
          <p:cNvPr id="21" name="Text 18"/>
          <p:cNvSpPr/>
          <p:nvPr/>
        </p:nvSpPr>
        <p:spPr>
          <a:xfrm>
            <a:off x="5000625" y="1958057"/>
            <a:ext cx="90014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模型生成漏洞：</a:t>
            </a:r>
            <a:endParaRPr lang="en-US" sz="885" dirty="0"/>
          </a:p>
        </p:txBody>
      </p:sp>
      <p:sp>
        <p:nvSpPr>
          <p:cNvPr id="22" name="Text 19"/>
          <p:cNvSpPr/>
          <p:nvPr/>
        </p:nvSpPr>
        <p:spPr>
          <a:xfrm>
            <a:off x="5000625" y="2131935"/>
            <a:ext cx="3376761" cy="380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模型可能生成看似合理但实际存在漏洞的代码。</a:t>
            </a:r>
            <a:endParaRPr lang="en-US" sz="942" dirty="0"/>
          </a:p>
        </p:txBody>
      </p:sp>
      <p:sp>
        <p:nvSpPr>
          <p:cNvPr id="23" name="Text 20"/>
          <p:cNvSpPr/>
          <p:nvPr/>
        </p:nvSpPr>
        <p:spPr>
          <a:xfrm>
            <a:off x="4750594" y="2462361"/>
            <a:ext cx="128588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D93025"/>
                </a:solidFill>
              </a:rPr>
              <a:t></a:t>
            </a:r>
            <a:endParaRPr lang="en-US" sz="885" dirty="0"/>
          </a:p>
        </p:txBody>
      </p:sp>
      <p:sp>
        <p:nvSpPr>
          <p:cNvPr id="24" name="Text 21"/>
          <p:cNvSpPr/>
          <p:nvPr/>
        </p:nvSpPr>
        <p:spPr>
          <a:xfrm>
            <a:off x="5000625" y="2476649"/>
            <a:ext cx="90014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系统入侵风险：</a:t>
            </a:r>
            <a:endParaRPr lang="en-US" sz="885" dirty="0"/>
          </a:p>
        </p:txBody>
      </p:sp>
      <p:sp>
        <p:nvSpPr>
          <p:cNvPr id="25" name="Text 22"/>
          <p:cNvSpPr/>
          <p:nvPr/>
        </p:nvSpPr>
        <p:spPr>
          <a:xfrm>
            <a:off x="5000623" y="2655550"/>
            <a:ext cx="3505349" cy="380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泄露与漏洞代码结合，放大系统入侵与数据泄露风险。</a:t>
            </a:r>
            <a:endParaRPr lang="en-US" sz="942" dirty="0"/>
          </a:p>
        </p:txBody>
      </p:sp>
      <p:sp>
        <p:nvSpPr>
          <p:cNvPr id="26" name="Text 23"/>
          <p:cNvSpPr/>
          <p:nvPr/>
        </p:nvSpPr>
        <p:spPr>
          <a:xfrm>
            <a:off x="1890176" y="3350419"/>
            <a:ext cx="5363648" cy="1673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7" b="1" dirty="0" err="1">
                <a:solidFill>
                  <a:srgbClr val="D93025"/>
                </a:solidFill>
              </a:rPr>
              <a:t>AI代码助手是能力放大器：它在提升效率的同时，也可能放大训练数据中的弱点和敏感内容</a:t>
            </a:r>
            <a:r>
              <a:rPr lang="en-US" sz="987" b="1" dirty="0">
                <a:solidFill>
                  <a:srgbClr val="D93025"/>
                </a:solidFill>
              </a:rPr>
              <a:t>。</a:t>
            </a:r>
            <a:endParaRPr lang="en-US" sz="987" dirty="0"/>
          </a:p>
        </p:txBody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1888" y="3700463"/>
            <a:ext cx="1800225" cy="10858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357188"/>
            <a:ext cx="8001000" cy="42505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1"/>
          <p:cNvSpPr/>
          <p:nvPr/>
        </p:nvSpPr>
        <p:spPr>
          <a:xfrm>
            <a:off x="571500" y="760809"/>
            <a:ext cx="8001000" cy="21431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571500" y="357188"/>
            <a:ext cx="8001000" cy="425053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D93025"/>
                </a:solidFill>
              </a:rPr>
              <a:t>利弊权衡 II：版权合规与长期治理挑战</a:t>
            </a:r>
            <a:endParaRPr lang="en-US" sz="1602" dirty="0"/>
          </a:p>
        </p:txBody>
      </p:sp>
      <p:sp>
        <p:nvSpPr>
          <p:cNvPr id="6" name="Shape 3"/>
          <p:cNvSpPr/>
          <p:nvPr/>
        </p:nvSpPr>
        <p:spPr>
          <a:xfrm>
            <a:off x="571500" y="1046559"/>
            <a:ext cx="2762259" cy="3739753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" y="2090496"/>
            <a:ext cx="2476509" cy="165188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619509" y="1915613"/>
            <a:ext cx="171450" cy="3085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193" b="1" dirty="0">
                <a:solidFill>
                  <a:srgbClr val="D93025"/>
                </a:solidFill>
              </a:rPr>
              <a:t></a:t>
            </a:r>
            <a:endParaRPr lang="en-US" sz="1193" dirty="0"/>
          </a:p>
        </p:txBody>
      </p:sp>
      <p:sp>
        <p:nvSpPr>
          <p:cNvPr id="9" name="Text 5"/>
          <p:cNvSpPr/>
          <p:nvPr/>
        </p:nvSpPr>
        <p:spPr>
          <a:xfrm>
            <a:off x="3869541" y="1945974"/>
            <a:ext cx="114300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版权与合规风险：</a:t>
            </a:r>
            <a:endParaRPr lang="en-US" sz="987" dirty="0"/>
          </a:p>
        </p:txBody>
      </p:sp>
      <p:sp>
        <p:nvSpPr>
          <p:cNvPr id="10" name="Text 6"/>
          <p:cNvSpPr/>
          <p:nvPr/>
        </p:nvSpPr>
        <p:spPr>
          <a:xfrm>
            <a:off x="3869541" y="2168324"/>
            <a:ext cx="4648321" cy="412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模型复刻受限许可证代码，可能引发法律纠纷、许可证违约或合规审查失败。</a:t>
            </a:r>
            <a:endParaRPr lang="en-US" sz="942" dirty="0"/>
          </a:p>
        </p:txBody>
      </p:sp>
      <p:sp>
        <p:nvSpPr>
          <p:cNvPr id="11" name="Text 7"/>
          <p:cNvSpPr/>
          <p:nvPr/>
        </p:nvSpPr>
        <p:spPr>
          <a:xfrm>
            <a:off x="3619509" y="2582828"/>
            <a:ext cx="171450" cy="3085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193" b="1" dirty="0">
                <a:solidFill>
                  <a:srgbClr val="D93025"/>
                </a:solidFill>
              </a:rPr>
              <a:t></a:t>
            </a:r>
            <a:endParaRPr lang="en-US" sz="1193" dirty="0"/>
          </a:p>
        </p:txBody>
      </p:sp>
      <p:sp>
        <p:nvSpPr>
          <p:cNvPr id="12" name="Text 8"/>
          <p:cNvSpPr/>
          <p:nvPr/>
        </p:nvSpPr>
        <p:spPr>
          <a:xfrm>
            <a:off x="3869541" y="2613189"/>
            <a:ext cx="71437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治理挑战：</a:t>
            </a:r>
            <a:endParaRPr lang="en-US" sz="987" dirty="0"/>
          </a:p>
        </p:txBody>
      </p:sp>
      <p:sp>
        <p:nvSpPr>
          <p:cNvPr id="13" name="Text 9"/>
          <p:cNvSpPr/>
          <p:nvPr/>
        </p:nvSpPr>
        <p:spPr>
          <a:xfrm>
            <a:off x="3869541" y="2807856"/>
            <a:ext cx="4605458" cy="412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生成内容不透明、缺乏可溯源性，导致模型提供方、使用者和代码原作者之间的责任界定模糊。</a:t>
            </a:r>
            <a:endParaRPr lang="en-US" sz="942" dirty="0"/>
          </a:p>
        </p:txBody>
      </p:sp>
      <p:sp>
        <p:nvSpPr>
          <p:cNvPr id="14" name="Text 10"/>
          <p:cNvSpPr/>
          <p:nvPr/>
        </p:nvSpPr>
        <p:spPr>
          <a:xfrm>
            <a:off x="3619509" y="3250043"/>
            <a:ext cx="171450" cy="3085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193" b="1" dirty="0">
                <a:solidFill>
                  <a:srgbClr val="D93025"/>
                </a:solidFill>
              </a:rPr>
              <a:t></a:t>
            </a:r>
            <a:endParaRPr lang="en-US" sz="1193" dirty="0"/>
          </a:p>
        </p:txBody>
      </p:sp>
      <p:sp>
        <p:nvSpPr>
          <p:cNvPr id="15" name="Text 11"/>
          <p:cNvSpPr/>
          <p:nvPr/>
        </p:nvSpPr>
        <p:spPr>
          <a:xfrm>
            <a:off x="3869541" y="3280404"/>
            <a:ext cx="71437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长期风险：</a:t>
            </a:r>
            <a:endParaRPr lang="en-US" sz="987" dirty="0"/>
          </a:p>
        </p:txBody>
      </p:sp>
      <p:sp>
        <p:nvSpPr>
          <p:cNvPr id="16" name="Text 12"/>
          <p:cNvSpPr/>
          <p:nvPr/>
        </p:nvSpPr>
        <p:spPr>
          <a:xfrm>
            <a:off x="3869541" y="3502754"/>
            <a:ext cx="4605458" cy="412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历史泄露或违规数据可能持续影响未来，成为长期隐患，即便凭证已被删除或仓库私有化。</a:t>
            </a:r>
            <a:endParaRPr lang="en-US" sz="942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36417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357188"/>
            <a:ext cx="8001000" cy="33218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1"/>
          <p:cNvSpPr/>
          <p:nvPr/>
        </p:nvSpPr>
        <p:spPr>
          <a:xfrm>
            <a:off x="571500" y="357188"/>
            <a:ext cx="57150" cy="332184"/>
          </a:xfrm>
          <a:prstGeom prst="rect">
            <a:avLst/>
          </a:prstGeom>
          <a:solidFill>
            <a:srgbClr val="D9302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571500" y="357188"/>
            <a:ext cx="8001000" cy="332184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应对策略：构建多层次综合防御体系</a:t>
            </a:r>
            <a:endParaRPr lang="en-US" sz="1602" dirty="0"/>
          </a:p>
        </p:txBody>
      </p:sp>
      <p:sp>
        <p:nvSpPr>
          <p:cNvPr id="6" name="Shape 3"/>
          <p:cNvSpPr/>
          <p:nvPr/>
        </p:nvSpPr>
        <p:spPr>
          <a:xfrm>
            <a:off x="571500" y="975122"/>
            <a:ext cx="3893344" cy="1408714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4"/>
          <p:cNvSpPr/>
          <p:nvPr/>
        </p:nvSpPr>
        <p:spPr>
          <a:xfrm>
            <a:off x="571500" y="975122"/>
            <a:ext cx="71438" cy="1394399"/>
          </a:xfrm>
          <a:prstGeom prst="rect">
            <a:avLst/>
          </a:prstGeom>
          <a:solidFill>
            <a:srgbClr val="D93025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094" y="1160859"/>
            <a:ext cx="250031" cy="2857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50094" y="1553766"/>
            <a:ext cx="1571625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数据准备阶段：源头治理</a:t>
            </a:r>
            <a:endParaRPr lang="en-US" sz="987" dirty="0"/>
          </a:p>
        </p:txBody>
      </p:sp>
      <p:sp>
        <p:nvSpPr>
          <p:cNvPr id="10" name="Text 6"/>
          <p:cNvSpPr/>
          <p:nvPr/>
        </p:nvSpPr>
        <p:spPr>
          <a:xfrm>
            <a:off x="750094" y="1832372"/>
            <a:ext cx="3536156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严格清洗、去敏与去重，剔除敏感凭证和高重复代码，从源头减少模型记忆风险。</a:t>
            </a:r>
            <a:endParaRPr lang="en-US" sz="834" dirty="0"/>
          </a:p>
        </p:txBody>
      </p:sp>
      <p:sp>
        <p:nvSpPr>
          <p:cNvPr id="11" name="Shape 7"/>
          <p:cNvSpPr/>
          <p:nvPr/>
        </p:nvSpPr>
        <p:spPr>
          <a:xfrm>
            <a:off x="4679156" y="975122"/>
            <a:ext cx="3893344" cy="1408714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8"/>
          <p:cNvSpPr/>
          <p:nvPr/>
        </p:nvSpPr>
        <p:spPr>
          <a:xfrm>
            <a:off x="4679156" y="975122"/>
            <a:ext cx="71438" cy="1394399"/>
          </a:xfrm>
          <a:prstGeom prst="rect">
            <a:avLst/>
          </a:prstGeom>
          <a:solidFill>
            <a:srgbClr val="D93025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0" y="1160859"/>
            <a:ext cx="357188" cy="28575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857750" y="1553766"/>
            <a:ext cx="17145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模型与生成阶段：内置安全</a:t>
            </a:r>
            <a:endParaRPr lang="en-US" sz="987" dirty="0"/>
          </a:p>
        </p:txBody>
      </p:sp>
      <p:sp>
        <p:nvSpPr>
          <p:cNvPr id="15" name="Text 10"/>
          <p:cNvSpPr/>
          <p:nvPr/>
        </p:nvSpPr>
        <p:spPr>
          <a:xfrm>
            <a:off x="4857750" y="1832372"/>
            <a:ext cx="3536156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引入“模型忘却”技术；在输出端加入过滤层，检测并阻断潜在泄露，确保生成内容安全。</a:t>
            </a:r>
            <a:endParaRPr lang="en-US" sz="834" dirty="0"/>
          </a:p>
        </p:txBody>
      </p:sp>
      <p:sp>
        <p:nvSpPr>
          <p:cNvPr id="16" name="Shape 11"/>
          <p:cNvSpPr/>
          <p:nvPr/>
        </p:nvSpPr>
        <p:spPr>
          <a:xfrm>
            <a:off x="571500" y="2598148"/>
            <a:ext cx="3893344" cy="1408714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2"/>
          <p:cNvSpPr/>
          <p:nvPr/>
        </p:nvSpPr>
        <p:spPr>
          <a:xfrm>
            <a:off x="571500" y="2598148"/>
            <a:ext cx="71438" cy="1394399"/>
          </a:xfrm>
          <a:prstGeom prst="rect">
            <a:avLst/>
          </a:prstGeom>
          <a:solidFill>
            <a:srgbClr val="D93025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0094" y="2783886"/>
            <a:ext cx="214313" cy="28575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50094" y="3176792"/>
            <a:ext cx="1571625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组织管理层面：流程规范</a:t>
            </a:r>
            <a:endParaRPr lang="en-US" sz="987" dirty="0"/>
          </a:p>
        </p:txBody>
      </p:sp>
      <p:sp>
        <p:nvSpPr>
          <p:cNvPr id="20" name="Text 14"/>
          <p:cNvSpPr/>
          <p:nvPr/>
        </p:nvSpPr>
        <p:spPr>
          <a:xfrm>
            <a:off x="750094" y="3455398"/>
            <a:ext cx="3536156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建立严格的使用规范、凭证管理体系、代码审查与许可证检测流程，实现流程化治理。</a:t>
            </a:r>
            <a:endParaRPr lang="en-US" sz="834" dirty="0"/>
          </a:p>
        </p:txBody>
      </p:sp>
      <p:sp>
        <p:nvSpPr>
          <p:cNvPr id="21" name="Shape 15"/>
          <p:cNvSpPr/>
          <p:nvPr/>
        </p:nvSpPr>
        <p:spPr>
          <a:xfrm>
            <a:off x="4679156" y="2598148"/>
            <a:ext cx="3893344" cy="1408714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16"/>
          <p:cNvSpPr/>
          <p:nvPr/>
        </p:nvSpPr>
        <p:spPr>
          <a:xfrm>
            <a:off x="4679156" y="2583861"/>
            <a:ext cx="71438" cy="1394399"/>
          </a:xfrm>
          <a:prstGeom prst="rect">
            <a:avLst/>
          </a:prstGeom>
          <a:solidFill>
            <a:srgbClr val="D93025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7750" y="2762455"/>
            <a:ext cx="357188" cy="28575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4857750" y="3155361"/>
            <a:ext cx="1571625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人员意识层面：主动规避</a:t>
            </a:r>
            <a:endParaRPr lang="en-US" sz="987" dirty="0"/>
          </a:p>
        </p:txBody>
      </p:sp>
      <p:sp>
        <p:nvSpPr>
          <p:cNvPr id="25" name="Text 18"/>
          <p:cNvSpPr/>
          <p:nvPr/>
        </p:nvSpPr>
        <p:spPr>
          <a:xfrm>
            <a:off x="4857750" y="3433967"/>
            <a:ext cx="3536156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加强开发者安全意识培训，避免盲目信任模型输出，主动进行风险规避与人工核查。</a:t>
            </a:r>
            <a:endParaRPr lang="en-US" sz="834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357188"/>
            <a:ext cx="8001000" cy="33218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1"/>
          <p:cNvSpPr/>
          <p:nvPr/>
        </p:nvSpPr>
        <p:spPr>
          <a:xfrm>
            <a:off x="571500" y="357188"/>
            <a:ext cx="57150" cy="332184"/>
          </a:xfrm>
          <a:prstGeom prst="rect">
            <a:avLst/>
          </a:prstGeom>
          <a:solidFill>
            <a:srgbClr val="D9302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571500" y="357188"/>
            <a:ext cx="8001000" cy="332184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结论：安全、合规与治理是长期价值的关键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571500" y="975122"/>
            <a:ext cx="5143500" cy="257175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D93025"/>
                </a:solidFill>
              </a:rPr>
              <a:t>核心结论：结构性风险与能力放大器</a:t>
            </a:r>
            <a:endParaRPr lang="en-US" sz="987" dirty="0"/>
          </a:p>
        </p:txBody>
      </p:sp>
      <p:sp>
        <p:nvSpPr>
          <p:cNvPr id="7" name="Text 4"/>
          <p:cNvSpPr/>
          <p:nvPr/>
        </p:nvSpPr>
        <p:spPr>
          <a:xfrm>
            <a:off x="571500" y="1303734"/>
            <a:ext cx="114300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—</a:t>
            </a:r>
            <a:endParaRPr lang="en-US" sz="834" dirty="0"/>
          </a:p>
        </p:txBody>
      </p:sp>
      <p:sp>
        <p:nvSpPr>
          <p:cNvPr id="8" name="Text 5"/>
          <p:cNvSpPr/>
          <p:nvPr/>
        </p:nvSpPr>
        <p:spPr>
          <a:xfrm>
            <a:off x="714375" y="1316236"/>
            <a:ext cx="16002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代码生成模型的记忆化与泄露是</a:t>
            </a:r>
            <a:endParaRPr lang="en-US" sz="834" dirty="0"/>
          </a:p>
        </p:txBody>
      </p:sp>
      <p:sp>
        <p:nvSpPr>
          <p:cNvPr id="9" name="Text 6"/>
          <p:cNvSpPr/>
          <p:nvPr/>
        </p:nvSpPr>
        <p:spPr>
          <a:xfrm>
            <a:off x="2314575" y="1316236"/>
            <a:ext cx="5715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333333"/>
                </a:solidFill>
              </a:rPr>
              <a:t>结构性风险</a:t>
            </a:r>
            <a:endParaRPr lang="en-US" sz="784" dirty="0"/>
          </a:p>
        </p:txBody>
      </p:sp>
      <p:sp>
        <p:nvSpPr>
          <p:cNvPr id="10" name="Text 7"/>
          <p:cNvSpPr/>
          <p:nvPr/>
        </p:nvSpPr>
        <p:spPr>
          <a:xfrm>
            <a:off x="2886075" y="1316236"/>
            <a:ext cx="21717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，源于数据、模型与使用模式的综合作用。</a:t>
            </a:r>
            <a:endParaRPr lang="en-US" sz="834" dirty="0"/>
          </a:p>
        </p:txBody>
      </p:sp>
      <p:sp>
        <p:nvSpPr>
          <p:cNvPr id="11" name="Text 8"/>
          <p:cNvSpPr/>
          <p:nvPr/>
        </p:nvSpPr>
        <p:spPr>
          <a:xfrm>
            <a:off x="571500" y="1558035"/>
            <a:ext cx="114300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—</a:t>
            </a:r>
            <a:endParaRPr lang="en-US" sz="834" dirty="0"/>
          </a:p>
        </p:txBody>
      </p:sp>
      <p:sp>
        <p:nvSpPr>
          <p:cNvPr id="12" name="Text 9"/>
          <p:cNvSpPr/>
          <p:nvPr/>
        </p:nvSpPr>
        <p:spPr>
          <a:xfrm>
            <a:off x="714375" y="1570537"/>
            <a:ext cx="68328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AI代码助手是</a:t>
            </a:r>
            <a:endParaRPr lang="en-US" sz="834" dirty="0"/>
          </a:p>
        </p:txBody>
      </p:sp>
      <p:sp>
        <p:nvSpPr>
          <p:cNvPr id="13" name="Text 10"/>
          <p:cNvSpPr/>
          <p:nvPr/>
        </p:nvSpPr>
        <p:spPr>
          <a:xfrm>
            <a:off x="1397664" y="1570537"/>
            <a:ext cx="5715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333333"/>
                </a:solidFill>
              </a:rPr>
              <a:t>能力放大器</a:t>
            </a:r>
            <a:endParaRPr lang="en-US" sz="784" dirty="0"/>
          </a:p>
        </p:txBody>
      </p:sp>
      <p:sp>
        <p:nvSpPr>
          <p:cNvPr id="14" name="Text 11"/>
          <p:cNvSpPr/>
          <p:nvPr/>
        </p:nvSpPr>
        <p:spPr>
          <a:xfrm>
            <a:off x="1969164" y="1570537"/>
            <a:ext cx="34290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，它在提升效率的同时，也可能放大训练数据中的弱点和敏感内容。</a:t>
            </a:r>
            <a:endParaRPr lang="en-US" sz="834" dirty="0"/>
          </a:p>
        </p:txBody>
      </p:sp>
      <p:sp>
        <p:nvSpPr>
          <p:cNvPr id="15" name="Text 12"/>
          <p:cNvSpPr/>
          <p:nvPr/>
        </p:nvSpPr>
        <p:spPr>
          <a:xfrm>
            <a:off x="571500" y="1955211"/>
            <a:ext cx="5143500" cy="257175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D93025"/>
                </a:solidFill>
              </a:rPr>
              <a:t>未来趋势：可靠性与安全性的关键</a:t>
            </a:r>
            <a:endParaRPr lang="en-US" sz="987" dirty="0"/>
          </a:p>
        </p:txBody>
      </p:sp>
      <p:sp>
        <p:nvSpPr>
          <p:cNvPr id="16" name="Text 13"/>
          <p:cNvSpPr/>
          <p:nvPr/>
        </p:nvSpPr>
        <p:spPr>
          <a:xfrm>
            <a:off x="571500" y="2283823"/>
            <a:ext cx="114300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—</a:t>
            </a:r>
            <a:endParaRPr lang="en-US" sz="834" dirty="0"/>
          </a:p>
        </p:txBody>
      </p:sp>
      <p:sp>
        <p:nvSpPr>
          <p:cNvPr id="17" name="Text 14"/>
          <p:cNvSpPr/>
          <p:nvPr/>
        </p:nvSpPr>
        <p:spPr>
          <a:xfrm>
            <a:off x="714375" y="2296325"/>
            <a:ext cx="42291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模型的可靠性将取决于训练数据的洁净度、模型内置的安全机制和高效的输出过滤。</a:t>
            </a:r>
            <a:endParaRPr lang="en-US" sz="834" dirty="0"/>
          </a:p>
        </p:txBody>
      </p:sp>
      <p:sp>
        <p:nvSpPr>
          <p:cNvPr id="18" name="Text 15"/>
          <p:cNvSpPr/>
          <p:nvPr/>
        </p:nvSpPr>
        <p:spPr>
          <a:xfrm>
            <a:off x="571500" y="2538124"/>
            <a:ext cx="114300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—</a:t>
            </a:r>
            <a:endParaRPr lang="en-US" sz="834" dirty="0"/>
          </a:p>
        </p:txBody>
      </p:sp>
      <p:sp>
        <p:nvSpPr>
          <p:cNvPr id="19" name="Text 16"/>
          <p:cNvSpPr/>
          <p:nvPr/>
        </p:nvSpPr>
        <p:spPr>
          <a:xfrm>
            <a:off x="714375" y="2550626"/>
            <a:ext cx="45720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组织必须将安全、隐私与合规视为核心组成部分，通过成熟的治理体系与持续的风险教育。</a:t>
            </a:r>
            <a:endParaRPr lang="en-US" sz="834" dirty="0"/>
          </a:p>
        </p:txBody>
      </p:sp>
      <p:sp>
        <p:nvSpPr>
          <p:cNvPr id="20" name="Text 17"/>
          <p:cNvSpPr/>
          <p:nvPr/>
        </p:nvSpPr>
        <p:spPr>
          <a:xfrm>
            <a:off x="664369" y="3887986"/>
            <a:ext cx="4957763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</a:rPr>
              <a:t>只有在安全、合规与治理的前提下，AI辅助编程技术才能发挥长期价值。</a:t>
            </a:r>
            <a:endParaRPr lang="en-US" sz="1193" dirty="0"/>
          </a:p>
        </p:txBody>
      </p:sp>
      <p:sp>
        <p:nvSpPr>
          <p:cNvPr id="21" name="Text 18"/>
          <p:cNvSpPr/>
          <p:nvPr/>
        </p:nvSpPr>
        <p:spPr>
          <a:xfrm>
            <a:off x="664369" y="4459486"/>
            <a:ext cx="495776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D93025"/>
                </a:solidFill>
              </a:rPr>
              <a:t>Q &amp; A</a:t>
            </a:r>
            <a:endParaRPr lang="en-US" sz="1193" dirty="0"/>
          </a:p>
        </p:txBody>
      </p:sp>
      <p:sp>
        <p:nvSpPr>
          <p:cNvPr id="22" name="Shape 19"/>
          <p:cNvSpPr/>
          <p:nvPr/>
        </p:nvSpPr>
        <p:spPr>
          <a:xfrm>
            <a:off x="6000750" y="975122"/>
            <a:ext cx="2571750" cy="3811191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6000750" y="975122"/>
            <a:ext cx="2571750" cy="381119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440</Words>
  <Application>Microsoft Office PowerPoint</Application>
  <PresentationFormat>全屏显示(16:9)</PresentationFormat>
  <Paragraphs>122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式 蓝</cp:lastModifiedBy>
  <cp:revision>9</cp:revision>
  <dcterms:created xsi:type="dcterms:W3CDTF">2025-12-08T02:21:54Z</dcterms:created>
  <dcterms:modified xsi:type="dcterms:W3CDTF">2025-12-08T02:25:52Z</dcterms:modified>
</cp:coreProperties>
</file>