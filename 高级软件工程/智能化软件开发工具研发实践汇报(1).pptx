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2579" autoAdjust="0"/>
  </p:normalViewPr>
  <p:slideViewPr>
    <p:cSldViewPr snapToGrid="0" snapToObjects="1">
      <p:cViewPr>
        <p:scale>
          <a:sx n="100" d="100"/>
          <a:sy n="100" d="100"/>
        </p:scale>
        <p:origin x="1437"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291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老师同学好，我们组准备做的这个工具是一个基于多智能体的软件开发框架，做的内容是一个从需求到验证的一个全流程的自动化的框架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其中现有的一些开发的核心挑战有包括：</a:t>
            </a:r>
            <a:endParaRPr lang="en-US" altLang="zh-CN"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b="1" dirty="0">
                <a:solidFill>
                  <a:srgbClr val="FF4500"/>
                </a:solidFill>
              </a:rPr>
              <a:t>第一点</a:t>
            </a:r>
            <a:r>
              <a:rPr lang="en-US" altLang="zh-CN" sz="800" b="1" dirty="0">
                <a:solidFill>
                  <a:srgbClr val="FF4500"/>
                </a:solidFill>
              </a:rPr>
              <a:t> </a:t>
            </a:r>
            <a:r>
              <a:rPr lang="en-US" altLang="zh-CN" sz="800" b="1" dirty="0" err="1">
                <a:solidFill>
                  <a:srgbClr val="FF4500"/>
                </a:solidFill>
              </a:rPr>
              <a:t>需求与实现的断裂</a:t>
            </a:r>
            <a:endParaRPr lang="en-US" altLang="zh-CN"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具体表现包括：</a:t>
            </a:r>
            <a:r>
              <a:rPr lang="en-US" altLang="zh-CN" sz="1200" dirty="0" err="1">
                <a:solidFill>
                  <a:srgbClr val="333333"/>
                </a:solidFill>
              </a:rPr>
              <a:t>自然语言模糊，AI</a:t>
            </a:r>
            <a:r>
              <a:rPr lang="en-US" altLang="zh-CN" sz="1200" dirty="0">
                <a:solidFill>
                  <a:srgbClr val="333333"/>
                </a:solidFill>
              </a:rPr>
              <a:t> </a:t>
            </a:r>
            <a:r>
              <a:rPr lang="en-US" altLang="zh-CN" sz="1200" dirty="0" err="1">
                <a:solidFill>
                  <a:srgbClr val="333333"/>
                </a:solidFill>
              </a:rPr>
              <a:t>难以捕捉隐含约束（如边界条件、异常处理</a:t>
            </a:r>
            <a:r>
              <a:rPr lang="en-US" altLang="zh-CN" sz="1200" dirty="0">
                <a:solidFill>
                  <a:srgbClr val="333333"/>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而其潜在后果为：</a:t>
            </a:r>
            <a:r>
              <a:rPr lang="en-US" altLang="zh-CN" sz="1200" i="1" dirty="0" err="1">
                <a:solidFill>
                  <a:srgbClr val="666666"/>
                </a:solidFill>
              </a:rPr>
              <a:t>生成的代码偏离业务目标，导致极高的后期返工成本</a:t>
            </a:r>
            <a:r>
              <a:rPr lang="en-US" altLang="zh-CN" sz="1200" i="1" dirty="0">
                <a:solidFill>
                  <a:srgbClr val="666666"/>
                </a:solidFill>
              </a:rPr>
              <a:t>。</a:t>
            </a:r>
            <a:endParaRPr lang="en-US" altLang="zh-CN" sz="1200"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b="1" dirty="0">
                <a:solidFill>
                  <a:srgbClr val="FF4500"/>
                </a:solidFill>
              </a:rPr>
              <a:t>第二点包括</a:t>
            </a:r>
            <a:r>
              <a:rPr lang="en-US" altLang="zh-CN" sz="800" b="1" dirty="0">
                <a:solidFill>
                  <a:srgbClr val="FF4500"/>
                </a:solidFill>
              </a:rPr>
              <a:t> </a:t>
            </a:r>
            <a:r>
              <a:rPr lang="en-US" altLang="zh-CN" sz="800" b="1" dirty="0" err="1">
                <a:solidFill>
                  <a:srgbClr val="FF4500"/>
                </a:solidFill>
              </a:rPr>
              <a:t>质量保障的滞后性</a:t>
            </a:r>
            <a:endParaRPr lang="en-US" altLang="zh-CN"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33333"/>
                </a:solidFill>
              </a:rPr>
              <a:t>侧重“生成”而非“</a:t>
            </a:r>
            <a:r>
              <a:rPr lang="en-US" altLang="zh-CN" sz="1200" dirty="0" err="1">
                <a:solidFill>
                  <a:srgbClr val="333333"/>
                </a:solidFill>
              </a:rPr>
              <a:t>验证</a:t>
            </a:r>
            <a:r>
              <a:rPr lang="en-US" altLang="zh-CN" sz="1200" dirty="0">
                <a:solidFill>
                  <a:srgbClr val="333333"/>
                </a:solidFill>
              </a:rPr>
              <a:t>”，</a:t>
            </a:r>
            <a:r>
              <a:rPr lang="en-US" altLang="zh-CN" sz="1200" dirty="0" err="1">
                <a:solidFill>
                  <a:srgbClr val="333333"/>
                </a:solidFill>
              </a:rPr>
              <a:t>缺乏实时配套的单元测试与闭环验收</a:t>
            </a:r>
            <a:r>
              <a:rPr lang="en-US" altLang="zh-CN" sz="1200" dirty="0">
                <a:solidFill>
                  <a:srgbClr val="333333"/>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1" dirty="0" err="1">
                <a:solidFill>
                  <a:srgbClr val="666666"/>
                </a:solidFill>
              </a:rPr>
              <a:t>代码虽能运行但隐藏深层逻辑</a:t>
            </a:r>
            <a:r>
              <a:rPr lang="en-US" altLang="zh-CN" sz="1200" i="1" dirty="0">
                <a:solidFill>
                  <a:srgbClr val="666666"/>
                </a:solidFill>
              </a:rPr>
              <a:t> </a:t>
            </a:r>
            <a:r>
              <a:rPr lang="en-US" altLang="zh-CN" sz="1200" i="1" dirty="0" err="1">
                <a:solidFill>
                  <a:srgbClr val="666666"/>
                </a:solidFill>
              </a:rPr>
              <a:t>Bug，增加线上事故风险</a:t>
            </a:r>
            <a:r>
              <a:rPr lang="en-US" altLang="zh-CN" sz="1200" i="1" dirty="0">
                <a:solidFill>
                  <a:srgbClr val="666666"/>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i="1" dirty="0">
              <a:solidFill>
                <a:srgbClr val="666666"/>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1" dirty="0">
                <a:solidFill>
                  <a:srgbClr val="FF4500"/>
                </a:solidFill>
              </a:rPr>
              <a:t>03 </a:t>
            </a:r>
            <a:r>
              <a:rPr lang="en-US" altLang="zh-CN" sz="800" b="1" dirty="0" err="1">
                <a:solidFill>
                  <a:srgbClr val="FF4500"/>
                </a:solidFill>
              </a:rPr>
              <a:t>上下文噪声与污染</a:t>
            </a:r>
            <a:endParaRPr lang="en-US" altLang="zh-CN"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33333"/>
                </a:solidFill>
              </a:rPr>
              <a:t>AI </a:t>
            </a:r>
            <a:r>
              <a:rPr lang="en-US" altLang="zh-CN" sz="1200" dirty="0" err="1">
                <a:solidFill>
                  <a:srgbClr val="333333"/>
                </a:solidFill>
              </a:rPr>
              <a:t>滥用权限读取全仓库文件，引入过时文档或无关配置</a:t>
            </a:r>
            <a:r>
              <a:rPr lang="en-US" altLang="zh-CN" sz="1200" dirty="0">
                <a:solidFill>
                  <a:srgbClr val="333333"/>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1" dirty="0" err="1">
                <a:solidFill>
                  <a:srgbClr val="666666"/>
                </a:solidFill>
              </a:rPr>
              <a:t>产生严重的“幻觉”现象，破坏现有工程结构的严密性</a:t>
            </a:r>
            <a:r>
              <a:rPr lang="en-US" altLang="zh-CN" sz="1200" i="1" dirty="0">
                <a:solidFill>
                  <a:srgbClr val="666666"/>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1" dirty="0">
                <a:solidFill>
                  <a:srgbClr val="FF4500"/>
                </a:solidFill>
              </a:rPr>
              <a:t>04 </a:t>
            </a:r>
            <a:r>
              <a:rPr lang="en-US" altLang="zh-CN" sz="800" b="1" dirty="0" err="1">
                <a:solidFill>
                  <a:srgbClr val="FF4500"/>
                </a:solidFill>
              </a:rPr>
              <a:t>多阶段协作的断层</a:t>
            </a:r>
            <a:endParaRPr lang="en-US" altLang="zh-CN"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err="1">
                <a:solidFill>
                  <a:srgbClr val="333333"/>
                </a:solidFill>
              </a:rPr>
              <a:t>需求、设计、实现、测试各环节信息流转高度依赖人工搬运</a:t>
            </a:r>
            <a:r>
              <a:rPr lang="en-US" altLang="zh-CN" sz="1200" dirty="0">
                <a:solidFill>
                  <a:srgbClr val="333333"/>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1" dirty="0" err="1">
                <a:solidFill>
                  <a:srgbClr val="666666"/>
                </a:solidFill>
              </a:rPr>
              <a:t>流程碎片化，难以形成标准化的自动化软件工程流水线</a:t>
            </a:r>
            <a:r>
              <a:rPr lang="en-US" altLang="zh-CN" sz="1200" i="1" dirty="0">
                <a:solidFill>
                  <a:srgbClr val="666666"/>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1A1A1A"/>
                </a:solidFill>
              </a:rPr>
              <a:t>结论：智能化开发不应只是单点提效，而应是整个软件工程流程的结构化重塑</a:t>
            </a:r>
            <a:r>
              <a:rPr lang="en-US" altLang="zh-CN" sz="1200" b="1" dirty="0">
                <a:solidFill>
                  <a:srgbClr val="1A1A1A"/>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1A1A1A"/>
                </a:solidFill>
              </a:rPr>
              <a:t>这里其中存在的比较核心的问题就是</a:t>
            </a:r>
            <a:endParaRPr lang="en-US" altLang="zh-CN" sz="1200" b="1" dirty="0">
              <a:solidFill>
                <a:srgbClr val="1A1A1A"/>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rgbClr val="1A1A1A"/>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1A1A1A"/>
                </a:solidFill>
              </a:rPr>
              <a:t>需求到实现的深层鸿沟</a:t>
            </a:r>
            <a:endParaRPr lang="en-US" altLang="zh-CN" sz="1200"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从一个需求到其具体的实现</a:t>
            </a:r>
            <a:br>
              <a:rPr lang="en-US" altLang="zh-CN" dirty="0"/>
            </a:br>
            <a:br>
              <a:rPr lang="en-US" altLang="zh-CN" dirty="0"/>
            </a:br>
            <a:r>
              <a:rPr lang="en-US" altLang="zh-CN" sz="1200" b="1" dirty="0" err="1">
                <a:solidFill>
                  <a:srgbClr val="1A1A1A"/>
                </a:solidFill>
              </a:rPr>
              <a:t>语义模糊性</a:t>
            </a:r>
            <a:r>
              <a:rPr lang="en-US" altLang="zh-CN" sz="1200" b="1" dirty="0">
                <a:solidFill>
                  <a:srgbClr val="1A1A1A"/>
                </a:solidFill>
              </a:rPr>
              <a:t> </a:t>
            </a:r>
            <a:r>
              <a:rPr lang="en-US" altLang="zh-CN" sz="1200" dirty="0" err="1">
                <a:solidFill>
                  <a:srgbClr val="444444"/>
                </a:solidFill>
              </a:rPr>
              <a:t>自然语言中隐含的业务逻辑（如异常处理）常被</a:t>
            </a:r>
            <a:r>
              <a:rPr lang="en-US" altLang="zh-CN" sz="1200" dirty="0">
                <a:solidFill>
                  <a:srgbClr val="444444"/>
                </a:solidFill>
              </a:rPr>
              <a:t> AI </a:t>
            </a:r>
            <a:r>
              <a:rPr lang="en-US" altLang="zh-CN" sz="1200" dirty="0" err="1">
                <a:solidFill>
                  <a:srgbClr val="444444"/>
                </a:solidFill>
              </a:rPr>
              <a:t>忽略</a:t>
            </a:r>
            <a:r>
              <a:rPr lang="en-US" altLang="zh-CN" sz="1200" dirty="0">
                <a:solidFill>
                  <a:srgbClr val="444444"/>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1A1A1A"/>
                </a:solidFill>
              </a:rPr>
              <a:t>缺乏验证基准</a:t>
            </a:r>
            <a:r>
              <a:rPr lang="en-US" altLang="zh-CN" sz="1200" b="1" dirty="0">
                <a:solidFill>
                  <a:srgbClr val="1A1A1A"/>
                </a:solidFill>
              </a:rPr>
              <a:t> </a:t>
            </a:r>
            <a:r>
              <a:rPr lang="zh-CN" altLang="en-US" sz="1200" b="1" dirty="0">
                <a:solidFill>
                  <a:srgbClr val="1A1A1A"/>
                </a:solidFill>
              </a:rPr>
              <a:t>只是让</a:t>
            </a:r>
            <a:r>
              <a:rPr lang="en-US" altLang="zh-CN" sz="1200" b="1" dirty="0">
                <a:solidFill>
                  <a:srgbClr val="1A1A1A"/>
                </a:solidFill>
              </a:rPr>
              <a:t>ai</a:t>
            </a:r>
            <a:r>
              <a:rPr lang="zh-CN" altLang="en-US" sz="1200" b="1" dirty="0">
                <a:solidFill>
                  <a:srgbClr val="1A1A1A"/>
                </a:solidFill>
              </a:rPr>
              <a:t>来做开发的话，</a:t>
            </a:r>
            <a:r>
              <a:rPr lang="en-US" altLang="zh-CN" sz="1200" dirty="0" err="1">
                <a:solidFill>
                  <a:srgbClr val="444444"/>
                </a:solidFill>
              </a:rPr>
              <a:t>没有明确的规格说明，导致实现结果无法被量化验收</a:t>
            </a:r>
            <a:r>
              <a:rPr lang="en-US" altLang="zh-CN" sz="1200" dirty="0">
                <a:solidFill>
                  <a:srgbClr val="444444"/>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1A1A1A"/>
                </a:solidFill>
              </a:rPr>
              <a:t>信息衰减</a:t>
            </a:r>
            <a:r>
              <a:rPr lang="en-US" altLang="zh-CN" sz="1200" b="1" dirty="0">
                <a:solidFill>
                  <a:srgbClr val="1A1A1A"/>
                </a:solidFill>
              </a:rPr>
              <a:t> </a:t>
            </a:r>
            <a:r>
              <a:rPr lang="zh-CN" altLang="en-US" sz="1200" b="1" dirty="0">
                <a:solidFill>
                  <a:srgbClr val="1A1A1A"/>
                </a:solidFill>
              </a:rPr>
              <a:t>这就是多智能体的一个记忆的问题 </a:t>
            </a:r>
            <a:r>
              <a:rPr lang="en-US" altLang="zh-CN" sz="1200" dirty="0" err="1">
                <a:solidFill>
                  <a:srgbClr val="444444"/>
                </a:solidFill>
              </a:rPr>
              <a:t>需求在流转至编码环节时，非功能性需求流失</a:t>
            </a:r>
            <a:r>
              <a:rPr lang="en-US" altLang="zh-CN" sz="1200" dirty="0">
                <a:solidFill>
                  <a:srgbClr val="444444"/>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对于这种问题，我们就可以使用设计特定的智能体来解决相应的问题</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2F2F2"/>
                </a:solidFill>
              </a:rPr>
              <a:t>需求</a:t>
            </a:r>
            <a:r>
              <a:rPr lang="en-US" altLang="zh-CN" sz="1200" b="1" dirty="0" err="1">
                <a:solidFill>
                  <a:srgbClr val="F2F2F2"/>
                </a:solidFill>
              </a:rPr>
              <a:t>智能体：需求结构化</a:t>
            </a:r>
            <a:endParaRPr lang="en-US" altLang="zh-CN" sz="1200" b="1" dirty="0">
              <a:solidFill>
                <a:srgbClr val="F2F2F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F2F2F2"/>
                </a:solidFill>
              </a:rPr>
              <a:t>需求解析：从原始文档提取原子功能</a:t>
            </a:r>
            <a:r>
              <a:rPr lang="en-US" altLang="zh-CN" sz="1200" b="1" dirty="0">
                <a:solidFill>
                  <a:srgbClr val="F2F2F2"/>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F2F2F2"/>
                </a:solidFill>
              </a:rPr>
              <a:t>约束识别：识别安全性、性能及异常处理约束</a:t>
            </a:r>
            <a:r>
              <a:rPr lang="en-US" altLang="zh-CN" sz="1200" b="1" dirty="0">
                <a:solidFill>
                  <a:srgbClr val="F2F2F2"/>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F2F2F2"/>
                </a:solidFill>
              </a:rPr>
              <a:t>规格生成：输出标准化</a:t>
            </a:r>
            <a:r>
              <a:rPr lang="en-US" altLang="zh-CN" sz="1200" b="1" dirty="0">
                <a:solidFill>
                  <a:srgbClr val="F2F2F2"/>
                </a:solidFill>
              </a:rPr>
              <a:t> JSON </a:t>
            </a:r>
            <a:r>
              <a:rPr lang="en-US" altLang="zh-CN" sz="1200" b="1" dirty="0" err="1">
                <a:solidFill>
                  <a:srgbClr val="F2F2F2"/>
                </a:solidFill>
              </a:rPr>
              <a:t>规格书</a:t>
            </a:r>
            <a:r>
              <a:rPr lang="en-US" altLang="zh-CN" sz="1200" b="1" dirty="0">
                <a:solidFill>
                  <a:srgbClr val="F2F2F2"/>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这里其实就是一个</a:t>
            </a:r>
            <a:r>
              <a:rPr lang="en-US" altLang="zh-CN" sz="1200" dirty="0" err="1"/>
              <a:t>mcp</a:t>
            </a:r>
            <a:r>
              <a:rPr lang="zh-CN" altLang="en-US" sz="1200" dirty="0"/>
              <a:t>的方式</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还有一个存在比较大的问题就是 </a:t>
            </a:r>
            <a:r>
              <a:rPr lang="en-US" altLang="zh-CN" sz="1200" b="1" dirty="0" err="1">
                <a:solidFill>
                  <a:srgbClr val="1A1A1A"/>
                </a:solidFill>
              </a:rPr>
              <a:t>上下文污染与职责边界</a:t>
            </a:r>
            <a:endParaRPr lang="en-US" altLang="zh-CN" sz="1200" dirty="0"/>
          </a:p>
          <a:p>
            <a:endParaRPr lang="en-US" dirty="0"/>
          </a:p>
          <a:p>
            <a:r>
              <a:rPr lang="zh-CN" altLang="en-US" dirty="0"/>
              <a:t>这里我们解决的点就是使用路径隔离机制以及权限最小化的原则</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333333"/>
                </a:solidFill>
              </a:rPr>
              <a:t>即包括对 </a:t>
            </a:r>
            <a:r>
              <a:rPr lang="en-US" altLang="zh-CN" sz="1200" dirty="0" err="1">
                <a:solidFill>
                  <a:srgbClr val="333333"/>
                </a:solidFill>
              </a:rPr>
              <a:t>工具层强制校验</a:t>
            </a:r>
            <a:r>
              <a:rPr lang="en-US" altLang="zh-CN" sz="1200" dirty="0">
                <a:solidFill>
                  <a:srgbClr val="333333"/>
                </a:solidFill>
              </a:rPr>
              <a:t> ，</a:t>
            </a:r>
            <a:r>
              <a:rPr lang="en-US" altLang="zh-CN" sz="1200" dirty="0" err="1">
                <a:solidFill>
                  <a:srgbClr val="333333"/>
                </a:solidFill>
              </a:rPr>
              <a:t>确保智能体仅能在当前任务目录内活动，从物理上杜绝读取无关文件的可能性</a:t>
            </a:r>
            <a:r>
              <a:rPr lang="en-US" altLang="zh-CN" sz="1200" dirty="0">
                <a:solidFill>
                  <a:srgbClr val="333333"/>
                </a:solidFill>
              </a:rPr>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333333"/>
                </a:solidFill>
              </a:rPr>
              <a:t>然后就是 </a:t>
            </a:r>
            <a:r>
              <a:rPr lang="en-US" altLang="zh-CN" sz="1200" dirty="0" err="1">
                <a:solidFill>
                  <a:srgbClr val="333333"/>
                </a:solidFill>
              </a:rPr>
              <a:t>按需分配工具集</a:t>
            </a:r>
            <a:r>
              <a:rPr lang="en-US" altLang="zh-CN" sz="1200" dirty="0">
                <a:solidFill>
                  <a:srgbClr val="333333"/>
                </a:solidFill>
              </a:rPr>
              <a:t>。</a:t>
            </a:r>
            <a:r>
              <a:rPr lang="zh-CN" altLang="en-US" sz="1200" dirty="0">
                <a:solidFill>
                  <a:srgbClr val="333333"/>
                </a:solidFill>
              </a:rPr>
              <a:t>让具体的开发实现</a:t>
            </a:r>
            <a:r>
              <a:rPr lang="en-US" altLang="zh-CN" sz="1200" dirty="0" err="1">
                <a:solidFill>
                  <a:srgbClr val="333333"/>
                </a:solidFill>
              </a:rPr>
              <a:t>智能体（IA）无法访问测试工具</a:t>
            </a:r>
            <a:r>
              <a:rPr lang="en-US" altLang="zh-CN" sz="1200" dirty="0">
                <a:solidFill>
                  <a:srgbClr val="333333"/>
                </a:solidFill>
              </a:rPr>
              <a:t>，</a:t>
            </a:r>
            <a:r>
              <a:rPr lang="zh-CN" altLang="en-US" sz="1200" dirty="0">
                <a:solidFill>
                  <a:srgbClr val="333333"/>
                </a:solidFill>
              </a:rPr>
              <a:t>而其中的</a:t>
            </a:r>
            <a:r>
              <a:rPr lang="en-US" altLang="zh-CN" sz="1200" dirty="0" err="1">
                <a:solidFill>
                  <a:srgbClr val="333333"/>
                </a:solidFill>
              </a:rPr>
              <a:t>测试智能体（TA）无法修改源码。这种“盲视”设计确保了验证的真实性</a:t>
            </a:r>
            <a:r>
              <a:rPr lang="en-US" altLang="zh-CN" sz="1200" dirty="0">
                <a:solidFill>
                  <a:srgbClr val="333333"/>
                </a:solidFill>
              </a:rPr>
              <a:t>。</a:t>
            </a:r>
            <a:endParaRPr lang="en-US" altLang="zh-CN"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然后是我们依托的开源项目</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err="1">
                <a:solidFill>
                  <a:srgbClr val="FF4500"/>
                </a:solidFill>
              </a:rPr>
              <a:t>框架特性对比</a:t>
            </a:r>
            <a:r>
              <a:rPr lang="en-US" altLang="zh-CN" sz="1200" b="1" dirty="0">
                <a:solidFill>
                  <a:srgbClr val="FF4500"/>
                </a:solidFill>
              </a:rPr>
              <a:t> (Why </a:t>
            </a:r>
            <a:r>
              <a:rPr lang="en-US" altLang="zh-CN" sz="1200" b="1" dirty="0" err="1">
                <a:solidFill>
                  <a:srgbClr val="FF4500"/>
                </a:solidFill>
              </a:rPr>
              <a:t>smolagents</a:t>
            </a:r>
            <a:r>
              <a:rPr lang="en-US" altLang="zh-CN" sz="1200" b="1" dirty="0">
                <a:solidFill>
                  <a:srgbClr val="FF4500"/>
                </a:solidFill>
              </a:rPr>
              <a:t>?)</a:t>
            </a:r>
            <a:endParaRPr lang="en-US" altLang="zh-CN" sz="1200" dirty="0"/>
          </a:p>
          <a:p>
            <a:r>
              <a:rPr lang="zh-CN" altLang="en-US" dirty="0"/>
              <a:t>这里这个项目和现在一些更大型的框架对比的话会有很多优势，</a:t>
            </a:r>
            <a:endParaRPr lang="en-US" altLang="zh-CN" dirty="0"/>
          </a:p>
          <a:p>
            <a:r>
              <a:rPr lang="zh-CN" altLang="en-US" dirty="0"/>
              <a:t>包括复杂度更低，</a:t>
            </a:r>
            <a:r>
              <a:rPr lang="en-US" altLang="zh-CN" dirty="0" err="1"/>
              <a:t>smolagents</a:t>
            </a:r>
            <a:r>
              <a:rPr lang="zh-CN" altLang="en-US" dirty="0"/>
              <a:t>的核心设计代码只有约</a:t>
            </a:r>
            <a:r>
              <a:rPr lang="en-US" altLang="zh-CN" dirty="0"/>
              <a:t>1000</a:t>
            </a:r>
            <a:r>
              <a:rPr lang="zh-CN" altLang="en-US" dirty="0"/>
              <a:t>行代码</a:t>
            </a:r>
            <a:endParaRPr lang="en-US" altLang="zh-CN" dirty="0"/>
          </a:p>
          <a:p>
            <a:r>
              <a:rPr lang="zh-CN" altLang="en-US" dirty="0"/>
              <a:t>以及在交互方式方面，该项目实现的更加简单</a:t>
            </a:r>
            <a:endParaRPr lang="en-US" altLang="zh-CN" dirty="0"/>
          </a:p>
          <a:p>
            <a:r>
              <a:rPr lang="zh-CN" altLang="en-US" dirty="0"/>
              <a:t>在软工这个任务上，我们能够更为方便的修改框架，让项目能够更方便的支持多智能体的编排</a:t>
            </a:r>
            <a:endParaRPr lang="en-US" altLang="zh-CN" dirty="0"/>
          </a:p>
          <a:p>
            <a:r>
              <a:rPr lang="zh-CN" altLang="en-US" dirty="0"/>
              <a:t>以及就是其定制化会更加的自由</a:t>
            </a:r>
            <a:endParaRPr lang="en-US" altLang="zh-CN" dirty="0"/>
          </a:p>
          <a:p>
            <a:endParaRPr lang="en-US" altLang="zh-CN" dirty="0"/>
          </a:p>
          <a:p>
            <a:r>
              <a:rPr lang="zh-CN" altLang="en-US" dirty="0"/>
              <a:t>而我们对这个项目的改造点主要就是实现一个多智能体的编排，</a:t>
            </a:r>
            <a:endParaRPr lang="en-US" altLang="zh-CN" dirty="0"/>
          </a:p>
          <a:p>
            <a:r>
              <a:rPr lang="zh-CN" altLang="en-US" dirty="0"/>
              <a:t>并且对于工具权限能够实现隔离</a:t>
            </a:r>
            <a:endParaRPr lang="en-US" altLang="zh-CN" dirty="0"/>
          </a:p>
          <a:p>
            <a:r>
              <a:rPr lang="zh-CN" altLang="en-US" dirty="0"/>
              <a:t>以及主要的就是实现一个闭环自动化的闭环过程</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总体上的思路就是有三个层次</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第一个层次就是流程上的，</a:t>
            </a:r>
            <a:r>
              <a:rPr lang="en-US" altLang="zh-CN" sz="800" dirty="0" err="1">
                <a:solidFill>
                  <a:srgbClr val="333333"/>
                </a:solidFill>
              </a:rPr>
              <a:t>负责全局任务编排与状态流转。通过</a:t>
            </a:r>
            <a:r>
              <a:rPr lang="en-US" altLang="zh-CN" sz="800" dirty="0">
                <a:solidFill>
                  <a:srgbClr val="333333"/>
                </a:solidFill>
              </a:rPr>
              <a:t> Manager Agent </a:t>
            </a:r>
            <a:r>
              <a:rPr lang="en-US" altLang="zh-CN" sz="800" dirty="0" err="1">
                <a:solidFill>
                  <a:srgbClr val="333333"/>
                </a:solidFill>
              </a:rPr>
              <a:t>实现多智能体的生命周期管理</a:t>
            </a:r>
            <a:r>
              <a:rPr lang="en-US" altLang="zh-CN" sz="800" dirty="0">
                <a:solidFill>
                  <a:srgbClr val="333333"/>
                </a:solidFill>
              </a:rPr>
              <a:t>。</a:t>
            </a:r>
            <a:endParaRPr lang="en-US" altLang="zh-CN" sz="800" dirty="0"/>
          </a:p>
          <a:p>
            <a:endParaRPr lang="en-US" dirty="0"/>
          </a:p>
          <a:p>
            <a:r>
              <a:rPr lang="zh-CN" altLang="en-US" dirty="0"/>
              <a:t>第二个层次就是对于智能体设计上的，这里我们就是设计了五个智能体</a:t>
            </a:r>
            <a:br>
              <a:rPr lang="en-US" altLang="zh-CN" dirty="0"/>
            </a:br>
            <a:r>
              <a:rPr lang="zh-CN" altLang="en-US" dirty="0"/>
              <a:t>包括 需求分析智能体、架构设计智能体、开发智能体、测试智能体、以及验收智能体</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dirty="0" err="1">
                <a:solidFill>
                  <a:srgbClr val="333333"/>
                </a:solidFill>
              </a:rPr>
              <a:t>五类专业化角色各司其职。通过结构化</a:t>
            </a:r>
            <a:r>
              <a:rPr lang="en-US" altLang="zh-CN" sz="800" dirty="0">
                <a:solidFill>
                  <a:srgbClr val="333333"/>
                </a:solidFill>
              </a:rPr>
              <a:t> JSON </a:t>
            </a:r>
            <a:r>
              <a:rPr lang="en-US" altLang="zh-CN" sz="800" dirty="0" err="1">
                <a:solidFill>
                  <a:srgbClr val="333333"/>
                </a:solidFill>
              </a:rPr>
              <a:t>规格说明书实现信息无损传递</a:t>
            </a:r>
            <a:r>
              <a:rPr lang="en-US" altLang="zh-CN" sz="800" dirty="0">
                <a:solidFill>
                  <a:srgbClr val="333333"/>
                </a:solidFill>
              </a:rPr>
              <a:t>。</a:t>
            </a:r>
            <a:endParaRPr lang="en-US" altLang="zh-CN" sz="800" dirty="0"/>
          </a:p>
          <a:p>
            <a:endParaRPr lang="en-US" dirty="0"/>
          </a:p>
          <a:p>
            <a:endParaRPr lang="en-US" dirty="0"/>
          </a:p>
          <a:p>
            <a:r>
              <a:rPr lang="zh-CN" altLang="en-US" dirty="0"/>
              <a:t>在工具层我们就是将要针对不同的智能体去适配设计不同的工具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然后我们就是一个完整的这样的一个流程，从这个需求设计一直到最后的质量验收</a:t>
            </a:r>
            <a:endParaRPr lang="en-US" altLang="zh-CN" dirty="0"/>
          </a:p>
          <a:p>
            <a:endParaRPr lang="en-US" dirty="0"/>
          </a:p>
          <a:p>
            <a:r>
              <a:rPr lang="zh-CN" altLang="en-US" dirty="0"/>
              <a:t>并且我们后续也考虑实现一个反复迭代进行修改的过程，比如测试过程以及验证过程的内容如果有哪里没有通过，</a:t>
            </a:r>
            <a:endParaRPr lang="en-US" altLang="zh-CN" dirty="0"/>
          </a:p>
          <a:p>
            <a:r>
              <a:rPr lang="zh-CN" altLang="en-US" dirty="0"/>
              <a:t>会重新的开始反思之前的一些流程过程会有什么问题，来实现一个迭代的反复的修改过程</a:t>
            </a:r>
            <a:endParaRPr lang="en-US" altLang="zh-CN" dirty="0"/>
          </a:p>
          <a:p>
            <a:endParaRPr lang="en-US" altLang="zh-CN" dirty="0"/>
          </a:p>
          <a:p>
            <a:r>
              <a:rPr lang="zh-CN" altLang="en-US" dirty="0"/>
              <a:t>实现一个反思的效果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然后就是我们其他的设计上也是符合对应上一些之前的几个内容，包括职责隔离、环境隔离、结构化的输出，以及确定的输入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我们现在的进展是在设计整个的流程过程，并且组里几个人分别再设计几个智能体内容并且我再统一管理各个部分结合的具体内容</a:t>
            </a:r>
            <a:endParaRPr lang="en-US" altLang="zh-CN" dirty="0"/>
          </a:p>
          <a:p>
            <a:r>
              <a:rPr lang="zh-CN" altLang="en-US" dirty="0"/>
              <a:t>然后计划之后的几周开始设计具体的工具思路以及完整的测试其具体效果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ok</a:t>
            </a:r>
            <a:r>
              <a:rPr lang="zh-CN" altLang="en-US" dirty="0"/>
              <a:t>以上就是我们完整的内容，总的来说就是一个多智能体协作来实现软件工程的一整个流程的一个工具，实现一个自动化的软工过程的工具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1249291"/>
            <a:ext cx="5572125" cy="1005818"/>
          </a:xfrm>
          <a:prstGeom prst="rect">
            <a:avLst/>
          </a:prstGeom>
          <a:noFill/>
          <a:ln/>
        </p:spPr>
        <p:txBody>
          <a:bodyPr wrap="square" lIns="0" tIns="0" rIns="0" bIns="0" rtlCol="0" anchor="t">
            <a:spAutoFit/>
          </a:bodyPr>
          <a:lstStyle/>
          <a:p>
            <a:pPr marL="0" indent="0" algn="l">
              <a:lnSpc>
                <a:spcPts val="4000"/>
              </a:lnSpc>
              <a:buNone/>
            </a:pPr>
            <a:r>
              <a:rPr lang="en-US" sz="3294" b="1" kern="0" spc="-2" dirty="0">
                <a:solidFill>
                  <a:srgbClr val="1A1A1A"/>
                </a:solidFill>
              </a:rPr>
              <a:t>SmolAgents
多智能体软件工程框架</a:t>
            </a:r>
            <a:endParaRPr lang="en-US" sz="3294" dirty="0"/>
          </a:p>
        </p:txBody>
      </p:sp>
      <p:sp>
        <p:nvSpPr>
          <p:cNvPr id="4" name="Text 1"/>
          <p:cNvSpPr/>
          <p:nvPr/>
        </p:nvSpPr>
        <p:spPr>
          <a:xfrm>
            <a:off x="571500" y="2397984"/>
            <a:ext cx="4457700" cy="664369"/>
          </a:xfrm>
          <a:prstGeom prst="rect">
            <a:avLst/>
          </a:prstGeom>
          <a:noFill/>
          <a:ln/>
        </p:spPr>
        <p:txBody>
          <a:bodyPr wrap="square" lIns="0" tIns="0" rIns="0" bIns="0" rtlCol="0" anchor="t">
            <a:spAutoFit/>
          </a:bodyPr>
          <a:lstStyle/>
          <a:p>
            <a:pPr marL="0" indent="0" algn="l">
              <a:lnSpc>
                <a:spcPts val="2200"/>
              </a:lnSpc>
              <a:buNone/>
            </a:pPr>
            <a:r>
              <a:rPr lang="en-US" sz="1704" dirty="0">
                <a:solidFill>
                  <a:srgbClr val="333333"/>
                </a:solidFill>
              </a:rPr>
              <a:t>智能化开发工具研发实践：从需求到验证的全流程自动化探索</a:t>
            </a:r>
            <a:endParaRPr lang="en-US" sz="1704" dirty="0"/>
          </a:p>
        </p:txBody>
      </p:sp>
      <p:sp>
        <p:nvSpPr>
          <p:cNvPr id="5" name="Text 2"/>
          <p:cNvSpPr/>
          <p:nvPr/>
        </p:nvSpPr>
        <p:spPr>
          <a:xfrm>
            <a:off x="571500" y="3348103"/>
            <a:ext cx="5572125" cy="438710"/>
          </a:xfrm>
          <a:prstGeom prst="rect">
            <a:avLst/>
          </a:prstGeom>
          <a:noFill/>
          <a:ln/>
        </p:spPr>
        <p:txBody>
          <a:bodyPr wrap="square" lIns="0" tIns="0" rIns="0" bIns="0" rtlCol="0" anchor="t">
            <a:spAutoFit/>
          </a:bodyPr>
          <a:lstStyle/>
          <a:p>
            <a:pPr>
              <a:lnSpc>
                <a:spcPts val="1800"/>
              </a:lnSpc>
            </a:pPr>
            <a:r>
              <a:rPr lang="en-US" sz="1050" dirty="0" err="1">
                <a:solidFill>
                  <a:srgbClr val="333333"/>
                </a:solidFill>
              </a:rPr>
              <a:t>汇报</a:t>
            </a:r>
            <a:r>
              <a:rPr lang="zh-CN" altLang="en-US" sz="1050" dirty="0">
                <a:solidFill>
                  <a:srgbClr val="333333"/>
                </a:solidFill>
              </a:rPr>
              <a:t>小组</a:t>
            </a:r>
            <a:r>
              <a:rPr lang="en-US" sz="1050" dirty="0">
                <a:solidFill>
                  <a:srgbClr val="333333"/>
                </a:solidFill>
              </a:rPr>
              <a:t>：</a:t>
            </a:r>
            <a:r>
              <a:rPr lang="zh-CN" altLang="en-US" sz="1050" dirty="0">
                <a:solidFill>
                  <a:srgbClr val="333333"/>
                </a:solidFill>
                <a:latin typeface="微软雅黑" panose="020B0503020204020204" pitchFamily="34" charset="-122"/>
                <a:ea typeface="微软雅黑" panose="020B0503020204020204" pitchFamily="34" charset="-122"/>
              </a:rPr>
              <a:t>姓名、匿名成员、匿名成员、匿名成员、匿名成员</a:t>
            </a:r>
            <a:r>
              <a:rPr lang="en-US" sz="1050" dirty="0">
                <a:solidFill>
                  <a:srgbClr val="333333"/>
                </a:solidFill>
              </a:rPr>
              <a:t>
 日期：2026年2月2日</a:t>
            </a:r>
            <a:endParaRPr lang="en-US" sz="1050" dirty="0"/>
          </a:p>
        </p:txBody>
      </p:sp>
      <p:sp>
        <p:nvSpPr>
          <p:cNvPr id="6" name="Shape 3"/>
          <p:cNvSpPr/>
          <p:nvPr/>
        </p:nvSpPr>
        <p:spPr>
          <a:xfrm>
            <a:off x="6143625" y="0"/>
            <a:ext cx="3000375" cy="5143500"/>
          </a:xfrm>
          <a:prstGeom prst="rect">
            <a:avLst/>
          </a:prstGeom>
          <a:solidFill>
            <a:srgbClr val="1A1A1A"/>
          </a:solidFill>
          <a:ln/>
        </p:spPr>
        <p:txBody>
          <a:bodyPr/>
          <a:lstStyle/>
          <a:p>
            <a:endParaRPr lang="zh-CN" altLang="en-US"/>
          </a:p>
        </p:txBody>
      </p:sp>
      <p:pic>
        <p:nvPicPr>
          <p:cNvPr id="7" name="Image 1" descr="preencoded.png"/>
          <p:cNvPicPr>
            <a:picLocks noChangeAspect="1"/>
          </p:cNvPicPr>
          <p:nvPr/>
        </p:nvPicPr>
        <p:blipFill>
          <a:blip r:embed="rId4">
            <a:alphaModFix amt="80000"/>
          </a:blip>
          <a:stretch>
            <a:fillRect/>
          </a:stretch>
        </p:blipFill>
        <p:spPr>
          <a:xfrm>
            <a:off x="6143625" y="1511629"/>
            <a:ext cx="3000375" cy="21202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521494"/>
            <a:ext cx="8572500" cy="435769"/>
          </a:xfrm>
          <a:prstGeom prst="rect">
            <a:avLst/>
          </a:prstGeom>
          <a:noFill/>
          <a:ln/>
        </p:spPr>
        <p:txBody>
          <a:bodyPr wrap="none" lIns="0" tIns="0" rIns="0" bIns="0" rtlCol="0" anchor="t">
            <a:spAutoFit/>
          </a:bodyPr>
          <a:lstStyle/>
          <a:p>
            <a:pPr marL="0" indent="0" algn="l">
              <a:lnSpc>
                <a:spcPts val="2800"/>
              </a:lnSpc>
              <a:buNone/>
            </a:pPr>
            <a:r>
              <a:rPr lang="en-US" sz="2121" b="1" kern="0" spc="-1" dirty="0">
                <a:solidFill>
                  <a:srgbClr val="1A1A1A"/>
                </a:solidFill>
              </a:rPr>
              <a:t>智能化开发面临的核心挑战</a:t>
            </a:r>
            <a:endParaRPr lang="en-US" sz="2121" dirty="0"/>
          </a:p>
        </p:txBody>
      </p:sp>
      <p:sp>
        <p:nvSpPr>
          <p:cNvPr id="4" name="Shape 1"/>
          <p:cNvSpPr/>
          <p:nvPr/>
        </p:nvSpPr>
        <p:spPr>
          <a:xfrm>
            <a:off x="571500" y="1314450"/>
            <a:ext cx="2666991" cy="403622"/>
          </a:xfrm>
          <a:prstGeom prst="rect">
            <a:avLst/>
          </a:prstGeom>
          <a:solidFill>
            <a:srgbClr val="1A1A1A"/>
          </a:solidFill>
          <a:ln/>
        </p:spPr>
        <p:txBody>
          <a:bodyPr/>
          <a:lstStyle/>
          <a:p>
            <a:endParaRPr lang="zh-CN" altLang="en-US"/>
          </a:p>
        </p:txBody>
      </p:sp>
      <p:sp>
        <p:nvSpPr>
          <p:cNvPr id="5" name="Text 2"/>
          <p:cNvSpPr/>
          <p:nvPr/>
        </p:nvSpPr>
        <p:spPr>
          <a:xfrm>
            <a:off x="571500" y="1314450"/>
            <a:ext cx="2666991" cy="403622"/>
          </a:xfrm>
          <a:prstGeom prst="rect">
            <a:avLst/>
          </a:prstGeom>
          <a:noFill/>
          <a:ln/>
        </p:spPr>
        <p:txBody>
          <a:bodyPr wrap="square" lIns="127508" tIns="127508" rIns="127508" bIns="127508" rtlCol="0" anchor="ctr">
            <a:spAutoFit/>
          </a:bodyPr>
          <a:lstStyle/>
          <a:p>
            <a:pPr marL="0" indent="0" algn="l">
              <a:lnSpc>
                <a:spcPts val="1200"/>
              </a:lnSpc>
              <a:buNone/>
            </a:pPr>
            <a:r>
              <a:rPr lang="en-US" sz="885" b="1" kern="0" spc="1" dirty="0">
                <a:solidFill>
                  <a:srgbClr val="F2F2F2"/>
                </a:solidFill>
              </a:rPr>
              <a:t>核心挑战</a:t>
            </a:r>
            <a:endParaRPr lang="en-US" sz="885" dirty="0"/>
          </a:p>
        </p:txBody>
      </p:sp>
      <p:sp>
        <p:nvSpPr>
          <p:cNvPr id="6" name="Shape 3"/>
          <p:cNvSpPr/>
          <p:nvPr/>
        </p:nvSpPr>
        <p:spPr>
          <a:xfrm>
            <a:off x="3238491" y="1314450"/>
            <a:ext cx="2666991" cy="403622"/>
          </a:xfrm>
          <a:prstGeom prst="rect">
            <a:avLst/>
          </a:prstGeom>
          <a:solidFill>
            <a:srgbClr val="1A1A1A"/>
          </a:solidFill>
          <a:ln/>
        </p:spPr>
        <p:txBody>
          <a:bodyPr/>
          <a:lstStyle/>
          <a:p>
            <a:endParaRPr lang="zh-CN" altLang="en-US"/>
          </a:p>
        </p:txBody>
      </p:sp>
      <p:sp>
        <p:nvSpPr>
          <p:cNvPr id="7" name="Text 4"/>
          <p:cNvSpPr/>
          <p:nvPr/>
        </p:nvSpPr>
        <p:spPr>
          <a:xfrm>
            <a:off x="3238491" y="1314450"/>
            <a:ext cx="2666991" cy="403622"/>
          </a:xfrm>
          <a:prstGeom prst="rect">
            <a:avLst/>
          </a:prstGeom>
          <a:noFill/>
          <a:ln/>
        </p:spPr>
        <p:txBody>
          <a:bodyPr wrap="square" lIns="127508" tIns="127508" rIns="127508" bIns="127508" rtlCol="0" anchor="ctr">
            <a:spAutoFit/>
          </a:bodyPr>
          <a:lstStyle/>
          <a:p>
            <a:pPr marL="0" indent="0" algn="l">
              <a:lnSpc>
                <a:spcPts val="1200"/>
              </a:lnSpc>
              <a:buNone/>
            </a:pPr>
            <a:r>
              <a:rPr lang="en-US" sz="885" b="1" kern="0" spc="1" dirty="0">
                <a:solidFill>
                  <a:srgbClr val="F2F2F2"/>
                </a:solidFill>
              </a:rPr>
              <a:t>具体表现 (Symptoms)</a:t>
            </a:r>
            <a:endParaRPr lang="en-US" sz="885" dirty="0"/>
          </a:p>
        </p:txBody>
      </p:sp>
      <p:sp>
        <p:nvSpPr>
          <p:cNvPr id="8" name="Shape 5"/>
          <p:cNvSpPr/>
          <p:nvPr/>
        </p:nvSpPr>
        <p:spPr>
          <a:xfrm>
            <a:off x="5905481" y="1314450"/>
            <a:ext cx="2667019" cy="403622"/>
          </a:xfrm>
          <a:prstGeom prst="rect">
            <a:avLst/>
          </a:prstGeom>
          <a:solidFill>
            <a:srgbClr val="1A1A1A"/>
          </a:solidFill>
          <a:ln/>
        </p:spPr>
        <p:txBody>
          <a:bodyPr/>
          <a:lstStyle/>
          <a:p>
            <a:endParaRPr lang="zh-CN" altLang="en-US"/>
          </a:p>
        </p:txBody>
      </p:sp>
      <p:sp>
        <p:nvSpPr>
          <p:cNvPr id="9" name="Text 6"/>
          <p:cNvSpPr/>
          <p:nvPr/>
        </p:nvSpPr>
        <p:spPr>
          <a:xfrm>
            <a:off x="5905481" y="1314450"/>
            <a:ext cx="2667019" cy="403622"/>
          </a:xfrm>
          <a:prstGeom prst="rect">
            <a:avLst/>
          </a:prstGeom>
          <a:noFill/>
          <a:ln/>
        </p:spPr>
        <p:txBody>
          <a:bodyPr wrap="square" lIns="127508" tIns="127508" rIns="127508" bIns="127508" rtlCol="0" anchor="ctr">
            <a:spAutoFit/>
          </a:bodyPr>
          <a:lstStyle/>
          <a:p>
            <a:pPr marL="0" indent="0" algn="l">
              <a:lnSpc>
                <a:spcPts val="1200"/>
              </a:lnSpc>
              <a:buNone/>
            </a:pPr>
            <a:r>
              <a:rPr lang="en-US" sz="885" b="1" kern="0" spc="1" dirty="0">
                <a:solidFill>
                  <a:srgbClr val="F2F2F2"/>
                </a:solidFill>
              </a:rPr>
              <a:t>潜在后果 (Impact)</a:t>
            </a:r>
            <a:endParaRPr lang="en-US" sz="885" dirty="0"/>
          </a:p>
        </p:txBody>
      </p:sp>
      <p:sp>
        <p:nvSpPr>
          <p:cNvPr id="10" name="Text 7"/>
          <p:cNvSpPr/>
          <p:nvPr/>
        </p:nvSpPr>
        <p:spPr>
          <a:xfrm>
            <a:off x="571500" y="1718072"/>
            <a:ext cx="2666991" cy="537902"/>
          </a:xfrm>
          <a:prstGeom prst="rect">
            <a:avLst/>
          </a:prstGeom>
          <a:noFill/>
          <a:ln/>
        </p:spPr>
        <p:txBody>
          <a:bodyPr wrap="square" lIns="127508" tIns="127508" rIns="127508" bIns="127508" rtlCol="0" anchor="t">
            <a:spAutoFit/>
          </a:bodyPr>
          <a:lstStyle/>
          <a:p>
            <a:pPr marL="0" indent="0" algn="l">
              <a:lnSpc>
                <a:spcPts val="1300"/>
              </a:lnSpc>
              <a:buNone/>
            </a:pPr>
            <a:r>
              <a:rPr lang="en-US" sz="784" b="1" dirty="0">
                <a:solidFill>
                  <a:srgbClr val="FF4500"/>
                </a:solidFill>
              </a:rPr>
              <a:t>01 需求与实现的断裂</a:t>
            </a:r>
            <a:endParaRPr lang="en-US" sz="784" dirty="0"/>
          </a:p>
        </p:txBody>
      </p:sp>
      <p:sp>
        <p:nvSpPr>
          <p:cNvPr id="11" name="Text 8"/>
          <p:cNvSpPr/>
          <p:nvPr/>
        </p:nvSpPr>
        <p:spPr>
          <a:xfrm>
            <a:off x="3238491" y="1718072"/>
            <a:ext cx="2666991" cy="537902"/>
          </a:xfrm>
          <a:prstGeom prst="rect">
            <a:avLst/>
          </a:prstGeom>
          <a:noFill/>
          <a:ln/>
        </p:spPr>
        <p:txBody>
          <a:bodyPr wrap="square" lIns="127508" tIns="127508" rIns="127508" bIns="127508" rtlCol="0" anchor="t">
            <a:spAutoFit/>
          </a:bodyPr>
          <a:lstStyle/>
          <a:p>
            <a:pPr marL="0" indent="0" algn="l">
              <a:lnSpc>
                <a:spcPts val="1300"/>
              </a:lnSpc>
              <a:buNone/>
            </a:pPr>
            <a:r>
              <a:rPr lang="en-US" sz="834" dirty="0">
                <a:solidFill>
                  <a:srgbClr val="333333"/>
                </a:solidFill>
              </a:rPr>
              <a:t>自然语言模糊，AI 难以捕捉隐含约束（如边界条件、异常处理）。</a:t>
            </a:r>
            <a:endParaRPr lang="en-US" sz="834" dirty="0"/>
          </a:p>
        </p:txBody>
      </p:sp>
      <p:sp>
        <p:nvSpPr>
          <p:cNvPr id="12" name="Text 9"/>
          <p:cNvSpPr/>
          <p:nvPr/>
        </p:nvSpPr>
        <p:spPr>
          <a:xfrm>
            <a:off x="5905481" y="1718072"/>
            <a:ext cx="2667019" cy="537902"/>
          </a:xfrm>
          <a:prstGeom prst="rect">
            <a:avLst/>
          </a:prstGeom>
          <a:noFill/>
          <a:ln/>
        </p:spPr>
        <p:txBody>
          <a:bodyPr wrap="square" lIns="127508" tIns="127508" rIns="127508" bIns="127508" rtlCol="0" anchor="t">
            <a:spAutoFit/>
          </a:bodyPr>
          <a:lstStyle/>
          <a:p>
            <a:pPr marL="0" indent="0" algn="l">
              <a:lnSpc>
                <a:spcPts val="1300"/>
              </a:lnSpc>
              <a:buNone/>
            </a:pPr>
            <a:r>
              <a:rPr lang="en-US" sz="834" i="1" dirty="0">
                <a:solidFill>
                  <a:srgbClr val="666666"/>
                </a:solidFill>
              </a:rPr>
              <a:t>生成的代码偏离业务目标，导致极高的后期返工成本。</a:t>
            </a:r>
            <a:endParaRPr lang="en-US" sz="834" dirty="0"/>
          </a:p>
        </p:txBody>
      </p:sp>
      <p:sp>
        <p:nvSpPr>
          <p:cNvPr id="13" name="Text 10"/>
          <p:cNvSpPr/>
          <p:nvPr/>
        </p:nvSpPr>
        <p:spPr>
          <a:xfrm>
            <a:off x="571500" y="2255974"/>
            <a:ext cx="2666991" cy="541474"/>
          </a:xfrm>
          <a:prstGeom prst="rect">
            <a:avLst/>
          </a:prstGeom>
          <a:noFill/>
          <a:ln/>
        </p:spPr>
        <p:txBody>
          <a:bodyPr wrap="square" lIns="127508" tIns="127508" rIns="127508" bIns="127508" rtlCol="0" anchor="t">
            <a:spAutoFit/>
          </a:bodyPr>
          <a:lstStyle/>
          <a:p>
            <a:pPr marL="0" indent="0" algn="l">
              <a:lnSpc>
                <a:spcPts val="1300"/>
              </a:lnSpc>
              <a:buNone/>
            </a:pPr>
            <a:r>
              <a:rPr lang="en-US" sz="784" b="1" dirty="0">
                <a:solidFill>
                  <a:srgbClr val="FF4500"/>
                </a:solidFill>
              </a:rPr>
              <a:t>02 质量保障的滞后性</a:t>
            </a:r>
            <a:endParaRPr lang="en-US" sz="784" dirty="0"/>
          </a:p>
        </p:txBody>
      </p:sp>
      <p:sp>
        <p:nvSpPr>
          <p:cNvPr id="14" name="Text 11"/>
          <p:cNvSpPr/>
          <p:nvPr/>
        </p:nvSpPr>
        <p:spPr>
          <a:xfrm>
            <a:off x="3238491" y="2255974"/>
            <a:ext cx="2666991" cy="541474"/>
          </a:xfrm>
          <a:prstGeom prst="rect">
            <a:avLst/>
          </a:prstGeom>
          <a:noFill/>
          <a:ln/>
        </p:spPr>
        <p:txBody>
          <a:bodyPr wrap="square" lIns="127508" tIns="127508" rIns="127508" bIns="127508" rtlCol="0" anchor="t">
            <a:spAutoFit/>
          </a:bodyPr>
          <a:lstStyle/>
          <a:p>
            <a:pPr marL="0" indent="0" algn="l">
              <a:lnSpc>
                <a:spcPts val="1300"/>
              </a:lnSpc>
              <a:buNone/>
            </a:pPr>
            <a:r>
              <a:rPr lang="en-US" sz="834" dirty="0">
                <a:solidFill>
                  <a:srgbClr val="333333"/>
                </a:solidFill>
              </a:rPr>
              <a:t>侧重“生成”而非“验证”，缺乏实时配套的单元测试与闭环验收。</a:t>
            </a:r>
            <a:endParaRPr lang="en-US" sz="834" dirty="0"/>
          </a:p>
        </p:txBody>
      </p:sp>
      <p:sp>
        <p:nvSpPr>
          <p:cNvPr id="15" name="Text 12"/>
          <p:cNvSpPr/>
          <p:nvPr/>
        </p:nvSpPr>
        <p:spPr>
          <a:xfrm>
            <a:off x="5905481" y="2255974"/>
            <a:ext cx="2667019" cy="541474"/>
          </a:xfrm>
          <a:prstGeom prst="rect">
            <a:avLst/>
          </a:prstGeom>
          <a:noFill/>
          <a:ln/>
        </p:spPr>
        <p:txBody>
          <a:bodyPr wrap="square" lIns="127508" tIns="127508" rIns="127508" bIns="127508" rtlCol="0" anchor="t">
            <a:spAutoFit/>
          </a:bodyPr>
          <a:lstStyle/>
          <a:p>
            <a:pPr marL="0" indent="0" algn="l">
              <a:lnSpc>
                <a:spcPts val="1300"/>
              </a:lnSpc>
              <a:buNone/>
            </a:pPr>
            <a:r>
              <a:rPr lang="en-US" sz="834" i="1" dirty="0">
                <a:solidFill>
                  <a:srgbClr val="666666"/>
                </a:solidFill>
              </a:rPr>
              <a:t>代码虽能运行但隐藏深层逻辑 Bug，增加线上事故风险。</a:t>
            </a:r>
            <a:endParaRPr lang="en-US" sz="834" dirty="0"/>
          </a:p>
        </p:txBody>
      </p:sp>
      <p:sp>
        <p:nvSpPr>
          <p:cNvPr id="16" name="Text 13"/>
          <p:cNvSpPr/>
          <p:nvPr/>
        </p:nvSpPr>
        <p:spPr>
          <a:xfrm>
            <a:off x="571500" y="2797448"/>
            <a:ext cx="2666991" cy="541474"/>
          </a:xfrm>
          <a:prstGeom prst="rect">
            <a:avLst/>
          </a:prstGeom>
          <a:noFill/>
          <a:ln/>
        </p:spPr>
        <p:txBody>
          <a:bodyPr wrap="square" lIns="127508" tIns="127508" rIns="127508" bIns="127508" rtlCol="0" anchor="t">
            <a:spAutoFit/>
          </a:bodyPr>
          <a:lstStyle/>
          <a:p>
            <a:pPr marL="0" indent="0" algn="l">
              <a:lnSpc>
                <a:spcPts val="1300"/>
              </a:lnSpc>
              <a:buNone/>
            </a:pPr>
            <a:r>
              <a:rPr lang="en-US" sz="784" b="1" dirty="0">
                <a:solidFill>
                  <a:srgbClr val="FF4500"/>
                </a:solidFill>
              </a:rPr>
              <a:t>03 上下文噪声与污染</a:t>
            </a:r>
            <a:endParaRPr lang="en-US" sz="784" dirty="0"/>
          </a:p>
        </p:txBody>
      </p:sp>
      <p:sp>
        <p:nvSpPr>
          <p:cNvPr id="17" name="Text 14"/>
          <p:cNvSpPr/>
          <p:nvPr/>
        </p:nvSpPr>
        <p:spPr>
          <a:xfrm>
            <a:off x="3238491" y="2797448"/>
            <a:ext cx="2666991" cy="541474"/>
          </a:xfrm>
          <a:prstGeom prst="rect">
            <a:avLst/>
          </a:prstGeom>
          <a:noFill/>
          <a:ln/>
        </p:spPr>
        <p:txBody>
          <a:bodyPr wrap="square" lIns="127508" tIns="127508" rIns="127508" bIns="127508" rtlCol="0" anchor="t">
            <a:spAutoFit/>
          </a:bodyPr>
          <a:lstStyle/>
          <a:p>
            <a:pPr marL="0" indent="0" algn="l">
              <a:lnSpc>
                <a:spcPts val="1300"/>
              </a:lnSpc>
              <a:buNone/>
            </a:pPr>
            <a:r>
              <a:rPr lang="en-US" sz="834" dirty="0">
                <a:solidFill>
                  <a:srgbClr val="333333"/>
                </a:solidFill>
              </a:rPr>
              <a:t>AI 滥用权限读取全仓库文件，引入过时文档或无关配置。</a:t>
            </a:r>
            <a:endParaRPr lang="en-US" sz="834" dirty="0"/>
          </a:p>
        </p:txBody>
      </p:sp>
      <p:sp>
        <p:nvSpPr>
          <p:cNvPr id="18" name="Text 15"/>
          <p:cNvSpPr/>
          <p:nvPr/>
        </p:nvSpPr>
        <p:spPr>
          <a:xfrm>
            <a:off x="5905481" y="2797448"/>
            <a:ext cx="2667019" cy="541474"/>
          </a:xfrm>
          <a:prstGeom prst="rect">
            <a:avLst/>
          </a:prstGeom>
          <a:noFill/>
          <a:ln/>
        </p:spPr>
        <p:txBody>
          <a:bodyPr wrap="square" lIns="127508" tIns="127508" rIns="127508" bIns="127508" rtlCol="0" anchor="t">
            <a:spAutoFit/>
          </a:bodyPr>
          <a:lstStyle/>
          <a:p>
            <a:pPr marL="0" indent="0" algn="l">
              <a:lnSpc>
                <a:spcPts val="1300"/>
              </a:lnSpc>
              <a:buNone/>
            </a:pPr>
            <a:r>
              <a:rPr lang="en-US" sz="834" i="1" dirty="0">
                <a:solidFill>
                  <a:srgbClr val="666666"/>
                </a:solidFill>
              </a:rPr>
              <a:t>产生严重的“幻觉”现象，破坏现有工程结构的严密性。</a:t>
            </a:r>
            <a:endParaRPr lang="en-US" sz="834" dirty="0"/>
          </a:p>
        </p:txBody>
      </p:sp>
      <p:sp>
        <p:nvSpPr>
          <p:cNvPr id="19" name="Text 16"/>
          <p:cNvSpPr/>
          <p:nvPr/>
        </p:nvSpPr>
        <p:spPr>
          <a:xfrm>
            <a:off x="571500" y="3338922"/>
            <a:ext cx="2666991" cy="541474"/>
          </a:xfrm>
          <a:prstGeom prst="rect">
            <a:avLst/>
          </a:prstGeom>
          <a:noFill/>
          <a:ln/>
        </p:spPr>
        <p:txBody>
          <a:bodyPr wrap="square" lIns="127508" tIns="127508" rIns="127508" bIns="127508" rtlCol="0" anchor="t">
            <a:spAutoFit/>
          </a:bodyPr>
          <a:lstStyle/>
          <a:p>
            <a:pPr marL="0" indent="0" algn="l">
              <a:lnSpc>
                <a:spcPts val="1300"/>
              </a:lnSpc>
              <a:buNone/>
            </a:pPr>
            <a:r>
              <a:rPr lang="en-US" sz="784" b="1" dirty="0">
                <a:solidFill>
                  <a:srgbClr val="FF4500"/>
                </a:solidFill>
              </a:rPr>
              <a:t>04 多阶段协作的断层</a:t>
            </a:r>
            <a:endParaRPr lang="en-US" sz="784" dirty="0"/>
          </a:p>
        </p:txBody>
      </p:sp>
      <p:sp>
        <p:nvSpPr>
          <p:cNvPr id="20" name="Text 17"/>
          <p:cNvSpPr/>
          <p:nvPr/>
        </p:nvSpPr>
        <p:spPr>
          <a:xfrm>
            <a:off x="3238491" y="3338922"/>
            <a:ext cx="2666991" cy="541474"/>
          </a:xfrm>
          <a:prstGeom prst="rect">
            <a:avLst/>
          </a:prstGeom>
          <a:noFill/>
          <a:ln/>
        </p:spPr>
        <p:txBody>
          <a:bodyPr wrap="square" lIns="127508" tIns="127508" rIns="127508" bIns="127508" rtlCol="0" anchor="t">
            <a:spAutoFit/>
          </a:bodyPr>
          <a:lstStyle/>
          <a:p>
            <a:pPr marL="0" indent="0" algn="l">
              <a:lnSpc>
                <a:spcPts val="1300"/>
              </a:lnSpc>
              <a:buNone/>
            </a:pPr>
            <a:r>
              <a:rPr lang="en-US" sz="834" dirty="0">
                <a:solidFill>
                  <a:srgbClr val="333333"/>
                </a:solidFill>
              </a:rPr>
              <a:t>需求、设计、实现、测试各环节信息流转高度依赖人工搬运。</a:t>
            </a:r>
            <a:endParaRPr lang="en-US" sz="834" dirty="0"/>
          </a:p>
        </p:txBody>
      </p:sp>
      <p:sp>
        <p:nvSpPr>
          <p:cNvPr id="21" name="Text 18"/>
          <p:cNvSpPr/>
          <p:nvPr/>
        </p:nvSpPr>
        <p:spPr>
          <a:xfrm>
            <a:off x="5905481" y="3338922"/>
            <a:ext cx="2667019" cy="541474"/>
          </a:xfrm>
          <a:prstGeom prst="rect">
            <a:avLst/>
          </a:prstGeom>
          <a:noFill/>
          <a:ln/>
        </p:spPr>
        <p:txBody>
          <a:bodyPr wrap="square" lIns="127508" tIns="127508" rIns="127508" bIns="127508" rtlCol="0" anchor="t">
            <a:spAutoFit/>
          </a:bodyPr>
          <a:lstStyle/>
          <a:p>
            <a:pPr marL="0" indent="0" algn="l">
              <a:lnSpc>
                <a:spcPts val="1300"/>
              </a:lnSpc>
              <a:buNone/>
            </a:pPr>
            <a:r>
              <a:rPr lang="en-US" sz="834" i="1" dirty="0">
                <a:solidFill>
                  <a:srgbClr val="666666"/>
                </a:solidFill>
              </a:rPr>
              <a:t>流程碎片化，难以形成标准化的自动化软件工程流水线。</a:t>
            </a:r>
            <a:endParaRPr lang="en-US" sz="834" dirty="0"/>
          </a:p>
        </p:txBody>
      </p:sp>
      <p:sp>
        <p:nvSpPr>
          <p:cNvPr id="22" name="Text 19"/>
          <p:cNvSpPr/>
          <p:nvPr/>
        </p:nvSpPr>
        <p:spPr>
          <a:xfrm>
            <a:off x="571500" y="4098280"/>
            <a:ext cx="8001000" cy="189309"/>
          </a:xfrm>
          <a:prstGeom prst="rect">
            <a:avLst/>
          </a:prstGeom>
          <a:noFill/>
          <a:ln/>
        </p:spPr>
        <p:txBody>
          <a:bodyPr wrap="none" lIns="170053" tIns="0" rIns="0" bIns="0" rtlCol="0" anchor="t">
            <a:spAutoFit/>
          </a:bodyPr>
          <a:lstStyle/>
          <a:p>
            <a:pPr marL="0" indent="0" algn="l">
              <a:lnSpc>
                <a:spcPts val="1200"/>
              </a:lnSpc>
              <a:buNone/>
            </a:pPr>
            <a:r>
              <a:rPr lang="en-US" sz="885" b="1" dirty="0" err="1">
                <a:solidFill>
                  <a:srgbClr val="1A1A1A"/>
                </a:solidFill>
              </a:rPr>
              <a:t>结论：智能化开发不应只是单点提效，而应是整个软件工程流程的结构化重塑</a:t>
            </a:r>
            <a:r>
              <a:rPr lang="en-US" sz="885" b="1" dirty="0">
                <a:solidFill>
                  <a:srgbClr val="1A1A1A"/>
                </a:solidFill>
              </a:rPr>
              <a:t>。</a:t>
            </a:r>
            <a:endParaRPr lang="en-US" sz="88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3842"/>
            <a:ext cx="4136231" cy="5143500"/>
          </a:xfrm>
          <a:prstGeom prst="rect">
            <a:avLst/>
          </a:prstGeom>
          <a:solidFill>
            <a:srgbClr val="F2F2F2"/>
          </a:solidFill>
          <a:ln/>
        </p:spPr>
        <p:txBody>
          <a:bodyPr/>
          <a:lstStyle/>
          <a:p>
            <a:endParaRPr lang="zh-CN" altLang="en-US" dirty="0"/>
          </a:p>
        </p:txBody>
      </p:sp>
      <p:sp>
        <p:nvSpPr>
          <p:cNvPr id="4" name="Text 1"/>
          <p:cNvSpPr/>
          <p:nvPr/>
        </p:nvSpPr>
        <p:spPr>
          <a:xfrm>
            <a:off x="571500" y="428625"/>
            <a:ext cx="3278981" cy="144661"/>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A1A1A"/>
                </a:solidFill>
              </a:rPr>
              <a:t>Analysis / 现状剖析</a:t>
            </a:r>
            <a:endParaRPr lang="en-US" sz="683" dirty="0"/>
          </a:p>
        </p:txBody>
      </p:sp>
      <p:sp>
        <p:nvSpPr>
          <p:cNvPr id="5" name="Text 2"/>
          <p:cNvSpPr/>
          <p:nvPr/>
        </p:nvSpPr>
        <p:spPr>
          <a:xfrm>
            <a:off x="571500" y="798593"/>
            <a:ext cx="3278981" cy="651477"/>
          </a:xfrm>
          <a:prstGeom prst="rect">
            <a:avLst/>
          </a:prstGeom>
          <a:noFill/>
          <a:ln/>
        </p:spPr>
        <p:txBody>
          <a:bodyPr wrap="square" lIns="0" tIns="0" rIns="0" bIns="0" rtlCol="0" anchor="t">
            <a:spAutoFit/>
          </a:bodyPr>
          <a:lstStyle/>
          <a:p>
            <a:pPr marL="0" indent="0" algn="l">
              <a:lnSpc>
                <a:spcPts val="2600"/>
              </a:lnSpc>
              <a:buNone/>
            </a:pPr>
            <a:r>
              <a:rPr lang="en-US" sz="1912" b="1" dirty="0">
                <a:solidFill>
                  <a:srgbClr val="1A1A1A"/>
                </a:solidFill>
              </a:rPr>
              <a:t>需求到实现的
深层鸿沟</a:t>
            </a:r>
            <a:endParaRPr lang="en-US" sz="1912" dirty="0"/>
          </a:p>
        </p:txBody>
      </p:sp>
      <p:sp>
        <p:nvSpPr>
          <p:cNvPr id="6" name="Text 3"/>
          <p:cNvSpPr/>
          <p:nvPr/>
        </p:nvSpPr>
        <p:spPr>
          <a:xfrm>
            <a:off x="742950" y="1664382"/>
            <a:ext cx="3107531"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语义模糊性</a:t>
            </a:r>
            <a:endParaRPr lang="en-US" sz="987" dirty="0"/>
          </a:p>
        </p:txBody>
      </p:sp>
      <p:sp>
        <p:nvSpPr>
          <p:cNvPr id="7" name="Text 4"/>
          <p:cNvSpPr/>
          <p:nvPr/>
        </p:nvSpPr>
        <p:spPr>
          <a:xfrm>
            <a:off x="742950" y="1907270"/>
            <a:ext cx="3107531"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444444"/>
                </a:solidFill>
              </a:rPr>
              <a:t>自然语言中隐含的业务逻辑（如异常处理）常被 AI 忽略。</a:t>
            </a:r>
            <a:endParaRPr lang="en-US" sz="834" dirty="0"/>
          </a:p>
        </p:txBody>
      </p:sp>
      <p:sp>
        <p:nvSpPr>
          <p:cNvPr id="8" name="Text 5"/>
          <p:cNvSpPr/>
          <p:nvPr/>
        </p:nvSpPr>
        <p:spPr>
          <a:xfrm>
            <a:off x="742950" y="2250170"/>
            <a:ext cx="3107531"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缺乏验证基准</a:t>
            </a:r>
            <a:endParaRPr lang="en-US" sz="987" dirty="0"/>
          </a:p>
        </p:txBody>
      </p:sp>
      <p:sp>
        <p:nvSpPr>
          <p:cNvPr id="9" name="Text 6"/>
          <p:cNvSpPr/>
          <p:nvPr/>
        </p:nvSpPr>
        <p:spPr>
          <a:xfrm>
            <a:off x="742950" y="2493057"/>
            <a:ext cx="3107531" cy="164306"/>
          </a:xfrm>
          <a:prstGeom prst="rect">
            <a:avLst/>
          </a:prstGeom>
          <a:noFill/>
          <a:ln/>
        </p:spPr>
        <p:txBody>
          <a:bodyPr wrap="none" lIns="0" tIns="0" rIns="0" bIns="0" rtlCol="0" anchor="t">
            <a:spAutoFit/>
          </a:bodyPr>
          <a:lstStyle/>
          <a:p>
            <a:pPr marL="0" indent="0" algn="l">
              <a:lnSpc>
                <a:spcPts val="1100"/>
              </a:lnSpc>
              <a:buNone/>
            </a:pPr>
            <a:r>
              <a:rPr lang="en-US" sz="834" dirty="0">
                <a:solidFill>
                  <a:srgbClr val="444444"/>
                </a:solidFill>
              </a:rPr>
              <a:t>没有明确的规格说明，导致实现结果无法被量化验收。</a:t>
            </a:r>
            <a:endParaRPr lang="en-US" sz="834" dirty="0"/>
          </a:p>
        </p:txBody>
      </p:sp>
      <p:sp>
        <p:nvSpPr>
          <p:cNvPr id="10" name="Text 7"/>
          <p:cNvSpPr/>
          <p:nvPr/>
        </p:nvSpPr>
        <p:spPr>
          <a:xfrm>
            <a:off x="742950" y="2835957"/>
            <a:ext cx="3107531"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信息衰减</a:t>
            </a:r>
            <a:endParaRPr lang="en-US" sz="987" dirty="0"/>
          </a:p>
        </p:txBody>
      </p:sp>
      <p:sp>
        <p:nvSpPr>
          <p:cNvPr id="11" name="Text 8"/>
          <p:cNvSpPr/>
          <p:nvPr/>
        </p:nvSpPr>
        <p:spPr>
          <a:xfrm>
            <a:off x="742950" y="3078845"/>
            <a:ext cx="2255426" cy="133498"/>
          </a:xfrm>
          <a:prstGeom prst="rect">
            <a:avLst/>
          </a:prstGeom>
          <a:noFill/>
          <a:ln/>
        </p:spPr>
        <p:txBody>
          <a:bodyPr wrap="none" lIns="0" tIns="0" rIns="0" bIns="0" rtlCol="0" anchor="t">
            <a:spAutoFit/>
          </a:bodyPr>
          <a:lstStyle/>
          <a:p>
            <a:pPr marL="0" indent="0" algn="l">
              <a:lnSpc>
                <a:spcPts val="1100"/>
              </a:lnSpc>
              <a:buNone/>
            </a:pPr>
            <a:r>
              <a:rPr lang="en-US" sz="834" dirty="0" err="1">
                <a:solidFill>
                  <a:srgbClr val="444444"/>
                </a:solidFill>
              </a:rPr>
              <a:t>需求在流转至编码环节时，非功能性需求流失</a:t>
            </a:r>
            <a:r>
              <a:rPr lang="en-US" sz="834" dirty="0">
                <a:solidFill>
                  <a:srgbClr val="444444"/>
                </a:solidFill>
              </a:rPr>
              <a:t>。</a:t>
            </a:r>
            <a:endParaRPr lang="en-US" sz="834" dirty="0"/>
          </a:p>
        </p:txBody>
      </p:sp>
      <p:sp>
        <p:nvSpPr>
          <p:cNvPr id="12" name="Shape 9"/>
          <p:cNvSpPr/>
          <p:nvPr/>
        </p:nvSpPr>
        <p:spPr>
          <a:xfrm>
            <a:off x="4136231" y="0"/>
            <a:ext cx="5007769" cy="5143500"/>
          </a:xfrm>
          <a:prstGeom prst="rect">
            <a:avLst/>
          </a:prstGeom>
          <a:solidFill>
            <a:srgbClr val="1A1A1A"/>
          </a:solidFill>
          <a:ln/>
        </p:spPr>
        <p:txBody>
          <a:bodyPr/>
          <a:lstStyle/>
          <a:p>
            <a:endParaRPr lang="zh-CN" altLang="en-US"/>
          </a:p>
        </p:txBody>
      </p:sp>
      <p:sp>
        <p:nvSpPr>
          <p:cNvPr id="13" name="Text 10"/>
          <p:cNvSpPr/>
          <p:nvPr/>
        </p:nvSpPr>
        <p:spPr>
          <a:xfrm>
            <a:off x="4564856" y="428625"/>
            <a:ext cx="4007644" cy="144661"/>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FF4500"/>
                </a:solidFill>
              </a:rPr>
              <a:t>Solution / 核心方案</a:t>
            </a:r>
            <a:endParaRPr lang="en-US" sz="683" dirty="0"/>
          </a:p>
        </p:txBody>
      </p:sp>
      <p:sp>
        <p:nvSpPr>
          <p:cNvPr id="14" name="Text 11"/>
          <p:cNvSpPr/>
          <p:nvPr/>
        </p:nvSpPr>
        <p:spPr>
          <a:xfrm>
            <a:off x="4564856" y="905749"/>
            <a:ext cx="4007644" cy="325738"/>
          </a:xfrm>
          <a:prstGeom prst="rect">
            <a:avLst/>
          </a:prstGeom>
          <a:noFill/>
          <a:ln/>
        </p:spPr>
        <p:txBody>
          <a:bodyPr wrap="none" lIns="0" tIns="0" rIns="0" bIns="0" rtlCol="0" anchor="t">
            <a:spAutoFit/>
          </a:bodyPr>
          <a:lstStyle/>
          <a:p>
            <a:pPr marL="0" indent="0" algn="l">
              <a:lnSpc>
                <a:spcPts val="2600"/>
              </a:lnSpc>
              <a:buNone/>
            </a:pPr>
            <a:r>
              <a:rPr lang="en-US" sz="1912" b="1" dirty="0">
                <a:solidFill>
                  <a:srgbClr val="F2F2F2"/>
                </a:solidFill>
              </a:rPr>
              <a:t>RA 智能体：需求结构化</a:t>
            </a:r>
            <a:endParaRPr lang="en-US" sz="1912" dirty="0"/>
          </a:p>
        </p:txBody>
      </p:sp>
      <p:sp>
        <p:nvSpPr>
          <p:cNvPr id="15" name="Shape 12"/>
          <p:cNvSpPr/>
          <p:nvPr/>
        </p:nvSpPr>
        <p:spPr>
          <a:xfrm>
            <a:off x="4564856" y="1445800"/>
            <a:ext cx="214313" cy="214313"/>
          </a:xfrm>
          <a:prstGeom prst="rect">
            <a:avLst/>
          </a:prstGeom>
          <a:solidFill>
            <a:srgbClr val="FF4500"/>
          </a:solidFill>
          <a:ln/>
        </p:spPr>
        <p:txBody>
          <a:bodyPr/>
          <a:lstStyle/>
          <a:p>
            <a:endParaRPr lang="zh-CN" altLang="en-US"/>
          </a:p>
        </p:txBody>
      </p:sp>
      <p:sp>
        <p:nvSpPr>
          <p:cNvPr id="16" name="Text 13"/>
          <p:cNvSpPr/>
          <p:nvPr/>
        </p:nvSpPr>
        <p:spPr>
          <a:xfrm>
            <a:off x="4564856" y="1445800"/>
            <a:ext cx="214313" cy="214313"/>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1</a:t>
            </a:r>
            <a:endParaRPr lang="en-US" sz="784" dirty="0"/>
          </a:p>
        </p:txBody>
      </p:sp>
      <p:sp>
        <p:nvSpPr>
          <p:cNvPr id="17" name="Text 14"/>
          <p:cNvSpPr/>
          <p:nvPr/>
        </p:nvSpPr>
        <p:spPr>
          <a:xfrm>
            <a:off x="4886325" y="1458302"/>
            <a:ext cx="2186015"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2F2F2"/>
                </a:solidFill>
              </a:rPr>
              <a:t>需求解析：从原始文档提取原子功能。</a:t>
            </a:r>
            <a:endParaRPr lang="en-US" sz="885" dirty="0"/>
          </a:p>
        </p:txBody>
      </p:sp>
      <p:sp>
        <p:nvSpPr>
          <p:cNvPr id="18" name="Shape 15"/>
          <p:cNvSpPr/>
          <p:nvPr/>
        </p:nvSpPr>
        <p:spPr>
          <a:xfrm>
            <a:off x="4564856" y="1767269"/>
            <a:ext cx="214313" cy="214313"/>
          </a:xfrm>
          <a:prstGeom prst="rect">
            <a:avLst/>
          </a:prstGeom>
          <a:solidFill>
            <a:srgbClr val="FF4500"/>
          </a:solidFill>
          <a:ln/>
        </p:spPr>
        <p:txBody>
          <a:bodyPr/>
          <a:lstStyle/>
          <a:p>
            <a:endParaRPr lang="zh-CN" altLang="en-US"/>
          </a:p>
        </p:txBody>
      </p:sp>
      <p:sp>
        <p:nvSpPr>
          <p:cNvPr id="19" name="Text 16"/>
          <p:cNvSpPr/>
          <p:nvPr/>
        </p:nvSpPr>
        <p:spPr>
          <a:xfrm>
            <a:off x="4564856" y="1767269"/>
            <a:ext cx="214313" cy="214313"/>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2</a:t>
            </a:r>
            <a:endParaRPr lang="en-US" sz="784" dirty="0"/>
          </a:p>
        </p:txBody>
      </p:sp>
      <p:sp>
        <p:nvSpPr>
          <p:cNvPr id="20" name="Text 17"/>
          <p:cNvSpPr/>
          <p:nvPr/>
        </p:nvSpPr>
        <p:spPr>
          <a:xfrm>
            <a:off x="4886325" y="1779770"/>
            <a:ext cx="2700365"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2F2F2"/>
                </a:solidFill>
              </a:rPr>
              <a:t>约束识别：识别安全性、性能及异常处理约束。</a:t>
            </a:r>
            <a:endParaRPr lang="en-US" sz="885" dirty="0"/>
          </a:p>
        </p:txBody>
      </p:sp>
      <p:sp>
        <p:nvSpPr>
          <p:cNvPr id="21" name="Shape 18"/>
          <p:cNvSpPr/>
          <p:nvPr/>
        </p:nvSpPr>
        <p:spPr>
          <a:xfrm>
            <a:off x="4564856" y="2088738"/>
            <a:ext cx="214313" cy="214313"/>
          </a:xfrm>
          <a:prstGeom prst="rect">
            <a:avLst/>
          </a:prstGeom>
          <a:solidFill>
            <a:srgbClr val="FF4500"/>
          </a:solidFill>
          <a:ln/>
        </p:spPr>
        <p:txBody>
          <a:bodyPr/>
          <a:lstStyle/>
          <a:p>
            <a:endParaRPr lang="zh-CN" altLang="en-US"/>
          </a:p>
        </p:txBody>
      </p:sp>
      <p:sp>
        <p:nvSpPr>
          <p:cNvPr id="22" name="Text 19"/>
          <p:cNvSpPr/>
          <p:nvPr/>
        </p:nvSpPr>
        <p:spPr>
          <a:xfrm>
            <a:off x="4564856" y="2088738"/>
            <a:ext cx="214313" cy="214313"/>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rPr>
              <a:t>3</a:t>
            </a:r>
            <a:endParaRPr lang="en-US" sz="784" dirty="0"/>
          </a:p>
        </p:txBody>
      </p:sp>
      <p:sp>
        <p:nvSpPr>
          <p:cNvPr id="23" name="Text 20"/>
          <p:cNvSpPr/>
          <p:nvPr/>
        </p:nvSpPr>
        <p:spPr>
          <a:xfrm>
            <a:off x="4886325" y="2101239"/>
            <a:ext cx="2187411"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2F2F2"/>
                </a:solidFill>
              </a:rPr>
              <a:t>规格生成：输出标准化 JSON 规格书。</a:t>
            </a:r>
            <a:endParaRPr lang="en-US" sz="885" dirty="0"/>
          </a:p>
        </p:txBody>
      </p:sp>
      <p:sp>
        <p:nvSpPr>
          <p:cNvPr id="24" name="Shape 21"/>
          <p:cNvSpPr/>
          <p:nvPr/>
        </p:nvSpPr>
        <p:spPr>
          <a:xfrm>
            <a:off x="4564856" y="2553081"/>
            <a:ext cx="4007644" cy="571500"/>
          </a:xfrm>
          <a:prstGeom prst="rect">
            <a:avLst/>
          </a:prstGeom>
          <a:solidFill>
            <a:srgbClr val="222222"/>
          </a:solidFill>
          <a:ln w="9144">
            <a:solidFill>
              <a:srgbClr val="444444"/>
            </a:solidFill>
            <a:prstDash val="solid"/>
          </a:ln>
        </p:spPr>
        <p:txBody>
          <a:bodyPr/>
          <a:lstStyle/>
          <a:p>
            <a:endParaRPr lang="zh-CN" altLang="en-US"/>
          </a:p>
        </p:txBody>
      </p:sp>
      <p:sp>
        <p:nvSpPr>
          <p:cNvPr id="25" name="Text 22"/>
          <p:cNvSpPr/>
          <p:nvPr/>
        </p:nvSpPr>
        <p:spPr>
          <a:xfrm>
            <a:off x="4564856" y="2553081"/>
            <a:ext cx="4007644" cy="571500"/>
          </a:xfrm>
          <a:prstGeom prst="rect">
            <a:avLst/>
          </a:prstGeom>
          <a:noFill/>
          <a:ln/>
        </p:spPr>
        <p:txBody>
          <a:bodyPr wrap="square" lIns="170053" tIns="170053" rIns="170053" bIns="170053" rtlCol="0" anchor="t">
            <a:spAutoFit/>
          </a:bodyPr>
          <a:lstStyle/>
          <a:p>
            <a:pPr marL="0" indent="0" algn="l">
              <a:lnSpc>
                <a:spcPts val="900"/>
              </a:lnSpc>
              <a:buNone/>
            </a:pPr>
            <a:r>
              <a:rPr lang="en-US" sz="727" dirty="0">
                <a:solidFill>
                  <a:srgbClr val="A9FF94"/>
                </a:solidFill>
              </a:rPr>
              <a:t>{ "module": "Calculator", "features": ["Add", "Sub", "Mul", "Div"], "constraints": ["Handle DivisionByZero"], "acceptance": ["All tests pass with pytest"] }</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78656"/>
            <a:ext cx="8572500" cy="435769"/>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1A1A1A"/>
                </a:solidFill>
              </a:rPr>
              <a:t>上下文污染与职责边界</a:t>
            </a:r>
            <a:endParaRPr lang="en-US" sz="2121" dirty="0"/>
          </a:p>
        </p:txBody>
      </p:sp>
      <p:sp>
        <p:nvSpPr>
          <p:cNvPr id="4" name="Text 1"/>
          <p:cNvSpPr/>
          <p:nvPr/>
        </p:nvSpPr>
        <p:spPr>
          <a:xfrm>
            <a:off x="571500" y="1450181"/>
            <a:ext cx="3857625"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4500"/>
                </a:solidFill>
              </a:rPr>
              <a:t>路径隔离机制</a:t>
            </a:r>
            <a:endParaRPr lang="en-US" sz="1090" dirty="0"/>
          </a:p>
        </p:txBody>
      </p:sp>
      <p:sp>
        <p:nvSpPr>
          <p:cNvPr id="5" name="Text 2"/>
          <p:cNvSpPr/>
          <p:nvPr/>
        </p:nvSpPr>
        <p:spPr>
          <a:xfrm>
            <a:off x="571500" y="1748433"/>
            <a:ext cx="3857625" cy="342900"/>
          </a:xfrm>
          <a:prstGeom prst="rect">
            <a:avLst/>
          </a:prstGeom>
          <a:noFill/>
          <a:ln/>
        </p:spPr>
        <p:txBody>
          <a:bodyPr wrap="square" lIns="0" tIns="0" rIns="0" bIns="0" rtlCol="0" anchor="t">
            <a:spAutoFit/>
          </a:bodyPr>
          <a:lstStyle/>
          <a:p>
            <a:pPr marL="0" indent="0" algn="l">
              <a:lnSpc>
                <a:spcPts val="1400"/>
              </a:lnSpc>
              <a:buNone/>
            </a:pPr>
            <a:r>
              <a:rPr lang="en-US" sz="834" dirty="0" err="1">
                <a:solidFill>
                  <a:srgbClr val="333333"/>
                </a:solidFill>
              </a:rPr>
              <a:t>动态管理。工具层强制校验</a:t>
            </a:r>
            <a:r>
              <a:rPr lang="en-US" sz="834" dirty="0">
                <a:solidFill>
                  <a:srgbClr val="333333"/>
                </a:solidFill>
              </a:rPr>
              <a:t> ，确保智能体仅能在当前任务目录内活动，从物理上杜绝读取无关文件的可能性。</a:t>
            </a:r>
            <a:endParaRPr lang="en-US" sz="834" dirty="0"/>
          </a:p>
        </p:txBody>
      </p:sp>
      <p:sp>
        <p:nvSpPr>
          <p:cNvPr id="6" name="Text 3"/>
          <p:cNvSpPr/>
          <p:nvPr/>
        </p:nvSpPr>
        <p:spPr>
          <a:xfrm>
            <a:off x="4714875" y="1450181"/>
            <a:ext cx="3857625"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4500"/>
                </a:solidFill>
              </a:rPr>
              <a:t>权限最小化原则</a:t>
            </a:r>
            <a:endParaRPr lang="en-US" sz="1090" dirty="0"/>
          </a:p>
        </p:txBody>
      </p:sp>
      <p:sp>
        <p:nvSpPr>
          <p:cNvPr id="7" name="Text 4"/>
          <p:cNvSpPr/>
          <p:nvPr/>
        </p:nvSpPr>
        <p:spPr>
          <a:xfrm>
            <a:off x="4714875" y="1748433"/>
            <a:ext cx="3857625"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3333"/>
                </a:solidFill>
              </a:rPr>
              <a:t>按需分配工具集。实现智能体（IA）无法访问测试工具，测试智能体（TA）无法修改源码。这种“盲视”设计确保了验证的真实性。</a:t>
            </a:r>
            <a:endParaRPr lang="en-US" sz="834" dirty="0"/>
          </a:p>
        </p:txBody>
      </p:sp>
      <p:sp>
        <p:nvSpPr>
          <p:cNvPr id="8" name="Shape 5"/>
          <p:cNvSpPr/>
          <p:nvPr/>
        </p:nvSpPr>
        <p:spPr>
          <a:xfrm>
            <a:off x="571500" y="2377083"/>
            <a:ext cx="3112108" cy="350044"/>
          </a:xfrm>
          <a:prstGeom prst="rect">
            <a:avLst/>
          </a:prstGeom>
          <a:solidFill>
            <a:srgbClr val="1A1A1A"/>
          </a:solidFill>
          <a:ln/>
        </p:spPr>
        <p:txBody>
          <a:bodyPr/>
          <a:lstStyle/>
          <a:p>
            <a:endParaRPr lang="zh-CN" altLang="en-US"/>
          </a:p>
        </p:txBody>
      </p:sp>
      <p:sp>
        <p:nvSpPr>
          <p:cNvPr id="9" name="Text 6"/>
          <p:cNvSpPr/>
          <p:nvPr/>
        </p:nvSpPr>
        <p:spPr>
          <a:xfrm>
            <a:off x="571500" y="2377083"/>
            <a:ext cx="3112108" cy="350044"/>
          </a:xfrm>
          <a:prstGeom prst="rect">
            <a:avLst/>
          </a:prstGeom>
          <a:noFill/>
          <a:ln/>
        </p:spPr>
        <p:txBody>
          <a:bodyPr wrap="square" lIns="85090" tIns="85090" rIns="85090" bIns="85090" rtlCol="0" anchor="t">
            <a:spAutoFit/>
          </a:bodyPr>
          <a:lstStyle/>
          <a:p>
            <a:pPr marL="0" indent="0" algn="l">
              <a:lnSpc>
                <a:spcPts val="1400"/>
              </a:lnSpc>
              <a:buNone/>
            </a:pPr>
            <a:r>
              <a:rPr lang="en-US" sz="987" b="1" dirty="0">
                <a:solidFill>
                  <a:srgbClr val="FFFFFF"/>
                </a:solidFill>
              </a:rPr>
              <a:t>智能体权限分配矩阵 (Permission Matrix)</a:t>
            </a:r>
            <a:endParaRPr lang="en-US" sz="987" dirty="0"/>
          </a:p>
        </p:txBody>
      </p:sp>
      <p:sp>
        <p:nvSpPr>
          <p:cNvPr id="10" name="Shape 7"/>
          <p:cNvSpPr/>
          <p:nvPr/>
        </p:nvSpPr>
        <p:spPr>
          <a:xfrm>
            <a:off x="575072" y="2834283"/>
            <a:ext cx="1370484" cy="291108"/>
          </a:xfrm>
          <a:prstGeom prst="rect">
            <a:avLst/>
          </a:prstGeom>
          <a:solidFill>
            <a:srgbClr val="E0E0E0"/>
          </a:solidFill>
          <a:ln/>
        </p:spPr>
        <p:txBody>
          <a:bodyPr/>
          <a:lstStyle/>
          <a:p>
            <a:endParaRPr lang="zh-CN" altLang="en-US"/>
          </a:p>
        </p:txBody>
      </p:sp>
      <p:sp>
        <p:nvSpPr>
          <p:cNvPr id="11" name="Text 8"/>
          <p:cNvSpPr/>
          <p:nvPr/>
        </p:nvSpPr>
        <p:spPr>
          <a:xfrm>
            <a:off x="575072" y="2834283"/>
            <a:ext cx="1370484" cy="291108"/>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1A1A1A"/>
                </a:solidFill>
              </a:rPr>
              <a:t>智能体角色</a:t>
            </a:r>
            <a:endParaRPr lang="en-US" sz="683" dirty="0"/>
          </a:p>
        </p:txBody>
      </p:sp>
      <p:sp>
        <p:nvSpPr>
          <p:cNvPr id="12" name="Shape 9"/>
          <p:cNvSpPr/>
          <p:nvPr/>
        </p:nvSpPr>
        <p:spPr>
          <a:xfrm>
            <a:off x="1945556" y="2834283"/>
            <a:ext cx="1385943" cy="291108"/>
          </a:xfrm>
          <a:prstGeom prst="rect">
            <a:avLst/>
          </a:prstGeom>
          <a:solidFill>
            <a:srgbClr val="E0E0E0"/>
          </a:solidFill>
          <a:ln/>
        </p:spPr>
        <p:txBody>
          <a:bodyPr/>
          <a:lstStyle/>
          <a:p>
            <a:endParaRPr lang="zh-CN" altLang="en-US"/>
          </a:p>
        </p:txBody>
      </p:sp>
      <p:sp>
        <p:nvSpPr>
          <p:cNvPr id="13" name="Text 10"/>
          <p:cNvSpPr/>
          <p:nvPr/>
        </p:nvSpPr>
        <p:spPr>
          <a:xfrm>
            <a:off x="1945556" y="2834283"/>
            <a:ext cx="1385943" cy="291108"/>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1A1A1A"/>
                </a:solidFill>
              </a:rPr>
              <a:t>保存规格 (Spec)</a:t>
            </a:r>
            <a:endParaRPr lang="en-US" sz="683" dirty="0"/>
          </a:p>
        </p:txBody>
      </p:sp>
      <p:sp>
        <p:nvSpPr>
          <p:cNvPr id="14" name="Shape 11"/>
          <p:cNvSpPr/>
          <p:nvPr/>
        </p:nvSpPr>
        <p:spPr>
          <a:xfrm>
            <a:off x="3331499" y="2834283"/>
            <a:ext cx="1259477" cy="291108"/>
          </a:xfrm>
          <a:prstGeom prst="rect">
            <a:avLst/>
          </a:prstGeom>
          <a:solidFill>
            <a:srgbClr val="E0E0E0"/>
          </a:solidFill>
          <a:ln/>
        </p:spPr>
        <p:txBody>
          <a:bodyPr/>
          <a:lstStyle/>
          <a:p>
            <a:endParaRPr lang="zh-CN" altLang="en-US"/>
          </a:p>
        </p:txBody>
      </p:sp>
      <p:sp>
        <p:nvSpPr>
          <p:cNvPr id="15" name="Text 12"/>
          <p:cNvSpPr/>
          <p:nvPr/>
        </p:nvSpPr>
        <p:spPr>
          <a:xfrm>
            <a:off x="3331499" y="2834283"/>
            <a:ext cx="1259477" cy="291108"/>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1A1A1A"/>
                </a:solidFill>
              </a:rPr>
              <a:t>写入源码 (Src)</a:t>
            </a:r>
            <a:endParaRPr lang="en-US" sz="683" dirty="0"/>
          </a:p>
        </p:txBody>
      </p:sp>
      <p:sp>
        <p:nvSpPr>
          <p:cNvPr id="16" name="Shape 13"/>
          <p:cNvSpPr/>
          <p:nvPr/>
        </p:nvSpPr>
        <p:spPr>
          <a:xfrm>
            <a:off x="4590976" y="2834283"/>
            <a:ext cx="1424229" cy="291108"/>
          </a:xfrm>
          <a:prstGeom prst="rect">
            <a:avLst/>
          </a:prstGeom>
          <a:solidFill>
            <a:srgbClr val="E0E0E0"/>
          </a:solidFill>
          <a:ln/>
        </p:spPr>
        <p:txBody>
          <a:bodyPr/>
          <a:lstStyle/>
          <a:p>
            <a:endParaRPr lang="zh-CN" altLang="en-US"/>
          </a:p>
        </p:txBody>
      </p:sp>
      <p:sp>
        <p:nvSpPr>
          <p:cNvPr id="17" name="Text 14"/>
          <p:cNvSpPr/>
          <p:nvPr/>
        </p:nvSpPr>
        <p:spPr>
          <a:xfrm>
            <a:off x="4590976" y="2834283"/>
            <a:ext cx="1424229" cy="291108"/>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1A1A1A"/>
                </a:solidFill>
              </a:rPr>
              <a:t>写入测试 (Tests)</a:t>
            </a:r>
            <a:endParaRPr lang="en-US" sz="683" dirty="0"/>
          </a:p>
        </p:txBody>
      </p:sp>
      <p:sp>
        <p:nvSpPr>
          <p:cNvPr id="18" name="Shape 15"/>
          <p:cNvSpPr/>
          <p:nvPr/>
        </p:nvSpPr>
        <p:spPr>
          <a:xfrm>
            <a:off x="6015205" y="2834283"/>
            <a:ext cx="1524298" cy="291108"/>
          </a:xfrm>
          <a:prstGeom prst="rect">
            <a:avLst/>
          </a:prstGeom>
          <a:solidFill>
            <a:srgbClr val="E0E0E0"/>
          </a:solidFill>
          <a:ln/>
        </p:spPr>
        <p:txBody>
          <a:bodyPr/>
          <a:lstStyle/>
          <a:p>
            <a:endParaRPr lang="zh-CN" altLang="en-US"/>
          </a:p>
        </p:txBody>
      </p:sp>
      <p:sp>
        <p:nvSpPr>
          <p:cNvPr id="19" name="Text 16"/>
          <p:cNvSpPr/>
          <p:nvPr/>
        </p:nvSpPr>
        <p:spPr>
          <a:xfrm>
            <a:off x="6015205" y="2834283"/>
            <a:ext cx="1524298" cy="291108"/>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1A1A1A"/>
                </a:solidFill>
              </a:rPr>
              <a:t>执行测试 (Pytest)</a:t>
            </a:r>
            <a:endParaRPr lang="en-US" sz="683" dirty="0"/>
          </a:p>
        </p:txBody>
      </p:sp>
      <p:sp>
        <p:nvSpPr>
          <p:cNvPr id="20" name="Shape 17"/>
          <p:cNvSpPr/>
          <p:nvPr/>
        </p:nvSpPr>
        <p:spPr>
          <a:xfrm>
            <a:off x="7539503" y="2834283"/>
            <a:ext cx="1029426" cy="291108"/>
          </a:xfrm>
          <a:prstGeom prst="rect">
            <a:avLst/>
          </a:prstGeom>
          <a:solidFill>
            <a:srgbClr val="E0E0E0"/>
          </a:solidFill>
          <a:ln/>
        </p:spPr>
        <p:txBody>
          <a:bodyPr/>
          <a:lstStyle/>
          <a:p>
            <a:endParaRPr lang="zh-CN" altLang="en-US"/>
          </a:p>
        </p:txBody>
      </p:sp>
      <p:sp>
        <p:nvSpPr>
          <p:cNvPr id="21" name="Text 18"/>
          <p:cNvSpPr/>
          <p:nvPr/>
        </p:nvSpPr>
        <p:spPr>
          <a:xfrm>
            <a:off x="7539503" y="2834283"/>
            <a:ext cx="1029426" cy="291108"/>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1A1A1A"/>
                </a:solidFill>
              </a:rPr>
              <a:t>读取全路径</a:t>
            </a:r>
            <a:endParaRPr lang="en-US" sz="683" dirty="0"/>
          </a:p>
        </p:txBody>
      </p:sp>
      <p:sp>
        <p:nvSpPr>
          <p:cNvPr id="22" name="Text 19"/>
          <p:cNvSpPr/>
          <p:nvPr/>
        </p:nvSpPr>
        <p:spPr>
          <a:xfrm>
            <a:off x="575072" y="3125391"/>
            <a:ext cx="1370484"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1A1A1A"/>
                </a:solidFill>
              </a:rPr>
              <a:t>需求分析 (RA)</a:t>
            </a:r>
            <a:endParaRPr lang="en-US" sz="727" dirty="0"/>
          </a:p>
        </p:txBody>
      </p:sp>
      <p:sp>
        <p:nvSpPr>
          <p:cNvPr id="23" name="Text 20"/>
          <p:cNvSpPr/>
          <p:nvPr/>
        </p:nvSpPr>
        <p:spPr>
          <a:xfrm>
            <a:off x="1945556" y="3125391"/>
            <a:ext cx="1385943" cy="294680"/>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FF4500"/>
                </a:solidFill>
              </a:rPr>
              <a:t>●</a:t>
            </a:r>
            <a:endParaRPr lang="en-US" sz="683" dirty="0"/>
          </a:p>
        </p:txBody>
      </p:sp>
      <p:sp>
        <p:nvSpPr>
          <p:cNvPr id="24" name="Text 21"/>
          <p:cNvSpPr/>
          <p:nvPr/>
        </p:nvSpPr>
        <p:spPr>
          <a:xfrm>
            <a:off x="3331499" y="3125391"/>
            <a:ext cx="1259477"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25" name="Text 22"/>
          <p:cNvSpPr/>
          <p:nvPr/>
        </p:nvSpPr>
        <p:spPr>
          <a:xfrm>
            <a:off x="4590976" y="3125391"/>
            <a:ext cx="1424229"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26" name="Text 23"/>
          <p:cNvSpPr/>
          <p:nvPr/>
        </p:nvSpPr>
        <p:spPr>
          <a:xfrm>
            <a:off x="6015205" y="3125391"/>
            <a:ext cx="1524298"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27" name="Text 24"/>
          <p:cNvSpPr/>
          <p:nvPr/>
        </p:nvSpPr>
        <p:spPr>
          <a:xfrm>
            <a:off x="7539503" y="3125391"/>
            <a:ext cx="1029426"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28" name="Text 25"/>
          <p:cNvSpPr/>
          <p:nvPr/>
        </p:nvSpPr>
        <p:spPr>
          <a:xfrm>
            <a:off x="575072" y="3420070"/>
            <a:ext cx="1370484"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1A1A1A"/>
                </a:solidFill>
              </a:rPr>
              <a:t>实现智能体 (IA)</a:t>
            </a:r>
            <a:endParaRPr lang="en-US" sz="727" dirty="0"/>
          </a:p>
        </p:txBody>
      </p:sp>
      <p:sp>
        <p:nvSpPr>
          <p:cNvPr id="29" name="Text 26"/>
          <p:cNvSpPr/>
          <p:nvPr/>
        </p:nvSpPr>
        <p:spPr>
          <a:xfrm>
            <a:off x="1945556" y="3420070"/>
            <a:ext cx="1385943"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0" name="Text 27"/>
          <p:cNvSpPr/>
          <p:nvPr/>
        </p:nvSpPr>
        <p:spPr>
          <a:xfrm>
            <a:off x="3331499" y="3420070"/>
            <a:ext cx="1259477" cy="294680"/>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FF4500"/>
                </a:solidFill>
              </a:rPr>
              <a:t>●</a:t>
            </a:r>
            <a:endParaRPr lang="en-US" sz="683" dirty="0"/>
          </a:p>
        </p:txBody>
      </p:sp>
      <p:sp>
        <p:nvSpPr>
          <p:cNvPr id="31" name="Text 28"/>
          <p:cNvSpPr/>
          <p:nvPr/>
        </p:nvSpPr>
        <p:spPr>
          <a:xfrm>
            <a:off x="4590976" y="3420070"/>
            <a:ext cx="1424229"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2" name="Text 29"/>
          <p:cNvSpPr/>
          <p:nvPr/>
        </p:nvSpPr>
        <p:spPr>
          <a:xfrm>
            <a:off x="6015205" y="3420070"/>
            <a:ext cx="1524298"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3" name="Text 30"/>
          <p:cNvSpPr/>
          <p:nvPr/>
        </p:nvSpPr>
        <p:spPr>
          <a:xfrm>
            <a:off x="7539503" y="3420070"/>
            <a:ext cx="1029426"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4" name="Text 31"/>
          <p:cNvSpPr/>
          <p:nvPr/>
        </p:nvSpPr>
        <p:spPr>
          <a:xfrm>
            <a:off x="575072" y="3714750"/>
            <a:ext cx="1370484"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1A1A1A"/>
                </a:solidFill>
              </a:rPr>
              <a:t>测试智能体 (TA)</a:t>
            </a:r>
            <a:endParaRPr lang="en-US" sz="727" dirty="0"/>
          </a:p>
        </p:txBody>
      </p:sp>
      <p:sp>
        <p:nvSpPr>
          <p:cNvPr id="35" name="Text 32"/>
          <p:cNvSpPr/>
          <p:nvPr/>
        </p:nvSpPr>
        <p:spPr>
          <a:xfrm>
            <a:off x="1945556" y="3714750"/>
            <a:ext cx="1385943"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6" name="Text 33"/>
          <p:cNvSpPr/>
          <p:nvPr/>
        </p:nvSpPr>
        <p:spPr>
          <a:xfrm>
            <a:off x="3331499" y="3714750"/>
            <a:ext cx="1259477"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7" name="Text 34"/>
          <p:cNvSpPr/>
          <p:nvPr/>
        </p:nvSpPr>
        <p:spPr>
          <a:xfrm>
            <a:off x="4590976" y="3714750"/>
            <a:ext cx="1424229" cy="294680"/>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FF4500"/>
                </a:solidFill>
              </a:rPr>
              <a:t>●</a:t>
            </a:r>
            <a:endParaRPr lang="en-US" sz="683" dirty="0"/>
          </a:p>
        </p:txBody>
      </p:sp>
      <p:sp>
        <p:nvSpPr>
          <p:cNvPr id="38" name="Text 35"/>
          <p:cNvSpPr/>
          <p:nvPr/>
        </p:nvSpPr>
        <p:spPr>
          <a:xfrm>
            <a:off x="6015205" y="3714750"/>
            <a:ext cx="1524298"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39" name="Text 36"/>
          <p:cNvSpPr/>
          <p:nvPr/>
        </p:nvSpPr>
        <p:spPr>
          <a:xfrm>
            <a:off x="7539503" y="3714750"/>
            <a:ext cx="1029426"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40" name="Text 37"/>
          <p:cNvSpPr/>
          <p:nvPr/>
        </p:nvSpPr>
        <p:spPr>
          <a:xfrm>
            <a:off x="575072" y="4009430"/>
            <a:ext cx="1370484"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1A1A1A"/>
                </a:solidFill>
              </a:rPr>
              <a:t>验证智能体 (VA)</a:t>
            </a:r>
            <a:endParaRPr lang="en-US" sz="727" dirty="0"/>
          </a:p>
        </p:txBody>
      </p:sp>
      <p:sp>
        <p:nvSpPr>
          <p:cNvPr id="41" name="Text 38"/>
          <p:cNvSpPr/>
          <p:nvPr/>
        </p:nvSpPr>
        <p:spPr>
          <a:xfrm>
            <a:off x="1945556" y="4009430"/>
            <a:ext cx="1385943" cy="294680"/>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FF4500"/>
                </a:solidFill>
              </a:rPr>
              <a:t>●</a:t>
            </a:r>
            <a:endParaRPr lang="en-US" sz="683" dirty="0"/>
          </a:p>
        </p:txBody>
      </p:sp>
      <p:sp>
        <p:nvSpPr>
          <p:cNvPr id="42" name="Text 39"/>
          <p:cNvSpPr/>
          <p:nvPr/>
        </p:nvSpPr>
        <p:spPr>
          <a:xfrm>
            <a:off x="3331499" y="4009430"/>
            <a:ext cx="1259477"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43" name="Text 40"/>
          <p:cNvSpPr/>
          <p:nvPr/>
        </p:nvSpPr>
        <p:spPr>
          <a:xfrm>
            <a:off x="4590976" y="4009430"/>
            <a:ext cx="1424229" cy="294680"/>
          </a:xfrm>
          <a:prstGeom prst="rect">
            <a:avLst/>
          </a:prstGeom>
          <a:noFill/>
          <a:ln/>
        </p:spPr>
        <p:txBody>
          <a:bodyPr wrap="square" lIns="85090" tIns="85090" rIns="85090" bIns="85090" rtlCol="0" anchor="ctr">
            <a:spAutoFit/>
          </a:bodyPr>
          <a:lstStyle/>
          <a:p>
            <a:pPr marL="0" indent="0" algn="ctr">
              <a:lnSpc>
                <a:spcPts val="900"/>
              </a:lnSpc>
              <a:buNone/>
            </a:pPr>
            <a:r>
              <a:rPr lang="en-US" sz="727" dirty="0">
                <a:solidFill>
                  <a:srgbClr val="CCCCCC"/>
                </a:solidFill>
              </a:rPr>
              <a:t>○</a:t>
            </a:r>
            <a:endParaRPr lang="en-US" sz="727" dirty="0"/>
          </a:p>
        </p:txBody>
      </p:sp>
      <p:sp>
        <p:nvSpPr>
          <p:cNvPr id="44" name="Text 41"/>
          <p:cNvSpPr/>
          <p:nvPr/>
        </p:nvSpPr>
        <p:spPr>
          <a:xfrm>
            <a:off x="6015205" y="4009430"/>
            <a:ext cx="1524298" cy="294680"/>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FF4500"/>
                </a:solidFill>
              </a:rPr>
              <a:t>●</a:t>
            </a:r>
            <a:endParaRPr lang="en-US" sz="683" dirty="0"/>
          </a:p>
        </p:txBody>
      </p:sp>
      <p:sp>
        <p:nvSpPr>
          <p:cNvPr id="45" name="Text 42"/>
          <p:cNvSpPr/>
          <p:nvPr/>
        </p:nvSpPr>
        <p:spPr>
          <a:xfrm>
            <a:off x="7539503" y="4009430"/>
            <a:ext cx="1029426" cy="294680"/>
          </a:xfrm>
          <a:prstGeom prst="rect">
            <a:avLst/>
          </a:prstGeom>
          <a:noFill/>
          <a:ln/>
        </p:spPr>
        <p:txBody>
          <a:bodyPr wrap="square" lIns="85090" tIns="85090" rIns="85090" bIns="85090" rtlCol="0" anchor="ctr">
            <a:spAutoFit/>
          </a:bodyPr>
          <a:lstStyle/>
          <a:p>
            <a:pPr marL="0" indent="0" algn="ctr">
              <a:lnSpc>
                <a:spcPts val="900"/>
              </a:lnSpc>
              <a:buNone/>
            </a:pPr>
            <a:r>
              <a:rPr lang="en-US" sz="683" b="1" dirty="0">
                <a:solidFill>
                  <a:srgbClr val="FF4500"/>
                </a:solidFill>
              </a:rPr>
              <a:t>●</a:t>
            </a:r>
            <a:endParaRPr lang="en-US" sz="68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521494"/>
            <a:ext cx="8572500" cy="435769"/>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1A1A1A"/>
                </a:solidFill>
              </a:rPr>
              <a:t>依托的开源项目：smolagents</a:t>
            </a:r>
            <a:endParaRPr lang="en-US" sz="2121" dirty="0"/>
          </a:p>
        </p:txBody>
      </p:sp>
      <p:sp>
        <p:nvSpPr>
          <p:cNvPr id="4" name="Text 1"/>
          <p:cNvSpPr/>
          <p:nvPr/>
        </p:nvSpPr>
        <p:spPr>
          <a:xfrm>
            <a:off x="571500" y="1171575"/>
            <a:ext cx="3857625"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4500"/>
                </a:solidFill>
              </a:rPr>
              <a:t>框架特性对比 (Why smolagents?)</a:t>
            </a:r>
            <a:endParaRPr lang="en-US" sz="885" dirty="0"/>
          </a:p>
        </p:txBody>
      </p:sp>
      <p:sp>
        <p:nvSpPr>
          <p:cNvPr id="5" name="Shape 2"/>
          <p:cNvSpPr/>
          <p:nvPr/>
        </p:nvSpPr>
        <p:spPr>
          <a:xfrm>
            <a:off x="571500" y="1432322"/>
            <a:ext cx="610791" cy="287536"/>
          </a:xfrm>
          <a:prstGeom prst="rect">
            <a:avLst/>
          </a:prstGeom>
          <a:solidFill>
            <a:srgbClr val="1A1A1A"/>
          </a:solidFill>
          <a:ln/>
        </p:spPr>
        <p:txBody>
          <a:bodyPr/>
          <a:lstStyle/>
          <a:p>
            <a:endParaRPr lang="zh-CN" altLang="en-US"/>
          </a:p>
        </p:txBody>
      </p:sp>
      <p:sp>
        <p:nvSpPr>
          <p:cNvPr id="6" name="Text 3"/>
          <p:cNvSpPr/>
          <p:nvPr/>
        </p:nvSpPr>
        <p:spPr>
          <a:xfrm>
            <a:off x="571500" y="1432322"/>
            <a:ext cx="610791" cy="287536"/>
          </a:xfrm>
          <a:prstGeom prst="rect">
            <a:avLst/>
          </a:prstGeom>
          <a:noFill/>
          <a:ln/>
        </p:spPr>
        <p:txBody>
          <a:bodyPr wrap="square" lIns="85090" tIns="85090" rIns="85090" bIns="85090" rtlCol="0" anchor="ctr">
            <a:spAutoFit/>
          </a:bodyPr>
          <a:lstStyle/>
          <a:p>
            <a:pPr marL="0" indent="0" algn="l">
              <a:lnSpc>
                <a:spcPts val="900"/>
              </a:lnSpc>
              <a:buNone/>
            </a:pPr>
            <a:r>
              <a:rPr lang="en-US" sz="683" b="1" dirty="0">
                <a:solidFill>
                  <a:srgbClr val="FFFFFF"/>
                </a:solidFill>
              </a:rPr>
              <a:t>维度</a:t>
            </a:r>
            <a:endParaRPr lang="en-US" sz="683" dirty="0"/>
          </a:p>
        </p:txBody>
      </p:sp>
      <p:sp>
        <p:nvSpPr>
          <p:cNvPr id="7" name="Shape 4"/>
          <p:cNvSpPr/>
          <p:nvPr/>
        </p:nvSpPr>
        <p:spPr>
          <a:xfrm>
            <a:off x="1182291" y="1432322"/>
            <a:ext cx="1510903" cy="287536"/>
          </a:xfrm>
          <a:prstGeom prst="rect">
            <a:avLst/>
          </a:prstGeom>
          <a:solidFill>
            <a:srgbClr val="1A1A1A"/>
          </a:solidFill>
          <a:ln/>
        </p:spPr>
        <p:txBody>
          <a:bodyPr/>
          <a:lstStyle/>
          <a:p>
            <a:endParaRPr lang="zh-CN" altLang="en-US"/>
          </a:p>
        </p:txBody>
      </p:sp>
      <p:sp>
        <p:nvSpPr>
          <p:cNvPr id="8" name="Text 5"/>
          <p:cNvSpPr/>
          <p:nvPr/>
        </p:nvSpPr>
        <p:spPr>
          <a:xfrm>
            <a:off x="1182291" y="1432322"/>
            <a:ext cx="1510903" cy="287536"/>
          </a:xfrm>
          <a:prstGeom prst="rect">
            <a:avLst/>
          </a:prstGeom>
          <a:noFill/>
          <a:ln/>
        </p:spPr>
        <p:txBody>
          <a:bodyPr wrap="square" lIns="85090" tIns="85090" rIns="85090" bIns="85090" rtlCol="0" anchor="ctr">
            <a:spAutoFit/>
          </a:bodyPr>
          <a:lstStyle/>
          <a:p>
            <a:pPr marL="0" indent="0" algn="l">
              <a:lnSpc>
                <a:spcPts val="900"/>
              </a:lnSpc>
              <a:buNone/>
            </a:pPr>
            <a:r>
              <a:rPr lang="en-US" sz="683" b="1" dirty="0">
                <a:solidFill>
                  <a:srgbClr val="FFFFFF"/>
                </a:solidFill>
              </a:rPr>
              <a:t>传统框架</a:t>
            </a:r>
            <a:endParaRPr lang="en-US" sz="683" dirty="0"/>
          </a:p>
        </p:txBody>
      </p:sp>
      <p:sp>
        <p:nvSpPr>
          <p:cNvPr id="9" name="Shape 6"/>
          <p:cNvSpPr/>
          <p:nvPr/>
        </p:nvSpPr>
        <p:spPr>
          <a:xfrm>
            <a:off x="2693194" y="1432322"/>
            <a:ext cx="1735931" cy="287536"/>
          </a:xfrm>
          <a:prstGeom prst="rect">
            <a:avLst/>
          </a:prstGeom>
          <a:solidFill>
            <a:srgbClr val="1A1A1A"/>
          </a:solidFill>
          <a:ln/>
        </p:spPr>
        <p:txBody>
          <a:bodyPr/>
          <a:lstStyle/>
          <a:p>
            <a:endParaRPr lang="zh-CN" altLang="en-US"/>
          </a:p>
        </p:txBody>
      </p:sp>
      <p:sp>
        <p:nvSpPr>
          <p:cNvPr id="10" name="Text 7"/>
          <p:cNvSpPr/>
          <p:nvPr/>
        </p:nvSpPr>
        <p:spPr>
          <a:xfrm>
            <a:off x="2693194" y="1432322"/>
            <a:ext cx="1735931" cy="287536"/>
          </a:xfrm>
          <a:prstGeom prst="rect">
            <a:avLst/>
          </a:prstGeom>
          <a:noFill/>
          <a:ln/>
        </p:spPr>
        <p:txBody>
          <a:bodyPr wrap="square" lIns="85090" tIns="85090" rIns="85090" bIns="85090" rtlCol="0" anchor="ctr">
            <a:spAutoFit/>
          </a:bodyPr>
          <a:lstStyle/>
          <a:p>
            <a:pPr marL="0" indent="0" algn="l">
              <a:lnSpc>
                <a:spcPts val="900"/>
              </a:lnSpc>
              <a:buNone/>
            </a:pPr>
            <a:r>
              <a:rPr lang="en-US" sz="683" b="1" dirty="0">
                <a:solidFill>
                  <a:srgbClr val="FFFFFF"/>
                </a:solidFill>
              </a:rPr>
              <a:t>smolagents</a:t>
            </a:r>
            <a:endParaRPr lang="en-US" sz="683" dirty="0"/>
          </a:p>
        </p:txBody>
      </p:sp>
      <p:sp>
        <p:nvSpPr>
          <p:cNvPr id="11" name="Text 8"/>
          <p:cNvSpPr/>
          <p:nvPr/>
        </p:nvSpPr>
        <p:spPr>
          <a:xfrm>
            <a:off x="571500" y="1719858"/>
            <a:ext cx="610791" cy="286448"/>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复杂度</a:t>
            </a:r>
            <a:endParaRPr lang="en-US" sz="727" dirty="0"/>
          </a:p>
        </p:txBody>
      </p:sp>
      <p:sp>
        <p:nvSpPr>
          <p:cNvPr id="12" name="Text 9"/>
          <p:cNvSpPr/>
          <p:nvPr/>
        </p:nvSpPr>
        <p:spPr>
          <a:xfrm>
            <a:off x="1182291" y="1719858"/>
            <a:ext cx="1510903" cy="286448"/>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重型抽象，学习曲线陡峭</a:t>
            </a:r>
            <a:endParaRPr lang="en-US" sz="727" dirty="0"/>
          </a:p>
        </p:txBody>
      </p:sp>
      <p:sp>
        <p:nvSpPr>
          <p:cNvPr id="13" name="Text 10"/>
          <p:cNvSpPr/>
          <p:nvPr/>
        </p:nvSpPr>
        <p:spPr>
          <a:xfrm>
            <a:off x="2693194" y="1719858"/>
            <a:ext cx="1735931" cy="286448"/>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极简设计，核心约 1000 行</a:t>
            </a:r>
            <a:endParaRPr lang="en-US" sz="727" dirty="0"/>
          </a:p>
        </p:txBody>
      </p:sp>
      <p:sp>
        <p:nvSpPr>
          <p:cNvPr id="14" name="Text 11"/>
          <p:cNvSpPr/>
          <p:nvPr/>
        </p:nvSpPr>
        <p:spPr>
          <a:xfrm>
            <a:off x="571500" y="2006305"/>
            <a:ext cx="610791"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交互模式</a:t>
            </a:r>
            <a:endParaRPr lang="en-US" sz="727" dirty="0"/>
          </a:p>
        </p:txBody>
      </p:sp>
      <p:sp>
        <p:nvSpPr>
          <p:cNvPr id="15" name="Text 12"/>
          <p:cNvSpPr/>
          <p:nvPr/>
        </p:nvSpPr>
        <p:spPr>
          <a:xfrm>
            <a:off x="1182291" y="2006305"/>
            <a:ext cx="1510903"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基于文本对话的模拟动作</a:t>
            </a:r>
            <a:endParaRPr lang="en-US" sz="727" dirty="0"/>
          </a:p>
        </p:txBody>
      </p:sp>
      <p:sp>
        <p:nvSpPr>
          <p:cNvPr id="16" name="Text 13"/>
          <p:cNvSpPr/>
          <p:nvPr/>
        </p:nvSpPr>
        <p:spPr>
          <a:xfrm>
            <a:off x="2693194" y="2006305"/>
            <a:ext cx="1735931"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代码智能体优先 (Code-first)</a:t>
            </a:r>
            <a:endParaRPr lang="en-US" sz="727" dirty="0"/>
          </a:p>
        </p:txBody>
      </p:sp>
      <p:sp>
        <p:nvSpPr>
          <p:cNvPr id="17" name="Text 14"/>
          <p:cNvSpPr/>
          <p:nvPr/>
        </p:nvSpPr>
        <p:spPr>
          <a:xfrm>
            <a:off x="571500" y="2296325"/>
            <a:ext cx="610791"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软件工程</a:t>
            </a:r>
            <a:endParaRPr lang="en-US" sz="727" dirty="0"/>
          </a:p>
        </p:txBody>
      </p:sp>
      <p:sp>
        <p:nvSpPr>
          <p:cNvPr id="18" name="Text 15"/>
          <p:cNvSpPr/>
          <p:nvPr/>
        </p:nvSpPr>
        <p:spPr>
          <a:xfrm>
            <a:off x="1182291" y="2296325"/>
            <a:ext cx="1510903"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侧重单点任务，流程松散</a:t>
            </a:r>
            <a:endParaRPr lang="en-US" sz="727" dirty="0"/>
          </a:p>
        </p:txBody>
      </p:sp>
      <p:sp>
        <p:nvSpPr>
          <p:cNvPr id="19" name="Text 16"/>
          <p:cNvSpPr/>
          <p:nvPr/>
        </p:nvSpPr>
        <p:spPr>
          <a:xfrm>
            <a:off x="2693194" y="2296325"/>
            <a:ext cx="1735931"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原生支持多智能体编排协作</a:t>
            </a:r>
            <a:endParaRPr lang="en-US" sz="727" dirty="0"/>
          </a:p>
        </p:txBody>
      </p:sp>
      <p:sp>
        <p:nvSpPr>
          <p:cNvPr id="20" name="Text 17"/>
          <p:cNvSpPr/>
          <p:nvPr/>
        </p:nvSpPr>
        <p:spPr>
          <a:xfrm>
            <a:off x="571500" y="2586344"/>
            <a:ext cx="610791"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定制化</a:t>
            </a:r>
            <a:endParaRPr lang="en-US" sz="727" dirty="0"/>
          </a:p>
        </p:txBody>
      </p:sp>
      <p:sp>
        <p:nvSpPr>
          <p:cNvPr id="21" name="Text 18"/>
          <p:cNvSpPr/>
          <p:nvPr/>
        </p:nvSpPr>
        <p:spPr>
          <a:xfrm>
            <a:off x="1182291" y="2586344"/>
            <a:ext cx="1510903"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黑盒化严重，难以底层改造</a:t>
            </a:r>
            <a:endParaRPr lang="en-US" sz="727" dirty="0"/>
          </a:p>
        </p:txBody>
      </p:sp>
      <p:sp>
        <p:nvSpPr>
          <p:cNvPr id="22" name="Text 19"/>
          <p:cNvSpPr/>
          <p:nvPr/>
        </p:nvSpPr>
        <p:spPr>
          <a:xfrm>
            <a:off x="2693194" y="2586344"/>
            <a:ext cx="1735931" cy="290020"/>
          </a:xfrm>
          <a:prstGeom prst="rect">
            <a:avLst/>
          </a:prstGeom>
          <a:noFill/>
          <a:ln/>
        </p:spPr>
        <p:txBody>
          <a:bodyPr wrap="square" lIns="85090" tIns="85090" rIns="85090" bIns="85090" rtlCol="0" anchor="ctr">
            <a:spAutoFit/>
          </a:bodyPr>
          <a:lstStyle/>
          <a:p>
            <a:pPr marL="0" indent="0" algn="l">
              <a:lnSpc>
                <a:spcPts val="1100"/>
              </a:lnSpc>
              <a:buNone/>
            </a:pPr>
            <a:r>
              <a:rPr lang="en-US" sz="727" dirty="0">
                <a:solidFill>
                  <a:srgbClr val="1A1A1A"/>
                </a:solidFill>
              </a:rPr>
              <a:t>高度可改造，易于植入隔离逻辑</a:t>
            </a:r>
            <a:endParaRPr lang="en-US" sz="727" dirty="0"/>
          </a:p>
        </p:txBody>
      </p:sp>
      <p:sp>
        <p:nvSpPr>
          <p:cNvPr id="23" name="Shape 20"/>
          <p:cNvSpPr/>
          <p:nvPr/>
        </p:nvSpPr>
        <p:spPr>
          <a:xfrm>
            <a:off x="571500" y="3022811"/>
            <a:ext cx="3857625" cy="1443038"/>
          </a:xfrm>
          <a:prstGeom prst="rect">
            <a:avLst/>
          </a:prstGeom>
          <a:solidFill>
            <a:srgbClr val="FFFFFF"/>
          </a:solidFill>
          <a:ln w="9144">
            <a:solidFill>
              <a:srgbClr val="1A1A1A"/>
            </a:solidFill>
            <a:prstDash val="solid"/>
          </a:ln>
        </p:spPr>
        <p:txBody>
          <a:bodyPr/>
          <a:lstStyle/>
          <a:p>
            <a:endParaRPr lang="zh-CN" altLang="en-US"/>
          </a:p>
        </p:txBody>
      </p:sp>
      <p:pic>
        <p:nvPicPr>
          <p:cNvPr id="24" name="Image 1" descr="preencoded.png"/>
          <p:cNvPicPr>
            <a:picLocks noChangeAspect="1"/>
          </p:cNvPicPr>
          <p:nvPr/>
        </p:nvPicPr>
        <p:blipFill>
          <a:blip r:embed="rId4"/>
          <a:stretch>
            <a:fillRect/>
          </a:stretch>
        </p:blipFill>
        <p:spPr>
          <a:xfrm>
            <a:off x="1218707" y="3022811"/>
            <a:ext cx="2563211" cy="1428750"/>
          </a:xfrm>
          <a:prstGeom prst="rect">
            <a:avLst/>
          </a:prstGeom>
        </p:spPr>
      </p:pic>
      <p:sp>
        <p:nvSpPr>
          <p:cNvPr id="25" name="Shape 21"/>
          <p:cNvSpPr/>
          <p:nvPr/>
        </p:nvSpPr>
        <p:spPr>
          <a:xfrm>
            <a:off x="4714875" y="1171575"/>
            <a:ext cx="3857625" cy="1734145"/>
          </a:xfrm>
          <a:prstGeom prst="rect">
            <a:avLst/>
          </a:prstGeom>
          <a:solidFill>
            <a:srgbClr val="1A1A1A"/>
          </a:solidFill>
          <a:ln/>
        </p:spPr>
        <p:txBody>
          <a:bodyPr/>
          <a:lstStyle/>
          <a:p>
            <a:endParaRPr lang="zh-CN" altLang="en-US"/>
          </a:p>
        </p:txBody>
      </p:sp>
      <p:sp>
        <p:nvSpPr>
          <p:cNvPr id="26" name="Text 22"/>
          <p:cNvSpPr/>
          <p:nvPr/>
        </p:nvSpPr>
        <p:spPr>
          <a:xfrm>
            <a:off x="4857750" y="1314450"/>
            <a:ext cx="3571875" cy="20716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500"/>
                </a:solidFill>
              </a:rPr>
              <a:t>本项目的关键改造点</a:t>
            </a:r>
            <a:endParaRPr lang="en-US" sz="987" dirty="0"/>
          </a:p>
        </p:txBody>
      </p:sp>
      <p:sp>
        <p:nvSpPr>
          <p:cNvPr id="27" name="Text 23"/>
          <p:cNvSpPr/>
          <p:nvPr/>
        </p:nvSpPr>
        <p:spPr>
          <a:xfrm>
            <a:off x="4972050" y="1628775"/>
            <a:ext cx="2873518" cy="15537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F2F2F2"/>
                </a:solidFill>
              </a:rPr>
              <a:t>多智能体编排</a:t>
            </a:r>
            <a:r>
              <a:rPr lang="en-US" sz="780" dirty="0">
                <a:solidFill>
                  <a:srgbClr val="F2F2F2"/>
                </a:solidFill>
              </a:rPr>
              <a:t>：实现 Manager Agent 协调五个专业化角色。</a:t>
            </a:r>
            <a:endParaRPr lang="en-US" sz="734" dirty="0"/>
          </a:p>
        </p:txBody>
      </p:sp>
      <p:sp>
        <p:nvSpPr>
          <p:cNvPr id="28" name="Text 24"/>
          <p:cNvSpPr/>
          <p:nvPr/>
        </p:nvSpPr>
        <p:spPr>
          <a:xfrm>
            <a:off x="4972050" y="1855589"/>
            <a:ext cx="3000375" cy="15537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F2F2F2"/>
                </a:solidFill>
              </a:rPr>
              <a:t>工具权限隔离</a:t>
            </a:r>
            <a:r>
              <a:rPr lang="en-US" sz="780" dirty="0">
                <a:solidFill>
                  <a:srgbClr val="F2F2F2"/>
                </a:solidFill>
              </a:rPr>
              <a:t>：为不同智能体分配独立工具集，实现职责分离。</a:t>
            </a:r>
            <a:endParaRPr lang="en-US" sz="734" dirty="0"/>
          </a:p>
        </p:txBody>
      </p:sp>
      <p:sp>
        <p:nvSpPr>
          <p:cNvPr id="29" name="Text 25"/>
          <p:cNvSpPr/>
          <p:nvPr/>
        </p:nvSpPr>
        <p:spPr>
          <a:xfrm>
            <a:off x="4972050" y="2082403"/>
            <a:ext cx="2893219" cy="15537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F2F2F2"/>
                </a:solidFill>
              </a:rPr>
              <a:t>运行上下文管理</a:t>
            </a:r>
            <a:r>
              <a:rPr lang="en-US" sz="780" dirty="0">
                <a:solidFill>
                  <a:srgbClr val="F2F2F2"/>
                </a:solidFill>
              </a:rPr>
              <a:t>：实现任务目录自动创建与路径合法性校验。</a:t>
            </a:r>
            <a:endParaRPr lang="en-US" sz="734" dirty="0"/>
          </a:p>
        </p:txBody>
      </p:sp>
      <p:sp>
        <p:nvSpPr>
          <p:cNvPr id="30" name="Text 26"/>
          <p:cNvSpPr/>
          <p:nvPr/>
        </p:nvSpPr>
        <p:spPr>
          <a:xfrm>
            <a:off x="4972050" y="2309217"/>
            <a:ext cx="3146989" cy="15537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F2F2F2"/>
                </a:solidFill>
              </a:rPr>
              <a:t>结构化输出模型</a:t>
            </a:r>
            <a:r>
              <a:rPr lang="en-US" sz="780" dirty="0">
                <a:solidFill>
                  <a:srgbClr val="F2F2F2"/>
                </a:solidFill>
              </a:rPr>
              <a:t>：定义 RequirementSpec 等 Pydantic 数据模型。</a:t>
            </a:r>
            <a:endParaRPr lang="en-US" sz="734" dirty="0"/>
          </a:p>
        </p:txBody>
      </p:sp>
      <p:sp>
        <p:nvSpPr>
          <p:cNvPr id="31" name="Text 27"/>
          <p:cNvSpPr/>
          <p:nvPr/>
        </p:nvSpPr>
        <p:spPr>
          <a:xfrm>
            <a:off x="4972050" y="2536031"/>
            <a:ext cx="2786063" cy="155377"/>
          </a:xfrm>
          <a:prstGeom prst="rect">
            <a:avLst/>
          </a:prstGeom>
          <a:noFill/>
          <a:ln/>
        </p:spPr>
        <p:txBody>
          <a:bodyPr wrap="none" lIns="0" tIns="0" rIns="0" bIns="0" rtlCol="0" anchor="t">
            <a:spAutoFit/>
          </a:bodyPr>
          <a:lstStyle/>
          <a:p>
            <a:pPr marL="0" indent="0" algn="l">
              <a:lnSpc>
                <a:spcPts val="1000"/>
              </a:lnSpc>
              <a:buNone/>
            </a:pPr>
            <a:r>
              <a:rPr lang="en-US" sz="734" b="1" dirty="0">
                <a:solidFill>
                  <a:srgbClr val="F2F2F2"/>
                </a:solidFill>
              </a:rPr>
              <a:t>闭环自动化</a:t>
            </a:r>
            <a:r>
              <a:rPr lang="en-US" sz="780" dirty="0">
                <a:solidFill>
                  <a:srgbClr val="F2F2F2"/>
                </a:solidFill>
              </a:rPr>
              <a:t>：实现从需求提取到质量验证的完整闭环流程。</a:t>
            </a:r>
            <a:endParaRPr lang="en-US" sz="7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820527"/>
            <a:ext cx="5143500" cy="435769"/>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1A1A1A"/>
                </a:solidFill>
              </a:rPr>
              <a:t>总体思路：三层架构设计</a:t>
            </a:r>
            <a:endParaRPr lang="en-US" sz="2121" dirty="0"/>
          </a:p>
        </p:txBody>
      </p:sp>
      <p:sp>
        <p:nvSpPr>
          <p:cNvPr id="4" name="Text 1"/>
          <p:cNvSpPr/>
          <p:nvPr/>
        </p:nvSpPr>
        <p:spPr>
          <a:xfrm>
            <a:off x="742950" y="1470608"/>
            <a:ext cx="4972050"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4500"/>
                </a:solidFill>
              </a:rPr>
              <a:t>流程层 (Process Layer)</a:t>
            </a:r>
            <a:endParaRPr lang="en-US" sz="1090" dirty="0"/>
          </a:p>
        </p:txBody>
      </p:sp>
      <p:sp>
        <p:nvSpPr>
          <p:cNvPr id="5" name="Text 2"/>
          <p:cNvSpPr/>
          <p:nvPr/>
        </p:nvSpPr>
        <p:spPr>
          <a:xfrm>
            <a:off x="742950" y="1734927"/>
            <a:ext cx="4052236"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3333"/>
                </a:solidFill>
              </a:rPr>
              <a:t>负责全局任务编排与状态流转。通过 Manager Agent 实现多智能体的生命周期管理。</a:t>
            </a:r>
            <a:endParaRPr lang="en-US" sz="780" dirty="0"/>
          </a:p>
        </p:txBody>
      </p:sp>
      <p:sp>
        <p:nvSpPr>
          <p:cNvPr id="6" name="Shape 3"/>
          <p:cNvSpPr/>
          <p:nvPr/>
        </p:nvSpPr>
        <p:spPr>
          <a:xfrm>
            <a:off x="742950" y="1918878"/>
            <a:ext cx="739769" cy="148568"/>
          </a:xfrm>
          <a:prstGeom prst="rect">
            <a:avLst/>
          </a:prstGeom>
          <a:solidFill>
            <a:srgbClr val="1A1A1A"/>
          </a:solidFill>
          <a:ln/>
        </p:spPr>
        <p:txBody>
          <a:bodyPr/>
          <a:lstStyle/>
          <a:p>
            <a:endParaRPr lang="zh-CN" altLang="en-US"/>
          </a:p>
        </p:txBody>
      </p:sp>
      <p:sp>
        <p:nvSpPr>
          <p:cNvPr id="7" name="Text 4"/>
          <p:cNvSpPr/>
          <p:nvPr/>
        </p:nvSpPr>
        <p:spPr>
          <a:xfrm>
            <a:off x="742950" y="1918878"/>
            <a:ext cx="739769"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Manager Agent</a:t>
            </a:r>
            <a:endParaRPr lang="en-US" sz="621" dirty="0"/>
          </a:p>
        </p:txBody>
      </p:sp>
      <p:sp>
        <p:nvSpPr>
          <p:cNvPr id="8" name="Shape 5"/>
          <p:cNvSpPr/>
          <p:nvPr/>
        </p:nvSpPr>
        <p:spPr>
          <a:xfrm>
            <a:off x="1546315" y="1918878"/>
            <a:ext cx="817597" cy="148568"/>
          </a:xfrm>
          <a:prstGeom prst="rect">
            <a:avLst/>
          </a:prstGeom>
          <a:solidFill>
            <a:srgbClr val="1A1A1A"/>
          </a:solidFill>
          <a:ln/>
        </p:spPr>
        <p:txBody>
          <a:bodyPr/>
          <a:lstStyle/>
          <a:p>
            <a:endParaRPr lang="zh-CN" altLang="en-US"/>
          </a:p>
        </p:txBody>
      </p:sp>
      <p:sp>
        <p:nvSpPr>
          <p:cNvPr id="9" name="Text 6"/>
          <p:cNvSpPr/>
          <p:nvPr/>
        </p:nvSpPr>
        <p:spPr>
          <a:xfrm>
            <a:off x="1546315" y="1918878"/>
            <a:ext cx="817597"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SOP Orchestrator</a:t>
            </a:r>
            <a:endParaRPr lang="en-US" sz="621" dirty="0"/>
          </a:p>
        </p:txBody>
      </p:sp>
      <p:sp>
        <p:nvSpPr>
          <p:cNvPr id="10" name="Shape 7"/>
          <p:cNvSpPr/>
          <p:nvPr/>
        </p:nvSpPr>
        <p:spPr>
          <a:xfrm>
            <a:off x="2427508" y="1918878"/>
            <a:ext cx="685409" cy="148568"/>
          </a:xfrm>
          <a:prstGeom prst="rect">
            <a:avLst/>
          </a:prstGeom>
          <a:solidFill>
            <a:srgbClr val="1A1A1A"/>
          </a:solidFill>
          <a:ln/>
        </p:spPr>
        <p:txBody>
          <a:bodyPr/>
          <a:lstStyle/>
          <a:p>
            <a:endParaRPr lang="zh-CN" altLang="en-US"/>
          </a:p>
        </p:txBody>
      </p:sp>
      <p:sp>
        <p:nvSpPr>
          <p:cNvPr id="11" name="Text 8"/>
          <p:cNvSpPr/>
          <p:nvPr/>
        </p:nvSpPr>
        <p:spPr>
          <a:xfrm>
            <a:off x="2427508" y="1918878"/>
            <a:ext cx="685409"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State Machine</a:t>
            </a:r>
            <a:endParaRPr lang="en-US" sz="621" dirty="0"/>
          </a:p>
        </p:txBody>
      </p:sp>
      <p:sp>
        <p:nvSpPr>
          <p:cNvPr id="12" name="Text 9"/>
          <p:cNvSpPr/>
          <p:nvPr/>
        </p:nvSpPr>
        <p:spPr>
          <a:xfrm>
            <a:off x="742950" y="2246040"/>
            <a:ext cx="4972050"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4500"/>
                </a:solidFill>
              </a:rPr>
              <a:t>智能体层 (Agent Layer)</a:t>
            </a:r>
            <a:endParaRPr lang="en-US" sz="1090" dirty="0"/>
          </a:p>
        </p:txBody>
      </p:sp>
      <p:sp>
        <p:nvSpPr>
          <p:cNvPr id="13" name="Text 10"/>
          <p:cNvSpPr/>
          <p:nvPr/>
        </p:nvSpPr>
        <p:spPr>
          <a:xfrm>
            <a:off x="742950" y="2510358"/>
            <a:ext cx="3630783"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3333"/>
                </a:solidFill>
              </a:rPr>
              <a:t>五类专业化角色各司其职。通过结构化 JSON 规格说明书实现信息无损传递。</a:t>
            </a:r>
            <a:endParaRPr lang="en-US" sz="780" dirty="0"/>
          </a:p>
        </p:txBody>
      </p:sp>
      <p:sp>
        <p:nvSpPr>
          <p:cNvPr id="14" name="Shape 11"/>
          <p:cNvSpPr/>
          <p:nvPr/>
        </p:nvSpPr>
        <p:spPr>
          <a:xfrm>
            <a:off x="742950" y="2694310"/>
            <a:ext cx="450531" cy="148568"/>
          </a:xfrm>
          <a:prstGeom prst="rect">
            <a:avLst/>
          </a:prstGeom>
          <a:solidFill>
            <a:srgbClr val="1A1A1A"/>
          </a:solidFill>
          <a:ln/>
        </p:spPr>
        <p:txBody>
          <a:bodyPr/>
          <a:lstStyle/>
          <a:p>
            <a:endParaRPr lang="zh-CN" altLang="en-US"/>
          </a:p>
        </p:txBody>
      </p:sp>
      <p:sp>
        <p:nvSpPr>
          <p:cNvPr id="15" name="Text 12"/>
          <p:cNvSpPr/>
          <p:nvPr/>
        </p:nvSpPr>
        <p:spPr>
          <a:xfrm>
            <a:off x="742950" y="2694310"/>
            <a:ext cx="450531"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RA (Req)</a:t>
            </a:r>
            <a:endParaRPr lang="en-US" sz="621" dirty="0"/>
          </a:p>
        </p:txBody>
      </p:sp>
      <p:sp>
        <p:nvSpPr>
          <p:cNvPr id="16" name="Shape 13"/>
          <p:cNvSpPr/>
          <p:nvPr/>
        </p:nvSpPr>
        <p:spPr>
          <a:xfrm>
            <a:off x="1257077" y="2694310"/>
            <a:ext cx="583499" cy="148568"/>
          </a:xfrm>
          <a:prstGeom prst="rect">
            <a:avLst/>
          </a:prstGeom>
          <a:solidFill>
            <a:srgbClr val="1A1A1A"/>
          </a:solidFill>
          <a:ln/>
        </p:spPr>
        <p:txBody>
          <a:bodyPr/>
          <a:lstStyle/>
          <a:p>
            <a:endParaRPr lang="zh-CN" altLang="en-US"/>
          </a:p>
        </p:txBody>
      </p:sp>
      <p:sp>
        <p:nvSpPr>
          <p:cNvPr id="17" name="Text 14"/>
          <p:cNvSpPr/>
          <p:nvPr/>
        </p:nvSpPr>
        <p:spPr>
          <a:xfrm>
            <a:off x="1257077" y="2694310"/>
            <a:ext cx="583499"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DA (Design)</a:t>
            </a:r>
            <a:endParaRPr lang="en-US" sz="621" dirty="0"/>
          </a:p>
        </p:txBody>
      </p:sp>
      <p:sp>
        <p:nvSpPr>
          <p:cNvPr id="18" name="Shape 15"/>
          <p:cNvSpPr/>
          <p:nvPr/>
        </p:nvSpPr>
        <p:spPr>
          <a:xfrm>
            <a:off x="1904172" y="2694310"/>
            <a:ext cx="455916" cy="148568"/>
          </a:xfrm>
          <a:prstGeom prst="rect">
            <a:avLst/>
          </a:prstGeom>
          <a:solidFill>
            <a:srgbClr val="1A1A1A"/>
          </a:solidFill>
          <a:ln/>
        </p:spPr>
        <p:txBody>
          <a:bodyPr/>
          <a:lstStyle/>
          <a:p>
            <a:endParaRPr lang="zh-CN" altLang="en-US"/>
          </a:p>
        </p:txBody>
      </p:sp>
      <p:sp>
        <p:nvSpPr>
          <p:cNvPr id="19" name="Text 16"/>
          <p:cNvSpPr/>
          <p:nvPr/>
        </p:nvSpPr>
        <p:spPr>
          <a:xfrm>
            <a:off x="1904172" y="2694310"/>
            <a:ext cx="455916"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IA (Impl)</a:t>
            </a:r>
            <a:endParaRPr lang="en-US" sz="621" dirty="0"/>
          </a:p>
        </p:txBody>
      </p:sp>
      <p:sp>
        <p:nvSpPr>
          <p:cNvPr id="20" name="Shape 17"/>
          <p:cNvSpPr/>
          <p:nvPr/>
        </p:nvSpPr>
        <p:spPr>
          <a:xfrm>
            <a:off x="2423685" y="2694310"/>
            <a:ext cx="446512" cy="148568"/>
          </a:xfrm>
          <a:prstGeom prst="rect">
            <a:avLst/>
          </a:prstGeom>
          <a:solidFill>
            <a:srgbClr val="1A1A1A"/>
          </a:solidFill>
          <a:ln/>
        </p:spPr>
        <p:txBody>
          <a:bodyPr/>
          <a:lstStyle/>
          <a:p>
            <a:endParaRPr lang="zh-CN" altLang="en-US"/>
          </a:p>
        </p:txBody>
      </p:sp>
      <p:sp>
        <p:nvSpPr>
          <p:cNvPr id="21" name="Text 18"/>
          <p:cNvSpPr/>
          <p:nvPr/>
        </p:nvSpPr>
        <p:spPr>
          <a:xfrm>
            <a:off x="2423685" y="2694310"/>
            <a:ext cx="446512"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TA (Test)</a:t>
            </a:r>
            <a:endParaRPr lang="en-US" sz="621" dirty="0"/>
          </a:p>
        </p:txBody>
      </p:sp>
      <p:sp>
        <p:nvSpPr>
          <p:cNvPr id="22" name="Shape 19"/>
          <p:cNvSpPr/>
          <p:nvPr/>
        </p:nvSpPr>
        <p:spPr>
          <a:xfrm>
            <a:off x="2933793" y="2694310"/>
            <a:ext cx="519624" cy="148568"/>
          </a:xfrm>
          <a:prstGeom prst="rect">
            <a:avLst/>
          </a:prstGeom>
          <a:solidFill>
            <a:srgbClr val="1A1A1A"/>
          </a:solidFill>
          <a:ln/>
        </p:spPr>
        <p:txBody>
          <a:bodyPr/>
          <a:lstStyle/>
          <a:p>
            <a:endParaRPr lang="zh-CN" altLang="en-US"/>
          </a:p>
        </p:txBody>
      </p:sp>
      <p:sp>
        <p:nvSpPr>
          <p:cNvPr id="23" name="Text 20"/>
          <p:cNvSpPr/>
          <p:nvPr/>
        </p:nvSpPr>
        <p:spPr>
          <a:xfrm>
            <a:off x="2933793" y="2694310"/>
            <a:ext cx="519624"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VA (Verify)</a:t>
            </a:r>
            <a:endParaRPr lang="en-US" sz="621" dirty="0"/>
          </a:p>
        </p:txBody>
      </p:sp>
      <p:sp>
        <p:nvSpPr>
          <p:cNvPr id="24" name="Text 21"/>
          <p:cNvSpPr/>
          <p:nvPr/>
        </p:nvSpPr>
        <p:spPr>
          <a:xfrm>
            <a:off x="742950" y="3021471"/>
            <a:ext cx="4972050" cy="22681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4500"/>
                </a:solidFill>
              </a:rPr>
              <a:t>工具层 (Tool Layer)</a:t>
            </a:r>
            <a:endParaRPr lang="en-US" sz="1090" dirty="0"/>
          </a:p>
        </p:txBody>
      </p:sp>
      <p:sp>
        <p:nvSpPr>
          <p:cNvPr id="25" name="Text 22"/>
          <p:cNvSpPr/>
          <p:nvPr/>
        </p:nvSpPr>
        <p:spPr>
          <a:xfrm>
            <a:off x="742950" y="3285790"/>
            <a:ext cx="3643313" cy="146447"/>
          </a:xfrm>
          <a:prstGeom prst="rect">
            <a:avLst/>
          </a:prstGeom>
          <a:noFill/>
          <a:ln/>
        </p:spPr>
        <p:txBody>
          <a:bodyPr wrap="none" lIns="0" tIns="0" rIns="0" bIns="0" rtlCol="0" anchor="t">
            <a:spAutoFit/>
          </a:bodyPr>
          <a:lstStyle/>
          <a:p>
            <a:pPr marL="0" indent="0" algn="l">
              <a:lnSpc>
                <a:spcPts val="1200"/>
              </a:lnSpc>
              <a:buNone/>
            </a:pPr>
            <a:r>
              <a:rPr lang="en-US" sz="780" dirty="0">
                <a:solidFill>
                  <a:srgbClr val="333333"/>
                </a:solidFill>
              </a:rPr>
              <a:t>底层原子能力支持。通过严格的权限校验确保智能体操作的安全性与规范性。</a:t>
            </a:r>
            <a:endParaRPr lang="en-US" sz="780" dirty="0"/>
          </a:p>
        </p:txBody>
      </p:sp>
      <p:sp>
        <p:nvSpPr>
          <p:cNvPr id="26" name="Shape 23"/>
          <p:cNvSpPr/>
          <p:nvPr/>
        </p:nvSpPr>
        <p:spPr>
          <a:xfrm>
            <a:off x="742950" y="3469742"/>
            <a:ext cx="564970" cy="148568"/>
          </a:xfrm>
          <a:prstGeom prst="rect">
            <a:avLst/>
          </a:prstGeom>
          <a:solidFill>
            <a:srgbClr val="1A1A1A"/>
          </a:solidFill>
          <a:ln/>
        </p:spPr>
        <p:txBody>
          <a:bodyPr/>
          <a:lstStyle/>
          <a:p>
            <a:endParaRPr lang="zh-CN" altLang="en-US"/>
          </a:p>
        </p:txBody>
      </p:sp>
      <p:sp>
        <p:nvSpPr>
          <p:cNvPr id="27" name="Text 24"/>
          <p:cNvSpPr/>
          <p:nvPr/>
        </p:nvSpPr>
        <p:spPr>
          <a:xfrm>
            <a:off x="742950" y="3469742"/>
            <a:ext cx="564970"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File System</a:t>
            </a:r>
            <a:endParaRPr lang="en-US" sz="621" dirty="0"/>
          </a:p>
        </p:txBody>
      </p:sp>
      <p:sp>
        <p:nvSpPr>
          <p:cNvPr id="28" name="Shape 25"/>
          <p:cNvSpPr/>
          <p:nvPr/>
        </p:nvSpPr>
        <p:spPr>
          <a:xfrm>
            <a:off x="1371516" y="3469742"/>
            <a:ext cx="546274" cy="148568"/>
          </a:xfrm>
          <a:prstGeom prst="rect">
            <a:avLst/>
          </a:prstGeom>
          <a:solidFill>
            <a:srgbClr val="1A1A1A"/>
          </a:solidFill>
          <a:ln/>
        </p:spPr>
        <p:txBody>
          <a:bodyPr/>
          <a:lstStyle/>
          <a:p>
            <a:endParaRPr lang="zh-CN" altLang="en-US"/>
          </a:p>
        </p:txBody>
      </p:sp>
      <p:sp>
        <p:nvSpPr>
          <p:cNvPr id="29" name="Text 26"/>
          <p:cNvSpPr/>
          <p:nvPr/>
        </p:nvSpPr>
        <p:spPr>
          <a:xfrm>
            <a:off x="1371516" y="3469742"/>
            <a:ext cx="546274"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AST Parser</a:t>
            </a:r>
            <a:endParaRPr lang="en-US" sz="621" dirty="0"/>
          </a:p>
        </p:txBody>
      </p:sp>
      <p:sp>
        <p:nvSpPr>
          <p:cNvPr id="30" name="Shape 27"/>
          <p:cNvSpPr/>
          <p:nvPr/>
        </p:nvSpPr>
        <p:spPr>
          <a:xfrm>
            <a:off x="1981386" y="3469742"/>
            <a:ext cx="679493" cy="148568"/>
          </a:xfrm>
          <a:prstGeom prst="rect">
            <a:avLst/>
          </a:prstGeom>
          <a:solidFill>
            <a:srgbClr val="1A1A1A"/>
          </a:solidFill>
          <a:ln/>
        </p:spPr>
        <p:txBody>
          <a:bodyPr/>
          <a:lstStyle/>
          <a:p>
            <a:endParaRPr lang="zh-CN" altLang="en-US"/>
          </a:p>
        </p:txBody>
      </p:sp>
      <p:sp>
        <p:nvSpPr>
          <p:cNvPr id="31" name="Text 28"/>
          <p:cNvSpPr/>
          <p:nvPr/>
        </p:nvSpPr>
        <p:spPr>
          <a:xfrm>
            <a:off x="1981386" y="3469742"/>
            <a:ext cx="679493"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Pytest Runner</a:t>
            </a:r>
            <a:endParaRPr lang="en-US" sz="621" dirty="0"/>
          </a:p>
        </p:txBody>
      </p:sp>
      <p:sp>
        <p:nvSpPr>
          <p:cNvPr id="32" name="Shape 29"/>
          <p:cNvSpPr/>
          <p:nvPr/>
        </p:nvSpPr>
        <p:spPr>
          <a:xfrm>
            <a:off x="2724476" y="3469742"/>
            <a:ext cx="548339" cy="148568"/>
          </a:xfrm>
          <a:prstGeom prst="rect">
            <a:avLst/>
          </a:prstGeom>
          <a:solidFill>
            <a:srgbClr val="1A1A1A"/>
          </a:solidFill>
          <a:ln/>
        </p:spPr>
        <p:txBody>
          <a:bodyPr/>
          <a:lstStyle/>
          <a:p>
            <a:endParaRPr lang="zh-CN" altLang="en-US"/>
          </a:p>
        </p:txBody>
      </p:sp>
      <p:sp>
        <p:nvSpPr>
          <p:cNvPr id="33" name="Text 30"/>
          <p:cNvSpPr/>
          <p:nvPr/>
        </p:nvSpPr>
        <p:spPr>
          <a:xfrm>
            <a:off x="2724476" y="3469742"/>
            <a:ext cx="548339" cy="148568"/>
          </a:xfrm>
          <a:prstGeom prst="rect">
            <a:avLst/>
          </a:prstGeom>
          <a:noFill/>
          <a:ln/>
        </p:spPr>
        <p:txBody>
          <a:bodyPr wrap="none" lIns="68072" tIns="17018" rIns="68072" bIns="17018" rtlCol="0" anchor="t">
            <a:spAutoFit/>
          </a:bodyPr>
          <a:lstStyle/>
          <a:p>
            <a:pPr marL="0" indent="0" algn="l">
              <a:lnSpc>
                <a:spcPts val="900"/>
              </a:lnSpc>
              <a:buNone/>
            </a:pPr>
            <a:r>
              <a:rPr lang="en-US" sz="621" dirty="0">
                <a:solidFill>
                  <a:srgbClr val="FFFFFF"/>
                </a:solidFill>
              </a:rPr>
              <a:t>Spec Saver</a:t>
            </a:r>
            <a:endParaRPr lang="en-US" sz="621" dirty="0"/>
          </a:p>
        </p:txBody>
      </p:sp>
      <p:sp>
        <p:nvSpPr>
          <p:cNvPr id="34" name="Shape 31"/>
          <p:cNvSpPr/>
          <p:nvPr/>
        </p:nvSpPr>
        <p:spPr>
          <a:xfrm>
            <a:off x="5715000" y="0"/>
            <a:ext cx="3429000" cy="5143500"/>
          </a:xfrm>
          <a:prstGeom prst="rect">
            <a:avLst/>
          </a:prstGeom>
          <a:solidFill>
            <a:srgbClr val="1A1A1A"/>
          </a:solidFill>
          <a:ln/>
        </p:spPr>
        <p:txBody>
          <a:bodyPr/>
          <a:lstStyle/>
          <a:p>
            <a:endParaRPr lang="zh-CN" altLang="en-US"/>
          </a:p>
        </p:txBody>
      </p:sp>
      <p:sp>
        <p:nvSpPr>
          <p:cNvPr id="35" name="Shape 32"/>
          <p:cNvSpPr/>
          <p:nvPr/>
        </p:nvSpPr>
        <p:spPr>
          <a:xfrm>
            <a:off x="5850731" y="1368391"/>
            <a:ext cx="3157538" cy="2406690"/>
          </a:xfrm>
          <a:prstGeom prst="rect">
            <a:avLst/>
          </a:prstGeom>
          <a:solidFill>
            <a:srgbClr val="FFFFFF"/>
          </a:solidFill>
          <a:ln w="9144">
            <a:solidFill>
              <a:srgbClr val="FF4500"/>
            </a:solidFill>
            <a:prstDash val="solid"/>
          </a:ln>
        </p:spPr>
        <p:txBody>
          <a:bodyPr/>
          <a:lstStyle/>
          <a:p>
            <a:endParaRPr lang="zh-CN" altLang="en-US"/>
          </a:p>
        </p:txBody>
      </p:sp>
      <p:pic>
        <p:nvPicPr>
          <p:cNvPr id="36" name="Image 1" descr="preencoded.png"/>
          <p:cNvPicPr>
            <a:picLocks noChangeAspect="1"/>
          </p:cNvPicPr>
          <p:nvPr/>
        </p:nvPicPr>
        <p:blipFill>
          <a:blip r:embed="rId4"/>
          <a:stretch>
            <a:fillRect/>
          </a:stretch>
        </p:blipFill>
        <p:spPr>
          <a:xfrm>
            <a:off x="6000750" y="1518410"/>
            <a:ext cx="2857500" cy="2072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521494"/>
            <a:ext cx="8572500" cy="435769"/>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1A1A1A"/>
                </a:solidFill>
              </a:rPr>
              <a:t>结构化驱动的闭环流程</a:t>
            </a:r>
            <a:endParaRPr lang="en-US" sz="2121" dirty="0"/>
          </a:p>
        </p:txBody>
      </p:sp>
      <p:sp>
        <p:nvSpPr>
          <p:cNvPr id="4" name="Shape 1"/>
          <p:cNvSpPr/>
          <p:nvPr/>
        </p:nvSpPr>
        <p:spPr>
          <a:xfrm>
            <a:off x="571500" y="1243013"/>
            <a:ext cx="1243013" cy="548283"/>
          </a:xfrm>
          <a:prstGeom prst="rect">
            <a:avLst/>
          </a:prstGeom>
          <a:solidFill>
            <a:srgbClr val="FFFFFF"/>
          </a:solidFill>
          <a:ln w="18288">
            <a:solidFill>
              <a:srgbClr val="1A1A1A"/>
            </a:solidFill>
            <a:prstDash val="solid"/>
          </a:ln>
        </p:spPr>
        <p:txBody>
          <a:bodyPr/>
          <a:lstStyle/>
          <a:p>
            <a:endParaRPr lang="zh-CN" altLang="en-US"/>
          </a:p>
        </p:txBody>
      </p:sp>
      <p:sp>
        <p:nvSpPr>
          <p:cNvPr id="5" name="Text 2"/>
          <p:cNvSpPr/>
          <p:nvPr/>
        </p:nvSpPr>
        <p:spPr>
          <a:xfrm>
            <a:off x="678656" y="1364456"/>
            <a:ext cx="1000125"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FF4500"/>
                </a:solidFill>
              </a:rPr>
              <a:t>01 REQ</a:t>
            </a:r>
            <a:endParaRPr lang="en-US" sz="584" dirty="0"/>
          </a:p>
        </p:txBody>
      </p:sp>
      <p:sp>
        <p:nvSpPr>
          <p:cNvPr id="6" name="Text 3"/>
          <p:cNvSpPr/>
          <p:nvPr/>
        </p:nvSpPr>
        <p:spPr>
          <a:xfrm>
            <a:off x="678656" y="1480542"/>
            <a:ext cx="1000125" cy="189309"/>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A1A1A"/>
                </a:solidFill>
              </a:rPr>
              <a:t>需求规格化</a:t>
            </a:r>
            <a:endParaRPr lang="en-US" sz="885" dirty="0"/>
          </a:p>
        </p:txBody>
      </p:sp>
      <p:sp>
        <p:nvSpPr>
          <p:cNvPr id="7" name="Shape 4"/>
          <p:cNvSpPr/>
          <p:nvPr/>
        </p:nvSpPr>
        <p:spPr>
          <a:xfrm>
            <a:off x="2239566" y="1243013"/>
            <a:ext cx="1243013" cy="548283"/>
          </a:xfrm>
          <a:prstGeom prst="rect">
            <a:avLst/>
          </a:prstGeom>
          <a:solidFill>
            <a:srgbClr val="FFFFFF"/>
          </a:solidFill>
          <a:ln w="18288">
            <a:solidFill>
              <a:srgbClr val="1A1A1A"/>
            </a:solidFill>
            <a:prstDash val="solid"/>
          </a:ln>
        </p:spPr>
        <p:txBody>
          <a:bodyPr/>
          <a:lstStyle/>
          <a:p>
            <a:endParaRPr lang="zh-CN" altLang="en-US"/>
          </a:p>
        </p:txBody>
      </p:sp>
      <p:sp>
        <p:nvSpPr>
          <p:cNvPr id="8" name="Text 5"/>
          <p:cNvSpPr/>
          <p:nvPr/>
        </p:nvSpPr>
        <p:spPr>
          <a:xfrm>
            <a:off x="2353866" y="1364456"/>
            <a:ext cx="1000125"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FF4500"/>
                </a:solidFill>
              </a:rPr>
              <a:t>02 DESIGN</a:t>
            </a:r>
            <a:endParaRPr lang="en-US" sz="584" dirty="0"/>
          </a:p>
        </p:txBody>
      </p:sp>
      <p:sp>
        <p:nvSpPr>
          <p:cNvPr id="9" name="Text 6"/>
          <p:cNvSpPr/>
          <p:nvPr/>
        </p:nvSpPr>
        <p:spPr>
          <a:xfrm>
            <a:off x="2353866" y="1480542"/>
            <a:ext cx="1000125" cy="189309"/>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A1A1A"/>
                </a:solidFill>
              </a:rPr>
              <a:t>技术方案</a:t>
            </a:r>
            <a:endParaRPr lang="en-US" sz="885" dirty="0"/>
          </a:p>
        </p:txBody>
      </p:sp>
      <p:sp>
        <p:nvSpPr>
          <p:cNvPr id="10" name="Shape 7"/>
          <p:cNvSpPr/>
          <p:nvPr/>
        </p:nvSpPr>
        <p:spPr>
          <a:xfrm>
            <a:off x="3921919" y="1243013"/>
            <a:ext cx="1243013" cy="548283"/>
          </a:xfrm>
          <a:prstGeom prst="rect">
            <a:avLst/>
          </a:prstGeom>
          <a:solidFill>
            <a:srgbClr val="FFFFFF"/>
          </a:solidFill>
          <a:ln w="18288">
            <a:solidFill>
              <a:srgbClr val="1A1A1A"/>
            </a:solidFill>
            <a:prstDash val="solid"/>
          </a:ln>
        </p:spPr>
        <p:txBody>
          <a:bodyPr/>
          <a:lstStyle/>
          <a:p>
            <a:endParaRPr lang="zh-CN" altLang="en-US"/>
          </a:p>
        </p:txBody>
      </p:sp>
      <p:sp>
        <p:nvSpPr>
          <p:cNvPr id="11" name="Text 8"/>
          <p:cNvSpPr/>
          <p:nvPr/>
        </p:nvSpPr>
        <p:spPr>
          <a:xfrm>
            <a:off x="4043363" y="1364456"/>
            <a:ext cx="1000125"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FF4500"/>
                </a:solidFill>
              </a:rPr>
              <a:t>03 IMPL</a:t>
            </a:r>
            <a:endParaRPr lang="en-US" sz="584" dirty="0"/>
          </a:p>
        </p:txBody>
      </p:sp>
      <p:sp>
        <p:nvSpPr>
          <p:cNvPr id="12" name="Text 9"/>
          <p:cNvSpPr/>
          <p:nvPr/>
        </p:nvSpPr>
        <p:spPr>
          <a:xfrm>
            <a:off x="4043363" y="1480542"/>
            <a:ext cx="1000125" cy="189309"/>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A1A1A"/>
                </a:solidFill>
              </a:rPr>
              <a:t>代码实现</a:t>
            </a:r>
            <a:endParaRPr lang="en-US" sz="885" dirty="0"/>
          </a:p>
        </p:txBody>
      </p:sp>
      <p:sp>
        <p:nvSpPr>
          <p:cNvPr id="13" name="Shape 10"/>
          <p:cNvSpPr/>
          <p:nvPr/>
        </p:nvSpPr>
        <p:spPr>
          <a:xfrm>
            <a:off x="5618559" y="1243013"/>
            <a:ext cx="1243013" cy="548283"/>
          </a:xfrm>
          <a:prstGeom prst="rect">
            <a:avLst/>
          </a:prstGeom>
          <a:solidFill>
            <a:srgbClr val="FFFFFF"/>
          </a:solidFill>
          <a:ln w="18288">
            <a:solidFill>
              <a:srgbClr val="1A1A1A"/>
            </a:solidFill>
            <a:prstDash val="solid"/>
          </a:ln>
        </p:spPr>
        <p:txBody>
          <a:bodyPr/>
          <a:lstStyle/>
          <a:p>
            <a:endParaRPr lang="zh-CN" altLang="en-US"/>
          </a:p>
        </p:txBody>
      </p:sp>
      <p:sp>
        <p:nvSpPr>
          <p:cNvPr id="14" name="Text 11"/>
          <p:cNvSpPr/>
          <p:nvPr/>
        </p:nvSpPr>
        <p:spPr>
          <a:xfrm>
            <a:off x="5747147" y="1364456"/>
            <a:ext cx="1000125"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FF4500"/>
                </a:solidFill>
              </a:rPr>
              <a:t>04 TEST</a:t>
            </a:r>
            <a:endParaRPr lang="en-US" sz="584" dirty="0"/>
          </a:p>
        </p:txBody>
      </p:sp>
      <p:sp>
        <p:nvSpPr>
          <p:cNvPr id="15" name="Text 12"/>
          <p:cNvSpPr/>
          <p:nvPr/>
        </p:nvSpPr>
        <p:spPr>
          <a:xfrm>
            <a:off x="5747147" y="1480542"/>
            <a:ext cx="1000125" cy="189309"/>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A1A1A"/>
                </a:solidFill>
              </a:rPr>
              <a:t>测试生成</a:t>
            </a:r>
            <a:endParaRPr lang="en-US" sz="885" dirty="0"/>
          </a:p>
        </p:txBody>
      </p:sp>
      <p:sp>
        <p:nvSpPr>
          <p:cNvPr id="16" name="Shape 13"/>
          <p:cNvSpPr/>
          <p:nvPr/>
        </p:nvSpPr>
        <p:spPr>
          <a:xfrm>
            <a:off x="7329488" y="1243013"/>
            <a:ext cx="1243013" cy="548283"/>
          </a:xfrm>
          <a:prstGeom prst="rect">
            <a:avLst/>
          </a:prstGeom>
          <a:solidFill>
            <a:srgbClr val="FFFFFF"/>
          </a:solidFill>
          <a:ln w="18288">
            <a:solidFill>
              <a:srgbClr val="1A1A1A"/>
            </a:solidFill>
            <a:prstDash val="solid"/>
          </a:ln>
        </p:spPr>
        <p:txBody>
          <a:bodyPr/>
          <a:lstStyle/>
          <a:p>
            <a:endParaRPr lang="zh-CN" altLang="en-US"/>
          </a:p>
        </p:txBody>
      </p:sp>
      <p:sp>
        <p:nvSpPr>
          <p:cNvPr id="17" name="Text 14"/>
          <p:cNvSpPr/>
          <p:nvPr/>
        </p:nvSpPr>
        <p:spPr>
          <a:xfrm>
            <a:off x="7465219" y="1350169"/>
            <a:ext cx="1000125" cy="116086"/>
          </a:xfrm>
          <a:prstGeom prst="rect">
            <a:avLst/>
          </a:prstGeom>
          <a:noFill/>
          <a:ln/>
        </p:spPr>
        <p:txBody>
          <a:bodyPr wrap="none" lIns="0" tIns="0" rIns="0" bIns="0" rtlCol="0" anchor="t">
            <a:spAutoFit/>
          </a:bodyPr>
          <a:lstStyle/>
          <a:p>
            <a:pPr marL="0" indent="0" algn="ctr">
              <a:lnSpc>
                <a:spcPts val="800"/>
              </a:lnSpc>
              <a:buNone/>
            </a:pPr>
            <a:r>
              <a:rPr lang="en-US" sz="584" b="1" dirty="0">
                <a:solidFill>
                  <a:srgbClr val="FF4500"/>
                </a:solidFill>
              </a:rPr>
              <a:t>05 VERIFY</a:t>
            </a:r>
            <a:endParaRPr lang="en-US" sz="584" dirty="0"/>
          </a:p>
        </p:txBody>
      </p:sp>
      <p:sp>
        <p:nvSpPr>
          <p:cNvPr id="18" name="Text 15"/>
          <p:cNvSpPr/>
          <p:nvPr/>
        </p:nvSpPr>
        <p:spPr>
          <a:xfrm>
            <a:off x="7465219" y="1466255"/>
            <a:ext cx="1000125" cy="189309"/>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1A1A1A"/>
                </a:solidFill>
              </a:rPr>
              <a:t>质量验收</a:t>
            </a:r>
            <a:endParaRPr lang="en-US" sz="885" dirty="0"/>
          </a:p>
        </p:txBody>
      </p:sp>
      <p:sp>
        <p:nvSpPr>
          <p:cNvPr id="20" name="Shape 17"/>
          <p:cNvSpPr/>
          <p:nvPr/>
        </p:nvSpPr>
        <p:spPr>
          <a:xfrm>
            <a:off x="571500" y="2191345"/>
            <a:ext cx="8001000" cy="1160078"/>
          </a:xfrm>
          <a:prstGeom prst="rect">
            <a:avLst/>
          </a:prstGeom>
          <a:solidFill>
            <a:srgbClr val="1A1A1A"/>
          </a:solidFill>
          <a:ln/>
        </p:spPr>
        <p:txBody>
          <a:bodyPr/>
          <a:lstStyle/>
          <a:p>
            <a:endParaRPr lang="zh-CN" altLang="en-US"/>
          </a:p>
        </p:txBody>
      </p:sp>
      <p:sp>
        <p:nvSpPr>
          <p:cNvPr id="21" name="Text 18"/>
          <p:cNvSpPr/>
          <p:nvPr/>
        </p:nvSpPr>
        <p:spPr>
          <a:xfrm>
            <a:off x="785813" y="2405658"/>
            <a:ext cx="1600200" cy="731453"/>
          </a:xfrm>
          <a:prstGeom prst="rect">
            <a:avLst/>
          </a:prstGeom>
          <a:noFill/>
          <a:ln/>
        </p:spPr>
        <p:txBody>
          <a:bodyPr wrap="square" lIns="0" tIns="0" rIns="170053" bIns="0" rtlCol="0" anchor="t">
            <a:spAutoFit/>
          </a:bodyPr>
          <a:lstStyle/>
          <a:p>
            <a:pPr marL="0" indent="0" algn="l">
              <a:lnSpc>
                <a:spcPts val="1600"/>
              </a:lnSpc>
              <a:buNone/>
            </a:pPr>
            <a:r>
              <a:rPr lang="en-US" sz="1193" b="1" dirty="0">
                <a:solidFill>
                  <a:srgbClr val="FFFFFF"/>
                </a:solidFill>
              </a:rPr>
              <a:t>质量闭环
反馈逻辑</a:t>
            </a:r>
            <a:endParaRPr lang="en-US" sz="1193" dirty="0"/>
          </a:p>
        </p:txBody>
      </p:sp>
      <p:sp>
        <p:nvSpPr>
          <p:cNvPr id="22" name="Text 19"/>
          <p:cNvSpPr/>
          <p:nvPr/>
        </p:nvSpPr>
        <p:spPr>
          <a:xfrm>
            <a:off x="2671763" y="2405658"/>
            <a:ext cx="5686425" cy="700961"/>
          </a:xfrm>
          <a:prstGeom prst="rect">
            <a:avLst/>
          </a:prstGeom>
          <a:noFill/>
          <a:ln/>
        </p:spPr>
        <p:txBody>
          <a:bodyPr wrap="square" lIns="0" tIns="0" rIns="0" bIns="0" rtlCol="0" anchor="t">
            <a:spAutoFit/>
          </a:bodyPr>
          <a:lstStyle/>
          <a:p>
            <a:pPr marL="0" indent="0" algn="l">
              <a:lnSpc>
                <a:spcPts val="1400"/>
              </a:lnSpc>
              <a:buNone/>
            </a:pPr>
            <a:r>
              <a:rPr lang="en-US" sz="834" dirty="0" err="1">
                <a:solidFill>
                  <a:srgbClr val="FFFFFF"/>
                </a:solidFill>
              </a:rPr>
              <a:t>系统</a:t>
            </a:r>
            <a:r>
              <a:rPr lang="zh-CN" altLang="en-US" sz="834" dirty="0">
                <a:solidFill>
                  <a:srgbClr val="FFFFFF"/>
                </a:solidFill>
              </a:rPr>
              <a:t>可以</a:t>
            </a:r>
            <a:r>
              <a:rPr lang="en-US" sz="834" dirty="0" err="1">
                <a:solidFill>
                  <a:srgbClr val="FFFFFF"/>
                </a:solidFill>
              </a:rPr>
              <a:t>不仅是线性的，更是循环的。</a:t>
            </a:r>
            <a:r>
              <a:rPr lang="en-US" sz="784" b="1" dirty="0" err="1">
                <a:solidFill>
                  <a:srgbClr val="FF4500"/>
                </a:solidFill>
              </a:rPr>
              <a:t>验证智能体</a:t>
            </a:r>
            <a:r>
              <a:rPr lang="en-US" sz="784" b="1" dirty="0">
                <a:solidFill>
                  <a:srgbClr val="FF4500"/>
                </a:solidFill>
              </a:rPr>
              <a:t> (VA)</a:t>
            </a:r>
            <a:r>
              <a:rPr lang="en-US" sz="834" dirty="0">
                <a:solidFill>
                  <a:srgbClr val="FFFFFF"/>
                </a:solidFill>
              </a:rPr>
              <a:t> 会将实现代码与原始需求进行交叉比对。如果发现：
 1. </a:t>
            </a:r>
            <a:r>
              <a:rPr lang="en-US" sz="784" b="1" dirty="0">
                <a:solidFill>
                  <a:srgbClr val="FF4500"/>
                </a:solidFill>
              </a:rPr>
              <a:t>测试失败</a:t>
            </a:r>
            <a:r>
              <a:rPr lang="en-US" sz="834" dirty="0">
                <a:solidFill>
                  <a:srgbClr val="FFFFFF"/>
                </a:solidFill>
              </a:rPr>
              <a:t>：VA 提取 Traceback，反馈给 IA 进行 Bug 修复。
 2. </a:t>
            </a:r>
            <a:r>
              <a:rPr lang="en-US" sz="784" b="1" dirty="0">
                <a:solidFill>
                  <a:srgbClr val="FF4500"/>
                </a:solidFill>
              </a:rPr>
              <a:t>需求遗漏</a:t>
            </a:r>
            <a:r>
              <a:rPr lang="en-US" sz="834" dirty="0">
                <a:solidFill>
                  <a:srgbClr val="FFFFFF"/>
                </a:solidFill>
              </a:rPr>
              <a:t>：VA 对比 Requirement Spec，要求 IA 补全缺失逻辑。
 3. </a:t>
            </a:r>
            <a:r>
              <a:rPr lang="en-US" sz="784" b="1" dirty="0">
                <a:solidFill>
                  <a:srgbClr val="FF4500"/>
                </a:solidFill>
              </a:rPr>
              <a:t>质量不佳</a:t>
            </a:r>
            <a:r>
              <a:rPr lang="en-US" sz="834" dirty="0">
                <a:solidFill>
                  <a:srgbClr val="FFFFFF"/>
                </a:solidFill>
              </a:rPr>
              <a:t>：反馈给 Manager，触发重构指令，直到通过验证。</a:t>
            </a:r>
            <a:endParaRPr lang="en-US" sz="83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642938"/>
            <a:ext cx="8572500" cy="498277"/>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核心设计原则：构建可靠的自动化流程</a:t>
            </a:r>
            <a:endParaRPr lang="en-US" sz="2436" dirty="0"/>
          </a:p>
        </p:txBody>
      </p:sp>
      <p:sp>
        <p:nvSpPr>
          <p:cNvPr id="4" name="Shape 1"/>
          <p:cNvSpPr/>
          <p:nvPr/>
        </p:nvSpPr>
        <p:spPr>
          <a:xfrm>
            <a:off x="571500" y="1569839"/>
            <a:ext cx="8001000" cy="3145036"/>
          </a:xfrm>
          <a:prstGeom prst="rect">
            <a:avLst/>
          </a:prstGeom>
          <a:solidFill>
            <a:srgbClr val="1A1A1A"/>
          </a:solidFill>
          <a:ln/>
        </p:spPr>
        <p:txBody>
          <a:bodyPr/>
          <a:lstStyle/>
          <a:p>
            <a:endParaRPr lang="zh-CN" altLang="en-US"/>
          </a:p>
        </p:txBody>
      </p:sp>
      <p:sp>
        <p:nvSpPr>
          <p:cNvPr id="5" name="Shape 2"/>
          <p:cNvSpPr/>
          <p:nvPr/>
        </p:nvSpPr>
        <p:spPr>
          <a:xfrm>
            <a:off x="571500" y="1569839"/>
            <a:ext cx="3993356" cy="1565374"/>
          </a:xfrm>
          <a:prstGeom prst="rect">
            <a:avLst/>
          </a:prstGeom>
          <a:solidFill>
            <a:srgbClr val="F2F2F2"/>
          </a:solidFill>
          <a:ln/>
        </p:spPr>
        <p:txBody>
          <a:bodyPr/>
          <a:lstStyle/>
          <a:p>
            <a:endParaRPr lang="zh-CN" altLang="en-US"/>
          </a:p>
        </p:txBody>
      </p:sp>
      <p:sp>
        <p:nvSpPr>
          <p:cNvPr id="6" name="Text 3"/>
          <p:cNvSpPr/>
          <p:nvPr/>
        </p:nvSpPr>
        <p:spPr>
          <a:xfrm>
            <a:off x="857250" y="1855589"/>
            <a:ext cx="3421856"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4500"/>
                </a:solidFill>
              </a:rPr>
              <a:t>01</a:t>
            </a:r>
            <a:endParaRPr lang="en-US" sz="1602" dirty="0"/>
          </a:p>
        </p:txBody>
      </p:sp>
      <p:sp>
        <p:nvSpPr>
          <p:cNvPr id="7" name="Text 4"/>
          <p:cNvSpPr/>
          <p:nvPr/>
        </p:nvSpPr>
        <p:spPr>
          <a:xfrm>
            <a:off x="857250" y="2239566"/>
            <a:ext cx="3421856" cy="289322"/>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rPr>
              <a:t>输入唯一性</a:t>
            </a:r>
            <a:endParaRPr lang="en-US" sz="1397" dirty="0"/>
          </a:p>
        </p:txBody>
      </p:sp>
      <p:sp>
        <p:nvSpPr>
          <p:cNvPr id="8" name="Text 5"/>
          <p:cNvSpPr/>
          <p:nvPr/>
        </p:nvSpPr>
        <p:spPr>
          <a:xfrm>
            <a:off x="857250" y="2671763"/>
            <a:ext cx="3421856"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用户需求是唯一的真相来源。严禁智能体读取无关历史文件，从根源上杜绝噪声干扰与“幻觉”产生。</a:t>
            </a:r>
            <a:endParaRPr lang="en-US" sz="942" dirty="0"/>
          </a:p>
        </p:txBody>
      </p:sp>
      <p:sp>
        <p:nvSpPr>
          <p:cNvPr id="9" name="Shape 6"/>
          <p:cNvSpPr/>
          <p:nvPr/>
        </p:nvSpPr>
        <p:spPr>
          <a:xfrm>
            <a:off x="4579144" y="1569839"/>
            <a:ext cx="3993356" cy="1565374"/>
          </a:xfrm>
          <a:prstGeom prst="rect">
            <a:avLst/>
          </a:prstGeom>
          <a:solidFill>
            <a:srgbClr val="1A1A1A"/>
          </a:solidFill>
          <a:ln/>
        </p:spPr>
        <p:txBody>
          <a:bodyPr/>
          <a:lstStyle/>
          <a:p>
            <a:endParaRPr lang="zh-CN" altLang="en-US"/>
          </a:p>
        </p:txBody>
      </p:sp>
      <p:sp>
        <p:nvSpPr>
          <p:cNvPr id="10" name="Text 7"/>
          <p:cNvSpPr/>
          <p:nvPr/>
        </p:nvSpPr>
        <p:spPr>
          <a:xfrm>
            <a:off x="4864894" y="1855589"/>
            <a:ext cx="3421856"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4500"/>
                </a:solidFill>
              </a:rPr>
              <a:t>02</a:t>
            </a:r>
            <a:endParaRPr lang="en-US" sz="1602" dirty="0"/>
          </a:p>
        </p:txBody>
      </p:sp>
      <p:sp>
        <p:nvSpPr>
          <p:cNvPr id="11" name="Text 8"/>
          <p:cNvSpPr/>
          <p:nvPr/>
        </p:nvSpPr>
        <p:spPr>
          <a:xfrm>
            <a:off x="4864894" y="2239566"/>
            <a:ext cx="3421856" cy="289322"/>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2F2F2"/>
                </a:solidFill>
              </a:rPr>
              <a:t>职责严格隔离</a:t>
            </a:r>
            <a:endParaRPr lang="en-US" sz="1397" dirty="0"/>
          </a:p>
        </p:txBody>
      </p:sp>
      <p:sp>
        <p:nvSpPr>
          <p:cNvPr id="12" name="Text 9"/>
          <p:cNvSpPr/>
          <p:nvPr/>
        </p:nvSpPr>
        <p:spPr>
          <a:xfrm>
            <a:off x="4864894" y="2671763"/>
            <a:ext cx="3421856"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CCCCCC"/>
                </a:solidFill>
              </a:rPr>
              <a:t>通过工具集权限分配实现物理隔离。实现智能体无法修改测试，确保验证环节的客观性与公正性。</a:t>
            </a:r>
            <a:endParaRPr lang="en-US" sz="942" dirty="0"/>
          </a:p>
        </p:txBody>
      </p:sp>
      <p:sp>
        <p:nvSpPr>
          <p:cNvPr id="13" name="Shape 10"/>
          <p:cNvSpPr/>
          <p:nvPr/>
        </p:nvSpPr>
        <p:spPr>
          <a:xfrm>
            <a:off x="571500" y="3149501"/>
            <a:ext cx="3993356" cy="1565374"/>
          </a:xfrm>
          <a:prstGeom prst="rect">
            <a:avLst/>
          </a:prstGeom>
          <a:solidFill>
            <a:srgbClr val="1A1A1A"/>
          </a:solidFill>
          <a:ln/>
        </p:spPr>
        <p:txBody>
          <a:bodyPr/>
          <a:lstStyle/>
          <a:p>
            <a:endParaRPr lang="zh-CN" altLang="en-US"/>
          </a:p>
        </p:txBody>
      </p:sp>
      <p:sp>
        <p:nvSpPr>
          <p:cNvPr id="14" name="Text 11"/>
          <p:cNvSpPr/>
          <p:nvPr/>
        </p:nvSpPr>
        <p:spPr>
          <a:xfrm>
            <a:off x="857250" y="3435251"/>
            <a:ext cx="3421856"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4500"/>
                </a:solidFill>
              </a:rPr>
              <a:t>03</a:t>
            </a:r>
            <a:endParaRPr lang="en-US" sz="1602" dirty="0"/>
          </a:p>
        </p:txBody>
      </p:sp>
      <p:sp>
        <p:nvSpPr>
          <p:cNvPr id="15" name="Text 12"/>
          <p:cNvSpPr/>
          <p:nvPr/>
        </p:nvSpPr>
        <p:spPr>
          <a:xfrm>
            <a:off x="857250" y="3819227"/>
            <a:ext cx="3421856" cy="289322"/>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2F2F2"/>
                </a:solidFill>
              </a:rPr>
              <a:t>运行环境隔离</a:t>
            </a:r>
            <a:endParaRPr lang="en-US" sz="1397" dirty="0"/>
          </a:p>
        </p:txBody>
      </p:sp>
      <p:sp>
        <p:nvSpPr>
          <p:cNvPr id="16" name="Text 13"/>
          <p:cNvSpPr/>
          <p:nvPr/>
        </p:nvSpPr>
        <p:spPr>
          <a:xfrm>
            <a:off x="857250" y="4251424"/>
            <a:ext cx="3421856"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CCCCCC"/>
                </a:solidFill>
              </a:rPr>
              <a:t>每次任务均在独立的时间戳目录下执行。确保所有中间产物与最终产物可追溯、不交叉、不污染。</a:t>
            </a:r>
            <a:endParaRPr lang="en-US" sz="942" dirty="0"/>
          </a:p>
        </p:txBody>
      </p:sp>
      <p:sp>
        <p:nvSpPr>
          <p:cNvPr id="17" name="Shape 14"/>
          <p:cNvSpPr/>
          <p:nvPr/>
        </p:nvSpPr>
        <p:spPr>
          <a:xfrm>
            <a:off x="4579144" y="3149501"/>
            <a:ext cx="3993356" cy="1565374"/>
          </a:xfrm>
          <a:prstGeom prst="rect">
            <a:avLst/>
          </a:prstGeom>
          <a:solidFill>
            <a:srgbClr val="F2F2F2"/>
          </a:solidFill>
          <a:ln/>
        </p:spPr>
        <p:txBody>
          <a:bodyPr/>
          <a:lstStyle/>
          <a:p>
            <a:endParaRPr lang="zh-CN" altLang="en-US"/>
          </a:p>
        </p:txBody>
      </p:sp>
      <p:sp>
        <p:nvSpPr>
          <p:cNvPr id="18" name="Text 15"/>
          <p:cNvSpPr/>
          <p:nvPr/>
        </p:nvSpPr>
        <p:spPr>
          <a:xfrm>
            <a:off x="4864894" y="3435251"/>
            <a:ext cx="3421856"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FF4500"/>
                </a:solidFill>
              </a:rPr>
              <a:t>04</a:t>
            </a:r>
            <a:endParaRPr lang="en-US" sz="1602" dirty="0"/>
          </a:p>
        </p:txBody>
      </p:sp>
      <p:sp>
        <p:nvSpPr>
          <p:cNvPr id="19" name="Text 16"/>
          <p:cNvSpPr/>
          <p:nvPr/>
        </p:nvSpPr>
        <p:spPr>
          <a:xfrm>
            <a:off x="4864894" y="3819227"/>
            <a:ext cx="3421856" cy="289322"/>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1A"/>
                </a:solidFill>
              </a:rPr>
              <a:t>输出高度结构化</a:t>
            </a:r>
            <a:endParaRPr lang="en-US" sz="1397" dirty="0"/>
          </a:p>
        </p:txBody>
      </p:sp>
      <p:sp>
        <p:nvSpPr>
          <p:cNvPr id="20" name="Text 17"/>
          <p:cNvSpPr/>
          <p:nvPr/>
        </p:nvSpPr>
        <p:spPr>
          <a:xfrm>
            <a:off x="4864894" y="4251424"/>
            <a:ext cx="3421856"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3333"/>
                </a:solidFill>
              </a:rPr>
              <a:t>所有阶段产物均采用标准 JSON 格式并经过 Schema 校验。确保信息在智能体间流转时零损耗。</a:t>
            </a:r>
            <a:endParaRPr lang="en-US" sz="9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521494"/>
            <a:ext cx="8572500" cy="435769"/>
          </a:xfrm>
          <a:prstGeom prst="rect">
            <a:avLst/>
          </a:prstGeom>
          <a:noFill/>
          <a:ln/>
        </p:spPr>
        <p:txBody>
          <a:bodyPr wrap="none" lIns="0" tIns="0" rIns="0" bIns="0" rtlCol="0" anchor="t">
            <a:spAutoFit/>
          </a:bodyPr>
          <a:lstStyle/>
          <a:p>
            <a:pPr marL="0" indent="0" algn="l">
              <a:lnSpc>
                <a:spcPts val="2800"/>
              </a:lnSpc>
              <a:buNone/>
            </a:pPr>
            <a:r>
              <a:rPr lang="en-US" sz="2121" b="1" dirty="0">
                <a:solidFill>
                  <a:srgbClr val="1A1A1A"/>
                </a:solidFill>
              </a:rPr>
              <a:t>目前进展与推进计划</a:t>
            </a:r>
            <a:endParaRPr lang="en-US" sz="2121" dirty="0"/>
          </a:p>
        </p:txBody>
      </p:sp>
      <p:sp>
        <p:nvSpPr>
          <p:cNvPr id="4" name="Text 1"/>
          <p:cNvSpPr/>
          <p:nvPr/>
        </p:nvSpPr>
        <p:spPr>
          <a:xfrm>
            <a:off x="571500" y="1171575"/>
            <a:ext cx="3857625" cy="283964"/>
          </a:xfrm>
          <a:prstGeom prst="rect">
            <a:avLst/>
          </a:prstGeom>
          <a:noFill/>
          <a:ln/>
        </p:spPr>
        <p:txBody>
          <a:bodyPr wrap="none" lIns="0" tIns="0" rIns="0" bIns="42545" rtlCol="0" anchor="t">
            <a:spAutoFit/>
          </a:bodyPr>
          <a:lstStyle/>
          <a:p>
            <a:pPr marL="0" indent="0" algn="l">
              <a:lnSpc>
                <a:spcPts val="1600"/>
              </a:lnSpc>
              <a:buNone/>
            </a:pPr>
            <a:r>
              <a:rPr lang="en-US" sz="1193" b="1" dirty="0">
                <a:solidFill>
                  <a:srgbClr val="FF4500"/>
                </a:solidFill>
              </a:rPr>
              <a:t>CURRENT PROGRESS</a:t>
            </a:r>
            <a:endParaRPr lang="en-US" sz="1193" dirty="0"/>
          </a:p>
        </p:txBody>
      </p:sp>
      <p:sp>
        <p:nvSpPr>
          <p:cNvPr id="5" name="Text 2"/>
          <p:cNvSpPr/>
          <p:nvPr/>
        </p:nvSpPr>
        <p:spPr>
          <a:xfrm>
            <a:off x="571500" y="1598414"/>
            <a:ext cx="3857625"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1A"/>
                </a:solidFill>
              </a:rPr>
              <a:t>全流程自动化闭环</a:t>
            </a:r>
            <a:endParaRPr lang="en-US" sz="885" dirty="0"/>
          </a:p>
        </p:txBody>
      </p:sp>
      <p:sp>
        <p:nvSpPr>
          <p:cNvPr id="6" name="Text 3"/>
          <p:cNvSpPr/>
          <p:nvPr/>
        </p:nvSpPr>
        <p:spPr>
          <a:xfrm>
            <a:off x="571500" y="1823442"/>
            <a:ext cx="38576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444444"/>
                </a:solidFill>
              </a:rPr>
              <a:t>已实现从自然语言需求到代码、测试及验证报告生成的完整自动化。</a:t>
            </a:r>
            <a:endParaRPr lang="en-US" sz="780" dirty="0"/>
          </a:p>
        </p:txBody>
      </p:sp>
      <p:sp>
        <p:nvSpPr>
          <p:cNvPr id="7" name="Shape 4"/>
          <p:cNvSpPr/>
          <p:nvPr/>
        </p:nvSpPr>
        <p:spPr>
          <a:xfrm>
            <a:off x="571500" y="2003822"/>
            <a:ext cx="712589" cy="121444"/>
          </a:xfrm>
          <a:prstGeom prst="rect">
            <a:avLst/>
          </a:prstGeom>
          <a:solidFill>
            <a:srgbClr val="1A1A1A"/>
          </a:solidFill>
          <a:ln/>
        </p:spPr>
        <p:txBody>
          <a:bodyPr/>
          <a:lstStyle/>
          <a:p>
            <a:endParaRPr lang="zh-CN" altLang="en-US"/>
          </a:p>
        </p:txBody>
      </p:sp>
      <p:sp>
        <p:nvSpPr>
          <p:cNvPr id="8" name="Text 5"/>
          <p:cNvSpPr/>
          <p:nvPr/>
        </p:nvSpPr>
        <p:spPr>
          <a:xfrm>
            <a:off x="571500" y="2003822"/>
            <a:ext cx="712589" cy="121444"/>
          </a:xfrm>
          <a:prstGeom prst="rect">
            <a:avLst/>
          </a:prstGeom>
          <a:noFill/>
          <a:ln/>
        </p:spPr>
        <p:txBody>
          <a:bodyPr wrap="none" lIns="51054" tIns="8509" rIns="51054" bIns="8509" rtlCol="0" anchor="t">
            <a:spAutoFit/>
          </a:bodyPr>
          <a:lstStyle/>
          <a:p>
            <a:pPr marL="0" indent="0" algn="l">
              <a:lnSpc>
                <a:spcPts val="700"/>
              </a:lnSpc>
              <a:buNone/>
            </a:pPr>
            <a:r>
              <a:rPr lang="en-US" sz="568" dirty="0">
                <a:solidFill>
                  <a:srgbClr val="FFFFFF"/>
                </a:solidFill>
              </a:rPr>
              <a:t>Managed Agents</a:t>
            </a:r>
            <a:endParaRPr lang="en-US" sz="568" dirty="0"/>
          </a:p>
        </p:txBody>
      </p:sp>
      <p:sp>
        <p:nvSpPr>
          <p:cNvPr id="9" name="Shape 6"/>
          <p:cNvSpPr/>
          <p:nvPr/>
        </p:nvSpPr>
        <p:spPr>
          <a:xfrm>
            <a:off x="1319808" y="2003822"/>
            <a:ext cx="203206" cy="121444"/>
          </a:xfrm>
          <a:prstGeom prst="rect">
            <a:avLst/>
          </a:prstGeom>
          <a:solidFill>
            <a:srgbClr val="1A1A1A"/>
          </a:solidFill>
          <a:ln/>
        </p:spPr>
        <p:txBody>
          <a:bodyPr/>
          <a:lstStyle/>
          <a:p>
            <a:endParaRPr lang="zh-CN" altLang="en-US"/>
          </a:p>
        </p:txBody>
      </p:sp>
      <p:sp>
        <p:nvSpPr>
          <p:cNvPr id="10" name="Text 7"/>
          <p:cNvSpPr/>
          <p:nvPr/>
        </p:nvSpPr>
        <p:spPr>
          <a:xfrm>
            <a:off x="1319808" y="2003822"/>
            <a:ext cx="203206" cy="121444"/>
          </a:xfrm>
          <a:prstGeom prst="rect">
            <a:avLst/>
          </a:prstGeom>
          <a:noFill/>
          <a:ln/>
        </p:spPr>
        <p:txBody>
          <a:bodyPr wrap="none" lIns="51054" tIns="8509" rIns="51054" bIns="8509" rtlCol="0" anchor="t">
            <a:spAutoFit/>
          </a:bodyPr>
          <a:lstStyle/>
          <a:p>
            <a:pPr marL="0" indent="0" algn="l">
              <a:lnSpc>
                <a:spcPts val="700"/>
              </a:lnSpc>
              <a:buNone/>
            </a:pPr>
            <a:r>
              <a:rPr lang="en-US" sz="568" dirty="0">
                <a:solidFill>
                  <a:srgbClr val="FFFFFF"/>
                </a:solidFill>
              </a:rPr>
              <a:t>CLI</a:t>
            </a:r>
            <a:endParaRPr lang="en-US" sz="568" dirty="0"/>
          </a:p>
        </p:txBody>
      </p:sp>
      <p:sp>
        <p:nvSpPr>
          <p:cNvPr id="11" name="Shape 8"/>
          <p:cNvSpPr/>
          <p:nvPr/>
        </p:nvSpPr>
        <p:spPr>
          <a:xfrm>
            <a:off x="1558733" y="2003822"/>
            <a:ext cx="438559" cy="121444"/>
          </a:xfrm>
          <a:prstGeom prst="rect">
            <a:avLst/>
          </a:prstGeom>
          <a:solidFill>
            <a:srgbClr val="1A1A1A"/>
          </a:solidFill>
          <a:ln/>
        </p:spPr>
        <p:txBody>
          <a:bodyPr/>
          <a:lstStyle/>
          <a:p>
            <a:endParaRPr lang="zh-CN" altLang="en-US"/>
          </a:p>
        </p:txBody>
      </p:sp>
      <p:sp>
        <p:nvSpPr>
          <p:cNvPr id="12" name="Text 9"/>
          <p:cNvSpPr/>
          <p:nvPr/>
        </p:nvSpPr>
        <p:spPr>
          <a:xfrm>
            <a:off x="1558733" y="2003822"/>
            <a:ext cx="438559" cy="121444"/>
          </a:xfrm>
          <a:prstGeom prst="rect">
            <a:avLst/>
          </a:prstGeom>
          <a:noFill/>
          <a:ln/>
        </p:spPr>
        <p:txBody>
          <a:bodyPr wrap="none" lIns="51054" tIns="8509" rIns="51054" bIns="8509" rtlCol="0" anchor="t">
            <a:spAutoFit/>
          </a:bodyPr>
          <a:lstStyle/>
          <a:p>
            <a:pPr marL="0" indent="0" algn="l">
              <a:lnSpc>
                <a:spcPts val="700"/>
              </a:lnSpc>
              <a:buNone/>
            </a:pPr>
            <a:r>
              <a:rPr lang="en-US" sz="568" dirty="0">
                <a:solidFill>
                  <a:srgbClr val="FFFFFF"/>
                </a:solidFill>
              </a:rPr>
              <a:t>Gradio UI</a:t>
            </a:r>
            <a:endParaRPr lang="en-US" sz="568" dirty="0"/>
          </a:p>
        </p:txBody>
      </p:sp>
      <p:sp>
        <p:nvSpPr>
          <p:cNvPr id="13" name="Text 10"/>
          <p:cNvSpPr/>
          <p:nvPr/>
        </p:nvSpPr>
        <p:spPr>
          <a:xfrm>
            <a:off x="571500" y="2271713"/>
            <a:ext cx="3857625"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1A"/>
                </a:solidFill>
              </a:rPr>
              <a:t>五大核心智能体研发</a:t>
            </a:r>
            <a:endParaRPr lang="en-US" sz="885" dirty="0"/>
          </a:p>
        </p:txBody>
      </p:sp>
      <p:sp>
        <p:nvSpPr>
          <p:cNvPr id="14" name="Text 11"/>
          <p:cNvSpPr/>
          <p:nvPr/>
        </p:nvSpPr>
        <p:spPr>
          <a:xfrm>
            <a:off x="571500" y="2496741"/>
            <a:ext cx="38576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444444"/>
                </a:solidFill>
              </a:rPr>
              <a:t>完成 RA/DA/IA/TA/VA 角色定义及 SOP 编排逻辑，支持结构化 JSON 流转。</a:t>
            </a:r>
            <a:endParaRPr lang="en-US" sz="780" dirty="0"/>
          </a:p>
        </p:txBody>
      </p:sp>
      <p:sp>
        <p:nvSpPr>
          <p:cNvPr id="15" name="Text 12"/>
          <p:cNvSpPr/>
          <p:nvPr/>
        </p:nvSpPr>
        <p:spPr>
          <a:xfrm>
            <a:off x="571500" y="2789634"/>
            <a:ext cx="3857625" cy="189309"/>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1A"/>
                </a:solidFill>
              </a:rPr>
              <a:t>任务上下文隔离</a:t>
            </a:r>
            <a:endParaRPr lang="en-US" sz="885" dirty="0"/>
          </a:p>
        </p:txBody>
      </p:sp>
      <p:sp>
        <p:nvSpPr>
          <p:cNvPr id="16" name="Text 13"/>
          <p:cNvSpPr/>
          <p:nvPr/>
        </p:nvSpPr>
        <p:spPr>
          <a:xfrm>
            <a:off x="571500" y="3014663"/>
            <a:ext cx="3857625"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444444"/>
                </a:solidFill>
              </a:rPr>
              <a:t>实现基于时间戳的运行目录管理与工具层路径校验，确保多任务并行不冲突。</a:t>
            </a:r>
            <a:endParaRPr lang="en-US" sz="780" dirty="0"/>
          </a:p>
        </p:txBody>
      </p:sp>
      <p:sp>
        <p:nvSpPr>
          <p:cNvPr id="17" name="Text 14"/>
          <p:cNvSpPr/>
          <p:nvPr/>
        </p:nvSpPr>
        <p:spPr>
          <a:xfrm>
            <a:off x="4714875" y="1171575"/>
            <a:ext cx="3857625" cy="283964"/>
          </a:xfrm>
          <a:prstGeom prst="rect">
            <a:avLst/>
          </a:prstGeom>
          <a:noFill/>
          <a:ln/>
        </p:spPr>
        <p:txBody>
          <a:bodyPr wrap="none" lIns="0" tIns="0" rIns="0" bIns="42545" rtlCol="0" anchor="t">
            <a:spAutoFit/>
          </a:bodyPr>
          <a:lstStyle/>
          <a:p>
            <a:pPr marL="0" indent="0" algn="l">
              <a:lnSpc>
                <a:spcPts val="1600"/>
              </a:lnSpc>
              <a:buNone/>
            </a:pPr>
            <a:r>
              <a:rPr lang="en-US" sz="1193" b="1" dirty="0">
                <a:solidFill>
                  <a:srgbClr val="FF4500"/>
                </a:solidFill>
              </a:rPr>
              <a:t>FUTURE ROADMAP</a:t>
            </a:r>
            <a:endParaRPr lang="en-US" sz="1193" dirty="0"/>
          </a:p>
        </p:txBody>
      </p:sp>
      <p:sp>
        <p:nvSpPr>
          <p:cNvPr id="18" name="Text 15"/>
          <p:cNvSpPr/>
          <p:nvPr/>
        </p:nvSpPr>
        <p:spPr>
          <a:xfrm>
            <a:off x="4714875" y="1598414"/>
            <a:ext cx="227626" cy="144720"/>
          </a:xfrm>
          <a:prstGeom prst="rect">
            <a:avLst/>
          </a:prstGeom>
          <a:noFill/>
          <a:ln/>
        </p:spPr>
        <p:txBody>
          <a:bodyPr wrap="none" lIns="0" tIns="0" rIns="0" bIns="0" rtlCol="0" anchor="t">
            <a:spAutoFit/>
          </a:bodyPr>
          <a:lstStyle/>
          <a:p>
            <a:pPr marL="0" indent="0" algn="l">
              <a:lnSpc>
                <a:spcPts val="1200"/>
              </a:lnSpc>
              <a:buNone/>
            </a:pPr>
            <a:r>
              <a:rPr lang="en-US" sz="885" b="1" dirty="0" err="1">
                <a:solidFill>
                  <a:srgbClr val="1A1A1A"/>
                </a:solidFill>
              </a:rPr>
              <a:t>计划</a:t>
            </a:r>
            <a:endParaRPr lang="en-US" sz="885" dirty="0"/>
          </a:p>
        </p:txBody>
      </p:sp>
      <p:sp>
        <p:nvSpPr>
          <p:cNvPr id="19" name="Text 16"/>
          <p:cNvSpPr/>
          <p:nvPr/>
        </p:nvSpPr>
        <p:spPr>
          <a:xfrm>
            <a:off x="4714875" y="1823442"/>
            <a:ext cx="3857625" cy="450056"/>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444444"/>
                </a:solidFill>
              </a:rPr>
              <a:t>• 集成 pylint/black 增强代码合规性检查。
 • 提升测试智能体能力，支持异常测试模板。
 • 优化 CLI 参数支持与执行进度实时显示。</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1370456"/>
            <a:ext cx="3664744" cy="498277"/>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总结与反思</a:t>
            </a:r>
            <a:endParaRPr lang="en-US" sz="2436" dirty="0"/>
          </a:p>
        </p:txBody>
      </p:sp>
      <p:sp>
        <p:nvSpPr>
          <p:cNvPr id="4" name="Text 1"/>
          <p:cNvSpPr/>
          <p:nvPr/>
        </p:nvSpPr>
        <p:spPr>
          <a:xfrm>
            <a:off x="571500" y="2297357"/>
            <a:ext cx="3664744" cy="250031"/>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4500"/>
                </a:solidFill>
              </a:rPr>
              <a:t>核心价值</a:t>
            </a:r>
            <a:endParaRPr lang="en-US" sz="1193" dirty="0"/>
          </a:p>
        </p:txBody>
      </p:sp>
      <p:sp>
        <p:nvSpPr>
          <p:cNvPr id="5" name="Text 2"/>
          <p:cNvSpPr/>
          <p:nvPr/>
        </p:nvSpPr>
        <p:spPr>
          <a:xfrm>
            <a:off x="571500" y="2618826"/>
            <a:ext cx="3664744"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333333"/>
                </a:solidFill>
              </a:rPr>
              <a:t>通过多智能体协作实现了软件工程流程的结构化重塑，将模糊的需求转化为严密的工程产出。</a:t>
            </a:r>
            <a:endParaRPr lang="en-US" sz="1050" dirty="0"/>
          </a:p>
        </p:txBody>
      </p:sp>
      <p:sp>
        <p:nvSpPr>
          <p:cNvPr id="6" name="Text 3"/>
          <p:cNvSpPr/>
          <p:nvPr/>
        </p:nvSpPr>
        <p:spPr>
          <a:xfrm>
            <a:off x="571500" y="3361776"/>
            <a:ext cx="3664744" cy="250031"/>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4500"/>
                </a:solidFill>
              </a:rPr>
              <a:t>关键突破</a:t>
            </a:r>
            <a:endParaRPr lang="en-US" sz="1193" dirty="0"/>
          </a:p>
        </p:txBody>
      </p:sp>
      <p:sp>
        <p:nvSpPr>
          <p:cNvPr id="7" name="Text 4"/>
          <p:cNvSpPr/>
          <p:nvPr/>
        </p:nvSpPr>
        <p:spPr>
          <a:xfrm>
            <a:off x="571500" y="3683245"/>
            <a:ext cx="3664744" cy="4572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333333"/>
                </a:solidFill>
              </a:rPr>
              <a:t>建立了严密的权限隔离与质量闭环机制，验证了“自动化工程”而非单纯“辅助编程”的可行性。</a:t>
            </a:r>
            <a:endParaRPr lang="en-US" sz="1050" dirty="0"/>
          </a:p>
        </p:txBody>
      </p:sp>
      <p:sp>
        <p:nvSpPr>
          <p:cNvPr id="8" name="Shape 5"/>
          <p:cNvSpPr/>
          <p:nvPr/>
        </p:nvSpPr>
        <p:spPr>
          <a:xfrm>
            <a:off x="4236244" y="0"/>
            <a:ext cx="4907756" cy="5143500"/>
          </a:xfrm>
          <a:prstGeom prst="rect">
            <a:avLst/>
          </a:prstGeom>
          <a:solidFill>
            <a:srgbClr val="1A1A1A"/>
          </a:solidFill>
          <a:ln/>
        </p:spPr>
        <p:txBody>
          <a:bodyPr/>
          <a:lstStyle/>
          <a:p>
            <a:endParaRPr lang="zh-CN" altLang="en-US"/>
          </a:p>
        </p:txBody>
      </p:sp>
      <p:sp>
        <p:nvSpPr>
          <p:cNvPr id="9" name="Text 6"/>
          <p:cNvSpPr/>
          <p:nvPr/>
        </p:nvSpPr>
        <p:spPr>
          <a:xfrm rot="-5400000">
            <a:off x="3902622" y="2185988"/>
            <a:ext cx="5574999" cy="771525"/>
          </a:xfrm>
          <a:prstGeom prst="rect">
            <a:avLst/>
          </a:prstGeom>
          <a:noFill/>
          <a:ln/>
        </p:spPr>
        <p:txBody>
          <a:bodyPr wrap="none" lIns="0" tIns="0" rIns="0" bIns="0" rtlCol="0" anchor="t">
            <a:spAutoFit/>
          </a:bodyPr>
          <a:lstStyle/>
          <a:p>
            <a:pPr marL="0" indent="0" algn="l">
              <a:lnSpc>
                <a:spcPts val="6100"/>
              </a:lnSpc>
              <a:buNone/>
            </a:pPr>
            <a:r>
              <a:rPr lang="en-US" sz="6218" b="1" kern="0" spc="-4" dirty="0">
                <a:solidFill>
                  <a:srgbClr val="F2F2F2">
                    <a:alpha val="10000"/>
                  </a:srgbClr>
                </a:solidFill>
              </a:rPr>
              <a:t>SMOLAGENTS</a:t>
            </a:r>
            <a:endParaRPr lang="en-US" sz="6218" dirty="0"/>
          </a:p>
        </p:txBody>
      </p:sp>
      <p:sp>
        <p:nvSpPr>
          <p:cNvPr id="10" name="Text 7"/>
          <p:cNvSpPr/>
          <p:nvPr/>
        </p:nvSpPr>
        <p:spPr>
          <a:xfrm>
            <a:off x="4664869" y="1948653"/>
            <a:ext cx="2771552" cy="623292"/>
          </a:xfrm>
          <a:prstGeom prst="rect">
            <a:avLst/>
          </a:prstGeom>
          <a:noFill/>
          <a:ln/>
        </p:spPr>
        <p:txBody>
          <a:bodyPr wrap="none" lIns="0" tIns="0" rIns="0" bIns="0" rtlCol="0" anchor="t">
            <a:spAutoFit/>
          </a:bodyPr>
          <a:lstStyle/>
          <a:p>
            <a:pPr marL="0" indent="0" algn="l">
              <a:lnSpc>
                <a:spcPts val="4300"/>
              </a:lnSpc>
              <a:buNone/>
            </a:pPr>
            <a:r>
              <a:rPr lang="en-US" sz="3294" b="1" dirty="0">
                <a:solidFill>
                  <a:srgbClr val="FF4500"/>
                </a:solidFill>
              </a:rPr>
              <a:t>THANK YOU</a:t>
            </a:r>
            <a:endParaRPr lang="en-US" sz="3294" dirty="0"/>
          </a:p>
        </p:txBody>
      </p:sp>
      <p:sp>
        <p:nvSpPr>
          <p:cNvPr id="11" name="Text 8"/>
          <p:cNvSpPr/>
          <p:nvPr/>
        </p:nvSpPr>
        <p:spPr>
          <a:xfrm>
            <a:off x="4664869" y="2714820"/>
            <a:ext cx="3160858" cy="480027"/>
          </a:xfrm>
          <a:prstGeom prst="rect">
            <a:avLst/>
          </a:prstGeom>
          <a:noFill/>
          <a:ln/>
        </p:spPr>
        <p:txBody>
          <a:bodyPr wrap="square" lIns="0" tIns="0" rIns="0" bIns="0" rtlCol="0" anchor="t">
            <a:spAutoFit/>
          </a:bodyPr>
          <a:lstStyle/>
          <a:p>
            <a:pPr marL="0" indent="0" algn="l">
              <a:lnSpc>
                <a:spcPts val="1900"/>
              </a:lnSpc>
              <a:buNone/>
            </a:pPr>
            <a:r>
              <a:rPr lang="en-US" sz="1269" dirty="0">
                <a:solidFill>
                  <a:srgbClr val="F2F2F2"/>
                </a:solidFill>
              </a:rPr>
              <a:t>迈向未来的软件工程自动化：
从“辅助编程”进化为“全自动工程流水线”。</a:t>
            </a:r>
            <a:endParaRPr lang="en-US" sz="126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1381</Words>
  <Application>Microsoft Office PowerPoint</Application>
  <PresentationFormat>全屏显示(16:9)</PresentationFormat>
  <Paragraphs>249</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微软雅黑</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姓名</cp:lastModifiedBy>
  <cp:revision>10</cp:revision>
  <dcterms:created xsi:type="dcterms:W3CDTF">2026-01-31T11:13:25Z</dcterms:created>
  <dcterms:modified xsi:type="dcterms:W3CDTF">2026-02-02T12:51:09Z</dcterms:modified>
</cp:coreProperties>
</file>