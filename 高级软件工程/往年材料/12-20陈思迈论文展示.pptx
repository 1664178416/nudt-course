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handoutMasterIdLst>
    <p:handoutMasterId r:id="rId29"/>
  </p:handoutMasterIdLst>
  <p:sldIdLst>
    <p:sldId id="256" r:id="rId3"/>
    <p:sldId id="258" r:id="rId4"/>
    <p:sldId id="260" r:id="rId5"/>
    <p:sldId id="259" r:id="rId6"/>
    <p:sldId id="3857" r:id="rId7"/>
    <p:sldId id="261" r:id="rId8"/>
    <p:sldId id="3853" r:id="rId9"/>
    <p:sldId id="263" r:id="rId10"/>
    <p:sldId id="508" r:id="rId11"/>
    <p:sldId id="3871" r:id="rId12"/>
    <p:sldId id="3870" r:id="rId13"/>
    <p:sldId id="3872" r:id="rId14"/>
    <p:sldId id="3852" r:id="rId15"/>
    <p:sldId id="262" r:id="rId16"/>
    <p:sldId id="3855" r:id="rId17"/>
    <p:sldId id="3873" r:id="rId18"/>
    <p:sldId id="3874" r:id="rId19"/>
    <p:sldId id="3876" r:id="rId20"/>
    <p:sldId id="3877" r:id="rId21"/>
    <p:sldId id="3854" r:id="rId22"/>
    <p:sldId id="3878" r:id="rId23"/>
    <p:sldId id="3851" r:id="rId24"/>
    <p:sldId id="3879" r:id="rId25"/>
    <p:sldId id="3880" r:id="rId26"/>
    <p:sldId id="3881" r:id="rId27"/>
  </p:sldIdLst>
  <p:sldSz cx="12192000" cy="6858000"/>
  <p:notesSz cx="6858000" cy="9144000"/>
  <p:embeddedFontLst>
    <p:embeddedFont>
      <p:font typeface="幼圆" panose="02010509060101010101" charset="-122"/>
      <p:regular r:id="rId33"/>
    </p:embeddedFont>
  </p:embeddedFontLst>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3" d="100"/>
          <a:sy n="73" d="100"/>
        </p:scale>
        <p:origin x="788" y="55"/>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121.xml"/><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AvantGarde Bk BT" panose="020B0402020202020204" charset="0"/>
              <a:ea typeface="幼圆" panose="020105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AvantGarde Bk BT" panose="020B0402020202020204" charset="0"/>
              </a:rPr>
            </a:fld>
            <a:endParaRPr lang="zh-CN" altLang="en-US">
              <a:latin typeface="AvantGarde Bk BT" panose="020B04020202020202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AvantGarde Bk BT" panose="020B0402020202020204" charset="0"/>
              <a:ea typeface="幼圆" panose="020105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AvantGarde Bk BT" panose="020B0402020202020204" charset="0"/>
              </a:rPr>
            </a:fld>
            <a:endParaRPr lang="zh-CN" altLang="en-US">
              <a:latin typeface="AvantGarde Bk BT" panose="020B04020202020202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幼圆" panose="02010509060101010101" charset="-122"/>
                <a:ea typeface="幼圆" panose="020105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幼圆" panose="02010509060101010101" charset="-122"/>
                <a:ea typeface="幼圆" panose="02010509060101010101" charset="-122"/>
              </a:defRPr>
            </a:lvl1pPr>
          </a:lstStyle>
          <a:p>
            <a:fld id="{845856A5-8DB2-4F61-8706-FDE2FDC74E0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幼圆" panose="02010509060101010101" charset="-122"/>
                <a:ea typeface="幼圆" panose="020105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幼圆" panose="02010509060101010101" charset="-122"/>
                <a:ea typeface="幼圆" panose="02010509060101010101" charset="-122"/>
              </a:defRPr>
            </a:lvl1pPr>
          </a:lstStyle>
          <a:p>
            <a:fld id="{EE01CB33-9E15-42E3-893A-B6CA2EA6A79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幼圆" panose="02010509060101010101" charset="-122"/>
        <a:ea typeface="幼圆" panose="02010509060101010101" charset="-122"/>
        <a:cs typeface="+mn-cs"/>
      </a:defRPr>
    </a:lvl1pPr>
    <a:lvl2pPr marL="457200" algn="l" defTabSz="914400" rtl="0" eaLnBrk="1" latinLnBrk="0" hangingPunct="1">
      <a:defRPr sz="1200" kern="1200">
        <a:solidFill>
          <a:schemeClr val="tx1"/>
        </a:solidFill>
        <a:latin typeface="幼圆" panose="02010509060101010101" charset="-122"/>
        <a:ea typeface="幼圆" panose="02010509060101010101" charset="-122"/>
        <a:cs typeface="+mn-cs"/>
      </a:defRPr>
    </a:lvl2pPr>
    <a:lvl3pPr marL="914400" algn="l" defTabSz="914400" rtl="0" eaLnBrk="1" latinLnBrk="0" hangingPunct="1">
      <a:defRPr sz="1200" kern="1200">
        <a:solidFill>
          <a:schemeClr val="tx1"/>
        </a:solidFill>
        <a:latin typeface="幼圆" panose="02010509060101010101" charset="-122"/>
        <a:ea typeface="幼圆" panose="02010509060101010101" charset="-122"/>
        <a:cs typeface="+mn-cs"/>
      </a:defRPr>
    </a:lvl3pPr>
    <a:lvl4pPr marL="1371600" algn="l" defTabSz="914400" rtl="0" eaLnBrk="1" latinLnBrk="0" hangingPunct="1">
      <a:defRPr sz="1200" kern="1200">
        <a:solidFill>
          <a:schemeClr val="tx1"/>
        </a:solidFill>
        <a:latin typeface="幼圆" panose="02010509060101010101" charset="-122"/>
        <a:ea typeface="幼圆" panose="02010509060101010101" charset="-122"/>
        <a:cs typeface="+mn-cs"/>
      </a:defRPr>
    </a:lvl4pPr>
    <a:lvl5pPr marL="1828800" algn="l" defTabSz="914400" rtl="0" eaLnBrk="1" latinLnBrk="0" hangingPunct="1">
      <a:defRPr sz="1200" kern="1200">
        <a:solidFill>
          <a:schemeClr val="tx1"/>
        </a:solidFill>
        <a:latin typeface="幼圆" panose="02010509060101010101" charset="-122"/>
        <a:ea typeface="幼圆" panose="02010509060101010101"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7" name="组合 6"/>
          <p:cNvGrpSpPr/>
          <p:nvPr userDrawn="1"/>
        </p:nvGrpSpPr>
        <p:grpSpPr>
          <a:xfrm>
            <a:off x="-28955" y="0"/>
            <a:ext cx="12249910" cy="6858001"/>
            <a:chOff x="-28955" y="0"/>
            <a:chExt cx="12249910" cy="6858001"/>
          </a:xfrm>
        </p:grpSpPr>
        <p:sp>
          <p:nvSpPr>
            <p:cNvPr id="8" name="矩形 7"/>
            <p:cNvSpPr/>
            <p:nvPr/>
          </p:nvSpPr>
          <p:spPr>
            <a:xfrm>
              <a:off x="436306" y="390832"/>
              <a:ext cx="11319388" cy="60763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形状 8"/>
            <p:cNvSpPr/>
            <p:nvPr/>
          </p:nvSpPr>
          <p:spPr>
            <a:xfrm>
              <a:off x="9607347" y="1"/>
              <a:ext cx="2613608" cy="2014383"/>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椭圆 9"/>
            <p:cNvSpPr/>
            <p:nvPr/>
          </p:nvSpPr>
          <p:spPr>
            <a:xfrm>
              <a:off x="8492399" y="0"/>
              <a:ext cx="935747" cy="935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任意多边形: 形状 10"/>
            <p:cNvSpPr/>
            <p:nvPr/>
          </p:nvSpPr>
          <p:spPr>
            <a:xfrm>
              <a:off x="-28955" y="4843618"/>
              <a:ext cx="2613608" cy="2014383"/>
            </a:xfrm>
            <a:custGeom>
              <a:avLst/>
              <a:gdLst>
                <a:gd name="connsiteX0" fmla="*/ 696318 w 2613608"/>
                <a:gd name="connsiteY0" fmla="*/ 0 h 2014383"/>
                <a:gd name="connsiteX1" fmla="*/ 2613608 w 2613608"/>
                <a:gd name="connsiteY1" fmla="*/ 1917290 h 2014383"/>
                <a:gd name="connsiteX2" fmla="*/ 2608705 w 2613608"/>
                <a:gd name="connsiteY2" fmla="*/ 2014383 h 2014383"/>
                <a:gd name="connsiteX3" fmla="*/ 0 w 2613608"/>
                <a:gd name="connsiteY3" fmla="*/ 2014383 h 2014383"/>
                <a:gd name="connsiteX4" fmla="*/ 0 w 2613608"/>
                <a:gd name="connsiteY4" fmla="*/ 132378 h 2014383"/>
                <a:gd name="connsiteX5" fmla="*/ 126175 w 2613608"/>
                <a:gd name="connsiteY5" fmla="*/ 86198 h 2014383"/>
                <a:gd name="connsiteX6" fmla="*/ 696318 w 2613608"/>
                <a:gd name="connsiteY6" fmla="*/ 0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3608" h="2014383">
                  <a:moveTo>
                    <a:pt x="696318" y="0"/>
                  </a:moveTo>
                  <a:cubicBezTo>
                    <a:pt x="1755208" y="0"/>
                    <a:pt x="2613608" y="858400"/>
                    <a:pt x="2613608" y="1917290"/>
                  </a:cubicBezTo>
                  <a:lnTo>
                    <a:pt x="2608705" y="2014383"/>
                  </a:lnTo>
                  <a:lnTo>
                    <a:pt x="0" y="2014383"/>
                  </a:lnTo>
                  <a:lnTo>
                    <a:pt x="0" y="132378"/>
                  </a:lnTo>
                  <a:lnTo>
                    <a:pt x="126175" y="86198"/>
                  </a:lnTo>
                  <a:cubicBezTo>
                    <a:pt x="306283" y="30178"/>
                    <a:pt x="497776" y="0"/>
                    <a:pt x="696318"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椭圆 11"/>
            <p:cNvSpPr/>
            <p:nvPr/>
          </p:nvSpPr>
          <p:spPr>
            <a:xfrm>
              <a:off x="2824706" y="5922253"/>
              <a:ext cx="935747" cy="935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3" name="组合 12"/>
            <p:cNvGrpSpPr/>
            <p:nvPr/>
          </p:nvGrpSpPr>
          <p:grpSpPr>
            <a:xfrm>
              <a:off x="11662673" y="499894"/>
              <a:ext cx="186041" cy="1133803"/>
              <a:chOff x="5559847" y="2479549"/>
              <a:chExt cx="521110" cy="3175843"/>
            </a:xfrm>
            <a:solidFill>
              <a:schemeClr val="accent1"/>
            </a:solidFill>
          </p:grpSpPr>
          <p:sp>
            <p:nvSpPr>
              <p:cNvPr id="20" name="等腰三角形 19"/>
              <p:cNvSpPr/>
              <p:nvPr/>
            </p:nvSpPr>
            <p:spPr>
              <a:xfrm>
                <a:off x="5559847" y="247954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等腰三角形 20"/>
              <p:cNvSpPr/>
              <p:nvPr/>
            </p:nvSpPr>
            <p:spPr>
              <a:xfrm>
                <a:off x="5559847" y="3161202"/>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等腰三角形 21"/>
              <p:cNvSpPr/>
              <p:nvPr/>
            </p:nvSpPr>
            <p:spPr>
              <a:xfrm>
                <a:off x="5559847" y="3842855"/>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等腰三角形 22"/>
              <p:cNvSpPr/>
              <p:nvPr/>
            </p:nvSpPr>
            <p:spPr>
              <a:xfrm>
                <a:off x="5559847" y="4524508"/>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等腰三角形 23"/>
              <p:cNvSpPr/>
              <p:nvPr/>
            </p:nvSpPr>
            <p:spPr>
              <a:xfrm>
                <a:off x="5559847" y="520615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4" name="组合 13"/>
            <p:cNvGrpSpPr/>
            <p:nvPr/>
          </p:nvGrpSpPr>
          <p:grpSpPr>
            <a:xfrm>
              <a:off x="371707" y="5333365"/>
              <a:ext cx="186041" cy="1133803"/>
              <a:chOff x="5559847" y="2479549"/>
              <a:chExt cx="521110" cy="3175843"/>
            </a:xfrm>
            <a:solidFill>
              <a:schemeClr val="accent1"/>
            </a:solidFill>
          </p:grpSpPr>
          <p:sp>
            <p:nvSpPr>
              <p:cNvPr id="15" name="等腰三角形 14"/>
              <p:cNvSpPr/>
              <p:nvPr/>
            </p:nvSpPr>
            <p:spPr>
              <a:xfrm>
                <a:off x="5559847" y="247954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等腰三角形 15"/>
              <p:cNvSpPr/>
              <p:nvPr/>
            </p:nvSpPr>
            <p:spPr>
              <a:xfrm>
                <a:off x="5559847" y="3161202"/>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等腰三角形 16"/>
              <p:cNvSpPr/>
              <p:nvPr/>
            </p:nvSpPr>
            <p:spPr>
              <a:xfrm>
                <a:off x="5559847" y="3842855"/>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等腰三角形 17"/>
              <p:cNvSpPr/>
              <p:nvPr/>
            </p:nvSpPr>
            <p:spPr>
              <a:xfrm>
                <a:off x="5559847" y="4524508"/>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等腰三角形 18"/>
              <p:cNvSpPr/>
              <p:nvPr/>
            </p:nvSpPr>
            <p:spPr>
              <a:xfrm>
                <a:off x="5559847" y="520615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25" name="组合 24"/>
          <p:cNvGrpSpPr/>
          <p:nvPr userDrawn="1"/>
        </p:nvGrpSpPr>
        <p:grpSpPr>
          <a:xfrm>
            <a:off x="10757221" y="5846823"/>
            <a:ext cx="767416" cy="433219"/>
            <a:chOff x="4468761" y="1799303"/>
            <a:chExt cx="914400" cy="516194"/>
          </a:xfrm>
          <a:solidFill>
            <a:schemeClr val="accent1">
              <a:lumMod val="20000"/>
              <a:lumOff val="80000"/>
            </a:schemeClr>
          </a:solidFill>
        </p:grpSpPr>
        <p:sp>
          <p:nvSpPr>
            <p:cNvPr id="26" name="矩形 25"/>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矩形 26"/>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矩形 27"/>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矩形 6"/>
          <p:cNvSpPr/>
          <p:nvPr/>
        </p:nvSpPr>
        <p:spPr>
          <a:xfrm>
            <a:off x="436306" y="390832"/>
            <a:ext cx="11319388" cy="60763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4" name="组合 23"/>
          <p:cNvGrpSpPr/>
          <p:nvPr userDrawn="1"/>
        </p:nvGrpSpPr>
        <p:grpSpPr>
          <a:xfrm>
            <a:off x="10950497" y="2"/>
            <a:ext cx="1270457" cy="2291617"/>
            <a:chOff x="10950497" y="2"/>
            <a:chExt cx="1270457" cy="2291617"/>
          </a:xfrm>
        </p:grpSpPr>
        <p:sp>
          <p:nvSpPr>
            <p:cNvPr id="8" name="任意多边形: 形状 7"/>
            <p:cNvSpPr/>
            <p:nvPr/>
          </p:nvSpPr>
          <p:spPr>
            <a:xfrm>
              <a:off x="10950497" y="2"/>
              <a:ext cx="1270457" cy="979178"/>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2" name="组合 11"/>
            <p:cNvGrpSpPr/>
            <p:nvPr/>
          </p:nvGrpSpPr>
          <p:grpSpPr>
            <a:xfrm>
              <a:off x="11379690" y="1157816"/>
              <a:ext cx="186041" cy="1133803"/>
              <a:chOff x="5559847" y="2479549"/>
              <a:chExt cx="521110" cy="3175843"/>
            </a:xfrm>
            <a:solidFill>
              <a:schemeClr val="accent1"/>
            </a:solidFill>
          </p:grpSpPr>
          <p:sp>
            <p:nvSpPr>
              <p:cNvPr id="19" name="等腰三角形 18"/>
              <p:cNvSpPr/>
              <p:nvPr/>
            </p:nvSpPr>
            <p:spPr>
              <a:xfrm>
                <a:off x="5559847" y="247954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等腰三角形 19"/>
              <p:cNvSpPr/>
              <p:nvPr/>
            </p:nvSpPr>
            <p:spPr>
              <a:xfrm>
                <a:off x="5559847" y="3161202"/>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等腰三角形 20"/>
              <p:cNvSpPr/>
              <p:nvPr/>
            </p:nvSpPr>
            <p:spPr>
              <a:xfrm>
                <a:off x="5559847" y="3842855"/>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等腰三角形 21"/>
              <p:cNvSpPr/>
              <p:nvPr/>
            </p:nvSpPr>
            <p:spPr>
              <a:xfrm>
                <a:off x="5559847" y="4524508"/>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等腰三角形 22"/>
              <p:cNvSpPr/>
              <p:nvPr/>
            </p:nvSpPr>
            <p:spPr>
              <a:xfrm>
                <a:off x="5559847" y="520615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25" name="组合 24"/>
          <p:cNvGrpSpPr/>
          <p:nvPr userDrawn="1"/>
        </p:nvGrpSpPr>
        <p:grpSpPr>
          <a:xfrm rot="10800000">
            <a:off x="1" y="4566383"/>
            <a:ext cx="1270457" cy="2291617"/>
            <a:chOff x="10950497" y="2"/>
            <a:chExt cx="1270457" cy="2291617"/>
          </a:xfrm>
        </p:grpSpPr>
        <p:sp>
          <p:nvSpPr>
            <p:cNvPr id="26" name="任意多边形: 形状 25"/>
            <p:cNvSpPr/>
            <p:nvPr/>
          </p:nvSpPr>
          <p:spPr>
            <a:xfrm>
              <a:off x="10950497" y="2"/>
              <a:ext cx="1270457" cy="979178"/>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7" name="组合 26"/>
            <p:cNvGrpSpPr/>
            <p:nvPr/>
          </p:nvGrpSpPr>
          <p:grpSpPr>
            <a:xfrm>
              <a:off x="11379690" y="1157816"/>
              <a:ext cx="186041" cy="1133803"/>
              <a:chOff x="5559847" y="2479549"/>
              <a:chExt cx="521110" cy="3175843"/>
            </a:xfrm>
            <a:solidFill>
              <a:schemeClr val="accent1"/>
            </a:solidFill>
          </p:grpSpPr>
          <p:sp>
            <p:nvSpPr>
              <p:cNvPr id="28" name="等腰三角形 27"/>
              <p:cNvSpPr/>
              <p:nvPr/>
            </p:nvSpPr>
            <p:spPr>
              <a:xfrm>
                <a:off x="5559847" y="247954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等腰三角形 28"/>
              <p:cNvSpPr/>
              <p:nvPr/>
            </p:nvSpPr>
            <p:spPr>
              <a:xfrm>
                <a:off x="5559847" y="3161202"/>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0" name="等腰三角形 29"/>
              <p:cNvSpPr/>
              <p:nvPr/>
            </p:nvSpPr>
            <p:spPr>
              <a:xfrm>
                <a:off x="5559847" y="3842855"/>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等腰三角形 30"/>
              <p:cNvSpPr/>
              <p:nvPr/>
            </p:nvSpPr>
            <p:spPr>
              <a:xfrm>
                <a:off x="5559847" y="4524508"/>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等腰三角形 31"/>
              <p:cNvSpPr/>
              <p:nvPr/>
            </p:nvSpPr>
            <p:spPr>
              <a:xfrm>
                <a:off x="5559847" y="5206159"/>
                <a:ext cx="521110" cy="4492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9" name="椭圆 8"/>
          <p:cNvSpPr/>
          <p:nvPr/>
        </p:nvSpPr>
        <p:spPr>
          <a:xfrm>
            <a:off x="10650680" y="597491"/>
            <a:ext cx="395123" cy="39512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椭圆 10"/>
          <p:cNvSpPr/>
          <p:nvPr/>
        </p:nvSpPr>
        <p:spPr>
          <a:xfrm>
            <a:off x="1186302" y="5864996"/>
            <a:ext cx="395123" cy="39512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33" name="组合 32"/>
          <p:cNvGrpSpPr/>
          <p:nvPr userDrawn="1"/>
        </p:nvGrpSpPr>
        <p:grpSpPr>
          <a:xfrm>
            <a:off x="10889597" y="5858219"/>
            <a:ext cx="676134" cy="381689"/>
            <a:chOff x="4468761" y="1799303"/>
            <a:chExt cx="914400" cy="516194"/>
          </a:xfrm>
          <a:solidFill>
            <a:schemeClr val="accent1">
              <a:lumMod val="20000"/>
              <a:lumOff val="80000"/>
            </a:schemeClr>
          </a:solidFill>
        </p:grpSpPr>
        <p:sp>
          <p:nvSpPr>
            <p:cNvPr id="34" name="矩形 33"/>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矩形 34"/>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 name="矩形 35"/>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436306" y="390832"/>
            <a:ext cx="11319388" cy="60763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形状 6"/>
          <p:cNvSpPr/>
          <p:nvPr/>
        </p:nvSpPr>
        <p:spPr>
          <a:xfrm>
            <a:off x="11379690" y="2"/>
            <a:ext cx="841264" cy="648387"/>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32" name="组合 31"/>
          <p:cNvGrpSpPr/>
          <p:nvPr userDrawn="1"/>
        </p:nvGrpSpPr>
        <p:grpSpPr>
          <a:xfrm>
            <a:off x="11859995" y="797633"/>
            <a:ext cx="216293" cy="1527440"/>
            <a:chOff x="11349438" y="764179"/>
            <a:chExt cx="216293" cy="1527440"/>
          </a:xfrm>
        </p:grpSpPr>
        <p:sp>
          <p:nvSpPr>
            <p:cNvPr id="9" name="等腰三角形 8"/>
            <p:cNvSpPr/>
            <p:nvPr/>
          </p:nvSpPr>
          <p:spPr>
            <a:xfrm>
              <a:off x="11379690" y="1157816"/>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等腰三角形 9"/>
            <p:cNvSpPr/>
            <p:nvPr/>
          </p:nvSpPr>
          <p:spPr>
            <a:xfrm>
              <a:off x="11379690" y="1401172"/>
              <a:ext cx="186041" cy="1603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等腰三角形 10"/>
            <p:cNvSpPr/>
            <p:nvPr/>
          </p:nvSpPr>
          <p:spPr>
            <a:xfrm>
              <a:off x="11379690" y="1644528"/>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等腰三角形 11"/>
            <p:cNvSpPr/>
            <p:nvPr/>
          </p:nvSpPr>
          <p:spPr>
            <a:xfrm>
              <a:off x="11379690" y="1887884"/>
              <a:ext cx="186041" cy="1603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等腰三角形 12"/>
            <p:cNvSpPr/>
            <p:nvPr/>
          </p:nvSpPr>
          <p:spPr>
            <a:xfrm>
              <a:off x="11379690" y="2131239"/>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nvSpPr>
          <p:spPr>
            <a:xfrm>
              <a:off x="11349438" y="764179"/>
              <a:ext cx="216293" cy="21629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3" name="任意多边形: 形状 42"/>
          <p:cNvSpPr/>
          <p:nvPr userDrawn="1"/>
        </p:nvSpPr>
        <p:spPr>
          <a:xfrm rot="10800000">
            <a:off x="1" y="6209613"/>
            <a:ext cx="841264" cy="648387"/>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44" name="组合 43"/>
          <p:cNvGrpSpPr/>
          <p:nvPr userDrawn="1"/>
        </p:nvGrpSpPr>
        <p:grpSpPr>
          <a:xfrm rot="10800000">
            <a:off x="110007" y="4544081"/>
            <a:ext cx="216293" cy="1527440"/>
            <a:chOff x="11349438" y="764179"/>
            <a:chExt cx="216293" cy="1527440"/>
          </a:xfrm>
        </p:grpSpPr>
        <p:sp>
          <p:nvSpPr>
            <p:cNvPr id="45" name="等腰三角形 44"/>
            <p:cNvSpPr/>
            <p:nvPr/>
          </p:nvSpPr>
          <p:spPr>
            <a:xfrm>
              <a:off x="11379690" y="1157816"/>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6" name="等腰三角形 45"/>
            <p:cNvSpPr/>
            <p:nvPr/>
          </p:nvSpPr>
          <p:spPr>
            <a:xfrm>
              <a:off x="11379690" y="1401172"/>
              <a:ext cx="186041" cy="1603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等腰三角形 46"/>
            <p:cNvSpPr/>
            <p:nvPr/>
          </p:nvSpPr>
          <p:spPr>
            <a:xfrm>
              <a:off x="11379690" y="1644528"/>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 name="等腰三角形 47"/>
            <p:cNvSpPr/>
            <p:nvPr/>
          </p:nvSpPr>
          <p:spPr>
            <a:xfrm>
              <a:off x="11379690" y="1887884"/>
              <a:ext cx="186041" cy="16038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 name="等腰三角形 48"/>
            <p:cNvSpPr/>
            <p:nvPr/>
          </p:nvSpPr>
          <p:spPr>
            <a:xfrm>
              <a:off x="11379690" y="2131239"/>
              <a:ext cx="186041" cy="160380"/>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0" name="椭圆 49"/>
            <p:cNvSpPr/>
            <p:nvPr/>
          </p:nvSpPr>
          <p:spPr>
            <a:xfrm>
              <a:off x="11349438" y="764179"/>
              <a:ext cx="216293" cy="21629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2.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9" Type="http://schemas.openxmlformats.org/officeDocument/2006/relationships/slideLayout" Target="../slideLayouts/slideLayout8.xml"/><Relationship Id="rId18" Type="http://schemas.openxmlformats.org/officeDocument/2006/relationships/image" Target="../media/image5.png"/><Relationship Id="rId17" Type="http://schemas.openxmlformats.org/officeDocument/2006/relationships/image" Target="../media/image4.jpeg"/><Relationship Id="rId16" Type="http://schemas.openxmlformats.org/officeDocument/2006/relationships/image" Target="../media/image3.png"/><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7" Type="http://schemas.openxmlformats.org/officeDocument/2006/relationships/slideLayout" Target="../slideLayouts/slideLayout8.xml"/><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4" Type="http://schemas.openxmlformats.org/officeDocument/2006/relationships/slideLayout" Target="../slideLayouts/slideLayout8.xml"/><Relationship Id="rId23" Type="http://schemas.openxmlformats.org/officeDocument/2006/relationships/tags" Target="../tags/tag62.xml"/><Relationship Id="rId22" Type="http://schemas.openxmlformats.org/officeDocument/2006/relationships/tags" Target="../tags/tag61.xml"/><Relationship Id="rId21" Type="http://schemas.openxmlformats.org/officeDocument/2006/relationships/tags" Target="../tags/tag60.xml"/><Relationship Id="rId20" Type="http://schemas.openxmlformats.org/officeDocument/2006/relationships/tags" Target="../tags/tag5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7" Type="http://schemas.openxmlformats.org/officeDocument/2006/relationships/slideLayout" Target="../slideLayouts/slideLayout8.xml"/><Relationship Id="rId16" Type="http://schemas.openxmlformats.org/officeDocument/2006/relationships/image" Target="../media/image7.png"/><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11.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6" Type="http://schemas.openxmlformats.org/officeDocument/2006/relationships/slideLayout" Target="../slideLayouts/slideLayout8.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9" Type="http://schemas.openxmlformats.org/officeDocument/2006/relationships/slideLayout" Target="../slideLayouts/slideLayout8.xml"/><Relationship Id="rId28" Type="http://schemas.openxmlformats.org/officeDocument/2006/relationships/tags" Target="../tags/tag120.xml"/><Relationship Id="rId27" Type="http://schemas.openxmlformats.org/officeDocument/2006/relationships/tags" Target="../tags/tag119.xml"/><Relationship Id="rId26" Type="http://schemas.openxmlformats.org/officeDocument/2006/relationships/tags" Target="../tags/tag118.xml"/><Relationship Id="rId25" Type="http://schemas.openxmlformats.org/officeDocument/2006/relationships/tags" Target="../tags/tag117.xml"/><Relationship Id="rId24" Type="http://schemas.openxmlformats.org/officeDocument/2006/relationships/tags" Target="../tags/tag116.xml"/><Relationship Id="rId23" Type="http://schemas.openxmlformats.org/officeDocument/2006/relationships/tags" Target="../tags/tag115.xml"/><Relationship Id="rId22" Type="http://schemas.openxmlformats.org/officeDocument/2006/relationships/tags" Target="../tags/tag114.xml"/><Relationship Id="rId21" Type="http://schemas.openxmlformats.org/officeDocument/2006/relationships/tags" Target="../tags/tag113.xml"/><Relationship Id="rId20" Type="http://schemas.openxmlformats.org/officeDocument/2006/relationships/tags" Target="../tags/tag112.xml"/><Relationship Id="rId2" Type="http://schemas.openxmlformats.org/officeDocument/2006/relationships/tags" Target="../tags/tag94.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610237" y="5790594"/>
            <a:ext cx="914400" cy="516194"/>
            <a:chOff x="4468761" y="1799303"/>
            <a:chExt cx="914400" cy="516194"/>
          </a:xfrm>
          <a:solidFill>
            <a:schemeClr val="accent1">
              <a:lumMod val="20000"/>
              <a:lumOff val="80000"/>
            </a:schemeClr>
          </a:solidFill>
        </p:grpSpPr>
        <p:sp>
          <p:nvSpPr>
            <p:cNvPr id="11" name="矩形 10"/>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2" name="矩形 11"/>
            <p:cNvSpPr/>
            <p:nvPr/>
          </p:nvSpPr>
          <p:spPr>
            <a:xfrm>
              <a:off x="4468761" y="1999942"/>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3" name="矩形 12"/>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46" name="矩形 45"/>
          <p:cNvSpPr/>
          <p:nvPr/>
        </p:nvSpPr>
        <p:spPr>
          <a:xfrm>
            <a:off x="1421765" y="1833245"/>
            <a:ext cx="9535795"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dist"/>
            <a:r>
              <a:rPr lang="zh-CN" altLang="en-US" sz="3200" b="1" dirty="0">
                <a:solidFill>
                  <a:schemeClr val="tx1"/>
                </a:solidFill>
                <a:cs typeface="+mn-ea"/>
                <a:sym typeface="+mn-lt"/>
              </a:rPr>
              <a:t>Beyond Code Generation: An Observational Study</a:t>
            </a:r>
            <a:endParaRPr lang="zh-CN" altLang="en-US" sz="3200" b="1" dirty="0">
              <a:solidFill>
                <a:schemeClr val="tx1"/>
              </a:solidFill>
              <a:cs typeface="+mn-ea"/>
              <a:sym typeface="+mn-lt"/>
            </a:endParaRPr>
          </a:p>
          <a:p>
            <a:pPr algn="dist"/>
            <a:r>
              <a:rPr lang="zh-CN" altLang="en-US" sz="3200" b="1" dirty="0">
                <a:solidFill>
                  <a:schemeClr val="tx1"/>
                </a:solidFill>
                <a:cs typeface="+mn-ea"/>
                <a:sym typeface="+mn-lt"/>
              </a:rPr>
              <a:t>of ChatGPT Usage in Software Engineering Practice</a:t>
            </a:r>
            <a:endParaRPr lang="zh-CN" altLang="en-US" sz="3200" b="1" dirty="0">
              <a:solidFill>
                <a:schemeClr val="tx1"/>
              </a:solidFill>
              <a:cs typeface="+mn-ea"/>
              <a:sym typeface="+mn-lt"/>
            </a:endParaRPr>
          </a:p>
        </p:txBody>
      </p:sp>
      <p:sp>
        <p:nvSpPr>
          <p:cNvPr id="48" name="文本框 21"/>
          <p:cNvSpPr txBox="1"/>
          <p:nvPr/>
        </p:nvSpPr>
        <p:spPr>
          <a:xfrm>
            <a:off x="2383340" y="3976102"/>
            <a:ext cx="7425319" cy="475615"/>
          </a:xfrm>
          <a:prstGeom prst="rect">
            <a:avLst/>
          </a:prstGeom>
          <a:noFill/>
          <a:ln>
            <a:noFill/>
          </a:ln>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00"/>
              </a:lnSpc>
            </a:pPr>
            <a:r>
              <a:rPr lang="zh-CN" altLang="en-US" sz="2000" spc="600" dirty="0">
                <a:solidFill>
                  <a:schemeClr val="accent1"/>
                </a:solidFill>
                <a:cs typeface="+mn-ea"/>
                <a:sym typeface="+mn-lt"/>
              </a:rPr>
              <a:t>计算机学院</a:t>
            </a:r>
            <a:r>
              <a:rPr lang="en-US" altLang="zh-CN" sz="2000" spc="600" dirty="0">
                <a:solidFill>
                  <a:schemeClr val="accent1"/>
                </a:solidFill>
                <a:cs typeface="+mn-ea"/>
                <a:sym typeface="+mn-lt"/>
              </a:rPr>
              <a:t>/</a:t>
            </a:r>
            <a:r>
              <a:rPr lang="zh-CN" altLang="en-US" sz="2000" spc="600" dirty="0">
                <a:solidFill>
                  <a:schemeClr val="accent1"/>
                </a:solidFill>
                <a:cs typeface="+mn-ea"/>
                <a:sym typeface="+mn-lt"/>
              </a:rPr>
              <a:t>软件工程</a:t>
            </a:r>
            <a:endParaRPr lang="zh-CN" altLang="en-US" sz="2000" spc="600" dirty="0">
              <a:solidFill>
                <a:schemeClr val="accent1"/>
              </a:solidFill>
              <a:cs typeface="+mn-ea"/>
              <a:sym typeface="+mn-lt"/>
            </a:endParaRPr>
          </a:p>
        </p:txBody>
      </p:sp>
      <p:sp>
        <p:nvSpPr>
          <p:cNvPr id="51" name="矩形 50"/>
          <p:cNvSpPr/>
          <p:nvPr/>
        </p:nvSpPr>
        <p:spPr>
          <a:xfrm>
            <a:off x="3790315" y="4784090"/>
            <a:ext cx="1788160" cy="33718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cs typeface="+mn-ea"/>
                <a:sym typeface="+mn-lt"/>
              </a:rPr>
              <a:t>指导老师：</a:t>
            </a:r>
            <a:r>
              <a:rPr lang="zh-CN" altLang="en-US" sz="1600" dirty="0">
                <a:cs typeface="+mn-ea"/>
                <a:sym typeface="+mn-lt"/>
              </a:rPr>
              <a:t>周斌</a:t>
            </a:r>
            <a:endParaRPr lang="zh-CN" altLang="en-US" sz="1600" dirty="0">
              <a:cs typeface="+mn-ea"/>
              <a:sym typeface="+mn-lt"/>
            </a:endParaRPr>
          </a:p>
        </p:txBody>
      </p:sp>
      <p:sp>
        <p:nvSpPr>
          <p:cNvPr id="54" name="矩形 53"/>
          <p:cNvSpPr/>
          <p:nvPr/>
        </p:nvSpPr>
        <p:spPr>
          <a:xfrm>
            <a:off x="6719570" y="4784090"/>
            <a:ext cx="1826260" cy="33718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cs typeface="+mn-ea"/>
                <a:sym typeface="+mn-lt"/>
              </a:rPr>
              <a:t>汇报人：</a:t>
            </a:r>
            <a:r>
              <a:rPr lang="zh-CN" altLang="en-US" sz="1600" dirty="0">
                <a:cs typeface="+mn-ea"/>
                <a:sym typeface="+mn-lt"/>
              </a:rPr>
              <a:t>陈思迈</a:t>
            </a:r>
            <a:endParaRPr lang="zh-CN" altLang="en-US" sz="1600" dirty="0">
              <a:cs typeface="+mn-ea"/>
              <a:sym typeface="+mn-lt"/>
            </a:endParaRPr>
          </a:p>
        </p:txBody>
      </p:sp>
      <p:sp>
        <p:nvSpPr>
          <p:cNvPr id="56" name="Rectangle 37"/>
          <p:cNvSpPr/>
          <p:nvPr/>
        </p:nvSpPr>
        <p:spPr>
          <a:xfrm>
            <a:off x="2252476" y="3367368"/>
            <a:ext cx="7687047" cy="55245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050" dirty="0">
                <a:solidFill>
                  <a:schemeClr val="tx1">
                    <a:lumMod val="50000"/>
                    <a:lumOff val="50000"/>
                  </a:schemeClr>
                </a:solidFill>
                <a:cs typeface="+mn-ea"/>
                <a:sym typeface="+mn-lt"/>
              </a:rPr>
              <a:t>The Powerpoint template is a clean and simple template that can be used for personal and business use. Its clean approach makes it easy for the user to print. It comes in both standard and wide versions in ppt and pptx formats.</a:t>
            </a:r>
            <a:endParaRPr lang="zh-CN" altLang="en-US" sz="1050" dirty="0">
              <a:solidFill>
                <a:schemeClr val="tx1">
                  <a:lumMod val="50000"/>
                  <a:lumOff val="50000"/>
                </a:schemeClr>
              </a:solidFill>
              <a:cs typeface="+mn-ea"/>
              <a:sym typeface="+mn-lt"/>
            </a:endParaRPr>
          </a:p>
        </p:txBody>
      </p:sp>
      <p:sp>
        <p:nvSpPr>
          <p:cNvPr id="57" name="矩形: 圆角 56"/>
          <p:cNvSpPr/>
          <p:nvPr/>
        </p:nvSpPr>
        <p:spPr>
          <a:xfrm>
            <a:off x="917575" y="734695"/>
            <a:ext cx="2567940" cy="636270"/>
          </a:xfrm>
          <a:prstGeom prst="roundRect">
            <a:avLst>
              <a:gd name="adj" fmla="val 2158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cs typeface="+mn-ea"/>
                <a:sym typeface="+mn-lt"/>
              </a:rPr>
              <a:t>国防科技</a:t>
            </a:r>
            <a:r>
              <a:rPr lang="zh-CN" altLang="en-US" sz="2800" dirty="0">
                <a:cs typeface="+mn-ea"/>
                <a:sym typeface="+mn-lt"/>
              </a:rPr>
              <a:t>大学</a:t>
            </a:r>
            <a:endParaRPr lang="zh-CN" altLang="en-US" sz="2800" dirty="0">
              <a:cs typeface="+mn-ea"/>
              <a:sym typeface="+mn-lt"/>
            </a:endParaRPr>
          </a:p>
        </p:txBody>
      </p:sp>
      <p:cxnSp>
        <p:nvCxnSpPr>
          <p:cNvPr id="60" name="直接连接符 59"/>
          <p:cNvCxnSpPr/>
          <p:nvPr/>
        </p:nvCxnSpPr>
        <p:spPr>
          <a:xfrm>
            <a:off x="2383341" y="4542781"/>
            <a:ext cx="742531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4296937" y="991160"/>
            <a:ext cx="3598126" cy="71613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dirty="0">
                <a:cs typeface="+mn-ea"/>
                <a:sym typeface="+mn-lt"/>
              </a:rPr>
              <a:t>Contents</a:t>
            </a:r>
            <a:endParaRPr lang="en-US" altLang="zh-CN" sz="3200" dirty="0">
              <a:cs typeface="+mn-ea"/>
              <a:sym typeface="+mn-lt"/>
            </a:endParaRPr>
          </a:p>
        </p:txBody>
      </p:sp>
      <p:sp>
        <p:nvSpPr>
          <p:cNvPr id="3" name="文本框"/>
          <p:cNvSpPr/>
          <p:nvPr>
            <p:custDataLst>
              <p:tags r:id="rId1"/>
            </p:custDataLst>
          </p:nvPr>
        </p:nvSpPr>
        <p:spPr>
          <a:xfrm>
            <a:off x="1786890" y="2050415"/>
            <a:ext cx="775335" cy="5835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dirty="0">
                <a:solidFill>
                  <a:schemeClr val="accent1"/>
                </a:solidFill>
                <a:cs typeface="+mn-ea"/>
                <a:sym typeface="+mn-lt"/>
              </a:rPr>
              <a:t>01</a:t>
            </a:r>
            <a:endParaRPr lang="ru-RU" sz="3200" dirty="0">
              <a:solidFill>
                <a:schemeClr val="accent1"/>
              </a:solidFill>
              <a:cs typeface="+mn-ea"/>
              <a:sym typeface="+mn-lt"/>
            </a:endParaRPr>
          </a:p>
        </p:txBody>
      </p:sp>
      <p:sp>
        <p:nvSpPr>
          <p:cNvPr id="4" name="TextBox 14"/>
          <p:cNvSpPr txBox="1"/>
          <p:nvPr>
            <p:custDataLst>
              <p:tags r:id="rId2"/>
            </p:custDataLst>
          </p:nvPr>
        </p:nvSpPr>
        <p:spPr>
          <a:xfrm>
            <a:off x="2562225" y="2050415"/>
            <a:ext cx="4424045" cy="583565"/>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dirty="0">
                <a:cs typeface="+mn-ea"/>
                <a:sym typeface="+mn-lt"/>
              </a:rPr>
              <a:t>Background information</a:t>
            </a:r>
            <a:endParaRPr lang="en-US" altLang="zh-CN" sz="3200" dirty="0">
              <a:cs typeface="+mn-ea"/>
              <a:sym typeface="+mn-lt"/>
            </a:endParaRPr>
          </a:p>
        </p:txBody>
      </p:sp>
      <p:sp>
        <p:nvSpPr>
          <p:cNvPr id="6" name="文本框"/>
          <p:cNvSpPr/>
          <p:nvPr>
            <p:custDataLst>
              <p:tags r:id="rId3"/>
            </p:custDataLst>
          </p:nvPr>
        </p:nvSpPr>
        <p:spPr>
          <a:xfrm>
            <a:off x="1786890" y="2833370"/>
            <a:ext cx="777240" cy="5842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dirty="0">
                <a:solidFill>
                  <a:schemeClr val="accent1"/>
                </a:solidFill>
                <a:cs typeface="+mn-ea"/>
                <a:sym typeface="+mn-lt"/>
              </a:rPr>
              <a:t>02</a:t>
            </a:r>
            <a:endParaRPr lang="ru-RU" sz="5400" dirty="0">
              <a:solidFill>
                <a:schemeClr val="accent1"/>
              </a:solidFill>
              <a:cs typeface="+mn-ea"/>
              <a:sym typeface="+mn-lt"/>
            </a:endParaRPr>
          </a:p>
        </p:txBody>
      </p:sp>
      <p:sp>
        <p:nvSpPr>
          <p:cNvPr id="9" name="TextBox 14"/>
          <p:cNvSpPr txBox="1"/>
          <p:nvPr>
            <p:custDataLst>
              <p:tags r:id="rId4"/>
            </p:custDataLst>
          </p:nvPr>
        </p:nvSpPr>
        <p:spPr>
          <a:xfrm>
            <a:off x="2564130" y="2833370"/>
            <a:ext cx="2505710" cy="583565"/>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dirty="0">
                <a:cs typeface="+mn-ea"/>
                <a:sym typeface="+mn-lt"/>
              </a:rPr>
              <a:t>Related work</a:t>
            </a:r>
            <a:endParaRPr lang="en-US" altLang="zh-CN" sz="3200" dirty="0">
              <a:cs typeface="+mn-ea"/>
              <a:sym typeface="+mn-lt"/>
            </a:endParaRPr>
          </a:p>
        </p:txBody>
      </p:sp>
      <p:sp>
        <p:nvSpPr>
          <p:cNvPr id="5" name="文本框"/>
          <p:cNvSpPr/>
          <p:nvPr>
            <p:custDataLst>
              <p:tags r:id="rId5"/>
            </p:custDataLst>
          </p:nvPr>
        </p:nvSpPr>
        <p:spPr>
          <a:xfrm>
            <a:off x="1789430" y="3616325"/>
            <a:ext cx="774700" cy="4953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Tx/>
              <a:buSzTx/>
              <a:buFontTx/>
            </a:pPr>
            <a:r>
              <a:rPr lang="en-US" sz="3200" dirty="0">
                <a:solidFill>
                  <a:schemeClr val="accent1"/>
                </a:solidFill>
                <a:cs typeface="+mn-ea"/>
                <a:sym typeface="+mn-lt"/>
              </a:rPr>
              <a:t>03</a:t>
            </a:r>
            <a:endParaRPr lang="en-US" sz="3200" dirty="0">
              <a:solidFill>
                <a:schemeClr val="accent1"/>
              </a:solidFill>
              <a:cs typeface="+mn-ea"/>
              <a:sym typeface="+mn-lt"/>
            </a:endParaRPr>
          </a:p>
        </p:txBody>
      </p:sp>
      <p:sp>
        <p:nvSpPr>
          <p:cNvPr id="7" name="文本框"/>
          <p:cNvSpPr/>
          <p:nvPr>
            <p:custDataLst>
              <p:tags r:id="rId6"/>
            </p:custDataLst>
          </p:nvPr>
        </p:nvSpPr>
        <p:spPr>
          <a:xfrm>
            <a:off x="1789430" y="4311015"/>
            <a:ext cx="775970" cy="40957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dirty="0">
                <a:solidFill>
                  <a:schemeClr val="accent1"/>
                </a:solidFill>
                <a:cs typeface="+mn-ea"/>
                <a:sym typeface="+mn-lt"/>
              </a:rPr>
              <a:t>04</a:t>
            </a:r>
            <a:endParaRPr lang="ru-RU" sz="5400" dirty="0">
              <a:solidFill>
                <a:schemeClr val="accent1"/>
              </a:solidFill>
              <a:cs typeface="+mn-ea"/>
              <a:sym typeface="+mn-lt"/>
            </a:endParaRPr>
          </a:p>
        </p:txBody>
      </p:sp>
      <p:sp>
        <p:nvSpPr>
          <p:cNvPr id="8" name="TextBox 14"/>
          <p:cNvSpPr txBox="1"/>
          <p:nvPr>
            <p:custDataLst>
              <p:tags r:id="rId7"/>
            </p:custDataLst>
          </p:nvPr>
        </p:nvSpPr>
        <p:spPr>
          <a:xfrm>
            <a:off x="2564130" y="3531235"/>
            <a:ext cx="4083050" cy="583565"/>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dirty="0">
                <a:cs typeface="+mn-ea"/>
                <a:sym typeface="+mn-lt"/>
              </a:rPr>
              <a:t>Methods and findings</a:t>
            </a:r>
            <a:endParaRPr lang="en-US" altLang="zh-CN" sz="3200" dirty="0">
              <a:cs typeface="+mn-ea"/>
              <a:sym typeface="+mn-lt"/>
            </a:endParaRPr>
          </a:p>
        </p:txBody>
      </p:sp>
      <p:sp>
        <p:nvSpPr>
          <p:cNvPr id="10" name="TextBox 14"/>
          <p:cNvSpPr txBox="1"/>
          <p:nvPr>
            <p:custDataLst>
              <p:tags r:id="rId8"/>
            </p:custDataLst>
          </p:nvPr>
        </p:nvSpPr>
        <p:spPr>
          <a:xfrm>
            <a:off x="2565400" y="4229100"/>
            <a:ext cx="2402840" cy="583565"/>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dirty="0">
                <a:cs typeface="+mn-ea"/>
                <a:sym typeface="+mn-lt"/>
              </a:rPr>
              <a:t>Conclusion</a:t>
            </a:r>
            <a:endParaRPr lang="en-US" altLang="zh-CN" sz="3200" dirty="0">
              <a:cs typeface="+mn-ea"/>
              <a:sym typeface="+mn-lt"/>
            </a:endParaRPr>
          </a:p>
        </p:txBody>
      </p:sp>
      <p:sp>
        <p:nvSpPr>
          <p:cNvPr id="11" name="文本框"/>
          <p:cNvSpPr/>
          <p:nvPr>
            <p:custDataLst>
              <p:tags r:id="rId9"/>
            </p:custDataLst>
          </p:nvPr>
        </p:nvSpPr>
        <p:spPr>
          <a:xfrm>
            <a:off x="1789430" y="4916805"/>
            <a:ext cx="775970" cy="40957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dirty="0">
                <a:solidFill>
                  <a:schemeClr val="accent1"/>
                </a:solidFill>
                <a:cs typeface="+mn-ea"/>
                <a:sym typeface="+mn-lt"/>
              </a:rPr>
              <a:t>05</a:t>
            </a:r>
            <a:endParaRPr lang="ru-RU" sz="5400" dirty="0">
              <a:solidFill>
                <a:schemeClr val="accent1"/>
              </a:solidFill>
              <a:cs typeface="+mn-ea"/>
              <a:sym typeface="+mn-lt"/>
            </a:endParaRPr>
          </a:p>
        </p:txBody>
      </p:sp>
      <p:sp>
        <p:nvSpPr>
          <p:cNvPr id="12" name="TextBox 14"/>
          <p:cNvSpPr txBox="1"/>
          <p:nvPr>
            <p:custDataLst>
              <p:tags r:id="rId10"/>
            </p:custDataLst>
          </p:nvPr>
        </p:nvSpPr>
        <p:spPr>
          <a:xfrm>
            <a:off x="2565400" y="4812665"/>
            <a:ext cx="3531235" cy="583565"/>
          </a:xfrm>
          <a:prstGeom prst="rect">
            <a:avLst/>
          </a:prstGeom>
          <a:noFill/>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dirty="0">
                <a:cs typeface="+mn-ea"/>
                <a:sym typeface="+mn-lt"/>
              </a:rPr>
              <a:t>Personal Opinions</a:t>
            </a:r>
            <a:endParaRPr lang="en-US" altLang="zh-CN" sz="3200" dirty="0">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01</a:t>
            </a:r>
            <a:endParaRPr lang="zh-CN" altLang="en-US" sz="3200" b="1" dirty="0">
              <a:cs typeface="+mn-ea"/>
              <a:sym typeface="+mn-lt"/>
            </a:endParaRPr>
          </a:p>
        </p:txBody>
      </p:sp>
      <p:sp>
        <p:nvSpPr>
          <p:cNvPr id="10" name="Footer Text"/>
          <p:cNvSpPr txBox="1"/>
          <p:nvPr/>
        </p:nvSpPr>
        <p:spPr>
          <a:xfrm>
            <a:off x="4448188" y="3282921"/>
            <a:ext cx="3295624" cy="11074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b="1" dirty="0">
                <a:cs typeface="+mn-ea"/>
                <a:sym typeface="+mn-lt"/>
              </a:rPr>
              <a:t>Background information</a:t>
            </a:r>
            <a:endParaRPr lang="en-US" altLang="zh-CN" sz="3600" b="1" dirty="0">
              <a:cs typeface="+mn-ea"/>
              <a:sym typeface="+mn-lt"/>
            </a:endParaRPr>
          </a:p>
        </p:txBody>
      </p:sp>
      <p:sp>
        <p:nvSpPr>
          <p:cNvPr id="11" name="矩形 10"/>
          <p:cNvSpPr/>
          <p:nvPr/>
        </p:nvSpPr>
        <p:spPr>
          <a:xfrm>
            <a:off x="4448188" y="3813170"/>
            <a:ext cx="3295624" cy="27559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1200" dirty="0">
                <a:cs typeface="+mn-ea"/>
                <a:sym typeface="+mn-lt"/>
              </a:rPr>
              <a:t>c</a:t>
            </a:r>
            <a:endParaRPr lang="zh-CN" altLang="en-US" sz="1200" dirty="0">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48244" y="776125"/>
            <a:ext cx="352439" cy="299049"/>
            <a:chOff x="4468761" y="1799303"/>
            <a:chExt cx="914400" cy="516194"/>
          </a:xfrm>
          <a:solidFill>
            <a:schemeClr val="accent1">
              <a:lumMod val="20000"/>
              <a:lumOff val="80000"/>
            </a:schemeClr>
          </a:solidFill>
        </p:grpSpPr>
        <p:sp>
          <p:nvSpPr>
            <p:cNvPr id="3" name="矩形 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 name="矩形 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 name="矩形 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6" name="Freeform: Shape 14"/>
          <p:cNvSpPr/>
          <p:nvPr>
            <p:custDataLst>
              <p:tags r:id="rId1"/>
            </p:custDataLst>
          </p:nvPr>
        </p:nvSpPr>
        <p:spPr>
          <a:xfrm>
            <a:off x="5280459" y="2155530"/>
            <a:ext cx="310886" cy="325016"/>
          </a:xfrm>
          <a:custGeom>
            <a:avLst/>
            <a:gdLst>
              <a:gd name="connsiteX0" fmla="*/ 7691 w 376007"/>
              <a:gd name="connsiteY0" fmla="*/ 393526 h 393098"/>
              <a:gd name="connsiteX1" fmla="*/ 14528 w 376007"/>
              <a:gd name="connsiteY1" fmla="*/ 391817 h 393098"/>
              <a:gd name="connsiteX2" fmla="*/ 33328 w 376007"/>
              <a:gd name="connsiteY2" fmla="*/ 373016 h 393098"/>
              <a:gd name="connsiteX3" fmla="*/ 55547 w 376007"/>
              <a:gd name="connsiteY3" fmla="*/ 378144 h 393098"/>
              <a:gd name="connsiteX4" fmla="*/ 146130 w 376007"/>
              <a:gd name="connsiteY4" fmla="*/ 330288 h 393098"/>
              <a:gd name="connsiteX5" fmla="*/ 308497 w 376007"/>
              <a:gd name="connsiteY5" fmla="*/ 167921 h 393098"/>
              <a:gd name="connsiteX6" fmla="*/ 332425 w 376007"/>
              <a:gd name="connsiteY6" fmla="*/ 191849 h 393098"/>
              <a:gd name="connsiteX7" fmla="*/ 193986 w 376007"/>
              <a:gd name="connsiteY7" fmla="*/ 330288 h 393098"/>
              <a:gd name="connsiteX8" fmla="*/ 193986 w 376007"/>
              <a:gd name="connsiteY8" fmla="*/ 342252 h 393098"/>
              <a:gd name="connsiteX9" fmla="*/ 200822 w 376007"/>
              <a:gd name="connsiteY9" fmla="*/ 343961 h 393098"/>
              <a:gd name="connsiteX10" fmla="*/ 207659 w 376007"/>
              <a:gd name="connsiteY10" fmla="*/ 342252 h 393098"/>
              <a:gd name="connsiteX11" fmla="*/ 376862 w 376007"/>
              <a:gd name="connsiteY11" fmla="*/ 173049 h 393098"/>
              <a:gd name="connsiteX12" fmla="*/ 376862 w 376007"/>
              <a:gd name="connsiteY12" fmla="*/ 161085 h 393098"/>
              <a:gd name="connsiteX13" fmla="*/ 364898 w 376007"/>
              <a:gd name="connsiteY13" fmla="*/ 161085 h 393098"/>
              <a:gd name="connsiteX14" fmla="*/ 346098 w 376007"/>
              <a:gd name="connsiteY14" fmla="*/ 179885 h 393098"/>
              <a:gd name="connsiteX15" fmla="*/ 322170 w 376007"/>
              <a:gd name="connsiteY15" fmla="*/ 155958 h 393098"/>
              <a:gd name="connsiteX16" fmla="*/ 364898 w 376007"/>
              <a:gd name="connsiteY16" fmla="*/ 113230 h 393098"/>
              <a:gd name="connsiteX17" fmla="*/ 364898 w 376007"/>
              <a:gd name="connsiteY17" fmla="*/ 101265 h 393098"/>
              <a:gd name="connsiteX18" fmla="*/ 358062 w 376007"/>
              <a:gd name="connsiteY18" fmla="*/ 94429 h 393098"/>
              <a:gd name="connsiteX19" fmla="*/ 383699 w 376007"/>
              <a:gd name="connsiteY19" fmla="*/ 68792 h 393098"/>
              <a:gd name="connsiteX20" fmla="*/ 383699 w 376007"/>
              <a:gd name="connsiteY20" fmla="*/ 24355 h 393098"/>
              <a:gd name="connsiteX21" fmla="*/ 368317 w 376007"/>
              <a:gd name="connsiteY21" fmla="*/ 8973 h 393098"/>
              <a:gd name="connsiteX22" fmla="*/ 323879 w 376007"/>
              <a:gd name="connsiteY22" fmla="*/ 8973 h 393098"/>
              <a:gd name="connsiteX23" fmla="*/ 298242 w 376007"/>
              <a:gd name="connsiteY23" fmla="*/ 34610 h 393098"/>
              <a:gd name="connsiteX24" fmla="*/ 291406 w 376007"/>
              <a:gd name="connsiteY24" fmla="*/ 27773 h 393098"/>
              <a:gd name="connsiteX25" fmla="*/ 279442 w 376007"/>
              <a:gd name="connsiteY25" fmla="*/ 27773 h 393098"/>
              <a:gd name="connsiteX26" fmla="*/ 243550 w 376007"/>
              <a:gd name="connsiteY26" fmla="*/ 63665 h 393098"/>
              <a:gd name="connsiteX27" fmla="*/ 135875 w 376007"/>
              <a:gd name="connsiteY27" fmla="*/ 171340 h 393098"/>
              <a:gd name="connsiteX28" fmla="*/ 62383 w 376007"/>
              <a:gd name="connsiteY28" fmla="*/ 244832 h 393098"/>
              <a:gd name="connsiteX29" fmla="*/ 21364 w 376007"/>
              <a:gd name="connsiteY29" fmla="*/ 359343 h 393098"/>
              <a:gd name="connsiteX30" fmla="*/ 2564 w 376007"/>
              <a:gd name="connsiteY30" fmla="*/ 378144 h 393098"/>
              <a:gd name="connsiteX31" fmla="*/ 2564 w 376007"/>
              <a:gd name="connsiteY31" fmla="*/ 390108 h 393098"/>
              <a:gd name="connsiteX32" fmla="*/ 7691 w 376007"/>
              <a:gd name="connsiteY32" fmla="*/ 393526 h 393098"/>
              <a:gd name="connsiteX33" fmla="*/ 334134 w 376007"/>
              <a:gd name="connsiteY33" fmla="*/ 22646 h 393098"/>
              <a:gd name="connsiteX34" fmla="*/ 354643 w 376007"/>
              <a:gd name="connsiteY34" fmla="*/ 22646 h 393098"/>
              <a:gd name="connsiteX35" fmla="*/ 370026 w 376007"/>
              <a:gd name="connsiteY35" fmla="*/ 38028 h 393098"/>
              <a:gd name="connsiteX36" fmla="*/ 370026 w 376007"/>
              <a:gd name="connsiteY36" fmla="*/ 58537 h 393098"/>
              <a:gd name="connsiteX37" fmla="*/ 344389 w 376007"/>
              <a:gd name="connsiteY37" fmla="*/ 84174 h 393098"/>
              <a:gd name="connsiteX38" fmla="*/ 308497 w 376007"/>
              <a:gd name="connsiteY38" fmla="*/ 48283 h 393098"/>
              <a:gd name="connsiteX39" fmla="*/ 334134 w 376007"/>
              <a:gd name="connsiteY39" fmla="*/ 22646 h 393098"/>
              <a:gd name="connsiteX40" fmla="*/ 284569 w 376007"/>
              <a:gd name="connsiteY40" fmla="*/ 48283 h 393098"/>
              <a:gd name="connsiteX41" fmla="*/ 291406 w 376007"/>
              <a:gd name="connsiteY41" fmla="*/ 55119 h 393098"/>
              <a:gd name="connsiteX42" fmla="*/ 339261 w 376007"/>
              <a:gd name="connsiteY42" fmla="*/ 102975 h 393098"/>
              <a:gd name="connsiteX43" fmla="*/ 346098 w 376007"/>
              <a:gd name="connsiteY43" fmla="*/ 109811 h 393098"/>
              <a:gd name="connsiteX44" fmla="*/ 137585 w 376007"/>
              <a:gd name="connsiteY44" fmla="*/ 314906 h 393098"/>
              <a:gd name="connsiteX45" fmla="*/ 135875 w 376007"/>
              <a:gd name="connsiteY45" fmla="*/ 314906 h 393098"/>
              <a:gd name="connsiteX46" fmla="*/ 106820 w 376007"/>
              <a:gd name="connsiteY46" fmla="*/ 301233 h 393098"/>
              <a:gd name="connsiteX47" fmla="*/ 77765 w 376007"/>
              <a:gd name="connsiteY47" fmla="*/ 256796 h 393098"/>
              <a:gd name="connsiteX48" fmla="*/ 77765 w 376007"/>
              <a:gd name="connsiteY48" fmla="*/ 255087 h 393098"/>
              <a:gd name="connsiteX49" fmla="*/ 142712 w 376007"/>
              <a:gd name="connsiteY49" fmla="*/ 190140 h 393098"/>
              <a:gd name="connsiteX50" fmla="*/ 173476 w 376007"/>
              <a:gd name="connsiteY50" fmla="*/ 220904 h 393098"/>
              <a:gd name="connsiteX51" fmla="*/ 180313 w 376007"/>
              <a:gd name="connsiteY51" fmla="*/ 222613 h 393098"/>
              <a:gd name="connsiteX52" fmla="*/ 187149 w 376007"/>
              <a:gd name="connsiteY52" fmla="*/ 220904 h 393098"/>
              <a:gd name="connsiteX53" fmla="*/ 293115 w 376007"/>
              <a:gd name="connsiteY53" fmla="*/ 114939 h 393098"/>
              <a:gd name="connsiteX54" fmla="*/ 294824 w 376007"/>
              <a:gd name="connsiteY54" fmla="*/ 108102 h 393098"/>
              <a:gd name="connsiteX55" fmla="*/ 293115 w 376007"/>
              <a:gd name="connsiteY55" fmla="*/ 101265 h 393098"/>
              <a:gd name="connsiteX56" fmla="*/ 262351 w 376007"/>
              <a:gd name="connsiteY56" fmla="*/ 70501 h 393098"/>
              <a:gd name="connsiteX57" fmla="*/ 284569 w 376007"/>
              <a:gd name="connsiteY57" fmla="*/ 48283 h 393098"/>
              <a:gd name="connsiteX58" fmla="*/ 248678 w 376007"/>
              <a:gd name="connsiteY58" fmla="*/ 84174 h 393098"/>
              <a:gd name="connsiteX59" fmla="*/ 272605 w 376007"/>
              <a:gd name="connsiteY59" fmla="*/ 108102 h 393098"/>
              <a:gd name="connsiteX60" fmla="*/ 178604 w 376007"/>
              <a:gd name="connsiteY60" fmla="*/ 202104 h 393098"/>
              <a:gd name="connsiteX61" fmla="*/ 154676 w 376007"/>
              <a:gd name="connsiteY61" fmla="*/ 178176 h 393098"/>
              <a:gd name="connsiteX62" fmla="*/ 248678 w 376007"/>
              <a:gd name="connsiteY62" fmla="*/ 84174 h 393098"/>
              <a:gd name="connsiteX63" fmla="*/ 64092 w 376007"/>
              <a:gd name="connsiteY63" fmla="*/ 270469 h 393098"/>
              <a:gd name="connsiteX64" fmla="*/ 64092 w 376007"/>
              <a:gd name="connsiteY64" fmla="*/ 272178 h 393098"/>
              <a:gd name="connsiteX65" fmla="*/ 65801 w 376007"/>
              <a:gd name="connsiteY65" fmla="*/ 275596 h 393098"/>
              <a:gd name="connsiteX66" fmla="*/ 69220 w 376007"/>
              <a:gd name="connsiteY66" fmla="*/ 282433 h 393098"/>
              <a:gd name="connsiteX67" fmla="*/ 70929 w 376007"/>
              <a:gd name="connsiteY67" fmla="*/ 285851 h 393098"/>
              <a:gd name="connsiteX68" fmla="*/ 76056 w 376007"/>
              <a:gd name="connsiteY68" fmla="*/ 292688 h 393098"/>
              <a:gd name="connsiteX69" fmla="*/ 77765 w 376007"/>
              <a:gd name="connsiteY69" fmla="*/ 296106 h 393098"/>
              <a:gd name="connsiteX70" fmla="*/ 94856 w 376007"/>
              <a:gd name="connsiteY70" fmla="*/ 313197 h 393098"/>
              <a:gd name="connsiteX71" fmla="*/ 98275 w 376007"/>
              <a:gd name="connsiteY71" fmla="*/ 314906 h 393098"/>
              <a:gd name="connsiteX72" fmla="*/ 105111 w 376007"/>
              <a:gd name="connsiteY72" fmla="*/ 320033 h 393098"/>
              <a:gd name="connsiteX73" fmla="*/ 108529 w 376007"/>
              <a:gd name="connsiteY73" fmla="*/ 321743 h 393098"/>
              <a:gd name="connsiteX74" fmla="*/ 115366 w 376007"/>
              <a:gd name="connsiteY74" fmla="*/ 325161 h 393098"/>
              <a:gd name="connsiteX75" fmla="*/ 118784 w 376007"/>
              <a:gd name="connsiteY75" fmla="*/ 326870 h 393098"/>
              <a:gd name="connsiteX76" fmla="*/ 120493 w 376007"/>
              <a:gd name="connsiteY76" fmla="*/ 326870 h 393098"/>
              <a:gd name="connsiteX77" fmla="*/ 35037 w 376007"/>
              <a:gd name="connsiteY77" fmla="*/ 352507 h 393098"/>
              <a:gd name="connsiteX78" fmla="*/ 64092 w 376007"/>
              <a:gd name="connsiteY78" fmla="*/ 270469 h 393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76007" h="393098">
                <a:moveTo>
                  <a:pt x="7691" y="393526"/>
                </a:moveTo>
                <a:cubicBezTo>
                  <a:pt x="9400" y="393526"/>
                  <a:pt x="12818" y="393526"/>
                  <a:pt x="14528" y="391817"/>
                </a:cubicBezTo>
                <a:lnTo>
                  <a:pt x="33328" y="373016"/>
                </a:lnTo>
                <a:cubicBezTo>
                  <a:pt x="40164" y="376435"/>
                  <a:pt x="47001" y="378144"/>
                  <a:pt x="55547" y="378144"/>
                </a:cubicBezTo>
                <a:cubicBezTo>
                  <a:pt x="81183" y="378144"/>
                  <a:pt x="117075" y="361053"/>
                  <a:pt x="146130" y="330288"/>
                </a:cubicBezTo>
                <a:lnTo>
                  <a:pt x="308497" y="167921"/>
                </a:lnTo>
                <a:lnTo>
                  <a:pt x="332425" y="191849"/>
                </a:lnTo>
                <a:lnTo>
                  <a:pt x="193986" y="330288"/>
                </a:lnTo>
                <a:cubicBezTo>
                  <a:pt x="190567" y="333706"/>
                  <a:pt x="190567" y="338834"/>
                  <a:pt x="193986" y="342252"/>
                </a:cubicBezTo>
                <a:cubicBezTo>
                  <a:pt x="195695" y="343961"/>
                  <a:pt x="197404" y="343961"/>
                  <a:pt x="200822" y="343961"/>
                </a:cubicBezTo>
                <a:cubicBezTo>
                  <a:pt x="204240" y="343961"/>
                  <a:pt x="205950" y="343961"/>
                  <a:pt x="207659" y="342252"/>
                </a:cubicBezTo>
                <a:lnTo>
                  <a:pt x="376862" y="173049"/>
                </a:lnTo>
                <a:cubicBezTo>
                  <a:pt x="380280" y="169630"/>
                  <a:pt x="380280" y="164503"/>
                  <a:pt x="376862" y="161085"/>
                </a:cubicBezTo>
                <a:cubicBezTo>
                  <a:pt x="373444" y="157667"/>
                  <a:pt x="368317" y="157667"/>
                  <a:pt x="364898" y="161085"/>
                </a:cubicBezTo>
                <a:lnTo>
                  <a:pt x="346098" y="179885"/>
                </a:lnTo>
                <a:lnTo>
                  <a:pt x="322170" y="155958"/>
                </a:lnTo>
                <a:lnTo>
                  <a:pt x="364898" y="113230"/>
                </a:lnTo>
                <a:cubicBezTo>
                  <a:pt x="368317" y="109811"/>
                  <a:pt x="368317" y="104684"/>
                  <a:pt x="364898" y="101265"/>
                </a:cubicBezTo>
                <a:lnTo>
                  <a:pt x="358062" y="94429"/>
                </a:lnTo>
                <a:lnTo>
                  <a:pt x="383699" y="68792"/>
                </a:lnTo>
                <a:cubicBezTo>
                  <a:pt x="395663" y="56828"/>
                  <a:pt x="395663" y="36319"/>
                  <a:pt x="383699" y="24355"/>
                </a:cubicBezTo>
                <a:lnTo>
                  <a:pt x="368317" y="8973"/>
                </a:lnTo>
                <a:cubicBezTo>
                  <a:pt x="356353" y="-2991"/>
                  <a:pt x="335843" y="-2991"/>
                  <a:pt x="323879" y="8973"/>
                </a:cubicBezTo>
                <a:lnTo>
                  <a:pt x="298242" y="34610"/>
                </a:lnTo>
                <a:lnTo>
                  <a:pt x="291406" y="27773"/>
                </a:lnTo>
                <a:cubicBezTo>
                  <a:pt x="287988" y="24355"/>
                  <a:pt x="282860" y="24355"/>
                  <a:pt x="279442" y="27773"/>
                </a:cubicBezTo>
                <a:lnTo>
                  <a:pt x="243550" y="63665"/>
                </a:lnTo>
                <a:lnTo>
                  <a:pt x="135875" y="171340"/>
                </a:lnTo>
                <a:lnTo>
                  <a:pt x="62383" y="244832"/>
                </a:lnTo>
                <a:cubicBezTo>
                  <a:pt x="21364" y="285851"/>
                  <a:pt x="5982" y="331997"/>
                  <a:pt x="21364" y="359343"/>
                </a:cubicBezTo>
                <a:lnTo>
                  <a:pt x="2564" y="378144"/>
                </a:lnTo>
                <a:cubicBezTo>
                  <a:pt x="-855" y="381562"/>
                  <a:pt x="-855" y="386689"/>
                  <a:pt x="2564" y="390108"/>
                </a:cubicBezTo>
                <a:cubicBezTo>
                  <a:pt x="2564" y="393526"/>
                  <a:pt x="5982" y="393526"/>
                  <a:pt x="7691" y="393526"/>
                </a:cubicBezTo>
                <a:close/>
                <a:moveTo>
                  <a:pt x="334134" y="22646"/>
                </a:moveTo>
                <a:cubicBezTo>
                  <a:pt x="339261" y="17518"/>
                  <a:pt x="349516" y="17518"/>
                  <a:pt x="354643" y="22646"/>
                </a:cubicBezTo>
                <a:lnTo>
                  <a:pt x="370026" y="38028"/>
                </a:lnTo>
                <a:cubicBezTo>
                  <a:pt x="375153" y="43155"/>
                  <a:pt x="375153" y="53410"/>
                  <a:pt x="370026" y="58537"/>
                </a:cubicBezTo>
                <a:lnTo>
                  <a:pt x="344389" y="84174"/>
                </a:lnTo>
                <a:lnTo>
                  <a:pt x="308497" y="48283"/>
                </a:lnTo>
                <a:lnTo>
                  <a:pt x="334134" y="22646"/>
                </a:lnTo>
                <a:close/>
                <a:moveTo>
                  <a:pt x="284569" y="48283"/>
                </a:moveTo>
                <a:lnTo>
                  <a:pt x="291406" y="55119"/>
                </a:lnTo>
                <a:lnTo>
                  <a:pt x="339261" y="102975"/>
                </a:lnTo>
                <a:lnTo>
                  <a:pt x="346098" y="109811"/>
                </a:lnTo>
                <a:lnTo>
                  <a:pt x="137585" y="314906"/>
                </a:lnTo>
                <a:lnTo>
                  <a:pt x="135875" y="314906"/>
                </a:lnTo>
                <a:cubicBezTo>
                  <a:pt x="125621" y="313197"/>
                  <a:pt x="115366" y="308070"/>
                  <a:pt x="106820" y="301233"/>
                </a:cubicBezTo>
                <a:cubicBezTo>
                  <a:pt x="93147" y="290978"/>
                  <a:pt x="82893" y="275596"/>
                  <a:pt x="77765" y="256796"/>
                </a:cubicBezTo>
                <a:lnTo>
                  <a:pt x="77765" y="255087"/>
                </a:lnTo>
                <a:lnTo>
                  <a:pt x="142712" y="190140"/>
                </a:lnTo>
                <a:lnTo>
                  <a:pt x="173476" y="220904"/>
                </a:lnTo>
                <a:cubicBezTo>
                  <a:pt x="175185" y="222613"/>
                  <a:pt x="176894" y="222613"/>
                  <a:pt x="180313" y="222613"/>
                </a:cubicBezTo>
                <a:cubicBezTo>
                  <a:pt x="183731" y="222613"/>
                  <a:pt x="185440" y="220904"/>
                  <a:pt x="187149" y="220904"/>
                </a:cubicBezTo>
                <a:lnTo>
                  <a:pt x="293115" y="114939"/>
                </a:lnTo>
                <a:cubicBezTo>
                  <a:pt x="294824" y="113230"/>
                  <a:pt x="294824" y="111520"/>
                  <a:pt x="294824" y="108102"/>
                </a:cubicBezTo>
                <a:cubicBezTo>
                  <a:pt x="294824" y="104684"/>
                  <a:pt x="293115" y="102975"/>
                  <a:pt x="293115" y="101265"/>
                </a:cubicBezTo>
                <a:lnTo>
                  <a:pt x="262351" y="70501"/>
                </a:lnTo>
                <a:lnTo>
                  <a:pt x="284569" y="48283"/>
                </a:lnTo>
                <a:close/>
                <a:moveTo>
                  <a:pt x="248678" y="84174"/>
                </a:moveTo>
                <a:lnTo>
                  <a:pt x="272605" y="108102"/>
                </a:lnTo>
                <a:lnTo>
                  <a:pt x="178604" y="202104"/>
                </a:lnTo>
                <a:lnTo>
                  <a:pt x="154676" y="178176"/>
                </a:lnTo>
                <a:lnTo>
                  <a:pt x="248678" y="84174"/>
                </a:lnTo>
                <a:close/>
                <a:moveTo>
                  <a:pt x="64092" y="270469"/>
                </a:moveTo>
                <a:cubicBezTo>
                  <a:pt x="64092" y="270469"/>
                  <a:pt x="64092" y="272178"/>
                  <a:pt x="64092" y="272178"/>
                </a:cubicBezTo>
                <a:cubicBezTo>
                  <a:pt x="64092" y="273887"/>
                  <a:pt x="65801" y="275596"/>
                  <a:pt x="65801" y="275596"/>
                </a:cubicBezTo>
                <a:cubicBezTo>
                  <a:pt x="67510" y="277305"/>
                  <a:pt x="67510" y="280724"/>
                  <a:pt x="69220" y="282433"/>
                </a:cubicBezTo>
                <a:cubicBezTo>
                  <a:pt x="69220" y="284142"/>
                  <a:pt x="70929" y="285851"/>
                  <a:pt x="70929" y="285851"/>
                </a:cubicBezTo>
                <a:cubicBezTo>
                  <a:pt x="72638" y="287560"/>
                  <a:pt x="74347" y="290978"/>
                  <a:pt x="76056" y="292688"/>
                </a:cubicBezTo>
                <a:cubicBezTo>
                  <a:pt x="76056" y="294397"/>
                  <a:pt x="77765" y="294397"/>
                  <a:pt x="77765" y="296106"/>
                </a:cubicBezTo>
                <a:cubicBezTo>
                  <a:pt x="82893" y="302942"/>
                  <a:pt x="88020" y="308070"/>
                  <a:pt x="94856" y="313197"/>
                </a:cubicBezTo>
                <a:cubicBezTo>
                  <a:pt x="96566" y="313197"/>
                  <a:pt x="96566" y="314906"/>
                  <a:pt x="98275" y="314906"/>
                </a:cubicBezTo>
                <a:cubicBezTo>
                  <a:pt x="99984" y="316615"/>
                  <a:pt x="103402" y="318324"/>
                  <a:pt x="105111" y="320033"/>
                </a:cubicBezTo>
                <a:cubicBezTo>
                  <a:pt x="106820" y="320033"/>
                  <a:pt x="108529" y="321743"/>
                  <a:pt x="108529" y="321743"/>
                </a:cubicBezTo>
                <a:cubicBezTo>
                  <a:pt x="110239" y="323452"/>
                  <a:pt x="113657" y="323452"/>
                  <a:pt x="115366" y="325161"/>
                </a:cubicBezTo>
                <a:cubicBezTo>
                  <a:pt x="117075" y="325161"/>
                  <a:pt x="118784" y="326870"/>
                  <a:pt x="118784" y="326870"/>
                </a:cubicBezTo>
                <a:cubicBezTo>
                  <a:pt x="118784" y="326870"/>
                  <a:pt x="120493" y="326870"/>
                  <a:pt x="120493" y="326870"/>
                </a:cubicBezTo>
                <a:cubicBezTo>
                  <a:pt x="84602" y="357634"/>
                  <a:pt x="48710" y="366180"/>
                  <a:pt x="35037" y="352507"/>
                </a:cubicBezTo>
                <a:cubicBezTo>
                  <a:pt x="24782" y="342252"/>
                  <a:pt x="33328" y="304651"/>
                  <a:pt x="64092" y="270469"/>
                </a:cubicBezTo>
                <a:close/>
              </a:path>
            </a:pathLst>
          </a:custGeom>
          <a:solidFill>
            <a:schemeClr val="accent1"/>
          </a:solidFill>
          <a:ln w="17082" cap="flat">
            <a:noFill/>
            <a:prstDash val="solid"/>
            <a:miter/>
          </a:ln>
        </p:spPr>
        <p:txBody>
          <a:bodyPr rtlCol="0" anchor="ctr"/>
          <a:lstStyle/>
          <a:p>
            <a:endParaRPr lang="en-ID">
              <a:cs typeface="+mn-ea"/>
              <a:sym typeface="+mn-lt"/>
            </a:endParaRPr>
          </a:p>
        </p:txBody>
      </p:sp>
      <p:sp>
        <p:nvSpPr>
          <p:cNvPr id="7" name="Freeform: Shape 15"/>
          <p:cNvSpPr/>
          <p:nvPr>
            <p:custDataLst>
              <p:tags r:id="rId2"/>
            </p:custDataLst>
          </p:nvPr>
        </p:nvSpPr>
        <p:spPr>
          <a:xfrm>
            <a:off x="7408783" y="2155958"/>
            <a:ext cx="296753" cy="325016"/>
          </a:xfrm>
          <a:custGeom>
            <a:avLst/>
            <a:gdLst>
              <a:gd name="connsiteX0" fmla="*/ 274315 w 358916"/>
              <a:gd name="connsiteY0" fmla="*/ 0 h 393098"/>
              <a:gd name="connsiteX1" fmla="*/ 207659 w 358916"/>
              <a:gd name="connsiteY1" fmla="*/ 27346 h 393098"/>
              <a:gd name="connsiteX2" fmla="*/ 2564 w 358916"/>
              <a:gd name="connsiteY2" fmla="*/ 234150 h 393098"/>
              <a:gd name="connsiteX3" fmla="*/ 2564 w 358916"/>
              <a:gd name="connsiteY3" fmla="*/ 246114 h 393098"/>
              <a:gd name="connsiteX4" fmla="*/ 14528 w 358916"/>
              <a:gd name="connsiteY4" fmla="*/ 246114 h 393098"/>
              <a:gd name="connsiteX5" fmla="*/ 219623 w 358916"/>
              <a:gd name="connsiteY5" fmla="*/ 39310 h 393098"/>
              <a:gd name="connsiteX6" fmla="*/ 274315 w 358916"/>
              <a:gd name="connsiteY6" fmla="*/ 17091 h 393098"/>
              <a:gd name="connsiteX7" fmla="*/ 329007 w 358916"/>
              <a:gd name="connsiteY7" fmla="*/ 39310 h 393098"/>
              <a:gd name="connsiteX8" fmla="*/ 351225 w 358916"/>
              <a:gd name="connsiteY8" fmla="*/ 94002 h 393098"/>
              <a:gd name="connsiteX9" fmla="*/ 329007 w 358916"/>
              <a:gd name="connsiteY9" fmla="*/ 148694 h 393098"/>
              <a:gd name="connsiteX10" fmla="*/ 117075 w 358916"/>
              <a:gd name="connsiteY10" fmla="*/ 360625 h 393098"/>
              <a:gd name="connsiteX11" fmla="*/ 45292 w 358916"/>
              <a:gd name="connsiteY11" fmla="*/ 360625 h 393098"/>
              <a:gd name="connsiteX12" fmla="*/ 45292 w 358916"/>
              <a:gd name="connsiteY12" fmla="*/ 288842 h 393098"/>
              <a:gd name="connsiteX13" fmla="*/ 221332 w 358916"/>
              <a:gd name="connsiteY13" fmla="*/ 112802 h 393098"/>
              <a:gd name="connsiteX14" fmla="*/ 257223 w 358916"/>
              <a:gd name="connsiteY14" fmla="*/ 112802 h 393098"/>
              <a:gd name="connsiteX15" fmla="*/ 257223 w 358916"/>
              <a:gd name="connsiteY15" fmla="*/ 148694 h 393098"/>
              <a:gd name="connsiteX16" fmla="*/ 171767 w 358916"/>
              <a:gd name="connsiteY16" fmla="*/ 232441 h 393098"/>
              <a:gd name="connsiteX17" fmla="*/ 171767 w 358916"/>
              <a:gd name="connsiteY17" fmla="*/ 244405 h 393098"/>
              <a:gd name="connsiteX18" fmla="*/ 178604 w 358916"/>
              <a:gd name="connsiteY18" fmla="*/ 246114 h 393098"/>
              <a:gd name="connsiteX19" fmla="*/ 185440 w 358916"/>
              <a:gd name="connsiteY19" fmla="*/ 244405 h 393098"/>
              <a:gd name="connsiteX20" fmla="*/ 270896 w 358916"/>
              <a:gd name="connsiteY20" fmla="*/ 160658 h 393098"/>
              <a:gd name="connsiteX21" fmla="*/ 270896 w 358916"/>
              <a:gd name="connsiteY21" fmla="*/ 100838 h 393098"/>
              <a:gd name="connsiteX22" fmla="*/ 211077 w 358916"/>
              <a:gd name="connsiteY22" fmla="*/ 100838 h 393098"/>
              <a:gd name="connsiteX23" fmla="*/ 35037 w 358916"/>
              <a:gd name="connsiteY23" fmla="*/ 276878 h 393098"/>
              <a:gd name="connsiteX24" fmla="*/ 35037 w 358916"/>
              <a:gd name="connsiteY24" fmla="*/ 374298 h 393098"/>
              <a:gd name="connsiteX25" fmla="*/ 82893 w 358916"/>
              <a:gd name="connsiteY25" fmla="*/ 394808 h 393098"/>
              <a:gd name="connsiteX26" fmla="*/ 130748 w 358916"/>
              <a:gd name="connsiteY26" fmla="*/ 374298 h 393098"/>
              <a:gd name="connsiteX27" fmla="*/ 342680 w 358916"/>
              <a:gd name="connsiteY27" fmla="*/ 162367 h 393098"/>
              <a:gd name="connsiteX28" fmla="*/ 370026 w 358916"/>
              <a:gd name="connsiteY28" fmla="*/ 95711 h 393098"/>
              <a:gd name="connsiteX29" fmla="*/ 342680 w 358916"/>
              <a:gd name="connsiteY29" fmla="*/ 29055 h 393098"/>
              <a:gd name="connsiteX30" fmla="*/ 274315 w 358916"/>
              <a:gd name="connsiteY30" fmla="*/ 0 h 393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58916" h="393098">
                <a:moveTo>
                  <a:pt x="274315" y="0"/>
                </a:moveTo>
                <a:cubicBezTo>
                  <a:pt x="248678" y="0"/>
                  <a:pt x="224750" y="10255"/>
                  <a:pt x="207659" y="27346"/>
                </a:cubicBezTo>
                <a:lnTo>
                  <a:pt x="2564" y="234150"/>
                </a:lnTo>
                <a:cubicBezTo>
                  <a:pt x="-855" y="237568"/>
                  <a:pt x="-855" y="242696"/>
                  <a:pt x="2564" y="246114"/>
                </a:cubicBezTo>
                <a:cubicBezTo>
                  <a:pt x="5982" y="249532"/>
                  <a:pt x="11109" y="249532"/>
                  <a:pt x="14528" y="246114"/>
                </a:cubicBezTo>
                <a:lnTo>
                  <a:pt x="219623" y="39310"/>
                </a:lnTo>
                <a:cubicBezTo>
                  <a:pt x="233296" y="23928"/>
                  <a:pt x="253805" y="17091"/>
                  <a:pt x="274315" y="17091"/>
                </a:cubicBezTo>
                <a:cubicBezTo>
                  <a:pt x="294824" y="17091"/>
                  <a:pt x="313624" y="25637"/>
                  <a:pt x="329007" y="39310"/>
                </a:cubicBezTo>
                <a:cubicBezTo>
                  <a:pt x="344389" y="54692"/>
                  <a:pt x="351225" y="73492"/>
                  <a:pt x="351225" y="94002"/>
                </a:cubicBezTo>
                <a:cubicBezTo>
                  <a:pt x="351225" y="114511"/>
                  <a:pt x="342680" y="133312"/>
                  <a:pt x="329007" y="148694"/>
                </a:cubicBezTo>
                <a:lnTo>
                  <a:pt x="117075" y="360625"/>
                </a:lnTo>
                <a:cubicBezTo>
                  <a:pt x="96566" y="381135"/>
                  <a:pt x="64092" y="381135"/>
                  <a:pt x="45292" y="360625"/>
                </a:cubicBezTo>
                <a:cubicBezTo>
                  <a:pt x="24782" y="340116"/>
                  <a:pt x="24782" y="307642"/>
                  <a:pt x="45292" y="288842"/>
                </a:cubicBezTo>
                <a:lnTo>
                  <a:pt x="221332" y="112802"/>
                </a:lnTo>
                <a:cubicBezTo>
                  <a:pt x="231587" y="102547"/>
                  <a:pt x="248678" y="102547"/>
                  <a:pt x="257223" y="112802"/>
                </a:cubicBezTo>
                <a:cubicBezTo>
                  <a:pt x="267478" y="123057"/>
                  <a:pt x="267478" y="138439"/>
                  <a:pt x="257223" y="148694"/>
                </a:cubicBezTo>
                <a:lnTo>
                  <a:pt x="171767" y="232441"/>
                </a:lnTo>
                <a:cubicBezTo>
                  <a:pt x="168349" y="235859"/>
                  <a:pt x="168349" y="240987"/>
                  <a:pt x="171767" y="244405"/>
                </a:cubicBezTo>
                <a:cubicBezTo>
                  <a:pt x="173476" y="246114"/>
                  <a:pt x="175185" y="246114"/>
                  <a:pt x="178604" y="246114"/>
                </a:cubicBezTo>
                <a:cubicBezTo>
                  <a:pt x="182022" y="246114"/>
                  <a:pt x="183731" y="246114"/>
                  <a:pt x="185440" y="244405"/>
                </a:cubicBezTo>
                <a:lnTo>
                  <a:pt x="270896" y="160658"/>
                </a:lnTo>
                <a:cubicBezTo>
                  <a:pt x="287987" y="143566"/>
                  <a:pt x="287987" y="116221"/>
                  <a:pt x="270896" y="100838"/>
                </a:cubicBezTo>
                <a:cubicBezTo>
                  <a:pt x="255514" y="85456"/>
                  <a:pt x="226459" y="85456"/>
                  <a:pt x="211077" y="100838"/>
                </a:cubicBezTo>
                <a:lnTo>
                  <a:pt x="35037" y="276878"/>
                </a:lnTo>
                <a:cubicBezTo>
                  <a:pt x="7691" y="304224"/>
                  <a:pt x="7691" y="346952"/>
                  <a:pt x="35037" y="374298"/>
                </a:cubicBezTo>
                <a:cubicBezTo>
                  <a:pt x="48710" y="387971"/>
                  <a:pt x="65801" y="394808"/>
                  <a:pt x="82893" y="394808"/>
                </a:cubicBezTo>
                <a:cubicBezTo>
                  <a:pt x="99984" y="394808"/>
                  <a:pt x="117075" y="387971"/>
                  <a:pt x="130748" y="374298"/>
                </a:cubicBezTo>
                <a:lnTo>
                  <a:pt x="342680" y="162367"/>
                </a:lnTo>
                <a:cubicBezTo>
                  <a:pt x="359771" y="145276"/>
                  <a:pt x="370026" y="121348"/>
                  <a:pt x="370026" y="95711"/>
                </a:cubicBezTo>
                <a:cubicBezTo>
                  <a:pt x="370026" y="70074"/>
                  <a:pt x="359771" y="46146"/>
                  <a:pt x="342680" y="29055"/>
                </a:cubicBezTo>
                <a:cubicBezTo>
                  <a:pt x="323879" y="10255"/>
                  <a:pt x="299952" y="0"/>
                  <a:pt x="274315" y="0"/>
                </a:cubicBezTo>
                <a:close/>
              </a:path>
            </a:pathLst>
          </a:custGeom>
          <a:solidFill>
            <a:schemeClr val="accent1"/>
          </a:solidFill>
          <a:ln w="17082" cap="flat">
            <a:noFill/>
            <a:prstDash val="solid"/>
            <a:miter/>
          </a:ln>
        </p:spPr>
        <p:txBody>
          <a:bodyPr rtlCol="0" anchor="ctr"/>
          <a:lstStyle/>
          <a:p>
            <a:endParaRPr lang="en-ID">
              <a:cs typeface="+mn-ea"/>
              <a:sym typeface="+mn-lt"/>
            </a:endParaRPr>
          </a:p>
        </p:txBody>
      </p:sp>
      <p:sp>
        <p:nvSpPr>
          <p:cNvPr id="8" name="Freeform: Shape 16"/>
          <p:cNvSpPr/>
          <p:nvPr>
            <p:custDataLst>
              <p:tags r:id="rId3"/>
            </p:custDataLst>
          </p:nvPr>
        </p:nvSpPr>
        <p:spPr>
          <a:xfrm>
            <a:off x="9545714" y="2155863"/>
            <a:ext cx="310886" cy="325016"/>
          </a:xfrm>
          <a:custGeom>
            <a:avLst/>
            <a:gdLst>
              <a:gd name="connsiteX0" fmla="*/ 1709 w 376007"/>
              <a:gd name="connsiteY0" fmla="*/ 391484 h 393098"/>
              <a:gd name="connsiteX1" fmla="*/ 8546 w 376007"/>
              <a:gd name="connsiteY1" fmla="*/ 393194 h 393098"/>
              <a:gd name="connsiteX2" fmla="*/ 11964 w 376007"/>
              <a:gd name="connsiteY2" fmla="*/ 393194 h 393098"/>
              <a:gd name="connsiteX3" fmla="*/ 126475 w 376007"/>
              <a:gd name="connsiteY3" fmla="*/ 350465 h 393098"/>
              <a:gd name="connsiteX4" fmla="*/ 157240 w 376007"/>
              <a:gd name="connsiteY4" fmla="*/ 367557 h 393098"/>
              <a:gd name="connsiteX5" fmla="*/ 179458 w 376007"/>
              <a:gd name="connsiteY5" fmla="*/ 372684 h 393098"/>
              <a:gd name="connsiteX6" fmla="*/ 206804 w 376007"/>
              <a:gd name="connsiteY6" fmla="*/ 365847 h 393098"/>
              <a:gd name="connsiteX7" fmla="*/ 234150 w 376007"/>
              <a:gd name="connsiteY7" fmla="*/ 323119 h 393098"/>
              <a:gd name="connsiteX8" fmla="*/ 225605 w 376007"/>
              <a:gd name="connsiteY8" fmla="*/ 270137 h 393098"/>
              <a:gd name="connsiteX9" fmla="*/ 299097 w 376007"/>
              <a:gd name="connsiteY9" fmla="*/ 196644 h 393098"/>
              <a:gd name="connsiteX10" fmla="*/ 309352 w 376007"/>
              <a:gd name="connsiteY10" fmla="*/ 198353 h 393098"/>
              <a:gd name="connsiteX11" fmla="*/ 321315 w 376007"/>
              <a:gd name="connsiteY11" fmla="*/ 198353 h 393098"/>
              <a:gd name="connsiteX12" fmla="*/ 384553 w 376007"/>
              <a:gd name="connsiteY12" fmla="*/ 171007 h 393098"/>
              <a:gd name="connsiteX13" fmla="*/ 386262 w 376007"/>
              <a:gd name="connsiteY13" fmla="*/ 169298 h 393098"/>
              <a:gd name="connsiteX14" fmla="*/ 387972 w 376007"/>
              <a:gd name="connsiteY14" fmla="*/ 167589 h 393098"/>
              <a:gd name="connsiteX15" fmla="*/ 387972 w 376007"/>
              <a:gd name="connsiteY15" fmla="*/ 167589 h 393098"/>
              <a:gd name="connsiteX16" fmla="*/ 333279 w 376007"/>
              <a:gd name="connsiteY16" fmla="*/ 59914 h 393098"/>
              <a:gd name="connsiteX17" fmla="*/ 225605 w 376007"/>
              <a:gd name="connsiteY17" fmla="*/ 5222 h 393098"/>
              <a:gd name="connsiteX18" fmla="*/ 199968 w 376007"/>
              <a:gd name="connsiteY18" fmla="*/ 92388 h 393098"/>
              <a:gd name="connsiteX19" fmla="*/ 124766 w 376007"/>
              <a:gd name="connsiteY19" fmla="*/ 167589 h 393098"/>
              <a:gd name="connsiteX20" fmla="*/ 70074 w 376007"/>
              <a:gd name="connsiteY20" fmla="*/ 159044 h 393098"/>
              <a:gd name="connsiteX21" fmla="*/ 27346 w 376007"/>
              <a:gd name="connsiteY21" fmla="*/ 186389 h 393098"/>
              <a:gd name="connsiteX22" fmla="*/ 25637 w 376007"/>
              <a:gd name="connsiteY22" fmla="*/ 237663 h 393098"/>
              <a:gd name="connsiteX23" fmla="*/ 42728 w 376007"/>
              <a:gd name="connsiteY23" fmla="*/ 268427 h 393098"/>
              <a:gd name="connsiteX24" fmla="*/ 0 w 376007"/>
              <a:gd name="connsiteY24" fmla="*/ 382939 h 393098"/>
              <a:gd name="connsiteX25" fmla="*/ 1709 w 376007"/>
              <a:gd name="connsiteY25" fmla="*/ 391484 h 393098"/>
              <a:gd name="connsiteX26" fmla="*/ 321315 w 376007"/>
              <a:gd name="connsiteY26" fmla="*/ 71878 h 393098"/>
              <a:gd name="connsiteX27" fmla="*/ 376008 w 376007"/>
              <a:gd name="connsiteY27" fmla="*/ 153916 h 393098"/>
              <a:gd name="connsiteX28" fmla="*/ 358916 w 376007"/>
              <a:gd name="connsiteY28" fmla="*/ 148789 h 393098"/>
              <a:gd name="connsiteX29" fmla="*/ 357207 w 376007"/>
              <a:gd name="connsiteY29" fmla="*/ 148789 h 393098"/>
              <a:gd name="connsiteX30" fmla="*/ 348661 w 376007"/>
              <a:gd name="connsiteY30" fmla="*/ 143661 h 393098"/>
              <a:gd name="connsiteX31" fmla="*/ 345244 w 376007"/>
              <a:gd name="connsiteY31" fmla="*/ 141952 h 393098"/>
              <a:gd name="connsiteX32" fmla="*/ 336698 w 376007"/>
              <a:gd name="connsiteY32" fmla="*/ 136825 h 393098"/>
              <a:gd name="connsiteX33" fmla="*/ 331570 w 376007"/>
              <a:gd name="connsiteY33" fmla="*/ 133407 h 393098"/>
              <a:gd name="connsiteX34" fmla="*/ 323025 w 376007"/>
              <a:gd name="connsiteY34" fmla="*/ 126570 h 393098"/>
              <a:gd name="connsiteX35" fmla="*/ 314479 w 376007"/>
              <a:gd name="connsiteY35" fmla="*/ 119734 h 393098"/>
              <a:gd name="connsiteX36" fmla="*/ 307643 w 376007"/>
              <a:gd name="connsiteY36" fmla="*/ 114606 h 393098"/>
              <a:gd name="connsiteX37" fmla="*/ 292261 w 376007"/>
              <a:gd name="connsiteY37" fmla="*/ 99224 h 393098"/>
              <a:gd name="connsiteX38" fmla="*/ 276879 w 376007"/>
              <a:gd name="connsiteY38" fmla="*/ 82133 h 393098"/>
              <a:gd name="connsiteX39" fmla="*/ 237568 w 376007"/>
              <a:gd name="connsiteY39" fmla="*/ 15477 h 393098"/>
              <a:gd name="connsiteX40" fmla="*/ 239278 w 376007"/>
              <a:gd name="connsiteY40" fmla="*/ 15477 h 393098"/>
              <a:gd name="connsiteX41" fmla="*/ 321315 w 376007"/>
              <a:gd name="connsiteY41" fmla="*/ 71878 h 393098"/>
              <a:gd name="connsiteX42" fmla="*/ 223896 w 376007"/>
              <a:gd name="connsiteY42" fmla="*/ 35987 h 393098"/>
              <a:gd name="connsiteX43" fmla="*/ 223896 w 376007"/>
              <a:gd name="connsiteY43" fmla="*/ 35987 h 393098"/>
              <a:gd name="connsiteX44" fmla="*/ 225605 w 376007"/>
              <a:gd name="connsiteY44" fmla="*/ 41114 h 393098"/>
              <a:gd name="connsiteX45" fmla="*/ 227313 w 376007"/>
              <a:gd name="connsiteY45" fmla="*/ 44532 h 393098"/>
              <a:gd name="connsiteX46" fmla="*/ 232441 w 376007"/>
              <a:gd name="connsiteY46" fmla="*/ 53078 h 393098"/>
              <a:gd name="connsiteX47" fmla="*/ 280296 w 376007"/>
              <a:gd name="connsiteY47" fmla="*/ 114606 h 393098"/>
              <a:gd name="connsiteX48" fmla="*/ 302515 w 376007"/>
              <a:gd name="connsiteY48" fmla="*/ 135116 h 393098"/>
              <a:gd name="connsiteX49" fmla="*/ 302515 w 376007"/>
              <a:gd name="connsiteY49" fmla="*/ 135116 h 393098"/>
              <a:gd name="connsiteX50" fmla="*/ 312770 w 376007"/>
              <a:gd name="connsiteY50" fmla="*/ 143661 h 393098"/>
              <a:gd name="connsiteX51" fmla="*/ 316188 w 376007"/>
              <a:gd name="connsiteY51" fmla="*/ 147080 h 393098"/>
              <a:gd name="connsiteX52" fmla="*/ 323025 w 376007"/>
              <a:gd name="connsiteY52" fmla="*/ 152207 h 393098"/>
              <a:gd name="connsiteX53" fmla="*/ 328152 w 376007"/>
              <a:gd name="connsiteY53" fmla="*/ 155625 h 393098"/>
              <a:gd name="connsiteX54" fmla="*/ 331570 w 376007"/>
              <a:gd name="connsiteY54" fmla="*/ 157334 h 393098"/>
              <a:gd name="connsiteX55" fmla="*/ 355498 w 376007"/>
              <a:gd name="connsiteY55" fmla="*/ 171007 h 393098"/>
              <a:gd name="connsiteX56" fmla="*/ 357207 w 376007"/>
              <a:gd name="connsiteY56" fmla="*/ 171007 h 393098"/>
              <a:gd name="connsiteX57" fmla="*/ 311061 w 376007"/>
              <a:gd name="connsiteY57" fmla="*/ 181262 h 393098"/>
              <a:gd name="connsiteX58" fmla="*/ 297388 w 376007"/>
              <a:gd name="connsiteY58" fmla="*/ 177844 h 393098"/>
              <a:gd name="connsiteX59" fmla="*/ 290551 w 376007"/>
              <a:gd name="connsiteY59" fmla="*/ 174426 h 393098"/>
              <a:gd name="connsiteX60" fmla="*/ 282006 w 376007"/>
              <a:gd name="connsiteY60" fmla="*/ 171007 h 393098"/>
              <a:gd name="connsiteX61" fmla="*/ 275169 w 376007"/>
              <a:gd name="connsiteY61" fmla="*/ 167589 h 393098"/>
              <a:gd name="connsiteX62" fmla="*/ 264914 w 376007"/>
              <a:gd name="connsiteY62" fmla="*/ 160753 h 393098"/>
              <a:gd name="connsiteX63" fmla="*/ 259787 w 376007"/>
              <a:gd name="connsiteY63" fmla="*/ 157334 h 393098"/>
              <a:gd name="connsiteX64" fmla="*/ 246114 w 376007"/>
              <a:gd name="connsiteY64" fmla="*/ 145370 h 393098"/>
              <a:gd name="connsiteX65" fmla="*/ 235859 w 376007"/>
              <a:gd name="connsiteY65" fmla="*/ 133407 h 393098"/>
              <a:gd name="connsiteX66" fmla="*/ 215350 w 376007"/>
              <a:gd name="connsiteY66" fmla="*/ 92388 h 393098"/>
              <a:gd name="connsiteX67" fmla="*/ 215350 w 376007"/>
              <a:gd name="connsiteY67" fmla="*/ 92388 h 393098"/>
              <a:gd name="connsiteX68" fmla="*/ 223896 w 376007"/>
              <a:gd name="connsiteY68" fmla="*/ 35987 h 393098"/>
              <a:gd name="connsiteX69" fmla="*/ 210222 w 376007"/>
              <a:gd name="connsiteY69" fmla="*/ 121443 h 393098"/>
              <a:gd name="connsiteX70" fmla="*/ 211931 w 376007"/>
              <a:gd name="connsiteY70" fmla="*/ 123152 h 393098"/>
              <a:gd name="connsiteX71" fmla="*/ 217059 w 376007"/>
              <a:gd name="connsiteY71" fmla="*/ 133407 h 393098"/>
              <a:gd name="connsiteX72" fmla="*/ 218768 w 376007"/>
              <a:gd name="connsiteY72" fmla="*/ 136825 h 393098"/>
              <a:gd name="connsiteX73" fmla="*/ 225605 w 376007"/>
              <a:gd name="connsiteY73" fmla="*/ 145370 h 393098"/>
              <a:gd name="connsiteX74" fmla="*/ 227313 w 376007"/>
              <a:gd name="connsiteY74" fmla="*/ 147080 h 393098"/>
              <a:gd name="connsiteX75" fmla="*/ 235859 w 376007"/>
              <a:gd name="connsiteY75" fmla="*/ 157334 h 393098"/>
              <a:gd name="connsiteX76" fmla="*/ 246114 w 376007"/>
              <a:gd name="connsiteY76" fmla="*/ 165880 h 393098"/>
              <a:gd name="connsiteX77" fmla="*/ 249532 w 376007"/>
              <a:gd name="connsiteY77" fmla="*/ 167589 h 393098"/>
              <a:gd name="connsiteX78" fmla="*/ 256369 w 376007"/>
              <a:gd name="connsiteY78" fmla="*/ 172717 h 393098"/>
              <a:gd name="connsiteX79" fmla="*/ 259787 w 376007"/>
              <a:gd name="connsiteY79" fmla="*/ 174426 h 393098"/>
              <a:gd name="connsiteX80" fmla="*/ 268333 w 376007"/>
              <a:gd name="connsiteY80" fmla="*/ 179553 h 393098"/>
              <a:gd name="connsiteX81" fmla="*/ 270042 w 376007"/>
              <a:gd name="connsiteY81" fmla="*/ 181262 h 393098"/>
              <a:gd name="connsiteX82" fmla="*/ 282006 w 376007"/>
              <a:gd name="connsiteY82" fmla="*/ 186389 h 393098"/>
              <a:gd name="connsiteX83" fmla="*/ 244405 w 376007"/>
              <a:gd name="connsiteY83" fmla="*/ 223990 h 393098"/>
              <a:gd name="connsiteX84" fmla="*/ 208513 w 376007"/>
              <a:gd name="connsiteY84" fmla="*/ 259882 h 393098"/>
              <a:gd name="connsiteX85" fmla="*/ 162367 w 376007"/>
              <a:gd name="connsiteY85" fmla="*/ 229117 h 393098"/>
              <a:gd name="connsiteX86" fmla="*/ 133312 w 376007"/>
              <a:gd name="connsiteY86" fmla="*/ 188099 h 393098"/>
              <a:gd name="connsiteX87" fmla="*/ 131603 w 376007"/>
              <a:gd name="connsiteY87" fmla="*/ 182971 h 393098"/>
              <a:gd name="connsiteX88" fmla="*/ 205095 w 376007"/>
              <a:gd name="connsiteY88" fmla="*/ 109479 h 393098"/>
              <a:gd name="connsiteX89" fmla="*/ 210222 w 376007"/>
              <a:gd name="connsiteY89" fmla="*/ 121443 h 393098"/>
              <a:gd name="connsiteX90" fmla="*/ 42728 w 376007"/>
              <a:gd name="connsiteY90" fmla="*/ 194935 h 393098"/>
              <a:gd name="connsiteX91" fmla="*/ 71783 w 376007"/>
              <a:gd name="connsiteY91" fmla="*/ 176135 h 393098"/>
              <a:gd name="connsiteX92" fmla="*/ 80329 w 376007"/>
              <a:gd name="connsiteY92" fmla="*/ 176135 h 393098"/>
              <a:gd name="connsiteX93" fmla="*/ 112802 w 376007"/>
              <a:gd name="connsiteY93" fmla="*/ 181262 h 393098"/>
              <a:gd name="connsiteX94" fmla="*/ 112802 w 376007"/>
              <a:gd name="connsiteY94" fmla="*/ 184680 h 393098"/>
              <a:gd name="connsiteX95" fmla="*/ 150403 w 376007"/>
              <a:gd name="connsiteY95" fmla="*/ 244500 h 393098"/>
              <a:gd name="connsiteX96" fmla="*/ 208513 w 376007"/>
              <a:gd name="connsiteY96" fmla="*/ 282100 h 393098"/>
              <a:gd name="connsiteX97" fmla="*/ 210222 w 376007"/>
              <a:gd name="connsiteY97" fmla="*/ 282100 h 393098"/>
              <a:gd name="connsiteX98" fmla="*/ 210222 w 376007"/>
              <a:gd name="connsiteY98" fmla="*/ 282100 h 393098"/>
              <a:gd name="connsiteX99" fmla="*/ 210222 w 376007"/>
              <a:gd name="connsiteY99" fmla="*/ 282100 h 393098"/>
              <a:gd name="connsiteX100" fmla="*/ 215350 w 376007"/>
              <a:gd name="connsiteY100" fmla="*/ 323119 h 393098"/>
              <a:gd name="connsiteX101" fmla="*/ 196549 w 376007"/>
              <a:gd name="connsiteY101" fmla="*/ 352175 h 393098"/>
              <a:gd name="connsiteX102" fmla="*/ 160658 w 376007"/>
              <a:gd name="connsiteY102" fmla="*/ 353884 h 393098"/>
              <a:gd name="connsiteX103" fmla="*/ 129894 w 376007"/>
              <a:gd name="connsiteY103" fmla="*/ 335083 h 393098"/>
              <a:gd name="connsiteX104" fmla="*/ 129894 w 376007"/>
              <a:gd name="connsiteY104" fmla="*/ 335083 h 393098"/>
              <a:gd name="connsiteX105" fmla="*/ 109384 w 376007"/>
              <a:gd name="connsiteY105" fmla="*/ 319701 h 393098"/>
              <a:gd name="connsiteX106" fmla="*/ 109384 w 376007"/>
              <a:gd name="connsiteY106" fmla="*/ 319701 h 393098"/>
              <a:gd name="connsiteX107" fmla="*/ 90583 w 376007"/>
              <a:gd name="connsiteY107" fmla="*/ 302610 h 393098"/>
              <a:gd name="connsiteX108" fmla="*/ 73492 w 376007"/>
              <a:gd name="connsiteY108" fmla="*/ 283810 h 393098"/>
              <a:gd name="connsiteX109" fmla="*/ 73492 w 376007"/>
              <a:gd name="connsiteY109" fmla="*/ 283810 h 393098"/>
              <a:gd name="connsiteX110" fmla="*/ 58110 w 376007"/>
              <a:gd name="connsiteY110" fmla="*/ 265009 h 393098"/>
              <a:gd name="connsiteX111" fmla="*/ 39310 w 376007"/>
              <a:gd name="connsiteY111" fmla="*/ 232536 h 393098"/>
              <a:gd name="connsiteX112" fmla="*/ 42728 w 376007"/>
              <a:gd name="connsiteY112" fmla="*/ 194935 h 393098"/>
              <a:gd name="connsiteX113" fmla="*/ 54692 w 376007"/>
              <a:gd name="connsiteY113" fmla="*/ 283810 h 393098"/>
              <a:gd name="connsiteX114" fmla="*/ 58110 w 376007"/>
              <a:gd name="connsiteY114" fmla="*/ 288937 h 393098"/>
              <a:gd name="connsiteX115" fmla="*/ 64947 w 376007"/>
              <a:gd name="connsiteY115" fmla="*/ 295773 h 393098"/>
              <a:gd name="connsiteX116" fmla="*/ 80329 w 376007"/>
              <a:gd name="connsiteY116" fmla="*/ 312865 h 393098"/>
              <a:gd name="connsiteX117" fmla="*/ 97420 w 376007"/>
              <a:gd name="connsiteY117" fmla="*/ 328247 h 393098"/>
              <a:gd name="connsiteX118" fmla="*/ 105966 w 376007"/>
              <a:gd name="connsiteY118" fmla="*/ 335083 h 393098"/>
              <a:gd name="connsiteX119" fmla="*/ 111093 w 376007"/>
              <a:gd name="connsiteY119" fmla="*/ 338502 h 393098"/>
              <a:gd name="connsiteX120" fmla="*/ 25637 w 376007"/>
              <a:gd name="connsiteY120" fmla="*/ 370975 h 393098"/>
              <a:gd name="connsiteX121" fmla="*/ 54692 w 376007"/>
              <a:gd name="connsiteY121" fmla="*/ 283810 h 393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76007" h="393098">
                <a:moveTo>
                  <a:pt x="1709" y="391484"/>
                </a:moveTo>
                <a:cubicBezTo>
                  <a:pt x="3418" y="393194"/>
                  <a:pt x="5127" y="393194"/>
                  <a:pt x="8546" y="393194"/>
                </a:cubicBezTo>
                <a:cubicBezTo>
                  <a:pt x="10255" y="393194"/>
                  <a:pt x="10255" y="393194"/>
                  <a:pt x="11964" y="393194"/>
                </a:cubicBezTo>
                <a:lnTo>
                  <a:pt x="126475" y="350465"/>
                </a:lnTo>
                <a:cubicBezTo>
                  <a:pt x="136730" y="357302"/>
                  <a:pt x="146985" y="364138"/>
                  <a:pt x="157240" y="367557"/>
                </a:cubicBezTo>
                <a:cubicBezTo>
                  <a:pt x="164076" y="370975"/>
                  <a:pt x="172622" y="372684"/>
                  <a:pt x="179458" y="372684"/>
                </a:cubicBezTo>
                <a:cubicBezTo>
                  <a:pt x="189713" y="372684"/>
                  <a:pt x="198259" y="370975"/>
                  <a:pt x="206804" y="365847"/>
                </a:cubicBezTo>
                <a:cubicBezTo>
                  <a:pt x="222186" y="357302"/>
                  <a:pt x="232441" y="341920"/>
                  <a:pt x="234150" y="323119"/>
                </a:cubicBezTo>
                <a:cubicBezTo>
                  <a:pt x="235859" y="306028"/>
                  <a:pt x="232441" y="288937"/>
                  <a:pt x="225605" y="270137"/>
                </a:cubicBezTo>
                <a:lnTo>
                  <a:pt x="299097" y="196644"/>
                </a:lnTo>
                <a:cubicBezTo>
                  <a:pt x="302515" y="196644"/>
                  <a:pt x="305933" y="198353"/>
                  <a:pt x="309352" y="198353"/>
                </a:cubicBezTo>
                <a:cubicBezTo>
                  <a:pt x="312770" y="198353"/>
                  <a:pt x="317897" y="198353"/>
                  <a:pt x="321315" y="198353"/>
                </a:cubicBezTo>
                <a:cubicBezTo>
                  <a:pt x="345244" y="198353"/>
                  <a:pt x="367462" y="189808"/>
                  <a:pt x="384553" y="171007"/>
                </a:cubicBezTo>
                <a:cubicBezTo>
                  <a:pt x="384553" y="171007"/>
                  <a:pt x="384553" y="169298"/>
                  <a:pt x="386262" y="169298"/>
                </a:cubicBezTo>
                <a:cubicBezTo>
                  <a:pt x="386262" y="169298"/>
                  <a:pt x="387972" y="169298"/>
                  <a:pt x="387972" y="167589"/>
                </a:cubicBezTo>
                <a:cubicBezTo>
                  <a:pt x="387972" y="167589"/>
                  <a:pt x="387972" y="167589"/>
                  <a:pt x="387972" y="167589"/>
                </a:cubicBezTo>
                <a:cubicBezTo>
                  <a:pt x="408481" y="147080"/>
                  <a:pt x="362335" y="90679"/>
                  <a:pt x="333279" y="59914"/>
                </a:cubicBezTo>
                <a:cubicBezTo>
                  <a:pt x="304224" y="29150"/>
                  <a:pt x="246114" y="-15287"/>
                  <a:pt x="225605" y="5222"/>
                </a:cubicBezTo>
                <a:cubicBezTo>
                  <a:pt x="201677" y="29150"/>
                  <a:pt x="193131" y="59914"/>
                  <a:pt x="199968" y="92388"/>
                </a:cubicBezTo>
                <a:lnTo>
                  <a:pt x="124766" y="167589"/>
                </a:lnTo>
                <a:cubicBezTo>
                  <a:pt x="105966" y="160753"/>
                  <a:pt x="87165" y="157334"/>
                  <a:pt x="70074" y="159044"/>
                </a:cubicBezTo>
                <a:cubicBezTo>
                  <a:pt x="51274" y="160753"/>
                  <a:pt x="35892" y="171007"/>
                  <a:pt x="27346" y="186389"/>
                </a:cubicBezTo>
                <a:cubicBezTo>
                  <a:pt x="18800" y="201772"/>
                  <a:pt x="17091" y="220572"/>
                  <a:pt x="25637" y="237663"/>
                </a:cubicBezTo>
                <a:cubicBezTo>
                  <a:pt x="30764" y="247918"/>
                  <a:pt x="35892" y="258173"/>
                  <a:pt x="42728" y="268427"/>
                </a:cubicBezTo>
                <a:lnTo>
                  <a:pt x="0" y="382939"/>
                </a:lnTo>
                <a:cubicBezTo>
                  <a:pt x="0" y="384648"/>
                  <a:pt x="0" y="388066"/>
                  <a:pt x="1709" y="391484"/>
                </a:cubicBezTo>
                <a:close/>
                <a:moveTo>
                  <a:pt x="321315" y="71878"/>
                </a:moveTo>
                <a:cubicBezTo>
                  <a:pt x="365753" y="116315"/>
                  <a:pt x="379426" y="148789"/>
                  <a:pt x="376008" y="153916"/>
                </a:cubicBezTo>
                <a:cubicBezTo>
                  <a:pt x="372589" y="155625"/>
                  <a:pt x="367462" y="153916"/>
                  <a:pt x="358916" y="148789"/>
                </a:cubicBezTo>
                <a:cubicBezTo>
                  <a:pt x="358916" y="148789"/>
                  <a:pt x="358916" y="148789"/>
                  <a:pt x="357207" y="148789"/>
                </a:cubicBezTo>
                <a:cubicBezTo>
                  <a:pt x="353789" y="147080"/>
                  <a:pt x="352080" y="145370"/>
                  <a:pt x="348661" y="143661"/>
                </a:cubicBezTo>
                <a:cubicBezTo>
                  <a:pt x="346952" y="143661"/>
                  <a:pt x="346952" y="141952"/>
                  <a:pt x="345244" y="141952"/>
                </a:cubicBezTo>
                <a:cubicBezTo>
                  <a:pt x="341825" y="140243"/>
                  <a:pt x="340116" y="138534"/>
                  <a:pt x="336698" y="136825"/>
                </a:cubicBezTo>
                <a:cubicBezTo>
                  <a:pt x="334989" y="135116"/>
                  <a:pt x="333279" y="135116"/>
                  <a:pt x="331570" y="133407"/>
                </a:cubicBezTo>
                <a:cubicBezTo>
                  <a:pt x="328152" y="131697"/>
                  <a:pt x="326443" y="129988"/>
                  <a:pt x="323025" y="126570"/>
                </a:cubicBezTo>
                <a:cubicBezTo>
                  <a:pt x="321315" y="124861"/>
                  <a:pt x="317897" y="121443"/>
                  <a:pt x="314479" y="119734"/>
                </a:cubicBezTo>
                <a:cubicBezTo>
                  <a:pt x="312770" y="118024"/>
                  <a:pt x="309352" y="116315"/>
                  <a:pt x="307643" y="114606"/>
                </a:cubicBezTo>
                <a:cubicBezTo>
                  <a:pt x="302515" y="109479"/>
                  <a:pt x="297388" y="104352"/>
                  <a:pt x="292261" y="99224"/>
                </a:cubicBezTo>
                <a:cubicBezTo>
                  <a:pt x="287133" y="94097"/>
                  <a:pt x="282006" y="87260"/>
                  <a:pt x="276879" y="82133"/>
                </a:cubicBezTo>
                <a:cubicBezTo>
                  <a:pt x="244405" y="46241"/>
                  <a:pt x="235859" y="20604"/>
                  <a:pt x="237568" y="15477"/>
                </a:cubicBezTo>
                <a:cubicBezTo>
                  <a:pt x="237568" y="15477"/>
                  <a:pt x="239278" y="15477"/>
                  <a:pt x="239278" y="15477"/>
                </a:cubicBezTo>
                <a:cubicBezTo>
                  <a:pt x="249532" y="17186"/>
                  <a:pt x="278587" y="30859"/>
                  <a:pt x="321315" y="71878"/>
                </a:cubicBezTo>
                <a:close/>
                <a:moveTo>
                  <a:pt x="223896" y="35987"/>
                </a:moveTo>
                <a:cubicBezTo>
                  <a:pt x="223896" y="35987"/>
                  <a:pt x="223896" y="35987"/>
                  <a:pt x="223896" y="35987"/>
                </a:cubicBezTo>
                <a:cubicBezTo>
                  <a:pt x="223896" y="37696"/>
                  <a:pt x="225605" y="39405"/>
                  <a:pt x="225605" y="41114"/>
                </a:cubicBezTo>
                <a:cubicBezTo>
                  <a:pt x="225605" y="42823"/>
                  <a:pt x="227313" y="42823"/>
                  <a:pt x="227313" y="44532"/>
                </a:cubicBezTo>
                <a:cubicBezTo>
                  <a:pt x="229023" y="47950"/>
                  <a:pt x="230732" y="49659"/>
                  <a:pt x="232441" y="53078"/>
                </a:cubicBezTo>
                <a:cubicBezTo>
                  <a:pt x="242696" y="71878"/>
                  <a:pt x="259787" y="92388"/>
                  <a:pt x="280296" y="114606"/>
                </a:cubicBezTo>
                <a:cubicBezTo>
                  <a:pt x="287133" y="121443"/>
                  <a:pt x="293970" y="128279"/>
                  <a:pt x="302515" y="135116"/>
                </a:cubicBezTo>
                <a:cubicBezTo>
                  <a:pt x="302515" y="135116"/>
                  <a:pt x="302515" y="135116"/>
                  <a:pt x="302515" y="135116"/>
                </a:cubicBezTo>
                <a:cubicBezTo>
                  <a:pt x="305933" y="138534"/>
                  <a:pt x="309352" y="141952"/>
                  <a:pt x="312770" y="143661"/>
                </a:cubicBezTo>
                <a:cubicBezTo>
                  <a:pt x="314479" y="145370"/>
                  <a:pt x="314479" y="145370"/>
                  <a:pt x="316188" y="147080"/>
                </a:cubicBezTo>
                <a:cubicBezTo>
                  <a:pt x="317897" y="148789"/>
                  <a:pt x="321315" y="150498"/>
                  <a:pt x="323025" y="152207"/>
                </a:cubicBezTo>
                <a:cubicBezTo>
                  <a:pt x="324734" y="153916"/>
                  <a:pt x="326443" y="155625"/>
                  <a:pt x="328152" y="155625"/>
                </a:cubicBezTo>
                <a:cubicBezTo>
                  <a:pt x="329861" y="157334"/>
                  <a:pt x="329861" y="157334"/>
                  <a:pt x="331570" y="157334"/>
                </a:cubicBezTo>
                <a:cubicBezTo>
                  <a:pt x="340116" y="162462"/>
                  <a:pt x="348661" y="167589"/>
                  <a:pt x="355498" y="171007"/>
                </a:cubicBezTo>
                <a:cubicBezTo>
                  <a:pt x="355498" y="171007"/>
                  <a:pt x="355498" y="171007"/>
                  <a:pt x="357207" y="171007"/>
                </a:cubicBezTo>
                <a:cubicBezTo>
                  <a:pt x="343534" y="179553"/>
                  <a:pt x="326443" y="182971"/>
                  <a:pt x="311061" y="181262"/>
                </a:cubicBezTo>
                <a:cubicBezTo>
                  <a:pt x="305933" y="181262"/>
                  <a:pt x="302515" y="179553"/>
                  <a:pt x="297388" y="177844"/>
                </a:cubicBezTo>
                <a:cubicBezTo>
                  <a:pt x="295678" y="177844"/>
                  <a:pt x="292261" y="176135"/>
                  <a:pt x="290551" y="174426"/>
                </a:cubicBezTo>
                <a:cubicBezTo>
                  <a:pt x="287133" y="172717"/>
                  <a:pt x="285424" y="172717"/>
                  <a:pt x="282006" y="171007"/>
                </a:cubicBezTo>
                <a:cubicBezTo>
                  <a:pt x="280296" y="169298"/>
                  <a:pt x="276879" y="169298"/>
                  <a:pt x="275169" y="167589"/>
                </a:cubicBezTo>
                <a:cubicBezTo>
                  <a:pt x="271751" y="165880"/>
                  <a:pt x="268333" y="164171"/>
                  <a:pt x="264914" y="160753"/>
                </a:cubicBezTo>
                <a:cubicBezTo>
                  <a:pt x="263205" y="159044"/>
                  <a:pt x="261496" y="159044"/>
                  <a:pt x="259787" y="157334"/>
                </a:cubicBezTo>
                <a:cubicBezTo>
                  <a:pt x="254660" y="153916"/>
                  <a:pt x="249532" y="150498"/>
                  <a:pt x="246114" y="145370"/>
                </a:cubicBezTo>
                <a:cubicBezTo>
                  <a:pt x="242696" y="141952"/>
                  <a:pt x="239278" y="136825"/>
                  <a:pt x="235859" y="133407"/>
                </a:cubicBezTo>
                <a:cubicBezTo>
                  <a:pt x="225605" y="121443"/>
                  <a:pt x="218768" y="107770"/>
                  <a:pt x="215350" y="92388"/>
                </a:cubicBezTo>
                <a:cubicBezTo>
                  <a:pt x="215350" y="92388"/>
                  <a:pt x="215350" y="92388"/>
                  <a:pt x="215350" y="92388"/>
                </a:cubicBezTo>
                <a:cubicBezTo>
                  <a:pt x="211931" y="71878"/>
                  <a:pt x="213641" y="53078"/>
                  <a:pt x="223896" y="35987"/>
                </a:cubicBezTo>
                <a:close/>
                <a:moveTo>
                  <a:pt x="210222" y="121443"/>
                </a:moveTo>
                <a:cubicBezTo>
                  <a:pt x="210222" y="121443"/>
                  <a:pt x="210222" y="123152"/>
                  <a:pt x="211931" y="123152"/>
                </a:cubicBezTo>
                <a:cubicBezTo>
                  <a:pt x="213641" y="126570"/>
                  <a:pt x="215350" y="129988"/>
                  <a:pt x="217059" y="133407"/>
                </a:cubicBezTo>
                <a:cubicBezTo>
                  <a:pt x="217059" y="135116"/>
                  <a:pt x="218768" y="135116"/>
                  <a:pt x="218768" y="136825"/>
                </a:cubicBezTo>
                <a:cubicBezTo>
                  <a:pt x="220477" y="140243"/>
                  <a:pt x="222186" y="141952"/>
                  <a:pt x="225605" y="145370"/>
                </a:cubicBezTo>
                <a:cubicBezTo>
                  <a:pt x="225605" y="145370"/>
                  <a:pt x="227313" y="147080"/>
                  <a:pt x="227313" y="147080"/>
                </a:cubicBezTo>
                <a:cubicBezTo>
                  <a:pt x="230732" y="150498"/>
                  <a:pt x="232441" y="153916"/>
                  <a:pt x="235859" y="157334"/>
                </a:cubicBezTo>
                <a:cubicBezTo>
                  <a:pt x="239278" y="160753"/>
                  <a:pt x="242696" y="164171"/>
                  <a:pt x="246114" y="165880"/>
                </a:cubicBezTo>
                <a:cubicBezTo>
                  <a:pt x="247823" y="165880"/>
                  <a:pt x="247823" y="167589"/>
                  <a:pt x="249532" y="167589"/>
                </a:cubicBezTo>
                <a:cubicBezTo>
                  <a:pt x="251242" y="169298"/>
                  <a:pt x="254660" y="171007"/>
                  <a:pt x="256369" y="172717"/>
                </a:cubicBezTo>
                <a:cubicBezTo>
                  <a:pt x="258078" y="172717"/>
                  <a:pt x="258078" y="174426"/>
                  <a:pt x="259787" y="174426"/>
                </a:cubicBezTo>
                <a:cubicBezTo>
                  <a:pt x="263205" y="176135"/>
                  <a:pt x="266624" y="177844"/>
                  <a:pt x="268333" y="179553"/>
                </a:cubicBezTo>
                <a:cubicBezTo>
                  <a:pt x="268333" y="179553"/>
                  <a:pt x="270042" y="179553"/>
                  <a:pt x="270042" y="181262"/>
                </a:cubicBezTo>
                <a:cubicBezTo>
                  <a:pt x="273460" y="182971"/>
                  <a:pt x="278587" y="184680"/>
                  <a:pt x="282006" y="186389"/>
                </a:cubicBezTo>
                <a:lnTo>
                  <a:pt x="244405" y="223990"/>
                </a:lnTo>
                <a:lnTo>
                  <a:pt x="208513" y="259882"/>
                </a:lnTo>
                <a:cubicBezTo>
                  <a:pt x="193131" y="254754"/>
                  <a:pt x="177749" y="244500"/>
                  <a:pt x="162367" y="229117"/>
                </a:cubicBezTo>
                <a:cubicBezTo>
                  <a:pt x="146985" y="213735"/>
                  <a:pt x="138439" y="200062"/>
                  <a:pt x="133312" y="188099"/>
                </a:cubicBezTo>
                <a:cubicBezTo>
                  <a:pt x="133312" y="186389"/>
                  <a:pt x="131603" y="184680"/>
                  <a:pt x="131603" y="182971"/>
                </a:cubicBezTo>
                <a:lnTo>
                  <a:pt x="205095" y="109479"/>
                </a:lnTo>
                <a:cubicBezTo>
                  <a:pt x="206804" y="114606"/>
                  <a:pt x="208513" y="118024"/>
                  <a:pt x="210222" y="121443"/>
                </a:cubicBezTo>
                <a:close/>
                <a:moveTo>
                  <a:pt x="42728" y="194935"/>
                </a:moveTo>
                <a:cubicBezTo>
                  <a:pt x="49565" y="184680"/>
                  <a:pt x="59819" y="177844"/>
                  <a:pt x="71783" y="176135"/>
                </a:cubicBezTo>
                <a:cubicBezTo>
                  <a:pt x="75201" y="176135"/>
                  <a:pt x="76911" y="176135"/>
                  <a:pt x="80329" y="176135"/>
                </a:cubicBezTo>
                <a:cubicBezTo>
                  <a:pt x="90583" y="176135"/>
                  <a:pt x="100838" y="177844"/>
                  <a:pt x="112802" y="181262"/>
                </a:cubicBezTo>
                <a:cubicBezTo>
                  <a:pt x="112802" y="182971"/>
                  <a:pt x="112802" y="182971"/>
                  <a:pt x="112802" y="184680"/>
                </a:cubicBezTo>
                <a:cubicBezTo>
                  <a:pt x="117930" y="203481"/>
                  <a:pt x="129894" y="222281"/>
                  <a:pt x="150403" y="244500"/>
                </a:cubicBezTo>
                <a:cubicBezTo>
                  <a:pt x="169203" y="263300"/>
                  <a:pt x="189713" y="276973"/>
                  <a:pt x="208513" y="282100"/>
                </a:cubicBezTo>
                <a:cubicBezTo>
                  <a:pt x="208513" y="282100"/>
                  <a:pt x="210222" y="282100"/>
                  <a:pt x="210222" y="282100"/>
                </a:cubicBezTo>
                <a:cubicBezTo>
                  <a:pt x="210222" y="282100"/>
                  <a:pt x="210222" y="282100"/>
                  <a:pt x="210222" y="282100"/>
                </a:cubicBezTo>
                <a:cubicBezTo>
                  <a:pt x="210222" y="282100"/>
                  <a:pt x="210222" y="282100"/>
                  <a:pt x="210222" y="282100"/>
                </a:cubicBezTo>
                <a:cubicBezTo>
                  <a:pt x="215350" y="295773"/>
                  <a:pt x="217059" y="309447"/>
                  <a:pt x="215350" y="323119"/>
                </a:cubicBezTo>
                <a:cubicBezTo>
                  <a:pt x="213641" y="335083"/>
                  <a:pt x="206804" y="347047"/>
                  <a:pt x="196549" y="352175"/>
                </a:cubicBezTo>
                <a:cubicBezTo>
                  <a:pt x="186295" y="359011"/>
                  <a:pt x="172622" y="359011"/>
                  <a:pt x="160658" y="353884"/>
                </a:cubicBezTo>
                <a:cubicBezTo>
                  <a:pt x="150403" y="348756"/>
                  <a:pt x="140148" y="343629"/>
                  <a:pt x="129894" y="335083"/>
                </a:cubicBezTo>
                <a:cubicBezTo>
                  <a:pt x="129894" y="335083"/>
                  <a:pt x="129894" y="335083"/>
                  <a:pt x="129894" y="335083"/>
                </a:cubicBezTo>
                <a:cubicBezTo>
                  <a:pt x="123057" y="329956"/>
                  <a:pt x="116220" y="324829"/>
                  <a:pt x="109384" y="319701"/>
                </a:cubicBezTo>
                <a:cubicBezTo>
                  <a:pt x="109384" y="319701"/>
                  <a:pt x="109384" y="319701"/>
                  <a:pt x="109384" y="319701"/>
                </a:cubicBezTo>
                <a:cubicBezTo>
                  <a:pt x="102548" y="314574"/>
                  <a:pt x="95711" y="307737"/>
                  <a:pt x="90583" y="302610"/>
                </a:cubicBezTo>
                <a:cubicBezTo>
                  <a:pt x="83747" y="295773"/>
                  <a:pt x="78620" y="290646"/>
                  <a:pt x="73492" y="283810"/>
                </a:cubicBezTo>
                <a:cubicBezTo>
                  <a:pt x="73492" y="283810"/>
                  <a:pt x="73492" y="283810"/>
                  <a:pt x="73492" y="283810"/>
                </a:cubicBezTo>
                <a:cubicBezTo>
                  <a:pt x="68365" y="276973"/>
                  <a:pt x="63238" y="270137"/>
                  <a:pt x="58110" y="265009"/>
                </a:cubicBezTo>
                <a:cubicBezTo>
                  <a:pt x="49565" y="254754"/>
                  <a:pt x="44437" y="242791"/>
                  <a:pt x="39310" y="232536"/>
                </a:cubicBezTo>
                <a:cubicBezTo>
                  <a:pt x="35892" y="217154"/>
                  <a:pt x="35892" y="205190"/>
                  <a:pt x="42728" y="194935"/>
                </a:cubicBezTo>
                <a:close/>
                <a:moveTo>
                  <a:pt x="54692" y="283810"/>
                </a:moveTo>
                <a:cubicBezTo>
                  <a:pt x="56401" y="285519"/>
                  <a:pt x="58110" y="287228"/>
                  <a:pt x="58110" y="288937"/>
                </a:cubicBezTo>
                <a:cubicBezTo>
                  <a:pt x="59819" y="290646"/>
                  <a:pt x="61529" y="294064"/>
                  <a:pt x="64947" y="295773"/>
                </a:cubicBezTo>
                <a:cubicBezTo>
                  <a:pt x="70074" y="300901"/>
                  <a:pt x="75201" y="306028"/>
                  <a:pt x="80329" y="312865"/>
                </a:cubicBezTo>
                <a:cubicBezTo>
                  <a:pt x="85456" y="317992"/>
                  <a:pt x="90583" y="323119"/>
                  <a:pt x="97420" y="328247"/>
                </a:cubicBezTo>
                <a:cubicBezTo>
                  <a:pt x="100838" y="329956"/>
                  <a:pt x="102548" y="333374"/>
                  <a:pt x="105966" y="335083"/>
                </a:cubicBezTo>
                <a:cubicBezTo>
                  <a:pt x="107675" y="336792"/>
                  <a:pt x="109384" y="338502"/>
                  <a:pt x="111093" y="338502"/>
                </a:cubicBezTo>
                <a:lnTo>
                  <a:pt x="25637" y="370975"/>
                </a:lnTo>
                <a:lnTo>
                  <a:pt x="54692" y="283810"/>
                </a:lnTo>
                <a:close/>
              </a:path>
            </a:pathLst>
          </a:custGeom>
          <a:solidFill>
            <a:schemeClr val="accent1"/>
          </a:solidFill>
          <a:ln w="17082" cap="flat">
            <a:noFill/>
            <a:prstDash val="solid"/>
            <a:miter/>
          </a:ln>
        </p:spPr>
        <p:txBody>
          <a:bodyPr rtlCol="0" anchor="ctr"/>
          <a:lstStyle/>
          <a:p>
            <a:endParaRPr lang="en-ID">
              <a:cs typeface="+mn-ea"/>
              <a:sym typeface="+mn-lt"/>
            </a:endParaRPr>
          </a:p>
        </p:txBody>
      </p:sp>
      <p:cxnSp>
        <p:nvCxnSpPr>
          <p:cNvPr id="9" name="Straight Connector 24"/>
          <p:cNvCxnSpPr/>
          <p:nvPr>
            <p:custDataLst>
              <p:tags r:id="rId4"/>
            </p:custDataLst>
          </p:nvPr>
        </p:nvCxnSpPr>
        <p:spPr>
          <a:xfrm>
            <a:off x="4790229" y="2155530"/>
            <a:ext cx="0" cy="161125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 Box 10"/>
          <p:cNvSpPr txBox="1">
            <a:spLocks noChangeArrowheads="1"/>
          </p:cNvSpPr>
          <p:nvPr>
            <p:custDataLst>
              <p:tags r:id="rId5"/>
            </p:custDataLst>
          </p:nvPr>
        </p:nvSpPr>
        <p:spPr bwMode="auto">
          <a:xfrm>
            <a:off x="5147438" y="2632054"/>
            <a:ext cx="2089698" cy="144589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solidFill>
                  <a:srgbClr val="000000"/>
                </a:solidFill>
                <a:effectLst/>
                <a:uLnTx/>
                <a:uFillTx/>
                <a:cs typeface="+mn-ea"/>
                <a:sym typeface="+mn-lt"/>
              </a:rPr>
              <a:t>PhD student at Chalmers University of Technology,</a:t>
            </a:r>
            <a:endParaRPr kumimoji="0" lang="zh-CN" altLang="en-US" sz="1200" b="0" i="0" u="none" strike="noStrike" kern="1200" cap="none" spc="0" normalizeH="0" baseline="0" noProof="0" dirty="0">
              <a:ln>
                <a:noFill/>
              </a:ln>
              <a:solidFill>
                <a:srgbClr val="000000"/>
              </a:solidFill>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en-US" altLang="zh-CN" sz="1200" b="0" i="0" u="none" strike="noStrike" kern="1200" cap="none" spc="0" normalizeH="0" baseline="0" noProof="0" dirty="0">
                <a:ln>
                  <a:noFill/>
                </a:ln>
                <a:solidFill>
                  <a:srgbClr val="000000"/>
                </a:solidFill>
                <a:effectLst/>
                <a:uLnTx/>
                <a:uFillTx/>
                <a:cs typeface="+mn-ea"/>
                <a:sym typeface="+mn-lt"/>
              </a:rPr>
              <a:t>Major:Chatbots, Large Language models, Software Engineering</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11" name="矩形 10"/>
          <p:cNvSpPr/>
          <p:nvPr>
            <p:custDataLst>
              <p:tags r:id="rId6"/>
            </p:custDataLst>
          </p:nvPr>
        </p:nvSpPr>
        <p:spPr>
          <a:xfrm>
            <a:off x="5591175" y="2155825"/>
            <a:ext cx="162115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0" lang="zh-CN" altLang="en-US" b="1" i="0" u="none" strike="noStrike" kern="1200" cap="none" spc="0" normalizeH="0" baseline="0" noProof="0" dirty="0">
                <a:ln>
                  <a:noFill/>
                </a:ln>
                <a:solidFill>
                  <a:srgbClr val="000000"/>
                </a:solidFill>
                <a:effectLst/>
                <a:uLnTx/>
                <a:uFillTx/>
                <a:cs typeface="+mn-ea"/>
                <a:sym typeface="+mn-lt"/>
              </a:rPr>
              <a:t>Ranim Khojah</a:t>
            </a:r>
            <a:endParaRPr kumimoji="0" lang="zh-CN" altLang="en-US" b="1" i="0" u="none" strike="noStrike" kern="1200" cap="none" spc="0" normalizeH="0" baseline="0" noProof="0" dirty="0">
              <a:ln>
                <a:noFill/>
              </a:ln>
              <a:solidFill>
                <a:srgbClr val="000000"/>
              </a:solidFill>
              <a:effectLst/>
              <a:uLnTx/>
              <a:uFillTx/>
              <a:cs typeface="+mn-ea"/>
              <a:sym typeface="+mn-lt"/>
            </a:endParaRPr>
          </a:p>
        </p:txBody>
      </p:sp>
      <p:sp>
        <p:nvSpPr>
          <p:cNvPr id="12" name="Text Box 10"/>
          <p:cNvSpPr txBox="1">
            <a:spLocks noChangeArrowheads="1"/>
          </p:cNvSpPr>
          <p:nvPr>
            <p:custDataLst>
              <p:tags r:id="rId7"/>
            </p:custDataLst>
          </p:nvPr>
        </p:nvSpPr>
        <p:spPr bwMode="auto">
          <a:xfrm>
            <a:off x="7283450" y="2745105"/>
            <a:ext cx="2089785" cy="1602105"/>
          </a:xfrm>
          <a:prstGeom prst="rect">
            <a:avLst/>
          </a:prstGeom>
          <a:noFill/>
          <a:ln w="9525">
            <a:noFill/>
            <a:miter lim="800000"/>
          </a:ln>
        </p:spPr>
        <p:txBody>
          <a:bodyPr wrap="square" lIns="60960" tIns="30480" rIns="60960" bIns="3048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solidFill>
                  <a:srgbClr val="000000"/>
                </a:solidFill>
                <a:effectLst/>
                <a:uLnTx/>
                <a:uFillTx/>
                <a:cs typeface="+mn-ea"/>
                <a:sym typeface="+mn-lt"/>
              </a:rPr>
              <a:t>Researcher at Research Institutes of Sweden (RISE)</a:t>
            </a:r>
            <a:endParaRPr kumimoji="0" lang="zh-CN" altLang="en-US" sz="1200" b="0" i="0" u="none" strike="noStrike" kern="1200" cap="none" spc="0" normalizeH="0" baseline="0" noProof="0" dirty="0">
              <a:ln>
                <a:noFill/>
              </a:ln>
              <a:solidFill>
                <a:srgbClr val="000000"/>
              </a:solidFill>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en-US" altLang="zh-CN" sz="1200" b="0" i="0" u="none" strike="noStrike" kern="1200" cap="none" spc="0" normalizeH="0" baseline="0" noProof="0" dirty="0">
                <a:ln>
                  <a:noFill/>
                </a:ln>
                <a:solidFill>
                  <a:srgbClr val="000000"/>
                </a:solidFill>
                <a:effectLst/>
                <a:uLnTx/>
                <a:uFillTx/>
                <a:cs typeface="+mn-ea"/>
                <a:sym typeface="+mn-lt"/>
              </a:rPr>
              <a:t>Major: Security assurance, Software architecture,</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en-US" altLang="zh-CN" sz="1200" b="0" i="0" u="none" strike="noStrike" kern="1200" cap="none" spc="0" normalizeH="0" baseline="0" noProof="0" dirty="0">
                <a:ln>
                  <a:noFill/>
                </a:ln>
                <a:solidFill>
                  <a:srgbClr val="000000"/>
                </a:solidFill>
                <a:effectLst/>
                <a:uLnTx/>
                <a:uFillTx/>
                <a:cs typeface="+mn-ea"/>
                <a:sym typeface="+mn-lt"/>
              </a:rPr>
              <a:t>Autonomous systems</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3" name="矩形 12"/>
          <p:cNvSpPr/>
          <p:nvPr>
            <p:custDataLst>
              <p:tags r:id="rId8"/>
            </p:custDataLst>
          </p:nvPr>
        </p:nvSpPr>
        <p:spPr>
          <a:xfrm>
            <a:off x="7727315" y="2155825"/>
            <a:ext cx="1845310" cy="589280"/>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0" lang="zh-CN" altLang="en-US" b="1" i="0" u="none" strike="noStrike" kern="1200" cap="none" spc="0" normalizeH="0" baseline="0" noProof="0" dirty="0">
                <a:ln>
                  <a:noFill/>
                </a:ln>
                <a:solidFill>
                  <a:srgbClr val="000000"/>
                </a:solidFill>
                <a:effectLst/>
                <a:uLnTx/>
                <a:uFillTx/>
                <a:cs typeface="+mn-ea"/>
                <a:sym typeface="+mn-lt"/>
              </a:rPr>
              <a:t>Mazen Mohamad</a:t>
            </a:r>
            <a:endParaRPr kumimoji="0" lang="zh-CN" altLang="en-US" b="1" i="0" u="none" strike="noStrike" kern="1200" cap="none" spc="0" normalizeH="0" baseline="0" noProof="0" dirty="0">
              <a:ln>
                <a:noFill/>
              </a:ln>
              <a:solidFill>
                <a:srgbClr val="000000"/>
              </a:solidFill>
              <a:effectLst/>
              <a:uLnTx/>
              <a:uFillTx/>
              <a:cs typeface="+mn-ea"/>
              <a:sym typeface="+mn-lt"/>
            </a:endParaRPr>
          </a:p>
        </p:txBody>
      </p:sp>
      <p:sp>
        <p:nvSpPr>
          <p:cNvPr id="14" name="Text Box 10"/>
          <p:cNvSpPr txBox="1">
            <a:spLocks noChangeArrowheads="1"/>
          </p:cNvSpPr>
          <p:nvPr>
            <p:custDataLst>
              <p:tags r:id="rId9"/>
            </p:custDataLst>
          </p:nvPr>
        </p:nvSpPr>
        <p:spPr bwMode="auto">
          <a:xfrm>
            <a:off x="9444377" y="2632054"/>
            <a:ext cx="2089698" cy="227647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solidFill>
                  <a:srgbClr val="000000"/>
                </a:solidFill>
                <a:effectLst/>
                <a:uLnTx/>
                <a:uFillTx/>
                <a:cs typeface="+mn-ea"/>
                <a:sym typeface="+mn-lt"/>
              </a:rPr>
              <a:t>Associate Professor at Chalmers University of Technology and the University of Gothenburg</a:t>
            </a:r>
            <a:endParaRPr kumimoji="0" lang="zh-CN" altLang="en-US" sz="1200" b="0" i="0" u="none" strike="noStrike" kern="1200" cap="none" spc="0" normalizeH="0" baseline="0" noProof="0" dirty="0">
              <a:ln>
                <a:noFill/>
              </a:ln>
              <a:solidFill>
                <a:srgbClr val="000000"/>
              </a:solidFill>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en-US" altLang="zh-CN" sz="1200" b="0" i="0" u="none" strike="noStrike" kern="1200" cap="none" spc="0" normalizeH="0" baseline="0" noProof="0" dirty="0">
                <a:ln>
                  <a:noFill/>
                </a:ln>
                <a:solidFill>
                  <a:srgbClr val="000000"/>
                </a:solidFill>
                <a:effectLst/>
                <a:uLnTx/>
                <a:uFillTx/>
                <a:cs typeface="+mn-ea"/>
                <a:sym typeface="+mn-lt"/>
              </a:rPr>
              <a:t>Major:Cloud Computing, Software Engineering, Mining Software Repositories, Software Performance</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15" name="矩形 14"/>
          <p:cNvSpPr/>
          <p:nvPr>
            <p:custDataLst>
              <p:tags r:id="rId10"/>
            </p:custDataLst>
          </p:nvPr>
        </p:nvSpPr>
        <p:spPr>
          <a:xfrm>
            <a:off x="9888220" y="2155825"/>
            <a:ext cx="164655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0" lang="zh-CN" altLang="en-US" b="1" i="0" u="none" strike="noStrike" kern="1200" cap="none" spc="0" normalizeH="0" baseline="0" noProof="0" dirty="0">
                <a:ln>
                  <a:noFill/>
                </a:ln>
                <a:solidFill>
                  <a:srgbClr val="000000"/>
                </a:solidFill>
                <a:effectLst/>
                <a:uLnTx/>
                <a:uFillTx/>
                <a:cs typeface="+mn-ea"/>
                <a:sym typeface="+mn-lt"/>
              </a:rPr>
              <a:t>Philipp Leitner</a:t>
            </a:r>
            <a:endParaRPr kumimoji="0" lang="zh-CN" altLang="en-US" b="1" i="0" u="none" strike="noStrike" kern="1200" cap="none" spc="0" normalizeH="0" baseline="0" noProof="0" dirty="0">
              <a:ln>
                <a:noFill/>
              </a:ln>
              <a:solidFill>
                <a:srgbClr val="000000"/>
              </a:solidFill>
              <a:effectLst/>
              <a:uLnTx/>
              <a:uFillTx/>
              <a:cs typeface="+mn-ea"/>
              <a:sym typeface="+mn-lt"/>
            </a:endParaRPr>
          </a:p>
        </p:txBody>
      </p:sp>
      <p:sp>
        <p:nvSpPr>
          <p:cNvPr id="16" name="矩形 15"/>
          <p:cNvSpPr/>
          <p:nvPr>
            <p:custDataLst>
              <p:tags r:id="rId11"/>
            </p:custDataLst>
          </p:nvPr>
        </p:nvSpPr>
        <p:spPr>
          <a:xfrm>
            <a:off x="791738" y="2155529"/>
            <a:ext cx="3646133" cy="16112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7" name="Text Box 10"/>
          <p:cNvSpPr txBox="1">
            <a:spLocks noChangeArrowheads="1"/>
          </p:cNvSpPr>
          <p:nvPr>
            <p:custDataLst>
              <p:tags r:id="rId12"/>
            </p:custDataLst>
          </p:nvPr>
        </p:nvSpPr>
        <p:spPr bwMode="auto">
          <a:xfrm>
            <a:off x="1100683" y="2598604"/>
            <a:ext cx="3090580"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effectLst/>
                <a:uLnTx/>
                <a:uFillTx/>
                <a:cs typeface="+mn-ea"/>
                <a:sym typeface="+mn-lt"/>
              </a:rPr>
              <a:t>Chalmers University of Technology</a:t>
            </a:r>
            <a:r>
              <a:rPr kumimoji="0" lang="en-US" altLang="zh-CN" sz="1200" b="0" i="0" u="none" strike="noStrike" kern="1200" cap="none" spc="0" normalizeH="0" baseline="0" noProof="0" dirty="0">
                <a:ln>
                  <a:noFill/>
                </a:ln>
                <a:effectLst/>
                <a:uLnTx/>
                <a:uFillTx/>
                <a:cs typeface="+mn-ea"/>
                <a:sym typeface="+mn-lt"/>
              </a:rPr>
              <a:t>——University of Gothenburg</a:t>
            </a:r>
            <a:endParaRPr kumimoji="0" lang="en-US" altLang="zh-CN" sz="1200" b="0" i="0" u="none" strike="noStrike" kern="1200" cap="none" spc="0" normalizeH="0" baseline="0" noProof="0" dirty="0">
              <a:ln>
                <a:noFill/>
              </a:ln>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effectLst/>
                <a:uLnTx/>
                <a:uFillTx/>
                <a:cs typeface="+mn-ea"/>
                <a:sym typeface="+mn-lt"/>
              </a:rPr>
              <a:t>RISE Research Institutes of Sweden</a:t>
            </a:r>
            <a:endParaRPr kumimoji="0" lang="zh-CN" altLang="en-US" sz="1200" b="0" i="0" u="none" strike="noStrike" kern="1200" cap="none" spc="0" normalizeH="0" baseline="0" noProof="0" dirty="0">
              <a:ln>
                <a:noFill/>
              </a:ln>
              <a:effectLst/>
              <a:uLnTx/>
              <a:uFillTx/>
              <a:cs typeface="+mn-ea"/>
              <a:sym typeface="+mn-lt"/>
            </a:endParaRPr>
          </a:p>
          <a:p>
            <a:pPr marR="0" lvl="0" defTabSz="1450975" rtl="0" eaLnBrk="1" fontAlgn="auto" latinLnBrk="0" hangingPunct="1">
              <a:lnSpc>
                <a:spcPct val="150000"/>
              </a:lnSpc>
              <a:spcBef>
                <a:spcPts val="0"/>
              </a:spcBef>
              <a:spcAft>
                <a:spcPts val="0"/>
              </a:spcAft>
              <a:buClrTx/>
              <a:buSzTx/>
              <a:defRPr/>
            </a:pPr>
            <a:r>
              <a:rPr kumimoji="0" lang="zh-CN" altLang="en-US" sz="1200" b="0" i="0" u="none" strike="noStrike" kern="1200" cap="none" spc="0" normalizeH="0" baseline="0" noProof="0" dirty="0">
                <a:ln>
                  <a:noFill/>
                </a:ln>
                <a:effectLst/>
                <a:uLnTx/>
                <a:uFillTx/>
                <a:cs typeface="+mn-ea"/>
                <a:sym typeface="+mn-lt"/>
              </a:rPr>
              <a:t>Gothenburg</a:t>
            </a:r>
            <a:endParaRPr kumimoji="0" lang="zh-CN" altLang="en-US" sz="1200" b="0" i="0" u="none" strike="noStrike" kern="1200" cap="none" spc="0" normalizeH="0" baseline="0" noProof="0" dirty="0">
              <a:ln>
                <a:noFill/>
              </a:ln>
              <a:effectLst/>
              <a:uLnTx/>
              <a:uFillTx/>
              <a:cs typeface="+mn-ea"/>
              <a:sym typeface="+mn-lt"/>
            </a:endParaRPr>
          </a:p>
        </p:txBody>
      </p:sp>
      <p:sp>
        <p:nvSpPr>
          <p:cNvPr id="18" name="矩形 17"/>
          <p:cNvSpPr/>
          <p:nvPr>
            <p:custDataLst>
              <p:tags r:id="rId13"/>
            </p:custDataLst>
          </p:nvPr>
        </p:nvSpPr>
        <p:spPr>
          <a:xfrm>
            <a:off x="1088618" y="2263562"/>
            <a:ext cx="2102749"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defTabSz="914400" rtl="0" eaLnBrk="1" fontAlgn="auto" latinLnBrk="0" hangingPunct="1">
              <a:lnSpc>
                <a:spcPct val="100000"/>
              </a:lnSpc>
              <a:spcBef>
                <a:spcPts val="0"/>
              </a:spcBef>
              <a:spcAft>
                <a:spcPts val="0"/>
              </a:spcAft>
              <a:buClrTx/>
              <a:buSzTx/>
              <a:defRPr/>
            </a:pPr>
            <a:r>
              <a:rPr kumimoji="0" lang="en-US" altLang="zh-CN" b="1" i="0" u="none" strike="noStrike" kern="1200" cap="none" spc="0" normalizeH="0" baseline="0" noProof="0" dirty="0">
                <a:ln>
                  <a:noFill/>
                </a:ln>
                <a:effectLst/>
                <a:uLnTx/>
                <a:uFillTx/>
                <a:cs typeface="+mn-ea"/>
                <a:sym typeface="+mn-lt"/>
              </a:rPr>
              <a:t>Institute</a:t>
            </a:r>
            <a:endParaRPr kumimoji="0" lang="en-US" altLang="zh-CN" b="1" i="0" u="none" strike="noStrike" kern="1200" cap="none" spc="0" normalizeH="0" baseline="0" noProof="0" dirty="0">
              <a:ln>
                <a:noFill/>
              </a:ln>
              <a:effectLst/>
              <a:uLnTx/>
              <a:uFillTx/>
              <a:cs typeface="+mn-ea"/>
              <a:sym typeface="+mn-lt"/>
            </a:endParaRPr>
          </a:p>
        </p:txBody>
      </p:sp>
      <p:sp>
        <p:nvSpPr>
          <p:cNvPr id="22" name="Footer Text"/>
          <p:cNvSpPr txBox="1"/>
          <p:nvPr/>
        </p:nvSpPr>
        <p:spPr>
          <a:xfrm>
            <a:off x="1343025" y="709930"/>
            <a:ext cx="3648710"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Authors and Institutes</a:t>
            </a:r>
            <a:endParaRPr lang="en-US" altLang="zh-CN" sz="2800" dirty="0">
              <a:cs typeface="+mn-ea"/>
              <a:sym typeface="+mn-lt"/>
            </a:endParaRPr>
          </a:p>
        </p:txBody>
      </p:sp>
      <p:pic>
        <p:nvPicPr>
          <p:cNvPr id="21" name="图片 20"/>
          <p:cNvPicPr>
            <a:picLocks noChangeAspect="1"/>
          </p:cNvPicPr>
          <p:nvPr/>
        </p:nvPicPr>
        <p:blipFill>
          <a:blip r:embed="rId14"/>
          <a:stretch>
            <a:fillRect/>
          </a:stretch>
        </p:blipFill>
        <p:spPr>
          <a:xfrm>
            <a:off x="7565390" y="709930"/>
            <a:ext cx="1301750" cy="1339850"/>
          </a:xfrm>
          <a:prstGeom prst="rect">
            <a:avLst/>
          </a:prstGeom>
        </p:spPr>
      </p:pic>
      <p:pic>
        <p:nvPicPr>
          <p:cNvPr id="23" name="图片 22"/>
          <p:cNvPicPr>
            <a:picLocks noChangeAspect="1"/>
          </p:cNvPicPr>
          <p:nvPr/>
        </p:nvPicPr>
        <p:blipFill>
          <a:blip r:embed="rId15"/>
          <a:stretch>
            <a:fillRect/>
          </a:stretch>
        </p:blipFill>
        <p:spPr>
          <a:xfrm>
            <a:off x="7043420" y="4229735"/>
            <a:ext cx="2329815" cy="803910"/>
          </a:xfrm>
          <a:prstGeom prst="rect">
            <a:avLst/>
          </a:prstGeom>
        </p:spPr>
      </p:pic>
      <p:pic>
        <p:nvPicPr>
          <p:cNvPr id="24" name="图片 23"/>
          <p:cNvPicPr>
            <a:picLocks noChangeAspect="1"/>
          </p:cNvPicPr>
          <p:nvPr/>
        </p:nvPicPr>
        <p:blipFill>
          <a:blip r:embed="rId16"/>
          <a:stretch>
            <a:fillRect/>
          </a:stretch>
        </p:blipFill>
        <p:spPr>
          <a:xfrm>
            <a:off x="5511800" y="880110"/>
            <a:ext cx="1168400" cy="1123950"/>
          </a:xfrm>
          <a:prstGeom prst="rect">
            <a:avLst/>
          </a:prstGeom>
        </p:spPr>
      </p:pic>
      <p:pic>
        <p:nvPicPr>
          <p:cNvPr id="25" name="图片 24"/>
          <p:cNvPicPr/>
          <p:nvPr/>
        </p:nvPicPr>
        <p:blipFill>
          <a:blip r:embed="rId17"/>
          <a:stretch>
            <a:fillRect/>
          </a:stretch>
        </p:blipFill>
        <p:spPr>
          <a:xfrm>
            <a:off x="9752330" y="713105"/>
            <a:ext cx="1486535" cy="1374140"/>
          </a:xfrm>
          <a:prstGeom prst="rect">
            <a:avLst/>
          </a:prstGeom>
        </p:spPr>
      </p:pic>
      <p:pic>
        <p:nvPicPr>
          <p:cNvPr id="26" name="图片 25"/>
          <p:cNvPicPr>
            <a:picLocks noChangeAspect="1"/>
          </p:cNvPicPr>
          <p:nvPr/>
        </p:nvPicPr>
        <p:blipFill>
          <a:blip r:embed="rId18"/>
          <a:stretch>
            <a:fillRect/>
          </a:stretch>
        </p:blipFill>
        <p:spPr>
          <a:xfrm>
            <a:off x="8867775" y="5016500"/>
            <a:ext cx="2667000" cy="807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
          <p:cNvSpPr/>
          <p:nvPr>
            <p:custDataLst>
              <p:tags r:id="rId1"/>
            </p:custDataLst>
          </p:nvPr>
        </p:nvSpPr>
        <p:spPr>
          <a:xfrm>
            <a:off x="1470025" y="2159635"/>
            <a:ext cx="9251950" cy="3626485"/>
          </a:xfrm>
          <a:prstGeom prst="rect">
            <a:avLst/>
          </a:prstGeom>
          <a:solidFill>
            <a:schemeClr val="accent1">
              <a:lumMod val="20000"/>
              <a:lumOff val="8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cs typeface="+mn-ea"/>
              <a:sym typeface="+mn-lt"/>
            </a:endParaRPr>
          </a:p>
        </p:txBody>
      </p:sp>
      <p:grpSp>
        <p:nvGrpSpPr>
          <p:cNvPr id="3" name="Group 26"/>
          <p:cNvGrpSpPr/>
          <p:nvPr>
            <p:custDataLst>
              <p:tags r:id="rId2"/>
            </p:custDataLst>
          </p:nvPr>
        </p:nvGrpSpPr>
        <p:grpSpPr>
          <a:xfrm>
            <a:off x="5878728" y="2380712"/>
            <a:ext cx="464040" cy="464812"/>
            <a:chOff x="7827963" y="8048626"/>
            <a:chExt cx="1905000" cy="1908175"/>
          </a:xfrm>
          <a:solidFill>
            <a:schemeClr val="accent1"/>
          </a:solidFill>
        </p:grpSpPr>
        <p:sp>
          <p:nvSpPr>
            <p:cNvPr id="17" name="Freeform 9"/>
            <p:cNvSpPr>
              <a:spLocks noEditPoints="1"/>
            </p:cNvSpPr>
            <p:nvPr>
              <p:custDataLst>
                <p:tags r:id="rId3"/>
              </p:custDataLst>
            </p:nvPr>
          </p:nvSpPr>
          <p:spPr bwMode="auto">
            <a:xfrm>
              <a:off x="7827963" y="8048626"/>
              <a:ext cx="1905000" cy="1908175"/>
            </a:xfrm>
            <a:custGeom>
              <a:avLst/>
              <a:gdLst>
                <a:gd name="T0" fmla="*/ 1509 w 1566"/>
                <a:gd name="T1" fmla="*/ 711 h 1566"/>
                <a:gd name="T2" fmla="*/ 1566 w 1566"/>
                <a:gd name="T3" fmla="*/ 653 h 1566"/>
                <a:gd name="T4" fmla="*/ 1566 w 1566"/>
                <a:gd name="T5" fmla="*/ 264 h 1566"/>
                <a:gd name="T6" fmla="*/ 1302 w 1566"/>
                <a:gd name="T7" fmla="*/ 0 h 1566"/>
                <a:gd name="T8" fmla="*/ 264 w 1566"/>
                <a:gd name="T9" fmla="*/ 0 h 1566"/>
                <a:gd name="T10" fmla="*/ 0 w 1566"/>
                <a:gd name="T11" fmla="*/ 264 h 1566"/>
                <a:gd name="T12" fmla="*/ 0 w 1566"/>
                <a:gd name="T13" fmla="*/ 1302 h 1566"/>
                <a:gd name="T14" fmla="*/ 264 w 1566"/>
                <a:gd name="T15" fmla="*/ 1566 h 1566"/>
                <a:gd name="T16" fmla="*/ 1302 w 1566"/>
                <a:gd name="T17" fmla="*/ 1566 h 1566"/>
                <a:gd name="T18" fmla="*/ 1566 w 1566"/>
                <a:gd name="T19" fmla="*/ 1302 h 1566"/>
                <a:gd name="T20" fmla="*/ 1566 w 1566"/>
                <a:gd name="T21" fmla="*/ 1035 h 1566"/>
                <a:gd name="T22" fmla="*/ 1549 w 1566"/>
                <a:gd name="T23" fmla="*/ 993 h 1566"/>
                <a:gd name="T24" fmla="*/ 1174 w 1566"/>
                <a:gd name="T25" fmla="*/ 619 h 1566"/>
                <a:gd name="T26" fmla="*/ 1133 w 1566"/>
                <a:gd name="T27" fmla="*/ 602 h 1566"/>
                <a:gd name="T28" fmla="*/ 1093 w 1566"/>
                <a:gd name="T29" fmla="*/ 619 h 1566"/>
                <a:gd name="T30" fmla="*/ 664 w 1566"/>
                <a:gd name="T31" fmla="*/ 1047 h 1566"/>
                <a:gd name="T32" fmla="*/ 433 w 1566"/>
                <a:gd name="T33" fmla="*/ 816 h 1566"/>
                <a:gd name="T34" fmla="*/ 351 w 1566"/>
                <a:gd name="T35" fmla="*/ 816 h 1566"/>
                <a:gd name="T36" fmla="*/ 116 w 1566"/>
                <a:gd name="T37" fmla="*/ 1052 h 1566"/>
                <a:gd name="T38" fmla="*/ 116 w 1566"/>
                <a:gd name="T39" fmla="*/ 264 h 1566"/>
                <a:gd name="T40" fmla="*/ 265 w 1566"/>
                <a:gd name="T41" fmla="*/ 115 h 1566"/>
                <a:gd name="T42" fmla="*/ 1302 w 1566"/>
                <a:gd name="T43" fmla="*/ 115 h 1566"/>
                <a:gd name="T44" fmla="*/ 1451 w 1566"/>
                <a:gd name="T45" fmla="*/ 264 h 1566"/>
                <a:gd name="T46" fmla="*/ 1451 w 1566"/>
                <a:gd name="T47" fmla="*/ 653 h 1566"/>
                <a:gd name="T48" fmla="*/ 1509 w 1566"/>
                <a:gd name="T49" fmla="*/ 711 h 1566"/>
                <a:gd name="T50" fmla="*/ 392 w 1566"/>
                <a:gd name="T51" fmla="*/ 938 h 1566"/>
                <a:gd name="T52" fmla="*/ 623 w 1566"/>
                <a:gd name="T53" fmla="*/ 1169 h 1566"/>
                <a:gd name="T54" fmla="*/ 664 w 1566"/>
                <a:gd name="T55" fmla="*/ 1186 h 1566"/>
                <a:gd name="T56" fmla="*/ 704 w 1566"/>
                <a:gd name="T57" fmla="*/ 1169 h 1566"/>
                <a:gd name="T58" fmla="*/ 1133 w 1566"/>
                <a:gd name="T59" fmla="*/ 740 h 1566"/>
                <a:gd name="T60" fmla="*/ 1451 w 1566"/>
                <a:gd name="T61" fmla="*/ 1058 h 1566"/>
                <a:gd name="T62" fmla="*/ 1451 w 1566"/>
                <a:gd name="T63" fmla="*/ 1302 h 1566"/>
                <a:gd name="T64" fmla="*/ 1301 w 1566"/>
                <a:gd name="T65" fmla="*/ 1451 h 1566"/>
                <a:gd name="T66" fmla="*/ 264 w 1566"/>
                <a:gd name="T67" fmla="*/ 1451 h 1566"/>
                <a:gd name="T68" fmla="*/ 115 w 1566"/>
                <a:gd name="T69" fmla="*/ 1302 h 1566"/>
                <a:gd name="T70" fmla="*/ 115 w 1566"/>
                <a:gd name="T71" fmla="*/ 1215 h 1566"/>
                <a:gd name="T72" fmla="*/ 392 w 1566"/>
                <a:gd name="T73" fmla="*/ 938 h 1566"/>
                <a:gd name="T74" fmla="*/ 392 w 1566"/>
                <a:gd name="T75" fmla="*/ 938 h 1566"/>
                <a:gd name="T76" fmla="*/ 392 w 1566"/>
                <a:gd name="T77" fmla="*/ 938 h 1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66" h="1566">
                  <a:moveTo>
                    <a:pt x="1509" y="711"/>
                  </a:moveTo>
                  <a:cubicBezTo>
                    <a:pt x="1541" y="711"/>
                    <a:pt x="1566" y="685"/>
                    <a:pt x="1566" y="653"/>
                  </a:cubicBezTo>
                  <a:cubicBezTo>
                    <a:pt x="1566" y="264"/>
                    <a:pt x="1566" y="264"/>
                    <a:pt x="1566" y="264"/>
                  </a:cubicBezTo>
                  <a:cubicBezTo>
                    <a:pt x="1566" y="118"/>
                    <a:pt x="1448" y="0"/>
                    <a:pt x="1302" y="0"/>
                  </a:cubicBezTo>
                  <a:cubicBezTo>
                    <a:pt x="264" y="0"/>
                    <a:pt x="264" y="0"/>
                    <a:pt x="264" y="0"/>
                  </a:cubicBezTo>
                  <a:cubicBezTo>
                    <a:pt x="119" y="0"/>
                    <a:pt x="0" y="118"/>
                    <a:pt x="0" y="264"/>
                  </a:cubicBezTo>
                  <a:cubicBezTo>
                    <a:pt x="0" y="1302"/>
                    <a:pt x="0" y="1302"/>
                    <a:pt x="0" y="1302"/>
                  </a:cubicBezTo>
                  <a:cubicBezTo>
                    <a:pt x="0" y="1448"/>
                    <a:pt x="119" y="1566"/>
                    <a:pt x="264" y="1566"/>
                  </a:cubicBezTo>
                  <a:cubicBezTo>
                    <a:pt x="1302" y="1566"/>
                    <a:pt x="1302" y="1566"/>
                    <a:pt x="1302" y="1566"/>
                  </a:cubicBezTo>
                  <a:cubicBezTo>
                    <a:pt x="1447" y="1566"/>
                    <a:pt x="1566" y="1448"/>
                    <a:pt x="1566" y="1302"/>
                  </a:cubicBezTo>
                  <a:cubicBezTo>
                    <a:pt x="1566" y="1035"/>
                    <a:pt x="1566" y="1035"/>
                    <a:pt x="1566" y="1035"/>
                  </a:cubicBezTo>
                  <a:cubicBezTo>
                    <a:pt x="1566" y="1020"/>
                    <a:pt x="1561" y="1005"/>
                    <a:pt x="1549" y="993"/>
                  </a:cubicBezTo>
                  <a:cubicBezTo>
                    <a:pt x="1174" y="619"/>
                    <a:pt x="1174" y="619"/>
                    <a:pt x="1174" y="619"/>
                  </a:cubicBezTo>
                  <a:cubicBezTo>
                    <a:pt x="1163" y="608"/>
                    <a:pt x="1149" y="602"/>
                    <a:pt x="1133" y="602"/>
                  </a:cubicBezTo>
                  <a:cubicBezTo>
                    <a:pt x="1118" y="602"/>
                    <a:pt x="1103" y="608"/>
                    <a:pt x="1093" y="619"/>
                  </a:cubicBezTo>
                  <a:cubicBezTo>
                    <a:pt x="664" y="1047"/>
                    <a:pt x="664" y="1047"/>
                    <a:pt x="664" y="1047"/>
                  </a:cubicBezTo>
                  <a:cubicBezTo>
                    <a:pt x="433" y="816"/>
                    <a:pt x="433" y="816"/>
                    <a:pt x="433" y="816"/>
                  </a:cubicBezTo>
                  <a:cubicBezTo>
                    <a:pt x="411" y="794"/>
                    <a:pt x="374" y="794"/>
                    <a:pt x="351" y="816"/>
                  </a:cubicBezTo>
                  <a:cubicBezTo>
                    <a:pt x="116" y="1052"/>
                    <a:pt x="116" y="1052"/>
                    <a:pt x="116" y="1052"/>
                  </a:cubicBezTo>
                  <a:cubicBezTo>
                    <a:pt x="116" y="264"/>
                    <a:pt x="116" y="264"/>
                    <a:pt x="116" y="264"/>
                  </a:cubicBezTo>
                  <a:cubicBezTo>
                    <a:pt x="116" y="182"/>
                    <a:pt x="182" y="115"/>
                    <a:pt x="265" y="115"/>
                  </a:cubicBezTo>
                  <a:cubicBezTo>
                    <a:pt x="1302" y="115"/>
                    <a:pt x="1302" y="115"/>
                    <a:pt x="1302" y="115"/>
                  </a:cubicBezTo>
                  <a:cubicBezTo>
                    <a:pt x="1384" y="115"/>
                    <a:pt x="1451" y="182"/>
                    <a:pt x="1451" y="264"/>
                  </a:cubicBezTo>
                  <a:cubicBezTo>
                    <a:pt x="1451" y="653"/>
                    <a:pt x="1451" y="653"/>
                    <a:pt x="1451" y="653"/>
                  </a:cubicBezTo>
                  <a:cubicBezTo>
                    <a:pt x="1451" y="685"/>
                    <a:pt x="1477" y="711"/>
                    <a:pt x="1509" y="711"/>
                  </a:cubicBezTo>
                  <a:close/>
                  <a:moveTo>
                    <a:pt x="392" y="938"/>
                  </a:moveTo>
                  <a:cubicBezTo>
                    <a:pt x="623" y="1169"/>
                    <a:pt x="623" y="1169"/>
                    <a:pt x="623" y="1169"/>
                  </a:cubicBezTo>
                  <a:cubicBezTo>
                    <a:pt x="634" y="1180"/>
                    <a:pt x="649" y="1186"/>
                    <a:pt x="664" y="1186"/>
                  </a:cubicBezTo>
                  <a:cubicBezTo>
                    <a:pt x="678" y="1186"/>
                    <a:pt x="693" y="1180"/>
                    <a:pt x="704" y="1169"/>
                  </a:cubicBezTo>
                  <a:cubicBezTo>
                    <a:pt x="1133" y="740"/>
                    <a:pt x="1133" y="740"/>
                    <a:pt x="1133" y="740"/>
                  </a:cubicBezTo>
                  <a:cubicBezTo>
                    <a:pt x="1451" y="1058"/>
                    <a:pt x="1451" y="1058"/>
                    <a:pt x="1451" y="1058"/>
                  </a:cubicBezTo>
                  <a:cubicBezTo>
                    <a:pt x="1451" y="1302"/>
                    <a:pt x="1451" y="1302"/>
                    <a:pt x="1451" y="1302"/>
                  </a:cubicBezTo>
                  <a:cubicBezTo>
                    <a:pt x="1451" y="1384"/>
                    <a:pt x="1384" y="1451"/>
                    <a:pt x="1301" y="1451"/>
                  </a:cubicBezTo>
                  <a:cubicBezTo>
                    <a:pt x="264" y="1451"/>
                    <a:pt x="264" y="1451"/>
                    <a:pt x="264" y="1451"/>
                  </a:cubicBezTo>
                  <a:cubicBezTo>
                    <a:pt x="182" y="1451"/>
                    <a:pt x="115" y="1384"/>
                    <a:pt x="115" y="1302"/>
                  </a:cubicBezTo>
                  <a:cubicBezTo>
                    <a:pt x="115" y="1215"/>
                    <a:pt x="115" y="1215"/>
                    <a:pt x="115" y="1215"/>
                  </a:cubicBezTo>
                  <a:lnTo>
                    <a:pt x="392" y="938"/>
                  </a:lnTo>
                  <a:close/>
                  <a:moveTo>
                    <a:pt x="392" y="938"/>
                  </a:moveTo>
                  <a:cubicBezTo>
                    <a:pt x="392" y="938"/>
                    <a:pt x="392" y="938"/>
                    <a:pt x="392" y="9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sp>
          <p:nvSpPr>
            <p:cNvPr id="18" name="Freeform 10"/>
            <p:cNvSpPr>
              <a:spLocks noEditPoints="1"/>
            </p:cNvSpPr>
            <p:nvPr>
              <p:custDataLst>
                <p:tags r:id="rId4"/>
              </p:custDataLst>
            </p:nvPr>
          </p:nvSpPr>
          <p:spPr bwMode="auto">
            <a:xfrm>
              <a:off x="8175625" y="8347076"/>
              <a:ext cx="515938" cy="517525"/>
            </a:xfrm>
            <a:custGeom>
              <a:avLst/>
              <a:gdLst>
                <a:gd name="T0" fmla="*/ 367 w 425"/>
                <a:gd name="T1" fmla="*/ 155 h 425"/>
                <a:gd name="T2" fmla="*/ 310 w 425"/>
                <a:gd name="T3" fmla="*/ 212 h 425"/>
                <a:gd name="T4" fmla="*/ 212 w 425"/>
                <a:gd name="T5" fmla="*/ 310 h 425"/>
                <a:gd name="T6" fmla="*/ 115 w 425"/>
                <a:gd name="T7" fmla="*/ 212 h 425"/>
                <a:gd name="T8" fmla="*/ 212 w 425"/>
                <a:gd name="T9" fmla="*/ 115 h 425"/>
                <a:gd name="T10" fmla="*/ 270 w 425"/>
                <a:gd name="T11" fmla="*/ 57 h 425"/>
                <a:gd name="T12" fmla="*/ 212 w 425"/>
                <a:gd name="T13" fmla="*/ 0 h 425"/>
                <a:gd name="T14" fmla="*/ 0 w 425"/>
                <a:gd name="T15" fmla="*/ 212 h 425"/>
                <a:gd name="T16" fmla="*/ 212 w 425"/>
                <a:gd name="T17" fmla="*/ 425 h 425"/>
                <a:gd name="T18" fmla="*/ 425 w 425"/>
                <a:gd name="T19" fmla="*/ 212 h 425"/>
                <a:gd name="T20" fmla="*/ 367 w 425"/>
                <a:gd name="T21" fmla="*/ 155 h 425"/>
                <a:gd name="T22" fmla="*/ 367 w 425"/>
                <a:gd name="T23" fmla="*/ 155 h 425"/>
                <a:gd name="T24" fmla="*/ 367 w 425"/>
                <a:gd name="T25" fmla="*/ 15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425">
                  <a:moveTo>
                    <a:pt x="367" y="155"/>
                  </a:moveTo>
                  <a:cubicBezTo>
                    <a:pt x="335" y="155"/>
                    <a:pt x="310" y="181"/>
                    <a:pt x="310" y="212"/>
                  </a:cubicBezTo>
                  <a:cubicBezTo>
                    <a:pt x="310" y="266"/>
                    <a:pt x="266" y="310"/>
                    <a:pt x="212" y="310"/>
                  </a:cubicBezTo>
                  <a:cubicBezTo>
                    <a:pt x="159" y="310"/>
                    <a:pt x="115" y="266"/>
                    <a:pt x="115" y="212"/>
                  </a:cubicBezTo>
                  <a:cubicBezTo>
                    <a:pt x="115" y="159"/>
                    <a:pt x="159" y="115"/>
                    <a:pt x="212" y="115"/>
                  </a:cubicBezTo>
                  <a:cubicBezTo>
                    <a:pt x="244" y="115"/>
                    <a:pt x="270" y="89"/>
                    <a:pt x="270" y="57"/>
                  </a:cubicBezTo>
                  <a:cubicBezTo>
                    <a:pt x="270" y="26"/>
                    <a:pt x="244" y="0"/>
                    <a:pt x="212" y="0"/>
                  </a:cubicBezTo>
                  <a:cubicBezTo>
                    <a:pt x="95" y="0"/>
                    <a:pt x="0" y="95"/>
                    <a:pt x="0" y="212"/>
                  </a:cubicBezTo>
                  <a:cubicBezTo>
                    <a:pt x="0" y="329"/>
                    <a:pt x="95" y="425"/>
                    <a:pt x="212" y="425"/>
                  </a:cubicBezTo>
                  <a:cubicBezTo>
                    <a:pt x="329" y="425"/>
                    <a:pt x="425" y="329"/>
                    <a:pt x="425" y="212"/>
                  </a:cubicBezTo>
                  <a:cubicBezTo>
                    <a:pt x="425" y="181"/>
                    <a:pt x="399" y="155"/>
                    <a:pt x="367" y="155"/>
                  </a:cubicBezTo>
                  <a:close/>
                  <a:moveTo>
                    <a:pt x="367" y="155"/>
                  </a:moveTo>
                  <a:cubicBezTo>
                    <a:pt x="367" y="155"/>
                    <a:pt x="367" y="155"/>
                    <a:pt x="367" y="1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grpSp>
      <p:grpSp>
        <p:nvGrpSpPr>
          <p:cNvPr id="4" name="Group 32"/>
          <p:cNvGrpSpPr/>
          <p:nvPr>
            <p:custDataLst>
              <p:tags r:id="rId5"/>
            </p:custDataLst>
          </p:nvPr>
        </p:nvGrpSpPr>
        <p:grpSpPr>
          <a:xfrm>
            <a:off x="2583943" y="2366983"/>
            <a:ext cx="492656" cy="492270"/>
            <a:chOff x="5221288" y="22225"/>
            <a:chExt cx="2022475" cy="2020888"/>
          </a:xfrm>
          <a:solidFill>
            <a:schemeClr val="accent1"/>
          </a:solidFill>
        </p:grpSpPr>
        <p:sp>
          <p:nvSpPr>
            <p:cNvPr id="15" name="Freeform 61"/>
            <p:cNvSpPr>
              <a:spLocks noEditPoints="1"/>
            </p:cNvSpPr>
            <p:nvPr>
              <p:custDataLst>
                <p:tags r:id="rId6"/>
              </p:custDataLst>
            </p:nvPr>
          </p:nvSpPr>
          <p:spPr bwMode="auto">
            <a:xfrm>
              <a:off x="5614988" y="22225"/>
              <a:ext cx="1628775" cy="1622425"/>
            </a:xfrm>
            <a:custGeom>
              <a:avLst/>
              <a:gdLst>
                <a:gd name="T0" fmla="*/ 1259 w 1261"/>
                <a:gd name="T1" fmla="*/ 322 h 1255"/>
                <a:gd name="T2" fmla="*/ 1254 w 1261"/>
                <a:gd name="T3" fmla="*/ 304 h 1255"/>
                <a:gd name="T4" fmla="*/ 1238 w 1261"/>
                <a:gd name="T5" fmla="*/ 249 h 1255"/>
                <a:gd name="T6" fmla="*/ 1002 w 1261"/>
                <a:gd name="T7" fmla="*/ 18 h 1255"/>
                <a:gd name="T8" fmla="*/ 935 w 1261"/>
                <a:gd name="T9" fmla="*/ 3 h 1255"/>
                <a:gd name="T10" fmla="*/ 930 w 1261"/>
                <a:gd name="T11" fmla="*/ 3 h 1255"/>
                <a:gd name="T12" fmla="*/ 838 w 1261"/>
                <a:gd name="T13" fmla="*/ 37 h 1255"/>
                <a:gd name="T14" fmla="*/ 418 w 1261"/>
                <a:gd name="T15" fmla="*/ 458 h 1255"/>
                <a:gd name="T16" fmla="*/ 316 w 1261"/>
                <a:gd name="T17" fmla="*/ 558 h 1255"/>
                <a:gd name="T18" fmla="*/ 271 w 1261"/>
                <a:gd name="T19" fmla="*/ 604 h 1255"/>
                <a:gd name="T20" fmla="*/ 233 w 1261"/>
                <a:gd name="T21" fmla="*/ 642 h 1255"/>
                <a:gd name="T22" fmla="*/ 234 w 1261"/>
                <a:gd name="T23" fmla="*/ 724 h 1255"/>
                <a:gd name="T24" fmla="*/ 315 w 1261"/>
                <a:gd name="T25" fmla="*/ 723 h 1255"/>
                <a:gd name="T26" fmla="*/ 354 w 1261"/>
                <a:gd name="T27" fmla="*/ 684 h 1255"/>
                <a:gd name="T28" fmla="*/ 361 w 1261"/>
                <a:gd name="T29" fmla="*/ 677 h 1255"/>
                <a:gd name="T30" fmla="*/ 398 w 1261"/>
                <a:gd name="T31" fmla="*/ 640 h 1255"/>
                <a:gd name="T32" fmla="*/ 499 w 1261"/>
                <a:gd name="T33" fmla="*/ 539 h 1255"/>
                <a:gd name="T34" fmla="*/ 920 w 1261"/>
                <a:gd name="T35" fmla="*/ 118 h 1255"/>
                <a:gd name="T36" fmla="*/ 920 w 1261"/>
                <a:gd name="T37" fmla="*/ 117 h 1255"/>
                <a:gd name="T38" fmla="*/ 921 w 1261"/>
                <a:gd name="T39" fmla="*/ 117 h 1255"/>
                <a:gd name="T40" fmla="*/ 959 w 1261"/>
                <a:gd name="T41" fmla="*/ 125 h 1255"/>
                <a:gd name="T42" fmla="*/ 1133 w 1261"/>
                <a:gd name="T43" fmla="*/ 295 h 1255"/>
                <a:gd name="T44" fmla="*/ 1141 w 1261"/>
                <a:gd name="T45" fmla="*/ 328 h 1255"/>
                <a:gd name="T46" fmla="*/ 1143 w 1261"/>
                <a:gd name="T47" fmla="*/ 337 h 1255"/>
                <a:gd name="T48" fmla="*/ 1142 w 1261"/>
                <a:gd name="T49" fmla="*/ 338 h 1255"/>
                <a:gd name="T50" fmla="*/ 409 w 1261"/>
                <a:gd name="T51" fmla="*/ 1071 h 1255"/>
                <a:gd name="T52" fmla="*/ 405 w 1261"/>
                <a:gd name="T53" fmla="*/ 1073 h 1255"/>
                <a:gd name="T54" fmla="*/ 141 w 1261"/>
                <a:gd name="T55" fmla="*/ 1129 h 1255"/>
                <a:gd name="T56" fmla="*/ 127 w 1261"/>
                <a:gd name="T57" fmla="*/ 1132 h 1255"/>
                <a:gd name="T58" fmla="*/ 130 w 1261"/>
                <a:gd name="T59" fmla="*/ 1120 h 1255"/>
                <a:gd name="T60" fmla="*/ 187 w 1261"/>
                <a:gd name="T61" fmla="*/ 852 h 1255"/>
                <a:gd name="T62" fmla="*/ 143 w 1261"/>
                <a:gd name="T63" fmla="*/ 783 h 1255"/>
                <a:gd name="T64" fmla="*/ 75 w 1261"/>
                <a:gd name="T65" fmla="*/ 827 h 1255"/>
                <a:gd name="T66" fmla="*/ 17 w 1261"/>
                <a:gd name="T67" fmla="*/ 1096 h 1255"/>
                <a:gd name="T68" fmla="*/ 7 w 1261"/>
                <a:gd name="T69" fmla="*/ 1146 h 1255"/>
                <a:gd name="T70" fmla="*/ 30 w 1261"/>
                <a:gd name="T71" fmla="*/ 1229 h 1255"/>
                <a:gd name="T72" fmla="*/ 93 w 1261"/>
                <a:gd name="T73" fmla="*/ 1255 h 1255"/>
                <a:gd name="T74" fmla="*/ 113 w 1261"/>
                <a:gd name="T75" fmla="*/ 1252 h 1255"/>
                <a:gd name="T76" fmla="*/ 165 w 1261"/>
                <a:gd name="T77" fmla="*/ 1242 h 1255"/>
                <a:gd name="T78" fmla="*/ 429 w 1261"/>
                <a:gd name="T79" fmla="*/ 1186 h 1255"/>
                <a:gd name="T80" fmla="*/ 491 w 1261"/>
                <a:gd name="T81" fmla="*/ 1153 h 1255"/>
                <a:gd name="T82" fmla="*/ 1224 w 1261"/>
                <a:gd name="T83" fmla="*/ 419 h 1255"/>
                <a:gd name="T84" fmla="*/ 1260 w 1261"/>
                <a:gd name="T85" fmla="*/ 342 h 1255"/>
                <a:gd name="T86" fmla="*/ 1259 w 1261"/>
                <a:gd name="T87" fmla="*/ 322 h 1255"/>
                <a:gd name="T88" fmla="*/ 1259 w 1261"/>
                <a:gd name="T89" fmla="*/ 322 h 1255"/>
                <a:gd name="T90" fmla="*/ 1259 w 1261"/>
                <a:gd name="T91" fmla="*/ 322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61" h="1255">
                  <a:moveTo>
                    <a:pt x="1259" y="322"/>
                  </a:moveTo>
                  <a:cubicBezTo>
                    <a:pt x="1256" y="317"/>
                    <a:pt x="1255" y="311"/>
                    <a:pt x="1254" y="304"/>
                  </a:cubicBezTo>
                  <a:cubicBezTo>
                    <a:pt x="1250" y="287"/>
                    <a:pt x="1246" y="268"/>
                    <a:pt x="1238" y="249"/>
                  </a:cubicBezTo>
                  <a:cubicBezTo>
                    <a:pt x="1190" y="140"/>
                    <a:pt x="1110" y="62"/>
                    <a:pt x="1002" y="18"/>
                  </a:cubicBezTo>
                  <a:cubicBezTo>
                    <a:pt x="979" y="9"/>
                    <a:pt x="955" y="6"/>
                    <a:pt x="935" y="3"/>
                  </a:cubicBezTo>
                  <a:cubicBezTo>
                    <a:pt x="930" y="3"/>
                    <a:pt x="930" y="3"/>
                    <a:pt x="930" y="3"/>
                  </a:cubicBezTo>
                  <a:cubicBezTo>
                    <a:pt x="906" y="0"/>
                    <a:pt x="871" y="3"/>
                    <a:pt x="838" y="37"/>
                  </a:cubicBezTo>
                  <a:cubicBezTo>
                    <a:pt x="698" y="177"/>
                    <a:pt x="555" y="320"/>
                    <a:pt x="418" y="458"/>
                  </a:cubicBezTo>
                  <a:cubicBezTo>
                    <a:pt x="316" y="558"/>
                    <a:pt x="316" y="558"/>
                    <a:pt x="316" y="558"/>
                  </a:cubicBezTo>
                  <a:cubicBezTo>
                    <a:pt x="271" y="604"/>
                    <a:pt x="271" y="604"/>
                    <a:pt x="271" y="604"/>
                  </a:cubicBezTo>
                  <a:cubicBezTo>
                    <a:pt x="267" y="608"/>
                    <a:pt x="258" y="617"/>
                    <a:pt x="233" y="642"/>
                  </a:cubicBezTo>
                  <a:cubicBezTo>
                    <a:pt x="211" y="665"/>
                    <a:pt x="211" y="701"/>
                    <a:pt x="234" y="724"/>
                  </a:cubicBezTo>
                  <a:cubicBezTo>
                    <a:pt x="257" y="746"/>
                    <a:pt x="293" y="746"/>
                    <a:pt x="315" y="723"/>
                  </a:cubicBezTo>
                  <a:cubicBezTo>
                    <a:pt x="341" y="698"/>
                    <a:pt x="349" y="689"/>
                    <a:pt x="354" y="684"/>
                  </a:cubicBezTo>
                  <a:cubicBezTo>
                    <a:pt x="361" y="677"/>
                    <a:pt x="361" y="677"/>
                    <a:pt x="361" y="677"/>
                  </a:cubicBezTo>
                  <a:cubicBezTo>
                    <a:pt x="398" y="640"/>
                    <a:pt x="398" y="640"/>
                    <a:pt x="398" y="640"/>
                  </a:cubicBezTo>
                  <a:cubicBezTo>
                    <a:pt x="499" y="539"/>
                    <a:pt x="499" y="539"/>
                    <a:pt x="499" y="539"/>
                  </a:cubicBezTo>
                  <a:cubicBezTo>
                    <a:pt x="637" y="401"/>
                    <a:pt x="779" y="258"/>
                    <a:pt x="920" y="118"/>
                  </a:cubicBezTo>
                  <a:cubicBezTo>
                    <a:pt x="920" y="117"/>
                    <a:pt x="920" y="117"/>
                    <a:pt x="920" y="117"/>
                  </a:cubicBezTo>
                  <a:cubicBezTo>
                    <a:pt x="921" y="117"/>
                    <a:pt x="921" y="117"/>
                    <a:pt x="921" y="117"/>
                  </a:cubicBezTo>
                  <a:cubicBezTo>
                    <a:pt x="936" y="119"/>
                    <a:pt x="950" y="121"/>
                    <a:pt x="959" y="125"/>
                  </a:cubicBezTo>
                  <a:cubicBezTo>
                    <a:pt x="1040" y="157"/>
                    <a:pt x="1097" y="213"/>
                    <a:pt x="1133" y="295"/>
                  </a:cubicBezTo>
                  <a:cubicBezTo>
                    <a:pt x="1136" y="304"/>
                    <a:pt x="1139" y="315"/>
                    <a:pt x="1141" y="328"/>
                  </a:cubicBezTo>
                  <a:cubicBezTo>
                    <a:pt x="1142" y="331"/>
                    <a:pt x="1143" y="334"/>
                    <a:pt x="1143" y="337"/>
                  </a:cubicBezTo>
                  <a:cubicBezTo>
                    <a:pt x="1142" y="338"/>
                    <a:pt x="1142" y="338"/>
                    <a:pt x="1142" y="338"/>
                  </a:cubicBezTo>
                  <a:cubicBezTo>
                    <a:pt x="912" y="568"/>
                    <a:pt x="672" y="808"/>
                    <a:pt x="409" y="1071"/>
                  </a:cubicBezTo>
                  <a:cubicBezTo>
                    <a:pt x="407" y="1073"/>
                    <a:pt x="407" y="1073"/>
                    <a:pt x="405" y="1073"/>
                  </a:cubicBezTo>
                  <a:cubicBezTo>
                    <a:pt x="317" y="1092"/>
                    <a:pt x="227" y="1111"/>
                    <a:pt x="141" y="1129"/>
                  </a:cubicBezTo>
                  <a:cubicBezTo>
                    <a:pt x="127" y="1132"/>
                    <a:pt x="127" y="1132"/>
                    <a:pt x="127" y="1132"/>
                  </a:cubicBezTo>
                  <a:cubicBezTo>
                    <a:pt x="130" y="1120"/>
                    <a:pt x="130" y="1120"/>
                    <a:pt x="130" y="1120"/>
                  </a:cubicBezTo>
                  <a:cubicBezTo>
                    <a:pt x="148" y="1032"/>
                    <a:pt x="167" y="941"/>
                    <a:pt x="187" y="852"/>
                  </a:cubicBezTo>
                  <a:cubicBezTo>
                    <a:pt x="194" y="821"/>
                    <a:pt x="174" y="790"/>
                    <a:pt x="143" y="783"/>
                  </a:cubicBezTo>
                  <a:cubicBezTo>
                    <a:pt x="112" y="777"/>
                    <a:pt x="81" y="796"/>
                    <a:pt x="75" y="827"/>
                  </a:cubicBezTo>
                  <a:cubicBezTo>
                    <a:pt x="55" y="917"/>
                    <a:pt x="36" y="1008"/>
                    <a:pt x="17" y="1096"/>
                  </a:cubicBezTo>
                  <a:cubicBezTo>
                    <a:pt x="7" y="1146"/>
                    <a:pt x="7" y="1146"/>
                    <a:pt x="7" y="1146"/>
                  </a:cubicBezTo>
                  <a:cubicBezTo>
                    <a:pt x="0" y="1177"/>
                    <a:pt x="9" y="1208"/>
                    <a:pt x="30" y="1229"/>
                  </a:cubicBezTo>
                  <a:cubicBezTo>
                    <a:pt x="47" y="1246"/>
                    <a:pt x="69" y="1255"/>
                    <a:pt x="93" y="1255"/>
                  </a:cubicBezTo>
                  <a:cubicBezTo>
                    <a:pt x="100" y="1255"/>
                    <a:pt x="107" y="1254"/>
                    <a:pt x="113" y="1252"/>
                  </a:cubicBezTo>
                  <a:cubicBezTo>
                    <a:pt x="165" y="1242"/>
                    <a:pt x="165" y="1242"/>
                    <a:pt x="165" y="1242"/>
                  </a:cubicBezTo>
                  <a:cubicBezTo>
                    <a:pt x="252" y="1223"/>
                    <a:pt x="341" y="1204"/>
                    <a:pt x="429" y="1186"/>
                  </a:cubicBezTo>
                  <a:cubicBezTo>
                    <a:pt x="454" y="1181"/>
                    <a:pt x="474" y="1170"/>
                    <a:pt x="491" y="1153"/>
                  </a:cubicBezTo>
                  <a:cubicBezTo>
                    <a:pt x="754" y="889"/>
                    <a:pt x="994" y="649"/>
                    <a:pt x="1224" y="419"/>
                  </a:cubicBezTo>
                  <a:cubicBezTo>
                    <a:pt x="1245" y="398"/>
                    <a:pt x="1257" y="372"/>
                    <a:pt x="1260" y="342"/>
                  </a:cubicBezTo>
                  <a:cubicBezTo>
                    <a:pt x="1261" y="335"/>
                    <a:pt x="1260" y="329"/>
                    <a:pt x="1259" y="322"/>
                  </a:cubicBezTo>
                  <a:close/>
                  <a:moveTo>
                    <a:pt x="1259" y="322"/>
                  </a:moveTo>
                  <a:cubicBezTo>
                    <a:pt x="1259" y="322"/>
                    <a:pt x="1259" y="322"/>
                    <a:pt x="1259" y="3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sp>
          <p:nvSpPr>
            <p:cNvPr id="16" name="Freeform 62"/>
            <p:cNvSpPr>
              <a:spLocks noEditPoints="1"/>
            </p:cNvSpPr>
            <p:nvPr>
              <p:custDataLst>
                <p:tags r:id="rId7"/>
              </p:custDataLst>
            </p:nvPr>
          </p:nvSpPr>
          <p:spPr bwMode="auto">
            <a:xfrm>
              <a:off x="5221288" y="365125"/>
              <a:ext cx="1676400" cy="1677988"/>
            </a:xfrm>
            <a:custGeom>
              <a:avLst/>
              <a:gdLst>
                <a:gd name="T0" fmla="*/ 1241 w 1298"/>
                <a:gd name="T1" fmla="*/ 579 h 1298"/>
                <a:gd name="T2" fmla="*/ 1183 w 1298"/>
                <a:gd name="T3" fmla="*/ 637 h 1298"/>
                <a:gd name="T4" fmla="*/ 1183 w 1298"/>
                <a:gd name="T5" fmla="*/ 1158 h 1298"/>
                <a:gd name="T6" fmla="*/ 1158 w 1298"/>
                <a:gd name="T7" fmla="*/ 1183 h 1298"/>
                <a:gd name="T8" fmla="*/ 140 w 1298"/>
                <a:gd name="T9" fmla="*/ 1183 h 1298"/>
                <a:gd name="T10" fmla="*/ 115 w 1298"/>
                <a:gd name="T11" fmla="*/ 1158 h 1298"/>
                <a:gd name="T12" fmla="*/ 115 w 1298"/>
                <a:gd name="T13" fmla="*/ 140 h 1298"/>
                <a:gd name="T14" fmla="*/ 140 w 1298"/>
                <a:gd name="T15" fmla="*/ 115 h 1298"/>
                <a:gd name="T16" fmla="*/ 683 w 1298"/>
                <a:gd name="T17" fmla="*/ 115 h 1298"/>
                <a:gd name="T18" fmla="*/ 741 w 1298"/>
                <a:gd name="T19" fmla="*/ 57 h 1298"/>
                <a:gd name="T20" fmla="*/ 683 w 1298"/>
                <a:gd name="T21" fmla="*/ 0 h 1298"/>
                <a:gd name="T22" fmla="*/ 140 w 1298"/>
                <a:gd name="T23" fmla="*/ 0 h 1298"/>
                <a:gd name="T24" fmla="*/ 0 w 1298"/>
                <a:gd name="T25" fmla="*/ 140 h 1298"/>
                <a:gd name="T26" fmla="*/ 0 w 1298"/>
                <a:gd name="T27" fmla="*/ 1158 h 1298"/>
                <a:gd name="T28" fmla="*/ 140 w 1298"/>
                <a:gd name="T29" fmla="*/ 1298 h 1298"/>
                <a:gd name="T30" fmla="*/ 1158 w 1298"/>
                <a:gd name="T31" fmla="*/ 1298 h 1298"/>
                <a:gd name="T32" fmla="*/ 1298 w 1298"/>
                <a:gd name="T33" fmla="*/ 1158 h 1298"/>
                <a:gd name="T34" fmla="*/ 1298 w 1298"/>
                <a:gd name="T35" fmla="*/ 637 h 1298"/>
                <a:gd name="T36" fmla="*/ 1241 w 1298"/>
                <a:gd name="T37" fmla="*/ 579 h 1298"/>
                <a:gd name="T38" fmla="*/ 1241 w 1298"/>
                <a:gd name="T39" fmla="*/ 579 h 1298"/>
                <a:gd name="T40" fmla="*/ 1241 w 1298"/>
                <a:gd name="T41" fmla="*/ 579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8" h="1298">
                  <a:moveTo>
                    <a:pt x="1241" y="579"/>
                  </a:moveTo>
                  <a:cubicBezTo>
                    <a:pt x="1209" y="579"/>
                    <a:pt x="1183" y="605"/>
                    <a:pt x="1183" y="637"/>
                  </a:cubicBezTo>
                  <a:cubicBezTo>
                    <a:pt x="1183" y="1158"/>
                    <a:pt x="1183" y="1158"/>
                    <a:pt x="1183" y="1158"/>
                  </a:cubicBezTo>
                  <a:cubicBezTo>
                    <a:pt x="1183" y="1172"/>
                    <a:pt x="1172" y="1183"/>
                    <a:pt x="1158" y="1183"/>
                  </a:cubicBezTo>
                  <a:cubicBezTo>
                    <a:pt x="140" y="1183"/>
                    <a:pt x="140" y="1183"/>
                    <a:pt x="140" y="1183"/>
                  </a:cubicBezTo>
                  <a:cubicBezTo>
                    <a:pt x="126" y="1183"/>
                    <a:pt x="115" y="1172"/>
                    <a:pt x="115" y="1158"/>
                  </a:cubicBezTo>
                  <a:cubicBezTo>
                    <a:pt x="115" y="140"/>
                    <a:pt x="115" y="140"/>
                    <a:pt x="115" y="140"/>
                  </a:cubicBezTo>
                  <a:cubicBezTo>
                    <a:pt x="115" y="126"/>
                    <a:pt x="126" y="115"/>
                    <a:pt x="140" y="115"/>
                  </a:cubicBezTo>
                  <a:cubicBezTo>
                    <a:pt x="683" y="115"/>
                    <a:pt x="683" y="115"/>
                    <a:pt x="683" y="115"/>
                  </a:cubicBezTo>
                  <a:cubicBezTo>
                    <a:pt x="715" y="115"/>
                    <a:pt x="741" y="89"/>
                    <a:pt x="741" y="57"/>
                  </a:cubicBezTo>
                  <a:cubicBezTo>
                    <a:pt x="741" y="26"/>
                    <a:pt x="715" y="0"/>
                    <a:pt x="683" y="0"/>
                  </a:cubicBezTo>
                  <a:cubicBezTo>
                    <a:pt x="140" y="0"/>
                    <a:pt x="140" y="0"/>
                    <a:pt x="140" y="0"/>
                  </a:cubicBezTo>
                  <a:cubicBezTo>
                    <a:pt x="63" y="0"/>
                    <a:pt x="0" y="63"/>
                    <a:pt x="0" y="140"/>
                  </a:cubicBezTo>
                  <a:cubicBezTo>
                    <a:pt x="0" y="1158"/>
                    <a:pt x="0" y="1158"/>
                    <a:pt x="0" y="1158"/>
                  </a:cubicBezTo>
                  <a:cubicBezTo>
                    <a:pt x="0" y="1235"/>
                    <a:pt x="63" y="1298"/>
                    <a:pt x="140" y="1298"/>
                  </a:cubicBezTo>
                  <a:cubicBezTo>
                    <a:pt x="1158" y="1298"/>
                    <a:pt x="1158" y="1298"/>
                    <a:pt x="1158" y="1298"/>
                  </a:cubicBezTo>
                  <a:cubicBezTo>
                    <a:pt x="1235" y="1298"/>
                    <a:pt x="1298" y="1235"/>
                    <a:pt x="1298" y="1158"/>
                  </a:cubicBezTo>
                  <a:cubicBezTo>
                    <a:pt x="1298" y="637"/>
                    <a:pt x="1298" y="637"/>
                    <a:pt x="1298" y="637"/>
                  </a:cubicBezTo>
                  <a:cubicBezTo>
                    <a:pt x="1298" y="605"/>
                    <a:pt x="1272" y="579"/>
                    <a:pt x="1241" y="579"/>
                  </a:cubicBezTo>
                  <a:close/>
                  <a:moveTo>
                    <a:pt x="1241" y="579"/>
                  </a:moveTo>
                  <a:cubicBezTo>
                    <a:pt x="1241" y="579"/>
                    <a:pt x="1241" y="579"/>
                    <a:pt x="1241" y="57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grpSp>
      <p:grpSp>
        <p:nvGrpSpPr>
          <p:cNvPr id="5" name="Group 29"/>
          <p:cNvGrpSpPr/>
          <p:nvPr>
            <p:custDataLst>
              <p:tags r:id="rId8"/>
            </p:custDataLst>
          </p:nvPr>
        </p:nvGrpSpPr>
        <p:grpSpPr>
          <a:xfrm>
            <a:off x="9144896" y="2328121"/>
            <a:ext cx="522430" cy="569994"/>
            <a:chOff x="10045700" y="4910138"/>
            <a:chExt cx="2144713" cy="2339976"/>
          </a:xfrm>
          <a:solidFill>
            <a:schemeClr val="accent1"/>
          </a:solidFill>
        </p:grpSpPr>
        <p:sp>
          <p:nvSpPr>
            <p:cNvPr id="13" name="Freeform 26"/>
            <p:cNvSpPr>
              <a:spLocks noEditPoints="1"/>
            </p:cNvSpPr>
            <p:nvPr>
              <p:custDataLst>
                <p:tags r:id="rId9"/>
              </p:custDataLst>
            </p:nvPr>
          </p:nvSpPr>
          <p:spPr bwMode="auto">
            <a:xfrm>
              <a:off x="10045700" y="4910138"/>
              <a:ext cx="1674813" cy="2054225"/>
            </a:xfrm>
            <a:custGeom>
              <a:avLst/>
              <a:gdLst>
                <a:gd name="T0" fmla="*/ 943 w 1127"/>
                <a:gd name="T1" fmla="*/ 66 h 1380"/>
                <a:gd name="T2" fmla="*/ 564 w 1127"/>
                <a:gd name="T3" fmla="*/ 0 h 1380"/>
                <a:gd name="T4" fmla="*/ 184 w 1127"/>
                <a:gd name="T5" fmla="*/ 66 h 1380"/>
                <a:gd name="T6" fmla="*/ 0 w 1127"/>
                <a:gd name="T7" fmla="*/ 268 h 1380"/>
                <a:gd name="T8" fmla="*/ 0 w 1127"/>
                <a:gd name="T9" fmla="*/ 1113 h 1380"/>
                <a:gd name="T10" fmla="*/ 183 w 1127"/>
                <a:gd name="T11" fmla="*/ 1315 h 1380"/>
                <a:gd name="T12" fmla="*/ 563 w 1127"/>
                <a:gd name="T13" fmla="*/ 1380 h 1380"/>
                <a:gd name="T14" fmla="*/ 621 w 1127"/>
                <a:gd name="T15" fmla="*/ 1323 h 1380"/>
                <a:gd name="T16" fmla="*/ 563 w 1127"/>
                <a:gd name="T17" fmla="*/ 1265 h 1380"/>
                <a:gd name="T18" fmla="*/ 228 w 1127"/>
                <a:gd name="T19" fmla="*/ 1208 h 1380"/>
                <a:gd name="T20" fmla="*/ 115 w 1127"/>
                <a:gd name="T21" fmla="*/ 1112 h 1380"/>
                <a:gd name="T22" fmla="*/ 115 w 1127"/>
                <a:gd name="T23" fmla="*/ 998 h 1380"/>
                <a:gd name="T24" fmla="*/ 177 w 1127"/>
                <a:gd name="T25" fmla="*/ 1030 h 1380"/>
                <a:gd name="T26" fmla="*/ 544 w 1127"/>
                <a:gd name="T27" fmla="*/ 1099 h 1380"/>
                <a:gd name="T28" fmla="*/ 564 w 1127"/>
                <a:gd name="T29" fmla="*/ 1099 h 1380"/>
                <a:gd name="T30" fmla="*/ 621 w 1127"/>
                <a:gd name="T31" fmla="*/ 1041 h 1380"/>
                <a:gd name="T32" fmla="*/ 564 w 1127"/>
                <a:gd name="T33" fmla="*/ 983 h 1380"/>
                <a:gd name="T34" fmla="*/ 546 w 1127"/>
                <a:gd name="T35" fmla="*/ 983 h 1380"/>
                <a:gd name="T36" fmla="*/ 222 w 1127"/>
                <a:gd name="T37" fmla="*/ 924 h 1380"/>
                <a:gd name="T38" fmla="*/ 115 w 1127"/>
                <a:gd name="T39" fmla="*/ 831 h 1380"/>
                <a:gd name="T40" fmla="*/ 115 w 1127"/>
                <a:gd name="T41" fmla="*/ 717 h 1380"/>
                <a:gd name="T42" fmla="*/ 184 w 1127"/>
                <a:gd name="T43" fmla="*/ 751 h 1380"/>
                <a:gd name="T44" fmla="*/ 564 w 1127"/>
                <a:gd name="T45" fmla="*/ 817 h 1380"/>
                <a:gd name="T46" fmla="*/ 943 w 1127"/>
                <a:gd name="T47" fmla="*/ 751 h 1380"/>
                <a:gd name="T48" fmla="*/ 1127 w 1127"/>
                <a:gd name="T49" fmla="*/ 549 h 1380"/>
                <a:gd name="T50" fmla="*/ 1127 w 1127"/>
                <a:gd name="T51" fmla="*/ 268 h 1380"/>
                <a:gd name="T52" fmla="*/ 943 w 1127"/>
                <a:gd name="T53" fmla="*/ 66 h 1380"/>
                <a:gd name="T54" fmla="*/ 340 w 1127"/>
                <a:gd name="T55" fmla="*/ 516 h 1380"/>
                <a:gd name="T56" fmla="*/ 563 w 1127"/>
                <a:gd name="T57" fmla="*/ 536 h 1380"/>
                <a:gd name="T58" fmla="*/ 943 w 1127"/>
                <a:gd name="T59" fmla="*/ 470 h 1380"/>
                <a:gd name="T60" fmla="*/ 1012 w 1127"/>
                <a:gd name="T61" fmla="*/ 436 h 1380"/>
                <a:gd name="T62" fmla="*/ 1012 w 1127"/>
                <a:gd name="T63" fmla="*/ 549 h 1380"/>
                <a:gd name="T64" fmla="*/ 899 w 1127"/>
                <a:gd name="T65" fmla="*/ 645 h 1380"/>
                <a:gd name="T66" fmla="*/ 563 w 1127"/>
                <a:gd name="T67" fmla="*/ 702 h 1380"/>
                <a:gd name="T68" fmla="*/ 228 w 1127"/>
                <a:gd name="T69" fmla="*/ 645 h 1380"/>
                <a:gd name="T70" fmla="*/ 115 w 1127"/>
                <a:gd name="T71" fmla="*/ 549 h 1380"/>
                <a:gd name="T72" fmla="*/ 115 w 1127"/>
                <a:gd name="T73" fmla="*/ 268 h 1380"/>
                <a:gd name="T74" fmla="*/ 228 w 1127"/>
                <a:gd name="T75" fmla="*/ 172 h 1380"/>
                <a:gd name="T76" fmla="*/ 563 w 1127"/>
                <a:gd name="T77" fmla="*/ 115 h 1380"/>
                <a:gd name="T78" fmla="*/ 899 w 1127"/>
                <a:gd name="T79" fmla="*/ 172 h 1380"/>
                <a:gd name="T80" fmla="*/ 1012 w 1127"/>
                <a:gd name="T81" fmla="*/ 268 h 1380"/>
                <a:gd name="T82" fmla="*/ 899 w 1127"/>
                <a:gd name="T83" fmla="*/ 364 h 1380"/>
                <a:gd name="T84" fmla="*/ 563 w 1127"/>
                <a:gd name="T85" fmla="*/ 421 h 1380"/>
                <a:gd name="T86" fmla="*/ 362 w 1127"/>
                <a:gd name="T87" fmla="*/ 403 h 1380"/>
                <a:gd name="T88" fmla="*/ 294 w 1127"/>
                <a:gd name="T89" fmla="*/ 448 h 1380"/>
                <a:gd name="T90" fmla="*/ 340 w 1127"/>
                <a:gd name="T91" fmla="*/ 516 h 1380"/>
                <a:gd name="T92" fmla="*/ 340 w 1127"/>
                <a:gd name="T93" fmla="*/ 516 h 1380"/>
                <a:gd name="T94" fmla="*/ 340 w 1127"/>
                <a:gd name="T95" fmla="*/ 516 h 1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27" h="1380">
                  <a:moveTo>
                    <a:pt x="943" y="66"/>
                  </a:moveTo>
                  <a:cubicBezTo>
                    <a:pt x="841" y="23"/>
                    <a:pt x="706" y="0"/>
                    <a:pt x="564" y="0"/>
                  </a:cubicBezTo>
                  <a:cubicBezTo>
                    <a:pt x="421" y="0"/>
                    <a:pt x="286" y="23"/>
                    <a:pt x="184" y="66"/>
                  </a:cubicBezTo>
                  <a:cubicBezTo>
                    <a:pt x="65" y="115"/>
                    <a:pt x="0" y="187"/>
                    <a:pt x="0" y="268"/>
                  </a:cubicBezTo>
                  <a:cubicBezTo>
                    <a:pt x="0" y="1113"/>
                    <a:pt x="0" y="1113"/>
                    <a:pt x="0" y="1113"/>
                  </a:cubicBezTo>
                  <a:cubicBezTo>
                    <a:pt x="0" y="1194"/>
                    <a:pt x="65" y="1265"/>
                    <a:pt x="183" y="1315"/>
                  </a:cubicBezTo>
                  <a:cubicBezTo>
                    <a:pt x="286" y="1357"/>
                    <a:pt x="421" y="1380"/>
                    <a:pt x="563" y="1380"/>
                  </a:cubicBezTo>
                  <a:cubicBezTo>
                    <a:pt x="595" y="1380"/>
                    <a:pt x="621" y="1355"/>
                    <a:pt x="621" y="1323"/>
                  </a:cubicBezTo>
                  <a:cubicBezTo>
                    <a:pt x="621" y="1291"/>
                    <a:pt x="595" y="1265"/>
                    <a:pt x="563" y="1265"/>
                  </a:cubicBezTo>
                  <a:cubicBezTo>
                    <a:pt x="436" y="1265"/>
                    <a:pt x="316" y="1245"/>
                    <a:pt x="228" y="1208"/>
                  </a:cubicBezTo>
                  <a:cubicBezTo>
                    <a:pt x="159" y="1180"/>
                    <a:pt x="115" y="1142"/>
                    <a:pt x="115" y="1112"/>
                  </a:cubicBezTo>
                  <a:cubicBezTo>
                    <a:pt x="115" y="998"/>
                    <a:pt x="115" y="998"/>
                    <a:pt x="115" y="998"/>
                  </a:cubicBezTo>
                  <a:cubicBezTo>
                    <a:pt x="133" y="1009"/>
                    <a:pt x="154" y="1020"/>
                    <a:pt x="177" y="1030"/>
                  </a:cubicBezTo>
                  <a:cubicBezTo>
                    <a:pt x="275" y="1072"/>
                    <a:pt x="405" y="1096"/>
                    <a:pt x="544" y="1099"/>
                  </a:cubicBezTo>
                  <a:cubicBezTo>
                    <a:pt x="564" y="1099"/>
                    <a:pt x="564" y="1099"/>
                    <a:pt x="564" y="1099"/>
                  </a:cubicBezTo>
                  <a:cubicBezTo>
                    <a:pt x="595" y="1099"/>
                    <a:pt x="621" y="1073"/>
                    <a:pt x="621" y="1041"/>
                  </a:cubicBezTo>
                  <a:cubicBezTo>
                    <a:pt x="621" y="1009"/>
                    <a:pt x="595" y="983"/>
                    <a:pt x="564" y="983"/>
                  </a:cubicBezTo>
                  <a:cubicBezTo>
                    <a:pt x="546" y="983"/>
                    <a:pt x="546" y="983"/>
                    <a:pt x="546" y="983"/>
                  </a:cubicBezTo>
                  <a:cubicBezTo>
                    <a:pt x="422" y="981"/>
                    <a:pt x="307" y="960"/>
                    <a:pt x="222" y="924"/>
                  </a:cubicBezTo>
                  <a:cubicBezTo>
                    <a:pt x="157" y="896"/>
                    <a:pt x="115" y="859"/>
                    <a:pt x="115" y="831"/>
                  </a:cubicBezTo>
                  <a:cubicBezTo>
                    <a:pt x="115" y="717"/>
                    <a:pt x="115" y="717"/>
                    <a:pt x="115" y="717"/>
                  </a:cubicBezTo>
                  <a:cubicBezTo>
                    <a:pt x="136" y="729"/>
                    <a:pt x="158" y="741"/>
                    <a:pt x="184" y="751"/>
                  </a:cubicBezTo>
                  <a:cubicBezTo>
                    <a:pt x="286" y="794"/>
                    <a:pt x="421" y="817"/>
                    <a:pt x="564" y="817"/>
                  </a:cubicBezTo>
                  <a:cubicBezTo>
                    <a:pt x="706" y="817"/>
                    <a:pt x="841" y="794"/>
                    <a:pt x="943" y="751"/>
                  </a:cubicBezTo>
                  <a:cubicBezTo>
                    <a:pt x="1062" y="702"/>
                    <a:pt x="1127" y="630"/>
                    <a:pt x="1127" y="549"/>
                  </a:cubicBezTo>
                  <a:cubicBezTo>
                    <a:pt x="1127" y="268"/>
                    <a:pt x="1127" y="268"/>
                    <a:pt x="1127" y="268"/>
                  </a:cubicBezTo>
                  <a:cubicBezTo>
                    <a:pt x="1127" y="187"/>
                    <a:pt x="1062" y="115"/>
                    <a:pt x="943" y="66"/>
                  </a:cubicBezTo>
                  <a:close/>
                  <a:moveTo>
                    <a:pt x="340" y="516"/>
                  </a:moveTo>
                  <a:cubicBezTo>
                    <a:pt x="411" y="529"/>
                    <a:pt x="485" y="536"/>
                    <a:pt x="563" y="536"/>
                  </a:cubicBezTo>
                  <a:cubicBezTo>
                    <a:pt x="706" y="536"/>
                    <a:pt x="841" y="513"/>
                    <a:pt x="943" y="470"/>
                  </a:cubicBezTo>
                  <a:cubicBezTo>
                    <a:pt x="968" y="460"/>
                    <a:pt x="991" y="448"/>
                    <a:pt x="1012" y="436"/>
                  </a:cubicBezTo>
                  <a:cubicBezTo>
                    <a:pt x="1012" y="549"/>
                    <a:pt x="1012" y="549"/>
                    <a:pt x="1012" y="549"/>
                  </a:cubicBezTo>
                  <a:cubicBezTo>
                    <a:pt x="1012" y="579"/>
                    <a:pt x="967" y="617"/>
                    <a:pt x="899" y="645"/>
                  </a:cubicBezTo>
                  <a:cubicBezTo>
                    <a:pt x="810" y="682"/>
                    <a:pt x="691" y="702"/>
                    <a:pt x="563" y="702"/>
                  </a:cubicBezTo>
                  <a:cubicBezTo>
                    <a:pt x="436" y="702"/>
                    <a:pt x="316" y="682"/>
                    <a:pt x="228" y="645"/>
                  </a:cubicBezTo>
                  <a:cubicBezTo>
                    <a:pt x="159" y="617"/>
                    <a:pt x="115" y="579"/>
                    <a:pt x="115" y="549"/>
                  </a:cubicBezTo>
                  <a:cubicBezTo>
                    <a:pt x="115" y="268"/>
                    <a:pt x="115" y="268"/>
                    <a:pt x="115" y="268"/>
                  </a:cubicBezTo>
                  <a:cubicBezTo>
                    <a:pt x="115" y="238"/>
                    <a:pt x="159" y="201"/>
                    <a:pt x="228" y="172"/>
                  </a:cubicBezTo>
                  <a:cubicBezTo>
                    <a:pt x="316" y="135"/>
                    <a:pt x="436" y="115"/>
                    <a:pt x="563" y="115"/>
                  </a:cubicBezTo>
                  <a:cubicBezTo>
                    <a:pt x="691" y="115"/>
                    <a:pt x="810" y="135"/>
                    <a:pt x="899" y="172"/>
                  </a:cubicBezTo>
                  <a:cubicBezTo>
                    <a:pt x="967" y="201"/>
                    <a:pt x="1012" y="238"/>
                    <a:pt x="1012" y="268"/>
                  </a:cubicBezTo>
                  <a:cubicBezTo>
                    <a:pt x="1012" y="298"/>
                    <a:pt x="967" y="335"/>
                    <a:pt x="899" y="364"/>
                  </a:cubicBezTo>
                  <a:cubicBezTo>
                    <a:pt x="810" y="400"/>
                    <a:pt x="691" y="421"/>
                    <a:pt x="563" y="421"/>
                  </a:cubicBezTo>
                  <a:cubicBezTo>
                    <a:pt x="493" y="421"/>
                    <a:pt x="425" y="415"/>
                    <a:pt x="362" y="403"/>
                  </a:cubicBezTo>
                  <a:cubicBezTo>
                    <a:pt x="331" y="396"/>
                    <a:pt x="300" y="417"/>
                    <a:pt x="294" y="448"/>
                  </a:cubicBezTo>
                  <a:cubicBezTo>
                    <a:pt x="288" y="480"/>
                    <a:pt x="309" y="510"/>
                    <a:pt x="340" y="516"/>
                  </a:cubicBezTo>
                  <a:close/>
                  <a:moveTo>
                    <a:pt x="340" y="516"/>
                  </a:moveTo>
                  <a:cubicBezTo>
                    <a:pt x="340" y="516"/>
                    <a:pt x="340" y="516"/>
                    <a:pt x="340" y="5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sp>
          <p:nvSpPr>
            <p:cNvPr id="14" name="Freeform 27"/>
            <p:cNvSpPr>
              <a:spLocks noEditPoints="1"/>
            </p:cNvSpPr>
            <p:nvPr>
              <p:custDataLst>
                <p:tags r:id="rId10"/>
              </p:custDataLst>
            </p:nvPr>
          </p:nvSpPr>
          <p:spPr bwMode="auto">
            <a:xfrm>
              <a:off x="11082338" y="6140451"/>
              <a:ext cx="1108075" cy="1109663"/>
            </a:xfrm>
            <a:custGeom>
              <a:avLst/>
              <a:gdLst>
                <a:gd name="T0" fmla="*/ 619 w 746"/>
                <a:gd name="T1" fmla="*/ 92 h 745"/>
                <a:gd name="T2" fmla="*/ 537 w 746"/>
                <a:gd name="T3" fmla="*/ 97 h 745"/>
                <a:gd name="T4" fmla="*/ 542 w 746"/>
                <a:gd name="T5" fmla="*/ 179 h 745"/>
                <a:gd name="T6" fmla="*/ 630 w 746"/>
                <a:gd name="T7" fmla="*/ 372 h 745"/>
                <a:gd name="T8" fmla="*/ 372 w 746"/>
                <a:gd name="T9" fmla="*/ 630 h 745"/>
                <a:gd name="T10" fmla="*/ 115 w 746"/>
                <a:gd name="T11" fmla="*/ 372 h 745"/>
                <a:gd name="T12" fmla="*/ 315 w 746"/>
                <a:gd name="T13" fmla="*/ 121 h 745"/>
                <a:gd name="T14" fmla="*/ 315 w 746"/>
                <a:gd name="T15" fmla="*/ 364 h 745"/>
                <a:gd name="T16" fmla="*/ 296 w 746"/>
                <a:gd name="T17" fmla="*/ 346 h 745"/>
                <a:gd name="T18" fmla="*/ 214 w 746"/>
                <a:gd name="T19" fmla="*/ 350 h 745"/>
                <a:gd name="T20" fmla="*/ 218 w 746"/>
                <a:gd name="T21" fmla="*/ 431 h 745"/>
                <a:gd name="T22" fmla="*/ 334 w 746"/>
                <a:gd name="T23" fmla="*/ 537 h 745"/>
                <a:gd name="T24" fmla="*/ 373 w 746"/>
                <a:gd name="T25" fmla="*/ 552 h 745"/>
                <a:gd name="T26" fmla="*/ 411 w 746"/>
                <a:gd name="T27" fmla="*/ 537 h 745"/>
                <a:gd name="T28" fmla="*/ 527 w 746"/>
                <a:gd name="T29" fmla="*/ 431 h 745"/>
                <a:gd name="T30" fmla="*/ 531 w 746"/>
                <a:gd name="T31" fmla="*/ 350 h 745"/>
                <a:gd name="T32" fmla="*/ 450 w 746"/>
                <a:gd name="T33" fmla="*/ 346 h 745"/>
                <a:gd name="T34" fmla="*/ 431 w 746"/>
                <a:gd name="T35" fmla="*/ 364 h 745"/>
                <a:gd name="T36" fmla="*/ 431 w 746"/>
                <a:gd name="T37" fmla="*/ 57 h 745"/>
                <a:gd name="T38" fmla="*/ 373 w 746"/>
                <a:gd name="T39" fmla="*/ 0 h 745"/>
                <a:gd name="T40" fmla="*/ 0 w 746"/>
                <a:gd name="T41" fmla="*/ 372 h 745"/>
                <a:gd name="T42" fmla="*/ 373 w 746"/>
                <a:gd name="T43" fmla="*/ 745 h 745"/>
                <a:gd name="T44" fmla="*/ 746 w 746"/>
                <a:gd name="T45" fmla="*/ 372 h 745"/>
                <a:gd name="T46" fmla="*/ 619 w 746"/>
                <a:gd name="T47" fmla="*/ 92 h 745"/>
                <a:gd name="T48" fmla="*/ 619 w 746"/>
                <a:gd name="T49" fmla="*/ 92 h 745"/>
                <a:gd name="T50" fmla="*/ 619 w 746"/>
                <a:gd name="T51" fmla="*/ 92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46" h="745">
                  <a:moveTo>
                    <a:pt x="619" y="92"/>
                  </a:moveTo>
                  <a:cubicBezTo>
                    <a:pt x="595" y="71"/>
                    <a:pt x="558" y="74"/>
                    <a:pt x="537" y="97"/>
                  </a:cubicBezTo>
                  <a:cubicBezTo>
                    <a:pt x="516" y="121"/>
                    <a:pt x="519" y="158"/>
                    <a:pt x="542" y="179"/>
                  </a:cubicBezTo>
                  <a:cubicBezTo>
                    <a:pt x="598" y="228"/>
                    <a:pt x="630" y="298"/>
                    <a:pt x="630" y="372"/>
                  </a:cubicBezTo>
                  <a:cubicBezTo>
                    <a:pt x="630" y="514"/>
                    <a:pt x="515" y="630"/>
                    <a:pt x="372" y="630"/>
                  </a:cubicBezTo>
                  <a:cubicBezTo>
                    <a:pt x="230" y="630"/>
                    <a:pt x="115" y="514"/>
                    <a:pt x="115" y="372"/>
                  </a:cubicBezTo>
                  <a:cubicBezTo>
                    <a:pt x="115" y="250"/>
                    <a:pt x="201" y="147"/>
                    <a:pt x="315" y="121"/>
                  </a:cubicBezTo>
                  <a:cubicBezTo>
                    <a:pt x="315" y="364"/>
                    <a:pt x="315" y="364"/>
                    <a:pt x="315" y="364"/>
                  </a:cubicBezTo>
                  <a:cubicBezTo>
                    <a:pt x="296" y="346"/>
                    <a:pt x="296" y="346"/>
                    <a:pt x="296" y="346"/>
                  </a:cubicBezTo>
                  <a:cubicBezTo>
                    <a:pt x="272" y="325"/>
                    <a:pt x="236" y="326"/>
                    <a:pt x="214" y="350"/>
                  </a:cubicBezTo>
                  <a:cubicBezTo>
                    <a:pt x="193" y="373"/>
                    <a:pt x="195" y="410"/>
                    <a:pt x="218" y="431"/>
                  </a:cubicBezTo>
                  <a:cubicBezTo>
                    <a:pt x="334" y="537"/>
                    <a:pt x="334" y="537"/>
                    <a:pt x="334" y="537"/>
                  </a:cubicBezTo>
                  <a:cubicBezTo>
                    <a:pt x="345" y="547"/>
                    <a:pt x="359" y="552"/>
                    <a:pt x="373" y="552"/>
                  </a:cubicBezTo>
                  <a:cubicBezTo>
                    <a:pt x="387" y="552"/>
                    <a:pt x="401" y="547"/>
                    <a:pt x="411" y="537"/>
                  </a:cubicBezTo>
                  <a:cubicBezTo>
                    <a:pt x="527" y="431"/>
                    <a:pt x="527" y="431"/>
                    <a:pt x="527" y="431"/>
                  </a:cubicBezTo>
                  <a:cubicBezTo>
                    <a:pt x="551" y="410"/>
                    <a:pt x="553" y="373"/>
                    <a:pt x="531" y="350"/>
                  </a:cubicBezTo>
                  <a:cubicBezTo>
                    <a:pt x="510" y="327"/>
                    <a:pt x="473" y="325"/>
                    <a:pt x="450" y="346"/>
                  </a:cubicBezTo>
                  <a:cubicBezTo>
                    <a:pt x="431" y="364"/>
                    <a:pt x="431" y="364"/>
                    <a:pt x="431" y="364"/>
                  </a:cubicBezTo>
                  <a:cubicBezTo>
                    <a:pt x="431" y="57"/>
                    <a:pt x="431" y="57"/>
                    <a:pt x="431" y="57"/>
                  </a:cubicBezTo>
                  <a:cubicBezTo>
                    <a:pt x="431" y="25"/>
                    <a:pt x="405" y="0"/>
                    <a:pt x="373" y="0"/>
                  </a:cubicBezTo>
                  <a:cubicBezTo>
                    <a:pt x="167" y="0"/>
                    <a:pt x="0" y="167"/>
                    <a:pt x="0" y="372"/>
                  </a:cubicBezTo>
                  <a:cubicBezTo>
                    <a:pt x="0" y="578"/>
                    <a:pt x="168" y="745"/>
                    <a:pt x="373" y="745"/>
                  </a:cubicBezTo>
                  <a:cubicBezTo>
                    <a:pt x="579" y="745"/>
                    <a:pt x="746" y="578"/>
                    <a:pt x="746" y="372"/>
                  </a:cubicBezTo>
                  <a:cubicBezTo>
                    <a:pt x="745" y="265"/>
                    <a:pt x="699" y="163"/>
                    <a:pt x="619" y="92"/>
                  </a:cubicBezTo>
                  <a:close/>
                  <a:moveTo>
                    <a:pt x="619" y="92"/>
                  </a:moveTo>
                  <a:cubicBezTo>
                    <a:pt x="619" y="92"/>
                    <a:pt x="619" y="92"/>
                    <a:pt x="619" y="9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cs typeface="+mn-ea"/>
                <a:sym typeface="+mn-lt"/>
              </a:endParaRPr>
            </a:p>
          </p:txBody>
        </p:sp>
      </p:grpSp>
      <p:sp>
        <p:nvSpPr>
          <p:cNvPr id="7" name="Text Box 10"/>
          <p:cNvSpPr txBox="1">
            <a:spLocks noChangeArrowheads="1"/>
          </p:cNvSpPr>
          <p:nvPr>
            <p:custDataLst>
              <p:tags r:id="rId11"/>
            </p:custDataLst>
          </p:nvPr>
        </p:nvSpPr>
        <p:spPr bwMode="auto">
          <a:xfrm>
            <a:off x="1793875" y="3510280"/>
            <a:ext cx="2148840" cy="1945005"/>
          </a:xfrm>
          <a:prstGeom prst="rect">
            <a:avLst/>
          </a:prstGeom>
          <a:noFill/>
          <a:ln w="9525">
            <a:noFill/>
            <a:miter lim="800000"/>
          </a:ln>
        </p:spPr>
        <p:txBody>
          <a:bodyPr wrap="square" lIns="60960" tIns="30480" rIns="60960" bIns="3048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  </a:t>
            </a:r>
            <a:r>
              <a:rPr kumimoji="0" lang="zh-CN" altLang="en-US" sz="1200" b="0" i="0" u="none" strike="noStrike" kern="1200" cap="none" spc="0" normalizeH="0" baseline="0" noProof="0" dirty="0">
                <a:ln>
                  <a:noFill/>
                </a:ln>
                <a:solidFill>
                  <a:srgbClr val="000000"/>
                </a:solidFill>
                <a:effectLst/>
                <a:uLnTx/>
                <a:uFillTx/>
                <a:cs typeface="+mn-ea"/>
                <a:sym typeface="+mn-lt"/>
              </a:rPr>
              <a:t>Mainly focuses on specific application scenarios such as code generation, and lacks a comprehensive understanding of the application of LLM throughout the software development lifecycle</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 name="矩形 7"/>
          <p:cNvSpPr/>
          <p:nvPr>
            <p:custDataLst>
              <p:tags r:id="rId12"/>
            </p:custDataLst>
          </p:nvPr>
        </p:nvSpPr>
        <p:spPr>
          <a:xfrm>
            <a:off x="1794077" y="2997330"/>
            <a:ext cx="1995620" cy="5835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cs typeface="+mn-ea"/>
                <a:sym typeface="+mn-lt"/>
              </a:rPr>
              <a:t>Limititions of Recent Research</a:t>
            </a:r>
            <a:endParaRPr kumimoji="0" lang="en-US" altLang="zh-CN" sz="1600" b="1" i="0" u="none" strike="noStrike" kern="1200" cap="none" spc="0" normalizeH="0" baseline="0" noProof="0" dirty="0">
              <a:ln>
                <a:noFill/>
              </a:ln>
              <a:solidFill>
                <a:srgbClr val="000000"/>
              </a:solidFill>
              <a:effectLst/>
              <a:uLnTx/>
              <a:uFillTx/>
              <a:cs typeface="+mn-ea"/>
              <a:sym typeface="+mn-lt"/>
            </a:endParaRPr>
          </a:p>
        </p:txBody>
      </p:sp>
      <p:sp>
        <p:nvSpPr>
          <p:cNvPr id="9" name="Text Box 10"/>
          <p:cNvSpPr txBox="1">
            <a:spLocks noChangeArrowheads="1"/>
          </p:cNvSpPr>
          <p:nvPr>
            <p:custDataLst>
              <p:tags r:id="rId13"/>
            </p:custDataLst>
          </p:nvPr>
        </p:nvSpPr>
        <p:spPr bwMode="auto">
          <a:xfrm>
            <a:off x="5098190" y="3315126"/>
            <a:ext cx="1995620"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  Can LLM </a:t>
            </a:r>
            <a:r>
              <a:rPr kumimoji="0" lang="zh-CN" altLang="en-US" sz="1200" b="0" i="0" u="none" strike="noStrike" kern="1200" cap="none" spc="0" normalizeH="0" baseline="0" noProof="0" dirty="0">
                <a:ln>
                  <a:noFill/>
                </a:ln>
                <a:solidFill>
                  <a:srgbClr val="000000"/>
                </a:solidFill>
                <a:effectLst/>
                <a:uLnTx/>
                <a:uFillTx/>
                <a:cs typeface="+mn-ea"/>
                <a:sym typeface="+mn-lt"/>
              </a:rPr>
              <a:t>truly be helpful for creative tasks such as essay</a:t>
            </a:r>
            <a:r>
              <a:rPr kumimoji="0" lang="en-US" altLang="zh-CN" sz="1200" b="0" i="0" u="none" strike="noStrike" kern="1200" cap="none" spc="0" normalizeH="0" baseline="0" noProof="0" dirty="0">
                <a:ln>
                  <a:noFill/>
                </a:ln>
                <a:solidFill>
                  <a:srgbClr val="000000"/>
                </a:solidFill>
                <a:effectLst/>
                <a:uLnTx/>
                <a:uFillTx/>
                <a:cs typeface="+mn-ea"/>
                <a:sym typeface="+mn-lt"/>
              </a:rPr>
              <a:t> </a:t>
            </a:r>
            <a:r>
              <a:rPr kumimoji="0" lang="zh-CN" altLang="en-US" sz="1200" b="0" i="0" u="none" strike="noStrike" kern="1200" cap="none" spc="0" normalizeH="0" baseline="0" noProof="0" dirty="0">
                <a:ln>
                  <a:noFill/>
                </a:ln>
                <a:solidFill>
                  <a:srgbClr val="000000"/>
                </a:solidFill>
                <a:effectLst/>
                <a:uLnTx/>
                <a:uFillTx/>
                <a:cs typeface="+mn-ea"/>
                <a:sym typeface="+mn-lt"/>
              </a:rPr>
              <a:t>writing or</a:t>
            </a:r>
            <a:r>
              <a:rPr kumimoji="0" lang="en-US" altLang="zh-CN" sz="1200" b="0" i="0" u="none" strike="noStrike" kern="1200" cap="none" spc="0" normalizeH="0" baseline="0" noProof="0" dirty="0">
                <a:ln>
                  <a:noFill/>
                </a:ln>
                <a:solidFill>
                  <a:srgbClr val="000000"/>
                </a:solidFill>
                <a:effectLst/>
                <a:uLnTx/>
                <a:uFillTx/>
                <a:cs typeface="+mn-ea"/>
                <a:sym typeface="+mn-lt"/>
              </a:rPr>
              <a:t> </a:t>
            </a:r>
            <a:r>
              <a:rPr kumimoji="0" lang="zh-CN" altLang="en-US" sz="1200" b="0" i="0" u="none" strike="noStrike" kern="1200" cap="none" spc="0" normalizeH="0" baseline="0" noProof="0" dirty="0">
                <a:ln>
                  <a:noFill/>
                </a:ln>
                <a:solidFill>
                  <a:srgbClr val="000000"/>
                </a:solidFill>
                <a:effectLst/>
                <a:uLnTx/>
                <a:uFillTx/>
                <a:cs typeface="+mn-ea"/>
                <a:sym typeface="+mn-lt"/>
              </a:rPr>
              <a:t>coding </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—hallucinating</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 name="矩形 9"/>
          <p:cNvSpPr/>
          <p:nvPr>
            <p:custDataLst>
              <p:tags r:id="rId14"/>
            </p:custDataLst>
          </p:nvPr>
        </p:nvSpPr>
        <p:spPr>
          <a:xfrm>
            <a:off x="5098190" y="2997330"/>
            <a:ext cx="1995620" cy="3371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cs typeface="+mn-ea"/>
                <a:sym typeface="+mn-lt"/>
              </a:rPr>
              <a:t>Practical Concern</a:t>
            </a:r>
            <a:endParaRPr kumimoji="0" lang="en-US" altLang="zh-CN" sz="1600" b="1" i="0" u="none" strike="noStrike" kern="1200" cap="none" spc="0" normalizeH="0" baseline="0" noProof="0" dirty="0">
              <a:ln>
                <a:noFill/>
              </a:ln>
              <a:solidFill>
                <a:srgbClr val="000000"/>
              </a:solidFill>
              <a:effectLst/>
              <a:uLnTx/>
              <a:uFillTx/>
              <a:cs typeface="+mn-ea"/>
              <a:sym typeface="+mn-lt"/>
            </a:endParaRPr>
          </a:p>
        </p:txBody>
      </p:sp>
      <p:sp>
        <p:nvSpPr>
          <p:cNvPr id="11" name="Text Box 10"/>
          <p:cNvSpPr txBox="1">
            <a:spLocks noChangeArrowheads="1"/>
          </p:cNvSpPr>
          <p:nvPr>
            <p:custDataLst>
              <p:tags r:id="rId15"/>
            </p:custDataLst>
          </p:nvPr>
        </p:nvSpPr>
        <p:spPr bwMode="auto">
          <a:xfrm>
            <a:off x="8402303" y="3315126"/>
            <a:ext cx="1995620" cy="255397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   W</a:t>
            </a:r>
            <a:r>
              <a:rPr kumimoji="0" lang="zh-CN" altLang="en-US" sz="1200" b="0" i="0" u="none" strike="noStrike" kern="1200" cap="none" spc="0" normalizeH="0" baseline="0" noProof="0" dirty="0">
                <a:ln>
                  <a:noFill/>
                </a:ln>
                <a:solidFill>
                  <a:srgbClr val="000000"/>
                </a:solidFill>
                <a:effectLst/>
                <a:uLnTx/>
                <a:uFillTx/>
                <a:cs typeface="+mn-ea"/>
                <a:sym typeface="+mn-lt"/>
              </a:rPr>
              <a:t>hat kind of tasks do software engineers use an</a:t>
            </a:r>
            <a:endParaRPr kumimoji="0" lang="zh-CN" altLang="en-US" sz="1200" b="0" i="0" u="none" strike="noStrike" kern="1200" cap="none" spc="0" normalizeH="0" baseline="0" noProof="0" dirty="0">
              <a:ln>
                <a:noFill/>
              </a:ln>
              <a:solidFill>
                <a:srgbClr val="000000"/>
              </a:solidFill>
              <a:effectLst/>
              <a:uLnTx/>
              <a:uFillTx/>
              <a:cs typeface="+mn-ea"/>
              <a:sym typeface="+mn-lt"/>
            </a:endParaRPr>
          </a:p>
          <a:p>
            <a:pPr marL="0" marR="0" lvl="0" indent="0" algn="l" defTabSz="1450975"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LLM-powered chatbot such as ChatGPT in their work</a:t>
            </a:r>
            <a:r>
              <a:rPr kumimoji="0" lang="en-US" altLang="zh-CN" sz="1200" b="0" i="0" u="none" strike="noStrike" kern="1200" cap="none" spc="0" normalizeH="0" baseline="0" noProof="0" dirty="0">
                <a:ln>
                  <a:noFill/>
                </a:ln>
                <a:solidFill>
                  <a:srgbClr val="000000"/>
                </a:solidFill>
                <a:effectLst/>
                <a:uLnTx/>
                <a:uFillTx/>
                <a:cs typeface="+mn-ea"/>
                <a:sym typeface="+mn-lt"/>
              </a:rPr>
              <a:t>?</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What factors influence the personal experience of soft-</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ware engineering practitioners when using ChatGPT?</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12" name="矩形 11"/>
          <p:cNvSpPr/>
          <p:nvPr>
            <p:custDataLst>
              <p:tags r:id="rId16"/>
            </p:custDataLst>
          </p:nvPr>
        </p:nvSpPr>
        <p:spPr>
          <a:xfrm>
            <a:off x="8402303" y="2997330"/>
            <a:ext cx="1995620" cy="3371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cs typeface="+mn-ea"/>
                <a:sym typeface="+mn-lt"/>
              </a:rPr>
              <a:t>Goal</a:t>
            </a:r>
            <a:endParaRPr kumimoji="0" lang="en-US" altLang="zh-CN" sz="1600" b="1" i="0" u="none" strike="noStrike" kern="1200" cap="none" spc="0" normalizeH="0" baseline="0" noProof="0" dirty="0">
              <a:ln>
                <a:noFill/>
              </a:ln>
              <a:solidFill>
                <a:srgbClr val="000000"/>
              </a:solidFill>
              <a:effectLst/>
              <a:uLnTx/>
              <a:uFillTx/>
              <a:cs typeface="+mn-ea"/>
              <a:sym typeface="+mn-lt"/>
            </a:endParaRPr>
          </a:p>
        </p:txBody>
      </p:sp>
      <p:grpSp>
        <p:nvGrpSpPr>
          <p:cNvPr id="19" name="组合 18"/>
          <p:cNvGrpSpPr/>
          <p:nvPr/>
        </p:nvGrpSpPr>
        <p:grpSpPr>
          <a:xfrm>
            <a:off x="748244" y="776125"/>
            <a:ext cx="352439" cy="299049"/>
            <a:chOff x="4468761" y="1799303"/>
            <a:chExt cx="914400" cy="516194"/>
          </a:xfrm>
          <a:solidFill>
            <a:schemeClr val="accent1">
              <a:lumMod val="20000"/>
              <a:lumOff val="80000"/>
            </a:schemeClr>
          </a:solidFill>
        </p:grpSpPr>
        <p:sp>
          <p:nvSpPr>
            <p:cNvPr id="20" name="矩形 19"/>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1" name="矩形 20"/>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2" name="矩形 21"/>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23"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Problems and goal</a:t>
            </a:r>
            <a:endParaRPr lang="en-US" altLang="zh-CN" sz="2800" dirty="0">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02</a:t>
            </a:r>
            <a:endParaRPr lang="zh-CN" altLang="en-US" sz="3200" b="1" dirty="0">
              <a:cs typeface="+mn-ea"/>
              <a:sym typeface="+mn-lt"/>
            </a:endParaRPr>
          </a:p>
        </p:txBody>
      </p:sp>
      <p:sp>
        <p:nvSpPr>
          <p:cNvPr id="5" name="Footer Text"/>
          <p:cNvSpPr txBox="1"/>
          <p:nvPr/>
        </p:nvSpPr>
        <p:spPr>
          <a:xfrm>
            <a:off x="4182745" y="3282950"/>
            <a:ext cx="3825875"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b="1" dirty="0">
                <a:cs typeface="+mn-ea"/>
                <a:sym typeface="+mn-lt"/>
              </a:rPr>
              <a:t>Re</a:t>
            </a:r>
            <a:r>
              <a:rPr lang="en-US" altLang="zh-CN" sz="3600" b="1" dirty="0">
                <a:cs typeface="+mn-ea"/>
                <a:sym typeface="+mn-lt"/>
              </a:rPr>
              <a:t>lated work</a:t>
            </a:r>
            <a:endParaRPr lang="en-US" altLang="zh-CN" sz="3600" b="1" dirty="0">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1813329" y="2847292"/>
            <a:ext cx="8631932" cy="2395918"/>
            <a:chOff x="1400191" y="2847292"/>
            <a:chExt cx="8631932" cy="2395918"/>
          </a:xfrm>
        </p:grpSpPr>
        <p:grpSp>
          <p:nvGrpSpPr>
            <p:cNvPr id="3" name="组合 2"/>
            <p:cNvGrpSpPr/>
            <p:nvPr/>
          </p:nvGrpSpPr>
          <p:grpSpPr>
            <a:xfrm>
              <a:off x="8788891" y="3346638"/>
              <a:ext cx="1243232" cy="1442150"/>
              <a:chOff x="8788891" y="2610657"/>
              <a:chExt cx="1243232" cy="1442150"/>
            </a:xfrm>
          </p:grpSpPr>
          <p:sp>
            <p:nvSpPr>
              <p:cNvPr id="28" name="Isosceles Triangle 9"/>
              <p:cNvSpPr/>
              <p:nvPr>
                <p:custDataLst>
                  <p:tags r:id="rId2"/>
                </p:custDataLst>
              </p:nvPr>
            </p:nvSpPr>
            <p:spPr>
              <a:xfrm rot="5400000">
                <a:off x="8689432" y="2710116"/>
                <a:ext cx="1442150" cy="124323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29" name="Freeform 29"/>
              <p:cNvSpPr>
                <a:spLocks noChangeArrowheads="1"/>
              </p:cNvSpPr>
              <p:nvPr>
                <p:custDataLst>
                  <p:tags r:id="rId3"/>
                </p:custDataLst>
              </p:nvPr>
            </p:nvSpPr>
            <p:spPr bwMode="auto">
              <a:xfrm>
                <a:off x="8911552" y="3059339"/>
                <a:ext cx="528023" cy="544787"/>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bg1"/>
              </a:solidFill>
              <a:ln>
                <a:noFill/>
              </a:ln>
              <a:effectLst/>
            </p:spPr>
            <p:txBody>
              <a:bodyPr wrap="none" lIns="34290" tIns="17145" rIns="34290" bIns="171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grpSp>
          <p:nvGrpSpPr>
            <p:cNvPr id="4" name="组合 3"/>
            <p:cNvGrpSpPr/>
            <p:nvPr/>
          </p:nvGrpSpPr>
          <p:grpSpPr>
            <a:xfrm>
              <a:off x="1400191" y="2847292"/>
              <a:ext cx="1443605" cy="2041926"/>
              <a:chOff x="1400191" y="2111311"/>
              <a:chExt cx="1443605" cy="2041926"/>
            </a:xfrm>
          </p:grpSpPr>
          <p:sp>
            <p:nvSpPr>
              <p:cNvPr id="23" name="Rectangle 4"/>
              <p:cNvSpPr/>
              <p:nvPr>
                <p:custDataLst>
                  <p:tags r:id="rId4"/>
                </p:custDataLst>
              </p:nvPr>
            </p:nvSpPr>
            <p:spPr>
              <a:xfrm>
                <a:off x="1400191" y="2610657"/>
                <a:ext cx="1443605" cy="14436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nvGrpSpPr>
              <p:cNvPr id="24" name="组合 23"/>
              <p:cNvGrpSpPr/>
              <p:nvPr/>
            </p:nvGrpSpPr>
            <p:grpSpPr>
              <a:xfrm>
                <a:off x="1843354" y="2111311"/>
                <a:ext cx="617979" cy="617979"/>
                <a:chOff x="1664935" y="2047228"/>
                <a:chExt cx="985609" cy="985609"/>
              </a:xfrm>
            </p:grpSpPr>
            <p:sp>
              <p:nvSpPr>
                <p:cNvPr id="26" name="Oval 11"/>
                <p:cNvSpPr/>
                <p:nvPr>
                  <p:custDataLst>
                    <p:tags r:id="rId5"/>
                  </p:custDataLst>
                </p:nvPr>
              </p:nvSpPr>
              <p:spPr>
                <a:xfrm>
                  <a:off x="1664935" y="2047228"/>
                  <a:ext cx="985609" cy="985609"/>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27" name="Freeform 28"/>
                <p:cNvSpPr>
                  <a:spLocks noChangeArrowheads="1"/>
                </p:cNvSpPr>
                <p:nvPr>
                  <p:custDataLst>
                    <p:tags r:id="rId6"/>
                  </p:custDataLst>
                </p:nvPr>
              </p:nvSpPr>
              <p:spPr bwMode="auto">
                <a:xfrm>
                  <a:off x="1960815" y="2366053"/>
                  <a:ext cx="498678" cy="417329"/>
                </a:xfrm>
                <a:custGeom>
                  <a:avLst/>
                  <a:gdLst>
                    <a:gd name="T0" fmla="*/ 55735 w 498"/>
                    <a:gd name="T1" fmla="*/ 36300 h 418"/>
                    <a:gd name="T2" fmla="*/ 55735 w 498"/>
                    <a:gd name="T3" fmla="*/ 36300 h 418"/>
                    <a:gd name="T4" fmla="*/ 16181 w 498"/>
                    <a:gd name="T5" fmla="*/ 115622 h 418"/>
                    <a:gd name="T6" fmla="*/ 155518 w 498"/>
                    <a:gd name="T7" fmla="*/ 51985 h 418"/>
                    <a:gd name="T8" fmla="*/ 4045 w 498"/>
                    <a:gd name="T9" fmla="*/ 171192 h 418"/>
                    <a:gd name="T10" fmla="*/ 19777 w 498"/>
                    <a:gd name="T11" fmla="*/ 179258 h 418"/>
                    <a:gd name="T12" fmla="*/ 43599 w 498"/>
                    <a:gd name="T13" fmla="*/ 139373 h 418"/>
                    <a:gd name="T14" fmla="*/ 131696 w 498"/>
                    <a:gd name="T15" fmla="*/ 139373 h 418"/>
                    <a:gd name="T16" fmla="*/ 210803 w 498"/>
                    <a:gd name="T17" fmla="*/ 32267 h 418"/>
                    <a:gd name="T18" fmla="*/ 55735 w 498"/>
                    <a:gd name="T19" fmla="*/ 36300 h 4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8" h="418">
                      <a:moveTo>
                        <a:pt x="124" y="81"/>
                      </a:moveTo>
                      <a:lnTo>
                        <a:pt x="124" y="81"/>
                      </a:lnTo>
                      <a:cubicBezTo>
                        <a:pt x="27" y="134"/>
                        <a:pt x="36" y="222"/>
                        <a:pt x="36" y="258"/>
                      </a:cubicBezTo>
                      <a:cubicBezTo>
                        <a:pt x="159" y="107"/>
                        <a:pt x="346" y="116"/>
                        <a:pt x="346" y="116"/>
                      </a:cubicBezTo>
                      <a:cubicBezTo>
                        <a:pt x="346" y="116"/>
                        <a:pt x="80" y="204"/>
                        <a:pt x="9" y="382"/>
                      </a:cubicBezTo>
                      <a:cubicBezTo>
                        <a:pt x="0" y="400"/>
                        <a:pt x="36" y="417"/>
                        <a:pt x="44" y="400"/>
                      </a:cubicBezTo>
                      <a:cubicBezTo>
                        <a:pt x="62" y="355"/>
                        <a:pt x="97" y="311"/>
                        <a:pt x="97" y="311"/>
                      </a:cubicBezTo>
                      <a:cubicBezTo>
                        <a:pt x="151" y="329"/>
                        <a:pt x="230" y="355"/>
                        <a:pt x="293" y="311"/>
                      </a:cubicBezTo>
                      <a:cubicBezTo>
                        <a:pt x="363" y="258"/>
                        <a:pt x="363" y="134"/>
                        <a:pt x="469" y="72"/>
                      </a:cubicBezTo>
                      <a:cubicBezTo>
                        <a:pt x="497" y="63"/>
                        <a:pt x="249" y="0"/>
                        <a:pt x="124" y="81"/>
                      </a:cubicBezTo>
                    </a:path>
                  </a:pathLst>
                </a:custGeom>
                <a:solidFill>
                  <a:schemeClr val="bg1"/>
                </a:solidFill>
                <a:ln>
                  <a:noFill/>
                </a:ln>
                <a:effectLst/>
              </p:spPr>
              <p:txBody>
                <a:bodyPr wrap="none" lIns="34290" tIns="17145" rIns="34290" bIns="171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sp>
            <p:nvSpPr>
              <p:cNvPr id="25" name="TextBox 32"/>
              <p:cNvSpPr txBox="1"/>
              <p:nvPr>
                <p:custDataLst>
                  <p:tags r:id="rId7"/>
                </p:custDataLst>
              </p:nvPr>
            </p:nvSpPr>
            <p:spPr>
              <a:xfrm>
                <a:off x="1601993" y="3229907"/>
                <a:ext cx="1118382"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dirty="0">
                    <a:solidFill>
                      <a:schemeClr val="bg1"/>
                    </a:solidFill>
                    <a:cs typeface="+mn-ea"/>
                    <a:sym typeface="+mn-lt"/>
                  </a:rPr>
                  <a:t>01</a:t>
                </a:r>
                <a:endParaRPr lang="id-ID" sz="5400" dirty="0">
                  <a:solidFill>
                    <a:schemeClr val="bg1"/>
                  </a:solidFill>
                  <a:cs typeface="+mn-ea"/>
                  <a:sym typeface="+mn-lt"/>
                </a:endParaRPr>
              </a:p>
            </p:txBody>
          </p:sp>
        </p:grpSp>
        <p:grpSp>
          <p:nvGrpSpPr>
            <p:cNvPr id="5" name="组合 4"/>
            <p:cNvGrpSpPr/>
            <p:nvPr/>
          </p:nvGrpSpPr>
          <p:grpSpPr>
            <a:xfrm>
              <a:off x="3248605" y="3346638"/>
              <a:ext cx="1443605" cy="1896572"/>
              <a:chOff x="3248605" y="2610657"/>
              <a:chExt cx="1443605" cy="1896572"/>
            </a:xfrm>
          </p:grpSpPr>
          <p:sp>
            <p:nvSpPr>
              <p:cNvPr id="18" name="Rectangle 5"/>
              <p:cNvSpPr/>
              <p:nvPr>
                <p:custDataLst>
                  <p:tags r:id="rId8"/>
                </p:custDataLst>
              </p:nvPr>
            </p:nvSpPr>
            <p:spPr>
              <a:xfrm>
                <a:off x="3248605" y="2610657"/>
                <a:ext cx="1443605" cy="144360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nvGrpSpPr>
              <p:cNvPr id="19" name="组合 18"/>
              <p:cNvGrpSpPr/>
              <p:nvPr/>
            </p:nvGrpSpPr>
            <p:grpSpPr>
              <a:xfrm>
                <a:off x="3692695" y="3889250"/>
                <a:ext cx="617979" cy="617979"/>
                <a:chOff x="3514276" y="3825167"/>
                <a:chExt cx="985609" cy="985609"/>
              </a:xfrm>
            </p:grpSpPr>
            <p:sp>
              <p:nvSpPr>
                <p:cNvPr id="21" name="Oval 12"/>
                <p:cNvSpPr/>
                <p:nvPr>
                  <p:custDataLst>
                    <p:tags r:id="rId9"/>
                  </p:custDataLst>
                </p:nvPr>
              </p:nvSpPr>
              <p:spPr>
                <a:xfrm>
                  <a:off x="3514276" y="3825167"/>
                  <a:ext cx="985609" cy="985609"/>
                </a:xfrm>
                <a:prstGeom prst="ellipse">
                  <a:avLst/>
                </a:prstGeom>
                <a:solidFill>
                  <a:schemeClr val="accent1">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22" name="Freeform 134"/>
                <p:cNvSpPr>
                  <a:spLocks noChangeArrowheads="1"/>
                </p:cNvSpPr>
                <p:nvPr>
                  <p:custDataLst>
                    <p:tags r:id="rId10"/>
                  </p:custDataLst>
                </p:nvPr>
              </p:nvSpPr>
              <p:spPr bwMode="auto">
                <a:xfrm>
                  <a:off x="3756804" y="4045211"/>
                  <a:ext cx="504709" cy="504709"/>
                </a:xfrm>
                <a:custGeom>
                  <a:avLst/>
                  <a:gdLst>
                    <a:gd name="T0" fmla="*/ 212011 w 634"/>
                    <a:gd name="T1" fmla="*/ 105984 h 634"/>
                    <a:gd name="T2" fmla="*/ 111414 w 634"/>
                    <a:gd name="T3" fmla="*/ 0 h 634"/>
                    <a:gd name="T4" fmla="*/ 15865 w 634"/>
                    <a:gd name="T5" fmla="*/ 105984 h 634"/>
                    <a:gd name="T6" fmla="*/ 0 w 634"/>
                    <a:gd name="T7" fmla="*/ 169790 h 634"/>
                    <a:gd name="T8" fmla="*/ 58411 w 634"/>
                    <a:gd name="T9" fmla="*/ 201874 h 634"/>
                    <a:gd name="T10" fmla="*/ 84732 w 634"/>
                    <a:gd name="T11" fmla="*/ 127253 h 634"/>
                    <a:gd name="T12" fmla="*/ 26321 w 634"/>
                    <a:gd name="T13" fmla="*/ 100937 h 634"/>
                    <a:gd name="T14" fmla="*/ 196146 w 634"/>
                    <a:gd name="T15" fmla="*/ 100937 h 634"/>
                    <a:gd name="T16" fmla="*/ 143144 w 634"/>
                    <a:gd name="T17" fmla="*/ 127253 h 634"/>
                    <a:gd name="T18" fmla="*/ 169825 w 634"/>
                    <a:gd name="T19" fmla="*/ 201874 h 634"/>
                    <a:gd name="T20" fmla="*/ 185690 w 634"/>
                    <a:gd name="T21" fmla="*/ 222782 h 634"/>
                    <a:gd name="T22" fmla="*/ 196146 w 634"/>
                    <a:gd name="T23" fmla="*/ 222782 h 634"/>
                    <a:gd name="T24" fmla="*/ 228236 w 634"/>
                    <a:gd name="T25" fmla="*/ 169790 h 634"/>
                    <a:gd name="T26" fmla="*/ 212011 w 634"/>
                    <a:gd name="T27" fmla="*/ 105984 h 634"/>
                    <a:gd name="T28" fmla="*/ 47594 w 634"/>
                    <a:gd name="T29" fmla="*/ 116798 h 634"/>
                    <a:gd name="T30" fmla="*/ 68868 w 634"/>
                    <a:gd name="T31" fmla="*/ 127253 h 634"/>
                    <a:gd name="T32" fmla="*/ 58411 w 634"/>
                    <a:gd name="T33" fmla="*/ 185652 h 634"/>
                    <a:gd name="T34" fmla="*/ 42186 w 634"/>
                    <a:gd name="T35" fmla="*/ 148521 h 634"/>
                    <a:gd name="T36" fmla="*/ 31730 w 634"/>
                    <a:gd name="T37" fmla="*/ 116798 h 634"/>
                    <a:gd name="T38" fmla="*/ 26321 w 634"/>
                    <a:gd name="T39" fmla="*/ 148521 h 634"/>
                    <a:gd name="T40" fmla="*/ 26321 w 634"/>
                    <a:gd name="T41" fmla="*/ 185652 h 634"/>
                    <a:gd name="T42" fmla="*/ 15865 w 634"/>
                    <a:gd name="T43" fmla="*/ 127253 h 634"/>
                    <a:gd name="T44" fmla="*/ 31730 w 634"/>
                    <a:gd name="T45" fmla="*/ 116798 h 634"/>
                    <a:gd name="T46" fmla="*/ 174873 w 634"/>
                    <a:gd name="T47" fmla="*/ 185652 h 634"/>
                    <a:gd name="T48" fmla="*/ 153600 w 634"/>
                    <a:gd name="T49" fmla="*/ 169790 h 634"/>
                    <a:gd name="T50" fmla="*/ 169825 w 634"/>
                    <a:gd name="T51" fmla="*/ 116798 h 634"/>
                    <a:gd name="T52" fmla="*/ 185690 w 634"/>
                    <a:gd name="T53" fmla="*/ 148521 h 634"/>
                    <a:gd name="T54" fmla="*/ 212011 w 634"/>
                    <a:gd name="T55" fmla="*/ 169790 h 634"/>
                    <a:gd name="T56" fmla="*/ 196146 w 634"/>
                    <a:gd name="T57" fmla="*/ 185652 h 634"/>
                    <a:gd name="T58" fmla="*/ 196146 w 634"/>
                    <a:gd name="T59" fmla="*/ 148521 h 634"/>
                    <a:gd name="T60" fmla="*/ 196146 w 634"/>
                    <a:gd name="T61" fmla="*/ 116798 h 634"/>
                    <a:gd name="T62" fmla="*/ 212011 w 634"/>
                    <a:gd name="T63" fmla="*/ 169790 h 6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34" h="634">
                      <a:moveTo>
                        <a:pt x="588" y="294"/>
                      </a:moveTo>
                      <a:lnTo>
                        <a:pt x="588" y="294"/>
                      </a:lnTo>
                      <a:cubicBezTo>
                        <a:pt x="588" y="280"/>
                        <a:pt x="588" y="280"/>
                        <a:pt x="588" y="265"/>
                      </a:cubicBezTo>
                      <a:cubicBezTo>
                        <a:pt x="588" y="118"/>
                        <a:pt x="471" y="0"/>
                        <a:pt x="309" y="0"/>
                      </a:cubicBezTo>
                      <a:cubicBezTo>
                        <a:pt x="162" y="0"/>
                        <a:pt x="44" y="118"/>
                        <a:pt x="44" y="265"/>
                      </a:cubicBezTo>
                      <a:cubicBezTo>
                        <a:pt x="44" y="280"/>
                        <a:pt x="44" y="280"/>
                        <a:pt x="44" y="294"/>
                      </a:cubicBezTo>
                      <a:cubicBezTo>
                        <a:pt x="14" y="309"/>
                        <a:pt x="0" y="324"/>
                        <a:pt x="0" y="353"/>
                      </a:cubicBezTo>
                      <a:cubicBezTo>
                        <a:pt x="0" y="471"/>
                        <a:pt x="0" y="471"/>
                        <a:pt x="0" y="471"/>
                      </a:cubicBezTo>
                      <a:cubicBezTo>
                        <a:pt x="0" y="515"/>
                        <a:pt x="29" y="560"/>
                        <a:pt x="73" y="560"/>
                      </a:cubicBezTo>
                      <a:lnTo>
                        <a:pt x="162" y="560"/>
                      </a:lnTo>
                      <a:cubicBezTo>
                        <a:pt x="206" y="560"/>
                        <a:pt x="235" y="515"/>
                        <a:pt x="235" y="471"/>
                      </a:cubicBezTo>
                      <a:cubicBezTo>
                        <a:pt x="235" y="353"/>
                        <a:pt x="235" y="353"/>
                        <a:pt x="235" y="353"/>
                      </a:cubicBezTo>
                      <a:cubicBezTo>
                        <a:pt x="235" y="309"/>
                        <a:pt x="206" y="280"/>
                        <a:pt x="162" y="280"/>
                      </a:cubicBezTo>
                      <a:cubicBezTo>
                        <a:pt x="162" y="280"/>
                        <a:pt x="88" y="280"/>
                        <a:pt x="73" y="280"/>
                      </a:cubicBezTo>
                      <a:cubicBezTo>
                        <a:pt x="73" y="147"/>
                        <a:pt x="176" y="44"/>
                        <a:pt x="309" y="44"/>
                      </a:cubicBezTo>
                      <a:cubicBezTo>
                        <a:pt x="442" y="44"/>
                        <a:pt x="544" y="133"/>
                        <a:pt x="544" y="280"/>
                      </a:cubicBezTo>
                      <a:lnTo>
                        <a:pt x="471" y="280"/>
                      </a:lnTo>
                      <a:cubicBezTo>
                        <a:pt x="426" y="280"/>
                        <a:pt x="397" y="309"/>
                        <a:pt x="397" y="353"/>
                      </a:cubicBezTo>
                      <a:cubicBezTo>
                        <a:pt x="397" y="471"/>
                        <a:pt x="397" y="471"/>
                        <a:pt x="397" y="471"/>
                      </a:cubicBezTo>
                      <a:cubicBezTo>
                        <a:pt x="397" y="515"/>
                        <a:pt x="426" y="560"/>
                        <a:pt x="471" y="560"/>
                      </a:cubicBezTo>
                      <a:lnTo>
                        <a:pt x="515" y="560"/>
                      </a:lnTo>
                      <a:cubicBezTo>
                        <a:pt x="515" y="618"/>
                        <a:pt x="515" y="618"/>
                        <a:pt x="515" y="618"/>
                      </a:cubicBezTo>
                      <a:cubicBezTo>
                        <a:pt x="515" y="618"/>
                        <a:pt x="515" y="633"/>
                        <a:pt x="530" y="633"/>
                      </a:cubicBezTo>
                      <a:cubicBezTo>
                        <a:pt x="544" y="633"/>
                        <a:pt x="544" y="618"/>
                        <a:pt x="544" y="618"/>
                      </a:cubicBezTo>
                      <a:cubicBezTo>
                        <a:pt x="544" y="560"/>
                        <a:pt x="544" y="560"/>
                        <a:pt x="544" y="560"/>
                      </a:cubicBezTo>
                      <a:cubicBezTo>
                        <a:pt x="588" y="560"/>
                        <a:pt x="633" y="515"/>
                        <a:pt x="633" y="471"/>
                      </a:cubicBezTo>
                      <a:cubicBezTo>
                        <a:pt x="633" y="353"/>
                        <a:pt x="633" y="353"/>
                        <a:pt x="633" y="353"/>
                      </a:cubicBezTo>
                      <a:cubicBezTo>
                        <a:pt x="633" y="324"/>
                        <a:pt x="618" y="309"/>
                        <a:pt x="588" y="294"/>
                      </a:cubicBezTo>
                      <a:close/>
                      <a:moveTo>
                        <a:pt x="132" y="324"/>
                      </a:moveTo>
                      <a:lnTo>
                        <a:pt x="132" y="324"/>
                      </a:lnTo>
                      <a:cubicBezTo>
                        <a:pt x="162" y="324"/>
                        <a:pt x="162" y="324"/>
                        <a:pt x="162" y="324"/>
                      </a:cubicBezTo>
                      <a:cubicBezTo>
                        <a:pt x="176" y="324"/>
                        <a:pt x="191" y="339"/>
                        <a:pt x="191" y="353"/>
                      </a:cubicBezTo>
                      <a:cubicBezTo>
                        <a:pt x="191" y="471"/>
                        <a:pt x="191" y="471"/>
                        <a:pt x="191" y="471"/>
                      </a:cubicBezTo>
                      <a:cubicBezTo>
                        <a:pt x="191" y="501"/>
                        <a:pt x="176" y="515"/>
                        <a:pt x="162" y="515"/>
                      </a:cubicBezTo>
                      <a:cubicBezTo>
                        <a:pt x="147" y="515"/>
                        <a:pt x="147" y="515"/>
                        <a:pt x="147" y="515"/>
                      </a:cubicBezTo>
                      <a:cubicBezTo>
                        <a:pt x="132" y="486"/>
                        <a:pt x="117" y="442"/>
                        <a:pt x="117" y="412"/>
                      </a:cubicBezTo>
                      <a:cubicBezTo>
                        <a:pt x="117" y="383"/>
                        <a:pt x="117" y="353"/>
                        <a:pt x="132" y="324"/>
                      </a:cubicBezTo>
                      <a:close/>
                      <a:moveTo>
                        <a:pt x="88" y="324"/>
                      </a:moveTo>
                      <a:lnTo>
                        <a:pt x="88" y="324"/>
                      </a:lnTo>
                      <a:cubicBezTo>
                        <a:pt x="88" y="353"/>
                        <a:pt x="73" y="383"/>
                        <a:pt x="73" y="412"/>
                      </a:cubicBezTo>
                      <a:cubicBezTo>
                        <a:pt x="73" y="442"/>
                        <a:pt x="88" y="486"/>
                        <a:pt x="103" y="515"/>
                      </a:cubicBezTo>
                      <a:cubicBezTo>
                        <a:pt x="73" y="515"/>
                        <a:pt x="73" y="515"/>
                        <a:pt x="73" y="515"/>
                      </a:cubicBezTo>
                      <a:cubicBezTo>
                        <a:pt x="59" y="515"/>
                        <a:pt x="44" y="501"/>
                        <a:pt x="44" y="471"/>
                      </a:cubicBezTo>
                      <a:cubicBezTo>
                        <a:pt x="44" y="353"/>
                        <a:pt x="44" y="353"/>
                        <a:pt x="44" y="353"/>
                      </a:cubicBezTo>
                      <a:cubicBezTo>
                        <a:pt x="44" y="339"/>
                        <a:pt x="59" y="324"/>
                        <a:pt x="73" y="324"/>
                      </a:cubicBezTo>
                      <a:lnTo>
                        <a:pt x="88" y="324"/>
                      </a:lnTo>
                      <a:close/>
                      <a:moveTo>
                        <a:pt x="485" y="515"/>
                      </a:moveTo>
                      <a:lnTo>
                        <a:pt x="485" y="515"/>
                      </a:lnTo>
                      <a:cubicBezTo>
                        <a:pt x="471" y="515"/>
                        <a:pt x="471" y="515"/>
                        <a:pt x="471" y="515"/>
                      </a:cubicBezTo>
                      <a:cubicBezTo>
                        <a:pt x="456" y="515"/>
                        <a:pt x="426" y="501"/>
                        <a:pt x="426" y="471"/>
                      </a:cubicBezTo>
                      <a:cubicBezTo>
                        <a:pt x="426" y="353"/>
                        <a:pt x="426" y="353"/>
                        <a:pt x="426" y="353"/>
                      </a:cubicBezTo>
                      <a:cubicBezTo>
                        <a:pt x="426" y="339"/>
                        <a:pt x="456" y="324"/>
                        <a:pt x="471" y="324"/>
                      </a:cubicBezTo>
                      <a:cubicBezTo>
                        <a:pt x="500" y="324"/>
                        <a:pt x="500" y="324"/>
                        <a:pt x="500" y="324"/>
                      </a:cubicBezTo>
                      <a:cubicBezTo>
                        <a:pt x="500" y="353"/>
                        <a:pt x="515" y="383"/>
                        <a:pt x="515" y="412"/>
                      </a:cubicBezTo>
                      <a:cubicBezTo>
                        <a:pt x="515" y="442"/>
                        <a:pt x="500" y="486"/>
                        <a:pt x="485" y="515"/>
                      </a:cubicBezTo>
                      <a:close/>
                      <a:moveTo>
                        <a:pt x="588" y="471"/>
                      </a:moveTo>
                      <a:lnTo>
                        <a:pt x="588" y="471"/>
                      </a:lnTo>
                      <a:cubicBezTo>
                        <a:pt x="588" y="501"/>
                        <a:pt x="574" y="515"/>
                        <a:pt x="544" y="515"/>
                      </a:cubicBezTo>
                      <a:cubicBezTo>
                        <a:pt x="530" y="515"/>
                        <a:pt x="530" y="515"/>
                        <a:pt x="530" y="515"/>
                      </a:cubicBezTo>
                      <a:cubicBezTo>
                        <a:pt x="544" y="486"/>
                        <a:pt x="544" y="442"/>
                        <a:pt x="544" y="412"/>
                      </a:cubicBezTo>
                      <a:cubicBezTo>
                        <a:pt x="544" y="383"/>
                        <a:pt x="544" y="353"/>
                        <a:pt x="530" y="324"/>
                      </a:cubicBezTo>
                      <a:cubicBezTo>
                        <a:pt x="544" y="324"/>
                        <a:pt x="544" y="324"/>
                        <a:pt x="544" y="324"/>
                      </a:cubicBezTo>
                      <a:cubicBezTo>
                        <a:pt x="574" y="324"/>
                        <a:pt x="588" y="339"/>
                        <a:pt x="588" y="353"/>
                      </a:cubicBezTo>
                      <a:lnTo>
                        <a:pt x="588" y="471"/>
                      </a:lnTo>
                      <a:close/>
                    </a:path>
                  </a:pathLst>
                </a:custGeom>
                <a:solidFill>
                  <a:schemeClr val="bg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bg1"/>
                    </a:solidFill>
                    <a:cs typeface="+mn-ea"/>
                    <a:sym typeface="+mn-lt"/>
                  </a:endParaRPr>
                </a:p>
              </p:txBody>
            </p:sp>
          </p:grpSp>
          <p:sp>
            <p:nvSpPr>
              <p:cNvPr id="20" name="TextBox 33"/>
              <p:cNvSpPr txBox="1"/>
              <p:nvPr>
                <p:custDataLst>
                  <p:tags r:id="rId11"/>
                </p:custDataLst>
              </p:nvPr>
            </p:nvSpPr>
            <p:spPr>
              <a:xfrm>
                <a:off x="3442007" y="2783382"/>
                <a:ext cx="1118382"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dirty="0">
                    <a:solidFill>
                      <a:schemeClr val="accent1"/>
                    </a:solidFill>
                    <a:cs typeface="+mn-ea"/>
                    <a:sym typeface="+mn-lt"/>
                  </a:rPr>
                  <a:t>02</a:t>
                </a:r>
                <a:endParaRPr lang="id-ID" sz="5400" dirty="0">
                  <a:solidFill>
                    <a:schemeClr val="accent1"/>
                  </a:solidFill>
                  <a:cs typeface="+mn-ea"/>
                  <a:sym typeface="+mn-lt"/>
                </a:endParaRPr>
              </a:p>
            </p:txBody>
          </p:sp>
        </p:grpSp>
        <p:grpSp>
          <p:nvGrpSpPr>
            <p:cNvPr id="6" name="组合 5"/>
            <p:cNvGrpSpPr/>
            <p:nvPr/>
          </p:nvGrpSpPr>
          <p:grpSpPr>
            <a:xfrm>
              <a:off x="5097019" y="2847292"/>
              <a:ext cx="1443605" cy="2039390"/>
              <a:chOff x="5097019" y="2111311"/>
              <a:chExt cx="1443605" cy="2039390"/>
            </a:xfrm>
          </p:grpSpPr>
          <p:sp>
            <p:nvSpPr>
              <p:cNvPr id="13" name="Rectangle 6"/>
              <p:cNvSpPr/>
              <p:nvPr>
                <p:custDataLst>
                  <p:tags r:id="rId12"/>
                </p:custDataLst>
              </p:nvPr>
            </p:nvSpPr>
            <p:spPr>
              <a:xfrm>
                <a:off x="5097019" y="2610657"/>
                <a:ext cx="1443605" cy="14436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nvGrpSpPr>
              <p:cNvPr id="14" name="组合 13"/>
              <p:cNvGrpSpPr/>
              <p:nvPr/>
            </p:nvGrpSpPr>
            <p:grpSpPr>
              <a:xfrm>
                <a:off x="5539718" y="2111311"/>
                <a:ext cx="617979" cy="617979"/>
                <a:chOff x="5361299" y="2047228"/>
                <a:chExt cx="985609" cy="985609"/>
              </a:xfrm>
            </p:grpSpPr>
            <p:sp>
              <p:nvSpPr>
                <p:cNvPr id="16" name="Oval 13"/>
                <p:cNvSpPr/>
                <p:nvPr>
                  <p:custDataLst>
                    <p:tags r:id="rId13"/>
                  </p:custDataLst>
                </p:nvPr>
              </p:nvSpPr>
              <p:spPr>
                <a:xfrm>
                  <a:off x="5361299" y="2047228"/>
                  <a:ext cx="985609" cy="985609"/>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17" name="Freeform 47"/>
                <p:cNvSpPr>
                  <a:spLocks noChangeArrowheads="1"/>
                </p:cNvSpPr>
                <p:nvPr>
                  <p:custDataLst>
                    <p:tags r:id="rId14"/>
                  </p:custDataLst>
                </p:nvPr>
              </p:nvSpPr>
              <p:spPr bwMode="auto">
                <a:xfrm>
                  <a:off x="5644048" y="2346851"/>
                  <a:ext cx="439766" cy="386363"/>
                </a:xfrm>
                <a:custGeom>
                  <a:avLst/>
                  <a:gdLst>
                    <a:gd name="T0" fmla="*/ 221804 w 498"/>
                    <a:gd name="T1" fmla="*/ 194813 h 435"/>
                    <a:gd name="T2" fmla="*/ 221804 w 498"/>
                    <a:gd name="T3" fmla="*/ 194813 h 435"/>
                    <a:gd name="T4" fmla="*/ 217341 w 498"/>
                    <a:gd name="T5" fmla="*/ 147232 h 435"/>
                    <a:gd name="T6" fmla="*/ 189671 w 498"/>
                    <a:gd name="T7" fmla="*/ 131521 h 435"/>
                    <a:gd name="T8" fmla="*/ 166018 w 498"/>
                    <a:gd name="T9" fmla="*/ 103691 h 435"/>
                    <a:gd name="T10" fmla="*/ 174051 w 498"/>
                    <a:gd name="T11" fmla="*/ 87980 h 435"/>
                    <a:gd name="T12" fmla="*/ 182084 w 498"/>
                    <a:gd name="T13" fmla="*/ 71372 h 435"/>
                    <a:gd name="T14" fmla="*/ 178068 w 498"/>
                    <a:gd name="T15" fmla="*/ 67781 h 435"/>
                    <a:gd name="T16" fmla="*/ 182084 w 498"/>
                    <a:gd name="T17" fmla="*/ 51621 h 435"/>
                    <a:gd name="T18" fmla="*/ 154415 w 498"/>
                    <a:gd name="T19" fmla="*/ 27830 h 435"/>
                    <a:gd name="T20" fmla="*/ 126745 w 498"/>
                    <a:gd name="T21" fmla="*/ 51621 h 435"/>
                    <a:gd name="T22" fmla="*/ 130762 w 498"/>
                    <a:gd name="T23" fmla="*/ 67781 h 435"/>
                    <a:gd name="T24" fmla="*/ 126745 w 498"/>
                    <a:gd name="T25" fmla="*/ 71372 h 435"/>
                    <a:gd name="T26" fmla="*/ 134778 w 498"/>
                    <a:gd name="T27" fmla="*/ 87980 h 435"/>
                    <a:gd name="T28" fmla="*/ 138795 w 498"/>
                    <a:gd name="T29" fmla="*/ 103691 h 435"/>
                    <a:gd name="T30" fmla="*/ 130762 w 498"/>
                    <a:gd name="T31" fmla="*/ 123441 h 435"/>
                    <a:gd name="T32" fmla="*/ 170035 w 498"/>
                    <a:gd name="T33" fmla="*/ 163392 h 435"/>
                    <a:gd name="T34" fmla="*/ 170035 w 498"/>
                    <a:gd name="T35" fmla="*/ 194813 h 435"/>
                    <a:gd name="T36" fmla="*/ 221804 w 498"/>
                    <a:gd name="T37" fmla="*/ 194813 h 435"/>
                    <a:gd name="T38" fmla="*/ 115142 w 498"/>
                    <a:gd name="T39" fmla="*/ 135561 h 435"/>
                    <a:gd name="T40" fmla="*/ 115142 w 498"/>
                    <a:gd name="T41" fmla="*/ 135561 h 435"/>
                    <a:gd name="T42" fmla="*/ 83455 w 498"/>
                    <a:gd name="T43" fmla="*/ 103691 h 435"/>
                    <a:gd name="T44" fmla="*/ 95059 w 498"/>
                    <a:gd name="T45" fmla="*/ 75412 h 435"/>
                    <a:gd name="T46" fmla="*/ 103092 w 498"/>
                    <a:gd name="T47" fmla="*/ 59701 h 435"/>
                    <a:gd name="T48" fmla="*/ 99075 w 498"/>
                    <a:gd name="T49" fmla="*/ 51621 h 435"/>
                    <a:gd name="T50" fmla="*/ 103092 w 498"/>
                    <a:gd name="T51" fmla="*/ 31870 h 435"/>
                    <a:gd name="T52" fmla="*/ 67389 w 498"/>
                    <a:gd name="T53" fmla="*/ 0 h 435"/>
                    <a:gd name="T54" fmla="*/ 31686 w 498"/>
                    <a:gd name="T55" fmla="*/ 31870 h 435"/>
                    <a:gd name="T56" fmla="*/ 31686 w 498"/>
                    <a:gd name="T57" fmla="*/ 51621 h 435"/>
                    <a:gd name="T58" fmla="*/ 31686 w 498"/>
                    <a:gd name="T59" fmla="*/ 59701 h 435"/>
                    <a:gd name="T60" fmla="*/ 39719 w 498"/>
                    <a:gd name="T61" fmla="*/ 75412 h 435"/>
                    <a:gd name="T62" fmla="*/ 47753 w 498"/>
                    <a:gd name="T63" fmla="*/ 103691 h 435"/>
                    <a:gd name="T64" fmla="*/ 20083 w 498"/>
                    <a:gd name="T65" fmla="*/ 135561 h 435"/>
                    <a:gd name="T66" fmla="*/ 0 w 498"/>
                    <a:gd name="T67" fmla="*/ 155312 h 435"/>
                    <a:gd name="T68" fmla="*/ 0 w 498"/>
                    <a:gd name="T69" fmla="*/ 194813 h 435"/>
                    <a:gd name="T70" fmla="*/ 154415 w 498"/>
                    <a:gd name="T71" fmla="*/ 194813 h 435"/>
                    <a:gd name="T72" fmla="*/ 154415 w 498"/>
                    <a:gd name="T73" fmla="*/ 163392 h 435"/>
                    <a:gd name="T74" fmla="*/ 115142 w 498"/>
                    <a:gd name="T75" fmla="*/ 135561 h 4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8" h="435">
                      <a:moveTo>
                        <a:pt x="497" y="434"/>
                      </a:moveTo>
                      <a:lnTo>
                        <a:pt x="497" y="434"/>
                      </a:lnTo>
                      <a:cubicBezTo>
                        <a:pt x="497" y="434"/>
                        <a:pt x="497" y="337"/>
                        <a:pt x="487" y="328"/>
                      </a:cubicBezTo>
                      <a:cubicBezTo>
                        <a:pt x="479" y="319"/>
                        <a:pt x="462" y="302"/>
                        <a:pt x="425" y="293"/>
                      </a:cubicBezTo>
                      <a:cubicBezTo>
                        <a:pt x="390" y="275"/>
                        <a:pt x="372" y="257"/>
                        <a:pt x="372" y="231"/>
                      </a:cubicBezTo>
                      <a:cubicBezTo>
                        <a:pt x="372" y="213"/>
                        <a:pt x="390" y="222"/>
                        <a:pt x="390" y="196"/>
                      </a:cubicBezTo>
                      <a:cubicBezTo>
                        <a:pt x="390" y="178"/>
                        <a:pt x="408" y="196"/>
                        <a:pt x="408" y="159"/>
                      </a:cubicBezTo>
                      <a:cubicBezTo>
                        <a:pt x="408" y="151"/>
                        <a:pt x="399" y="151"/>
                        <a:pt x="399" y="151"/>
                      </a:cubicBezTo>
                      <a:cubicBezTo>
                        <a:pt x="399" y="151"/>
                        <a:pt x="408" y="133"/>
                        <a:pt x="408" y="115"/>
                      </a:cubicBezTo>
                      <a:cubicBezTo>
                        <a:pt x="408" y="98"/>
                        <a:pt x="399" y="62"/>
                        <a:pt x="346" y="62"/>
                      </a:cubicBezTo>
                      <a:cubicBezTo>
                        <a:pt x="293" y="62"/>
                        <a:pt x="284" y="98"/>
                        <a:pt x="284" y="115"/>
                      </a:cubicBezTo>
                      <a:cubicBezTo>
                        <a:pt x="284" y="133"/>
                        <a:pt x="293" y="151"/>
                        <a:pt x="293" y="151"/>
                      </a:cubicBezTo>
                      <a:cubicBezTo>
                        <a:pt x="293" y="151"/>
                        <a:pt x="284" y="151"/>
                        <a:pt x="284" y="159"/>
                      </a:cubicBezTo>
                      <a:cubicBezTo>
                        <a:pt x="284" y="196"/>
                        <a:pt x="293" y="178"/>
                        <a:pt x="302" y="196"/>
                      </a:cubicBezTo>
                      <a:cubicBezTo>
                        <a:pt x="302" y="222"/>
                        <a:pt x="311" y="213"/>
                        <a:pt x="311" y="231"/>
                      </a:cubicBezTo>
                      <a:cubicBezTo>
                        <a:pt x="311" y="249"/>
                        <a:pt x="311" y="266"/>
                        <a:pt x="293" y="275"/>
                      </a:cubicBezTo>
                      <a:cubicBezTo>
                        <a:pt x="372" y="319"/>
                        <a:pt x="381" y="319"/>
                        <a:pt x="381" y="364"/>
                      </a:cubicBezTo>
                      <a:cubicBezTo>
                        <a:pt x="381" y="434"/>
                        <a:pt x="381" y="434"/>
                        <a:pt x="381" y="434"/>
                      </a:cubicBezTo>
                      <a:lnTo>
                        <a:pt x="497" y="434"/>
                      </a:lnTo>
                      <a:close/>
                      <a:moveTo>
                        <a:pt x="258" y="302"/>
                      </a:moveTo>
                      <a:lnTo>
                        <a:pt x="258" y="302"/>
                      </a:lnTo>
                      <a:cubicBezTo>
                        <a:pt x="204" y="284"/>
                        <a:pt x="187" y="266"/>
                        <a:pt x="187" y="231"/>
                      </a:cubicBezTo>
                      <a:cubicBezTo>
                        <a:pt x="187" y="204"/>
                        <a:pt x="204" y="213"/>
                        <a:pt x="213" y="168"/>
                      </a:cubicBezTo>
                      <a:cubicBezTo>
                        <a:pt x="213" y="159"/>
                        <a:pt x="231" y="168"/>
                        <a:pt x="231" y="133"/>
                      </a:cubicBezTo>
                      <a:cubicBezTo>
                        <a:pt x="231" y="115"/>
                        <a:pt x="222" y="115"/>
                        <a:pt x="222" y="115"/>
                      </a:cubicBezTo>
                      <a:cubicBezTo>
                        <a:pt x="222" y="115"/>
                        <a:pt x="222" y="89"/>
                        <a:pt x="231" y="71"/>
                      </a:cubicBezTo>
                      <a:cubicBezTo>
                        <a:pt x="231" y="53"/>
                        <a:pt x="213" y="0"/>
                        <a:pt x="151" y="0"/>
                      </a:cubicBezTo>
                      <a:cubicBezTo>
                        <a:pt x="80" y="0"/>
                        <a:pt x="71" y="53"/>
                        <a:pt x="71" y="71"/>
                      </a:cubicBezTo>
                      <a:cubicBezTo>
                        <a:pt x="71" y="89"/>
                        <a:pt x="71" y="115"/>
                        <a:pt x="71" y="115"/>
                      </a:cubicBezTo>
                      <a:cubicBezTo>
                        <a:pt x="71" y="115"/>
                        <a:pt x="71" y="115"/>
                        <a:pt x="71" y="133"/>
                      </a:cubicBezTo>
                      <a:cubicBezTo>
                        <a:pt x="71" y="168"/>
                        <a:pt x="80" y="159"/>
                        <a:pt x="89" y="168"/>
                      </a:cubicBezTo>
                      <a:cubicBezTo>
                        <a:pt x="89" y="213"/>
                        <a:pt x="107" y="204"/>
                        <a:pt x="107" y="231"/>
                      </a:cubicBezTo>
                      <a:cubicBezTo>
                        <a:pt x="107" y="266"/>
                        <a:pt x="89" y="284"/>
                        <a:pt x="45" y="302"/>
                      </a:cubicBezTo>
                      <a:cubicBezTo>
                        <a:pt x="27" y="310"/>
                        <a:pt x="0" y="319"/>
                        <a:pt x="0" y="346"/>
                      </a:cubicBezTo>
                      <a:cubicBezTo>
                        <a:pt x="0" y="434"/>
                        <a:pt x="0" y="434"/>
                        <a:pt x="0" y="434"/>
                      </a:cubicBezTo>
                      <a:cubicBezTo>
                        <a:pt x="346" y="434"/>
                        <a:pt x="346" y="434"/>
                        <a:pt x="346" y="434"/>
                      </a:cubicBezTo>
                      <a:cubicBezTo>
                        <a:pt x="346" y="434"/>
                        <a:pt x="346" y="381"/>
                        <a:pt x="346" y="364"/>
                      </a:cubicBezTo>
                      <a:cubicBezTo>
                        <a:pt x="346" y="346"/>
                        <a:pt x="302" y="328"/>
                        <a:pt x="258" y="302"/>
                      </a:cubicBezTo>
                      <a:close/>
                    </a:path>
                  </a:pathLst>
                </a:custGeom>
                <a:solidFill>
                  <a:schemeClr val="bg1"/>
                </a:solidFill>
                <a:ln>
                  <a:noFill/>
                </a:ln>
                <a:effectLst/>
              </p:spPr>
              <p:txBody>
                <a:bodyPr wrap="none" lIns="34290" tIns="17145" rIns="34290" bIns="171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sp>
            <p:nvSpPr>
              <p:cNvPr id="15" name="TextBox 34"/>
              <p:cNvSpPr txBox="1"/>
              <p:nvPr>
                <p:custDataLst>
                  <p:tags r:id="rId15"/>
                </p:custDataLst>
              </p:nvPr>
            </p:nvSpPr>
            <p:spPr>
              <a:xfrm>
                <a:off x="5299680" y="3227371"/>
                <a:ext cx="1118382"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dirty="0">
                    <a:solidFill>
                      <a:schemeClr val="bg1"/>
                    </a:solidFill>
                    <a:cs typeface="+mn-ea"/>
                    <a:sym typeface="+mn-lt"/>
                  </a:rPr>
                  <a:t>03</a:t>
                </a:r>
                <a:endParaRPr lang="id-ID" sz="5400" dirty="0">
                  <a:solidFill>
                    <a:schemeClr val="bg1"/>
                  </a:solidFill>
                  <a:cs typeface="+mn-ea"/>
                  <a:sym typeface="+mn-lt"/>
                </a:endParaRPr>
              </a:p>
            </p:txBody>
          </p:sp>
        </p:grpSp>
        <p:grpSp>
          <p:nvGrpSpPr>
            <p:cNvPr id="9" name="组合 8"/>
            <p:cNvGrpSpPr/>
            <p:nvPr/>
          </p:nvGrpSpPr>
          <p:grpSpPr>
            <a:xfrm rot="0">
              <a:off x="7388596" y="4625231"/>
              <a:ext cx="617979" cy="617979"/>
              <a:chOff x="7210177" y="3825167"/>
              <a:chExt cx="985609" cy="985609"/>
            </a:xfrm>
          </p:grpSpPr>
          <p:sp>
            <p:nvSpPr>
              <p:cNvPr id="11" name="Oval 14"/>
              <p:cNvSpPr/>
              <p:nvPr>
                <p:custDataLst>
                  <p:tags r:id="rId16"/>
                </p:custDataLst>
              </p:nvPr>
            </p:nvSpPr>
            <p:spPr>
              <a:xfrm>
                <a:off x="7210177" y="3825167"/>
                <a:ext cx="985609" cy="985609"/>
              </a:xfrm>
              <a:prstGeom prst="ellipse">
                <a:avLst/>
              </a:prstGeom>
              <a:solidFill>
                <a:schemeClr val="accent1">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12" name="Freeform 79"/>
              <p:cNvSpPr>
                <a:spLocks noChangeArrowheads="1"/>
              </p:cNvSpPr>
              <p:nvPr>
                <p:custDataLst>
                  <p:tags r:id="rId17"/>
                </p:custDataLst>
              </p:nvPr>
            </p:nvSpPr>
            <p:spPr bwMode="auto">
              <a:xfrm>
                <a:off x="7472738" y="4086023"/>
                <a:ext cx="460487" cy="463897"/>
              </a:xfrm>
              <a:custGeom>
                <a:avLst/>
                <a:gdLst>
                  <a:gd name="T0" fmla="*/ 106933 w 479"/>
                  <a:gd name="T1" fmla="*/ 0 h 479"/>
                  <a:gd name="T2" fmla="*/ 106933 w 479"/>
                  <a:gd name="T3" fmla="*/ 0 h 479"/>
                  <a:gd name="T4" fmla="*/ 0 w 479"/>
                  <a:gd name="T5" fmla="*/ 107725 h 479"/>
                  <a:gd name="T6" fmla="*/ 106933 w 479"/>
                  <a:gd name="T7" fmla="*/ 215449 h 479"/>
                  <a:gd name="T8" fmla="*/ 213866 w 479"/>
                  <a:gd name="T9" fmla="*/ 107725 h 479"/>
                  <a:gd name="T10" fmla="*/ 106933 w 479"/>
                  <a:gd name="T11" fmla="*/ 0 h 479"/>
                  <a:gd name="T12" fmla="*/ 198206 w 479"/>
                  <a:gd name="T13" fmla="*/ 107725 h 479"/>
                  <a:gd name="T14" fmla="*/ 198206 w 479"/>
                  <a:gd name="T15" fmla="*/ 107725 h 479"/>
                  <a:gd name="T16" fmla="*/ 178520 w 479"/>
                  <a:gd name="T17" fmla="*/ 163615 h 479"/>
                  <a:gd name="T18" fmla="*/ 174493 w 479"/>
                  <a:gd name="T19" fmla="*/ 147840 h 479"/>
                  <a:gd name="T20" fmla="*/ 178520 w 479"/>
                  <a:gd name="T21" fmla="*/ 115838 h 479"/>
                  <a:gd name="T22" fmla="*/ 166439 w 479"/>
                  <a:gd name="T23" fmla="*/ 91949 h 479"/>
                  <a:gd name="T24" fmla="*/ 142726 w 479"/>
                  <a:gd name="T25" fmla="*/ 80230 h 479"/>
                  <a:gd name="T26" fmla="*/ 154806 w 479"/>
                  <a:gd name="T27" fmla="*/ 39664 h 479"/>
                  <a:gd name="T28" fmla="*/ 131093 w 479"/>
                  <a:gd name="T29" fmla="*/ 27945 h 479"/>
                  <a:gd name="T30" fmla="*/ 134673 w 479"/>
                  <a:gd name="T31" fmla="*/ 23889 h 479"/>
                  <a:gd name="T32" fmla="*/ 198206 w 479"/>
                  <a:gd name="T33" fmla="*/ 107725 h 479"/>
                  <a:gd name="T34" fmla="*/ 94853 w 479"/>
                  <a:gd name="T35" fmla="*/ 19832 h 479"/>
                  <a:gd name="T36" fmla="*/ 94853 w 479"/>
                  <a:gd name="T37" fmla="*/ 19832 h 479"/>
                  <a:gd name="T38" fmla="*/ 83220 w 479"/>
                  <a:gd name="T39" fmla="*/ 27945 h 479"/>
                  <a:gd name="T40" fmla="*/ 67113 w 479"/>
                  <a:gd name="T41" fmla="*/ 39664 h 479"/>
                  <a:gd name="T42" fmla="*/ 51453 w 479"/>
                  <a:gd name="T43" fmla="*/ 59947 h 479"/>
                  <a:gd name="T44" fmla="*/ 59507 w 479"/>
                  <a:gd name="T45" fmla="*/ 71666 h 479"/>
                  <a:gd name="T46" fmla="*/ 79193 w 479"/>
                  <a:gd name="T47" fmla="*/ 71666 h 479"/>
                  <a:gd name="T48" fmla="*/ 110960 w 479"/>
                  <a:gd name="T49" fmla="*/ 107725 h 479"/>
                  <a:gd name="T50" fmla="*/ 83220 w 479"/>
                  <a:gd name="T51" fmla="*/ 131613 h 479"/>
                  <a:gd name="T52" fmla="*/ 79193 w 479"/>
                  <a:gd name="T53" fmla="*/ 151896 h 479"/>
                  <a:gd name="T54" fmla="*/ 79193 w 479"/>
                  <a:gd name="T55" fmla="*/ 175785 h 479"/>
                  <a:gd name="T56" fmla="*/ 59507 w 479"/>
                  <a:gd name="T57" fmla="*/ 155502 h 479"/>
                  <a:gd name="T58" fmla="*/ 55480 w 479"/>
                  <a:gd name="T59" fmla="*/ 128008 h 479"/>
                  <a:gd name="T60" fmla="*/ 39373 w 479"/>
                  <a:gd name="T61" fmla="*/ 107725 h 479"/>
                  <a:gd name="T62" fmla="*/ 47426 w 479"/>
                  <a:gd name="T63" fmla="*/ 83836 h 479"/>
                  <a:gd name="T64" fmla="*/ 23713 w 479"/>
                  <a:gd name="T65" fmla="*/ 76173 h 479"/>
                  <a:gd name="T66" fmla="*/ 94853 w 479"/>
                  <a:gd name="T67" fmla="*/ 19832 h 479"/>
                  <a:gd name="T68" fmla="*/ 79193 w 479"/>
                  <a:gd name="T69" fmla="*/ 195617 h 479"/>
                  <a:gd name="T70" fmla="*/ 79193 w 479"/>
                  <a:gd name="T71" fmla="*/ 195617 h 479"/>
                  <a:gd name="T72" fmla="*/ 91273 w 479"/>
                  <a:gd name="T73" fmla="*/ 187504 h 479"/>
                  <a:gd name="T74" fmla="*/ 106933 w 479"/>
                  <a:gd name="T75" fmla="*/ 183447 h 479"/>
                  <a:gd name="T76" fmla="*/ 131093 w 479"/>
                  <a:gd name="T77" fmla="*/ 175785 h 479"/>
                  <a:gd name="T78" fmla="*/ 158386 w 479"/>
                  <a:gd name="T79" fmla="*/ 183447 h 479"/>
                  <a:gd name="T80" fmla="*/ 106933 w 479"/>
                  <a:gd name="T81" fmla="*/ 199674 h 479"/>
                  <a:gd name="T82" fmla="*/ 79193 w 479"/>
                  <a:gd name="T83" fmla="*/ 195617 h 47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79" h="479">
                    <a:moveTo>
                      <a:pt x="239" y="0"/>
                    </a:moveTo>
                    <a:lnTo>
                      <a:pt x="239" y="0"/>
                    </a:lnTo>
                    <a:cubicBezTo>
                      <a:pt x="106" y="0"/>
                      <a:pt x="0" y="106"/>
                      <a:pt x="0" y="239"/>
                    </a:cubicBezTo>
                    <a:cubicBezTo>
                      <a:pt x="0" y="372"/>
                      <a:pt x="106" y="478"/>
                      <a:pt x="239" y="478"/>
                    </a:cubicBezTo>
                    <a:cubicBezTo>
                      <a:pt x="372" y="478"/>
                      <a:pt x="478" y="372"/>
                      <a:pt x="478" y="239"/>
                    </a:cubicBezTo>
                    <a:cubicBezTo>
                      <a:pt x="478" y="106"/>
                      <a:pt x="372" y="0"/>
                      <a:pt x="239" y="0"/>
                    </a:cubicBezTo>
                    <a:close/>
                    <a:moveTo>
                      <a:pt x="443" y="239"/>
                    </a:moveTo>
                    <a:lnTo>
                      <a:pt x="443" y="239"/>
                    </a:lnTo>
                    <a:cubicBezTo>
                      <a:pt x="443" y="292"/>
                      <a:pt x="425" y="328"/>
                      <a:pt x="399" y="363"/>
                    </a:cubicBezTo>
                    <a:cubicBezTo>
                      <a:pt x="390" y="363"/>
                      <a:pt x="381" y="345"/>
                      <a:pt x="390" y="328"/>
                    </a:cubicBezTo>
                    <a:cubicBezTo>
                      <a:pt x="399" y="310"/>
                      <a:pt x="399" y="275"/>
                      <a:pt x="399" y="257"/>
                    </a:cubicBezTo>
                    <a:cubicBezTo>
                      <a:pt x="399" y="239"/>
                      <a:pt x="390" y="204"/>
                      <a:pt x="372" y="204"/>
                    </a:cubicBezTo>
                    <a:cubicBezTo>
                      <a:pt x="346" y="204"/>
                      <a:pt x="337" y="204"/>
                      <a:pt x="319" y="178"/>
                    </a:cubicBezTo>
                    <a:cubicBezTo>
                      <a:pt x="301" y="124"/>
                      <a:pt x="372" y="115"/>
                      <a:pt x="346" y="88"/>
                    </a:cubicBezTo>
                    <a:cubicBezTo>
                      <a:pt x="337" y="80"/>
                      <a:pt x="301" y="115"/>
                      <a:pt x="293" y="62"/>
                    </a:cubicBezTo>
                    <a:lnTo>
                      <a:pt x="301" y="53"/>
                    </a:lnTo>
                    <a:cubicBezTo>
                      <a:pt x="381" y="80"/>
                      <a:pt x="443" y="150"/>
                      <a:pt x="443" y="239"/>
                    </a:cubicBezTo>
                    <a:close/>
                    <a:moveTo>
                      <a:pt x="212" y="44"/>
                    </a:moveTo>
                    <a:lnTo>
                      <a:pt x="212" y="44"/>
                    </a:lnTo>
                    <a:cubicBezTo>
                      <a:pt x="204" y="53"/>
                      <a:pt x="194" y="53"/>
                      <a:pt x="186" y="62"/>
                    </a:cubicBezTo>
                    <a:cubicBezTo>
                      <a:pt x="168" y="80"/>
                      <a:pt x="159" y="71"/>
                      <a:pt x="150" y="88"/>
                    </a:cubicBezTo>
                    <a:cubicBezTo>
                      <a:pt x="141" y="106"/>
                      <a:pt x="115" y="124"/>
                      <a:pt x="115" y="133"/>
                    </a:cubicBezTo>
                    <a:cubicBezTo>
                      <a:pt x="115" y="142"/>
                      <a:pt x="133" y="159"/>
                      <a:pt x="133" y="159"/>
                    </a:cubicBezTo>
                    <a:cubicBezTo>
                      <a:pt x="141" y="150"/>
                      <a:pt x="159" y="150"/>
                      <a:pt x="177" y="159"/>
                    </a:cubicBezTo>
                    <a:cubicBezTo>
                      <a:pt x="186" y="159"/>
                      <a:pt x="275" y="169"/>
                      <a:pt x="248" y="239"/>
                    </a:cubicBezTo>
                    <a:cubicBezTo>
                      <a:pt x="239" y="266"/>
                      <a:pt x="194" y="257"/>
                      <a:pt x="186" y="292"/>
                    </a:cubicBezTo>
                    <a:cubicBezTo>
                      <a:pt x="186" y="301"/>
                      <a:pt x="186" y="328"/>
                      <a:pt x="177" y="337"/>
                    </a:cubicBezTo>
                    <a:cubicBezTo>
                      <a:pt x="177" y="345"/>
                      <a:pt x="186" y="390"/>
                      <a:pt x="177" y="390"/>
                    </a:cubicBezTo>
                    <a:cubicBezTo>
                      <a:pt x="168" y="390"/>
                      <a:pt x="133" y="345"/>
                      <a:pt x="133" y="345"/>
                    </a:cubicBezTo>
                    <a:cubicBezTo>
                      <a:pt x="133" y="337"/>
                      <a:pt x="124" y="310"/>
                      <a:pt x="124" y="284"/>
                    </a:cubicBezTo>
                    <a:cubicBezTo>
                      <a:pt x="124" y="266"/>
                      <a:pt x="88" y="266"/>
                      <a:pt x="88" y="239"/>
                    </a:cubicBezTo>
                    <a:cubicBezTo>
                      <a:pt x="88" y="213"/>
                      <a:pt x="106" y="195"/>
                      <a:pt x="106" y="186"/>
                    </a:cubicBezTo>
                    <a:cubicBezTo>
                      <a:pt x="97" y="169"/>
                      <a:pt x="62" y="169"/>
                      <a:pt x="53" y="169"/>
                    </a:cubicBezTo>
                    <a:cubicBezTo>
                      <a:pt x="80" y="97"/>
                      <a:pt x="141" y="53"/>
                      <a:pt x="212" y="44"/>
                    </a:cubicBezTo>
                    <a:close/>
                    <a:moveTo>
                      <a:pt x="177" y="434"/>
                    </a:moveTo>
                    <a:lnTo>
                      <a:pt x="177" y="434"/>
                    </a:lnTo>
                    <a:cubicBezTo>
                      <a:pt x="186" y="425"/>
                      <a:pt x="186" y="416"/>
                      <a:pt x="204" y="416"/>
                    </a:cubicBezTo>
                    <a:cubicBezTo>
                      <a:pt x="212" y="416"/>
                      <a:pt x="221" y="416"/>
                      <a:pt x="239" y="407"/>
                    </a:cubicBezTo>
                    <a:cubicBezTo>
                      <a:pt x="248" y="407"/>
                      <a:pt x="275" y="398"/>
                      <a:pt x="293" y="390"/>
                    </a:cubicBezTo>
                    <a:cubicBezTo>
                      <a:pt x="310" y="390"/>
                      <a:pt x="346" y="398"/>
                      <a:pt x="354" y="407"/>
                    </a:cubicBezTo>
                    <a:cubicBezTo>
                      <a:pt x="319" y="434"/>
                      <a:pt x="284" y="443"/>
                      <a:pt x="239" y="443"/>
                    </a:cubicBezTo>
                    <a:cubicBezTo>
                      <a:pt x="221" y="443"/>
                      <a:pt x="194" y="443"/>
                      <a:pt x="177" y="434"/>
                    </a:cubicBezTo>
                    <a:close/>
                  </a:path>
                </a:pathLst>
              </a:custGeom>
              <a:solidFill>
                <a:schemeClr val="bg1"/>
              </a:solidFill>
              <a:ln>
                <a:noFill/>
              </a:ln>
              <a:effectLst/>
            </p:spPr>
            <p:txBody>
              <a:bodyPr wrap="none" lIns="34290" tIns="17145" rIns="34290" bIns="1714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grpSp>
      <p:sp>
        <p:nvSpPr>
          <p:cNvPr id="42" name="Text Box 10"/>
          <p:cNvSpPr txBox="1">
            <a:spLocks noChangeArrowheads="1"/>
          </p:cNvSpPr>
          <p:nvPr>
            <p:custDataLst>
              <p:tags r:id="rId18"/>
            </p:custDataLst>
          </p:nvPr>
        </p:nvSpPr>
        <p:spPr bwMode="auto">
          <a:xfrm>
            <a:off x="1791997" y="5362083"/>
            <a:ext cx="3426774" cy="61468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en-US" altLang="zh-CN" sz="1200" dirty="0">
                <a:cs typeface="+mn-ea"/>
                <a:sym typeface="+mn-lt"/>
              </a:rPr>
              <a:t>code generation, requirements analysis, test generation in specific context</a:t>
            </a:r>
            <a:endParaRPr lang="en-US" altLang="zh-CN" sz="1200" dirty="0">
              <a:cs typeface="+mn-ea"/>
              <a:sym typeface="+mn-lt"/>
            </a:endParaRPr>
          </a:p>
        </p:txBody>
      </p:sp>
      <p:sp>
        <p:nvSpPr>
          <p:cNvPr id="43" name="矩形 42"/>
          <p:cNvSpPr/>
          <p:nvPr>
            <p:custDataLst>
              <p:tags r:id="rId19"/>
            </p:custDataLst>
          </p:nvPr>
        </p:nvSpPr>
        <p:spPr>
          <a:xfrm>
            <a:off x="1773219" y="5020503"/>
            <a:ext cx="1930473"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Recent Research</a:t>
            </a:r>
            <a:endParaRPr lang="en-US" altLang="zh-CN" b="1" dirty="0">
              <a:cs typeface="+mn-ea"/>
              <a:sym typeface="+mn-lt"/>
            </a:endParaRPr>
          </a:p>
        </p:txBody>
      </p:sp>
      <p:sp>
        <p:nvSpPr>
          <p:cNvPr id="44" name="Text Box 10"/>
          <p:cNvSpPr txBox="1">
            <a:spLocks noChangeArrowheads="1"/>
          </p:cNvSpPr>
          <p:nvPr>
            <p:custDataLst>
              <p:tags r:id="rId20"/>
            </p:custDataLst>
          </p:nvPr>
        </p:nvSpPr>
        <p:spPr bwMode="auto">
          <a:xfrm>
            <a:off x="3661743" y="2150661"/>
            <a:ext cx="3426774" cy="61468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Storey and Zagalsky </a:t>
            </a:r>
            <a:r>
              <a:rPr lang="en-US" altLang="zh-CN" sz="1200" dirty="0">
                <a:cs typeface="+mn-ea"/>
                <a:sym typeface="+mn-lt"/>
              </a:rPr>
              <a:t>provide</a:t>
            </a:r>
            <a:r>
              <a:rPr lang="zh-CN" altLang="en-US" sz="1200" dirty="0">
                <a:cs typeface="+mn-ea"/>
                <a:sym typeface="+mn-lt"/>
              </a:rPr>
              <a:t> a cognitive support framework</a:t>
            </a:r>
            <a:r>
              <a:rPr lang="en-US" altLang="zh-CN" sz="1200" dirty="0">
                <a:cs typeface="+mn-ea"/>
                <a:sym typeface="+mn-lt"/>
              </a:rPr>
              <a:t>, in this text to measure the productivity</a:t>
            </a:r>
            <a:endParaRPr lang="en-US" altLang="zh-CN" sz="1200" dirty="0">
              <a:cs typeface="+mn-ea"/>
              <a:sym typeface="+mn-lt"/>
            </a:endParaRPr>
          </a:p>
        </p:txBody>
      </p:sp>
      <p:sp>
        <p:nvSpPr>
          <p:cNvPr id="45" name="矩形 44"/>
          <p:cNvSpPr/>
          <p:nvPr>
            <p:custDataLst>
              <p:tags r:id="rId21"/>
            </p:custDataLst>
          </p:nvPr>
        </p:nvSpPr>
        <p:spPr>
          <a:xfrm>
            <a:off x="3642995" y="1809115"/>
            <a:ext cx="344551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How LLM influence productivity</a:t>
            </a:r>
            <a:endParaRPr lang="en-US" altLang="zh-CN" b="1" dirty="0">
              <a:cs typeface="+mn-ea"/>
              <a:sym typeface="+mn-lt"/>
            </a:endParaRPr>
          </a:p>
        </p:txBody>
      </p:sp>
      <p:sp>
        <p:nvSpPr>
          <p:cNvPr id="46" name="Text Box 10"/>
          <p:cNvSpPr txBox="1">
            <a:spLocks noChangeArrowheads="1"/>
          </p:cNvSpPr>
          <p:nvPr>
            <p:custDataLst>
              <p:tags r:id="rId22"/>
            </p:custDataLst>
          </p:nvPr>
        </p:nvSpPr>
        <p:spPr bwMode="auto">
          <a:xfrm>
            <a:off x="5507489" y="5362083"/>
            <a:ext cx="3426774" cy="89154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en-US" altLang="zh-CN" sz="1200" dirty="0">
                <a:cs typeface="+mn-ea"/>
                <a:sym typeface="+mn-lt"/>
              </a:rPr>
              <a:t>How developer interacting with Copilot:</a:t>
            </a:r>
            <a:endParaRPr lang="en-US" altLang="zh-CN" sz="1200" dirty="0">
              <a:cs typeface="+mn-ea"/>
              <a:sym typeface="+mn-lt"/>
            </a:endParaRPr>
          </a:p>
          <a:p>
            <a:pPr defTabSz="1450975">
              <a:lnSpc>
                <a:spcPct val="150000"/>
              </a:lnSpc>
            </a:pPr>
            <a:r>
              <a:rPr lang="zh-CN" altLang="en-US" sz="1200" dirty="0">
                <a:cs typeface="+mn-ea"/>
                <a:sym typeface="+mn-lt"/>
              </a:rPr>
              <a:t>acceleration mode</a:t>
            </a:r>
            <a:r>
              <a:rPr lang="en-US" altLang="zh-CN" sz="1200" dirty="0">
                <a:cs typeface="+mn-ea"/>
                <a:sym typeface="+mn-lt"/>
              </a:rPr>
              <a:t>(write things faster)</a:t>
            </a:r>
            <a:endParaRPr lang="zh-CN" altLang="en-US" sz="1200" dirty="0">
              <a:cs typeface="+mn-ea"/>
              <a:sym typeface="+mn-lt"/>
            </a:endParaRPr>
          </a:p>
          <a:p>
            <a:pPr defTabSz="1450975">
              <a:lnSpc>
                <a:spcPct val="150000"/>
              </a:lnSpc>
            </a:pPr>
            <a:r>
              <a:rPr lang="zh-CN" altLang="en-US" sz="1200" dirty="0">
                <a:cs typeface="+mn-ea"/>
                <a:sym typeface="+mn-lt"/>
              </a:rPr>
              <a:t>exploration mode</a:t>
            </a:r>
            <a:r>
              <a:rPr lang="en-US" altLang="zh-CN" sz="1200" dirty="0">
                <a:cs typeface="+mn-ea"/>
                <a:sym typeface="+mn-lt"/>
              </a:rPr>
              <a:t>(explore solutions)</a:t>
            </a:r>
            <a:endParaRPr lang="en-US" altLang="zh-CN" sz="1200" dirty="0">
              <a:cs typeface="+mn-ea"/>
              <a:sym typeface="+mn-lt"/>
            </a:endParaRPr>
          </a:p>
        </p:txBody>
      </p:sp>
      <p:sp>
        <p:nvSpPr>
          <p:cNvPr id="47" name="矩形 46"/>
          <p:cNvSpPr/>
          <p:nvPr>
            <p:custDataLst>
              <p:tags r:id="rId23"/>
            </p:custDataLst>
          </p:nvPr>
        </p:nvSpPr>
        <p:spPr>
          <a:xfrm>
            <a:off x="5488711" y="5020503"/>
            <a:ext cx="1930473"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Code Generation</a:t>
            </a:r>
            <a:endParaRPr lang="en-US" altLang="zh-CN" b="1" dirty="0">
              <a:cs typeface="+mn-ea"/>
              <a:sym typeface="+mn-lt"/>
            </a:endParaRPr>
          </a:p>
        </p:txBody>
      </p:sp>
      <p:grpSp>
        <p:nvGrpSpPr>
          <p:cNvPr id="50" name="组合 49"/>
          <p:cNvGrpSpPr/>
          <p:nvPr/>
        </p:nvGrpSpPr>
        <p:grpSpPr>
          <a:xfrm>
            <a:off x="748244" y="776125"/>
            <a:ext cx="352439" cy="299049"/>
            <a:chOff x="4468761" y="1799303"/>
            <a:chExt cx="914400" cy="516194"/>
          </a:xfrm>
          <a:solidFill>
            <a:schemeClr val="accent1">
              <a:lumMod val="20000"/>
              <a:lumOff val="80000"/>
            </a:schemeClr>
          </a:solidFill>
        </p:grpSpPr>
        <p:sp>
          <p:nvSpPr>
            <p:cNvPr id="51" name="矩形 50"/>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2" name="矩形 51"/>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3" name="矩形 52"/>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4"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Certain Works</a:t>
            </a:r>
            <a:endParaRPr lang="en-US" altLang="zh-CN" sz="2800" dirty="0">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03</a:t>
            </a:r>
            <a:endParaRPr lang="zh-CN" altLang="en-US" sz="3200" b="1" dirty="0">
              <a:cs typeface="+mn-ea"/>
              <a:sym typeface="+mn-lt"/>
            </a:endParaRPr>
          </a:p>
        </p:txBody>
      </p:sp>
      <p:sp>
        <p:nvSpPr>
          <p:cNvPr id="5" name="Footer Text"/>
          <p:cNvSpPr txBox="1"/>
          <p:nvPr/>
        </p:nvSpPr>
        <p:spPr>
          <a:xfrm>
            <a:off x="4448175" y="3282950"/>
            <a:ext cx="3495040"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cs typeface="+mn-ea"/>
                <a:sym typeface="+mn-lt"/>
              </a:rPr>
              <a:t>METHODOLOGY</a:t>
            </a:r>
            <a:endParaRPr lang="en-US" altLang="zh-CN" sz="3600" b="1" dirty="0">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48244" y="776125"/>
            <a:ext cx="352439" cy="299049"/>
            <a:chOff x="4468761" y="1799303"/>
            <a:chExt cx="914400" cy="516194"/>
          </a:xfrm>
          <a:solidFill>
            <a:schemeClr val="accent1">
              <a:lumMod val="20000"/>
              <a:lumOff val="80000"/>
            </a:schemeClr>
          </a:solidFill>
        </p:grpSpPr>
        <p:sp>
          <p:nvSpPr>
            <p:cNvPr id="53" name="矩形 5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4" name="矩形 5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5" name="矩形 5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6" name="Footer Text"/>
          <p:cNvSpPr txBox="1"/>
          <p:nvPr/>
        </p:nvSpPr>
        <p:spPr>
          <a:xfrm>
            <a:off x="1343025" y="709930"/>
            <a:ext cx="5532120"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Procedure of the observation study</a:t>
            </a:r>
            <a:endParaRPr lang="en-US" altLang="zh-CN" sz="2800" dirty="0">
              <a:cs typeface="+mn-ea"/>
              <a:sym typeface="+mn-lt"/>
            </a:endParaRPr>
          </a:p>
        </p:txBody>
      </p:sp>
      <p:pic>
        <p:nvPicPr>
          <p:cNvPr id="14" name="图片 13"/>
          <p:cNvPicPr>
            <a:picLocks noChangeAspect="1"/>
          </p:cNvPicPr>
          <p:nvPr/>
        </p:nvPicPr>
        <p:blipFill>
          <a:blip r:embed="rId1"/>
          <a:stretch>
            <a:fillRect/>
          </a:stretch>
        </p:blipFill>
        <p:spPr>
          <a:xfrm>
            <a:off x="748030" y="2078990"/>
            <a:ext cx="10653395" cy="28168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0"/>
          <p:cNvGrpSpPr/>
          <p:nvPr>
            <p:custDataLst>
              <p:tags r:id="rId1"/>
            </p:custDataLst>
          </p:nvPr>
        </p:nvGrpSpPr>
        <p:grpSpPr>
          <a:xfrm rot="5400000">
            <a:off x="6219761" y="2201125"/>
            <a:ext cx="529404" cy="64771"/>
            <a:chOff x="9137503" y="1527024"/>
            <a:chExt cx="529404" cy="64771"/>
          </a:xfrm>
          <a:solidFill>
            <a:schemeClr val="accent1"/>
          </a:solidFill>
        </p:grpSpPr>
        <p:cxnSp>
          <p:nvCxnSpPr>
            <p:cNvPr id="3" name="Straight Connector 91"/>
            <p:cNvCxnSpPr/>
            <p:nvPr>
              <p:custDataLst>
                <p:tags r:id="rId2"/>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Oval 92"/>
            <p:cNvSpPr>
              <a:spLocks noChangeAspect="1"/>
            </p:cNvSpPr>
            <p:nvPr>
              <p:custDataLst>
                <p:tags r:id="rId3"/>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grpSp>
        <p:nvGrpSpPr>
          <p:cNvPr id="5" name="Group 96"/>
          <p:cNvGrpSpPr/>
          <p:nvPr>
            <p:custDataLst>
              <p:tags r:id="rId4"/>
            </p:custDataLst>
          </p:nvPr>
        </p:nvGrpSpPr>
        <p:grpSpPr>
          <a:xfrm rot="5400000">
            <a:off x="6219761" y="3274879"/>
            <a:ext cx="529404" cy="64771"/>
            <a:chOff x="9137503" y="1527024"/>
            <a:chExt cx="529404" cy="64771"/>
          </a:xfrm>
          <a:solidFill>
            <a:schemeClr val="accent1"/>
          </a:solidFill>
        </p:grpSpPr>
        <p:cxnSp>
          <p:nvCxnSpPr>
            <p:cNvPr id="6" name="Straight Connector 97"/>
            <p:cNvCxnSpPr/>
            <p:nvPr>
              <p:custDataLst>
                <p:tags r:id="rId5"/>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98"/>
            <p:cNvSpPr>
              <a:spLocks noChangeAspect="1"/>
            </p:cNvSpPr>
            <p:nvPr>
              <p:custDataLst>
                <p:tags r:id="rId6"/>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grpSp>
        <p:nvGrpSpPr>
          <p:cNvPr id="8" name="Group 102"/>
          <p:cNvGrpSpPr/>
          <p:nvPr>
            <p:custDataLst>
              <p:tags r:id="rId7"/>
            </p:custDataLst>
          </p:nvPr>
        </p:nvGrpSpPr>
        <p:grpSpPr>
          <a:xfrm rot="5400000">
            <a:off x="6219761" y="4367305"/>
            <a:ext cx="529404" cy="64771"/>
            <a:chOff x="9137503" y="1527024"/>
            <a:chExt cx="529404" cy="64771"/>
          </a:xfrm>
          <a:solidFill>
            <a:schemeClr val="accent1"/>
          </a:solidFill>
        </p:grpSpPr>
        <p:cxnSp>
          <p:nvCxnSpPr>
            <p:cNvPr id="9" name="Straight Connector 103"/>
            <p:cNvCxnSpPr/>
            <p:nvPr>
              <p:custDataLst>
                <p:tags r:id="rId8"/>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Oval 104"/>
            <p:cNvSpPr>
              <a:spLocks noChangeAspect="1"/>
            </p:cNvSpPr>
            <p:nvPr>
              <p:custDataLst>
                <p:tags r:id="rId9"/>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sp>
        <p:nvSpPr>
          <p:cNvPr id="38" name="Text Box 10"/>
          <p:cNvSpPr txBox="1">
            <a:spLocks noChangeArrowheads="1"/>
          </p:cNvSpPr>
          <p:nvPr>
            <p:custDataLst>
              <p:tags r:id="rId10"/>
            </p:custDataLst>
          </p:nvPr>
        </p:nvSpPr>
        <p:spPr bwMode="auto">
          <a:xfrm>
            <a:off x="6725401" y="2193675"/>
            <a:ext cx="4211043" cy="61468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24 specialized software engineers from 10 European companies</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39" name="矩形 38"/>
          <p:cNvSpPr/>
          <p:nvPr>
            <p:custDataLst>
              <p:tags r:id="rId11"/>
            </p:custDataLst>
          </p:nvPr>
        </p:nvSpPr>
        <p:spPr>
          <a:xfrm>
            <a:off x="6696075" y="1856105"/>
            <a:ext cx="268287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Select participantes</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sp>
        <p:nvSpPr>
          <p:cNvPr id="40" name="Text Box 10"/>
          <p:cNvSpPr txBox="1">
            <a:spLocks noChangeArrowheads="1"/>
          </p:cNvSpPr>
          <p:nvPr>
            <p:custDataLst>
              <p:tags r:id="rId12"/>
            </p:custDataLst>
          </p:nvPr>
        </p:nvSpPr>
        <p:spPr bwMode="auto">
          <a:xfrm>
            <a:off x="6725401" y="3265307"/>
            <a:ext cx="4211043" cy="61468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lang="en-US" altLang="zh-CN" sz="1200" noProof="0" dirty="0">
                <a:ln>
                  <a:noFill/>
                </a:ln>
                <a:solidFill>
                  <a:srgbClr val="000000"/>
                </a:solidFill>
                <a:effectLst/>
                <a:uLnTx/>
                <a:uFillTx/>
                <a:cs typeface="+mn-ea"/>
                <a:sym typeface="+mn-lt"/>
              </a:rPr>
              <a:t>Collecting 130 chats from ChatGPT’s web interface and filtered them to 180 dialogues related to software engineering</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41" name="矩形 40"/>
          <p:cNvSpPr/>
          <p:nvPr>
            <p:custDataLst>
              <p:tags r:id="rId13"/>
            </p:custDataLst>
          </p:nvPr>
        </p:nvSpPr>
        <p:spPr>
          <a:xfrm>
            <a:off x="6695907" y="2927866"/>
            <a:ext cx="1999668"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Chat protocols</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sp>
        <p:nvSpPr>
          <p:cNvPr id="42" name="Text Box 10"/>
          <p:cNvSpPr txBox="1">
            <a:spLocks noChangeArrowheads="1"/>
          </p:cNvSpPr>
          <p:nvPr>
            <p:custDataLst>
              <p:tags r:id="rId14"/>
            </p:custDataLst>
          </p:nvPr>
        </p:nvSpPr>
        <p:spPr bwMode="auto">
          <a:xfrm>
            <a:off x="6725401" y="4354403"/>
            <a:ext cx="4211043" cy="199961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 survey to explore the overall experience and thoughts of the participants after completing the study. The survey includes (i) The overall experience; (ii) specific scenarios where participants thought that their interaction went well (or not well); (iii) feeling of trust in ChatGPT’s answers; (iv) perceived effectiveness and efficiency of ChatGPT;(v) learned lessons from their interactions and future usage of ChatGPT.</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43" name="矩形 42"/>
          <p:cNvSpPr/>
          <p:nvPr>
            <p:custDataLst>
              <p:tags r:id="rId15"/>
            </p:custDataLst>
          </p:nvPr>
        </p:nvSpPr>
        <p:spPr>
          <a:xfrm>
            <a:off x="6695907" y="4016962"/>
            <a:ext cx="1999668"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Exit Survey</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grpSp>
        <p:nvGrpSpPr>
          <p:cNvPr id="52" name="组合 51"/>
          <p:cNvGrpSpPr/>
          <p:nvPr/>
        </p:nvGrpSpPr>
        <p:grpSpPr>
          <a:xfrm>
            <a:off x="748244" y="776125"/>
            <a:ext cx="352439" cy="299049"/>
            <a:chOff x="4468761" y="1799303"/>
            <a:chExt cx="914400" cy="516194"/>
          </a:xfrm>
          <a:solidFill>
            <a:schemeClr val="accent1">
              <a:lumMod val="20000"/>
              <a:lumOff val="80000"/>
            </a:schemeClr>
          </a:solidFill>
        </p:grpSpPr>
        <p:sp>
          <p:nvSpPr>
            <p:cNvPr id="53" name="矩形 5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4" name="矩形 5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5" name="矩形 5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6"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Data Collection</a:t>
            </a:r>
            <a:endParaRPr lang="en-US" altLang="zh-CN" sz="2800" dirty="0">
              <a:cs typeface="+mn-ea"/>
              <a:sym typeface="+mn-lt"/>
            </a:endParaRPr>
          </a:p>
        </p:txBody>
      </p:sp>
      <p:pic>
        <p:nvPicPr>
          <p:cNvPr id="14" name="图片 13"/>
          <p:cNvPicPr>
            <a:picLocks noChangeAspect="1"/>
          </p:cNvPicPr>
          <p:nvPr/>
        </p:nvPicPr>
        <p:blipFill>
          <a:blip r:embed="rId16"/>
          <a:stretch>
            <a:fillRect/>
          </a:stretch>
        </p:blipFill>
        <p:spPr>
          <a:xfrm>
            <a:off x="485140" y="1881505"/>
            <a:ext cx="5894070" cy="37985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0"/>
          <p:cNvGrpSpPr/>
          <p:nvPr>
            <p:custDataLst>
              <p:tags r:id="rId1"/>
            </p:custDataLst>
          </p:nvPr>
        </p:nvGrpSpPr>
        <p:grpSpPr>
          <a:xfrm rot="5400000">
            <a:off x="3239071" y="1811870"/>
            <a:ext cx="529404" cy="64771"/>
            <a:chOff x="9137503" y="1527024"/>
            <a:chExt cx="529404" cy="64771"/>
          </a:xfrm>
          <a:solidFill>
            <a:schemeClr val="accent1"/>
          </a:solidFill>
        </p:grpSpPr>
        <p:cxnSp>
          <p:nvCxnSpPr>
            <p:cNvPr id="3" name="Straight Connector 91"/>
            <p:cNvCxnSpPr/>
            <p:nvPr>
              <p:custDataLst>
                <p:tags r:id="rId2"/>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Oval 92"/>
            <p:cNvSpPr>
              <a:spLocks noChangeAspect="1"/>
            </p:cNvSpPr>
            <p:nvPr>
              <p:custDataLst>
                <p:tags r:id="rId3"/>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grpSp>
        <p:nvGrpSpPr>
          <p:cNvPr id="5" name="Group 96"/>
          <p:cNvGrpSpPr/>
          <p:nvPr>
            <p:custDataLst>
              <p:tags r:id="rId4"/>
            </p:custDataLst>
          </p:nvPr>
        </p:nvGrpSpPr>
        <p:grpSpPr>
          <a:xfrm rot="5400000">
            <a:off x="3239071" y="2885624"/>
            <a:ext cx="529404" cy="64771"/>
            <a:chOff x="9137503" y="1527024"/>
            <a:chExt cx="529404" cy="64771"/>
          </a:xfrm>
          <a:solidFill>
            <a:schemeClr val="accent1"/>
          </a:solidFill>
        </p:grpSpPr>
        <p:cxnSp>
          <p:nvCxnSpPr>
            <p:cNvPr id="6" name="Straight Connector 97"/>
            <p:cNvCxnSpPr/>
            <p:nvPr>
              <p:custDataLst>
                <p:tags r:id="rId5"/>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98"/>
            <p:cNvSpPr>
              <a:spLocks noChangeAspect="1"/>
            </p:cNvSpPr>
            <p:nvPr>
              <p:custDataLst>
                <p:tags r:id="rId6"/>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grpSp>
        <p:nvGrpSpPr>
          <p:cNvPr id="8" name="Group 102"/>
          <p:cNvGrpSpPr/>
          <p:nvPr>
            <p:custDataLst>
              <p:tags r:id="rId7"/>
            </p:custDataLst>
          </p:nvPr>
        </p:nvGrpSpPr>
        <p:grpSpPr>
          <a:xfrm rot="5400000">
            <a:off x="3239071" y="4423820"/>
            <a:ext cx="529404" cy="64771"/>
            <a:chOff x="9137503" y="1527024"/>
            <a:chExt cx="529404" cy="64771"/>
          </a:xfrm>
          <a:solidFill>
            <a:schemeClr val="accent1"/>
          </a:solidFill>
        </p:grpSpPr>
        <p:cxnSp>
          <p:nvCxnSpPr>
            <p:cNvPr id="9" name="Straight Connector 103"/>
            <p:cNvCxnSpPr/>
            <p:nvPr>
              <p:custDataLst>
                <p:tags r:id="rId8"/>
              </p:custDataLst>
            </p:nvPr>
          </p:nvCxnSpPr>
          <p:spPr>
            <a:xfrm rot="16200000">
              <a:off x="9346208" y="1350704"/>
              <a:ext cx="0" cy="417409"/>
            </a:xfrm>
            <a:prstGeom prst="line">
              <a:avLst/>
            </a:prstGeom>
            <a:grpFill/>
            <a:ln w="444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Oval 104"/>
            <p:cNvSpPr>
              <a:spLocks noChangeAspect="1"/>
            </p:cNvSpPr>
            <p:nvPr>
              <p:custDataLst>
                <p:tags r:id="rId9"/>
              </p:custDataLst>
            </p:nvPr>
          </p:nvSpPr>
          <p:spPr>
            <a:xfrm>
              <a:off x="9602136" y="1527024"/>
              <a:ext cx="64771" cy="64771"/>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cs typeface="+mn-ea"/>
                <a:sym typeface="+mn-lt"/>
              </a:endParaRPr>
            </a:p>
          </p:txBody>
        </p:sp>
      </p:grpSp>
      <p:sp>
        <p:nvSpPr>
          <p:cNvPr id="38" name="Text Box 10"/>
          <p:cNvSpPr txBox="1">
            <a:spLocks noChangeArrowheads="1"/>
          </p:cNvSpPr>
          <p:nvPr>
            <p:custDataLst>
              <p:tags r:id="rId10"/>
            </p:custDataLst>
          </p:nvPr>
        </p:nvSpPr>
        <p:spPr bwMode="auto">
          <a:xfrm>
            <a:off x="3744595" y="1720850"/>
            <a:ext cx="4211320" cy="817880"/>
          </a:xfrm>
          <a:prstGeom prst="rect">
            <a:avLst/>
          </a:prstGeom>
          <a:noFill/>
          <a:ln w="9525">
            <a:noFill/>
            <a:miter lim="800000"/>
          </a:ln>
        </p:spPr>
        <p:txBody>
          <a:bodyPr wrap="square" lIns="60960" tIns="30480" rIns="60960" bIns="3048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Descriptive statistics and visual analysis of the survey closed questions. focuses on the flow of the dialogues and the overall user experience</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39" name="矩形 38"/>
          <p:cNvSpPr/>
          <p:nvPr>
            <p:custDataLst>
              <p:tags r:id="rId11"/>
            </p:custDataLst>
          </p:nvPr>
        </p:nvSpPr>
        <p:spPr>
          <a:xfrm>
            <a:off x="3715385" y="1466850"/>
            <a:ext cx="268287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Quantitative analysis</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sp>
        <p:nvSpPr>
          <p:cNvPr id="40" name="Text Box 10"/>
          <p:cNvSpPr txBox="1">
            <a:spLocks noChangeArrowheads="1"/>
          </p:cNvSpPr>
          <p:nvPr>
            <p:custDataLst>
              <p:tags r:id="rId12"/>
            </p:custDataLst>
          </p:nvPr>
        </p:nvSpPr>
        <p:spPr bwMode="auto">
          <a:xfrm>
            <a:off x="3744595" y="2794635"/>
            <a:ext cx="5929630" cy="1201420"/>
          </a:xfrm>
          <a:prstGeom prst="rect">
            <a:avLst/>
          </a:prstGeom>
          <a:noFill/>
          <a:ln w="9525">
            <a:noFill/>
            <a:miter lim="800000"/>
          </a:ln>
        </p:spPr>
        <p:txBody>
          <a:bodyPr wrap="square" lIns="60960" tIns="30480" rIns="60960" bIns="3048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lang="en-US" altLang="zh-CN" sz="1200" noProof="0" dirty="0">
                <a:ln>
                  <a:noFill/>
                </a:ln>
                <a:solidFill>
                  <a:srgbClr val="000000"/>
                </a:solidFill>
                <a:effectLst/>
                <a:uLnTx/>
                <a:uFillTx/>
                <a:cs typeface="+mn-ea"/>
                <a:sym typeface="+mn-lt"/>
              </a:rPr>
              <a:t>Artifact Manipulation:Generate a concrete solution or codes</a:t>
            </a:r>
            <a:endParaRPr lang="en-US" altLang="zh-CN" sz="1200" noProof="0" dirty="0">
              <a:ln>
                <a:noFill/>
              </a:ln>
              <a:solidFill>
                <a:srgbClr val="000000"/>
              </a:solidFill>
              <a:effectLst/>
              <a:uLnTx/>
              <a:uFillTx/>
              <a:cs typeface="+mn-ea"/>
              <a:sym typeface="+mn-lt"/>
            </a:endParaRPr>
          </a:p>
          <a:p>
            <a:pPr marL="0" marR="0" lvl="0" indent="0" algn="l" defTabSz="1450975" rtl="0" eaLnBrk="1" fontAlgn="auto" latinLnBrk="0" hangingPunct="1">
              <a:lnSpc>
                <a:spcPct val="150000"/>
              </a:lnSpc>
              <a:spcBef>
                <a:spcPts val="0"/>
              </a:spcBef>
              <a:spcAft>
                <a:spcPts val="0"/>
              </a:spcAft>
              <a:buClrTx/>
              <a:buSzTx/>
              <a:buFontTx/>
              <a:buNone/>
              <a:defRPr/>
            </a:pPr>
            <a:r>
              <a:rPr lang="en-US" altLang="zh-CN" sz="1200" noProof="0" dirty="0">
                <a:ln>
                  <a:noFill/>
                </a:ln>
                <a:solidFill>
                  <a:srgbClr val="000000"/>
                </a:solidFill>
                <a:effectLst/>
                <a:uLnTx/>
                <a:uFillTx/>
                <a:cs typeface="+mn-ea"/>
                <a:sym typeface="+mn-lt"/>
              </a:rPr>
              <a:t>Training:Acquire wider ranges of theories and practical knowledge, not solve certain problem </a:t>
            </a:r>
            <a:endParaRPr lang="en-US" altLang="zh-CN" sz="1200" noProof="0" dirty="0">
              <a:ln>
                <a:noFill/>
              </a:ln>
              <a:solidFill>
                <a:srgbClr val="000000"/>
              </a:solidFill>
              <a:effectLst/>
              <a:uLnTx/>
              <a:uFillTx/>
              <a:cs typeface="+mn-ea"/>
              <a:sym typeface="+mn-lt"/>
            </a:endParaRPr>
          </a:p>
          <a:p>
            <a:pPr marL="0" marR="0" lvl="0" indent="0" algn="l" defTabSz="1450975" rtl="0" eaLnBrk="1" fontAlgn="auto" latinLnBrk="0" hangingPunct="1">
              <a:lnSpc>
                <a:spcPct val="150000"/>
              </a:lnSpc>
              <a:spcBef>
                <a:spcPts val="0"/>
              </a:spcBef>
              <a:spcAft>
                <a:spcPts val="0"/>
              </a:spcAft>
              <a:buClrTx/>
              <a:buSzTx/>
              <a:buFontTx/>
              <a:buNone/>
              <a:defRPr/>
            </a:pPr>
            <a:r>
              <a:rPr lang="en-US" altLang="zh-CN" sz="1200" noProof="0" dirty="0">
                <a:ln>
                  <a:noFill/>
                </a:ln>
                <a:solidFill>
                  <a:srgbClr val="000000"/>
                </a:solidFill>
                <a:effectLst/>
                <a:uLnTx/>
                <a:uFillTx/>
                <a:cs typeface="+mn-ea"/>
                <a:sym typeface="+mn-lt"/>
              </a:rPr>
              <a:t>Expert Consultation:Ask for guidance of certain question and no need to solve certain problem</a:t>
            </a:r>
            <a:endParaRPr lang="en-US" altLang="zh-CN" sz="1200" noProof="0" dirty="0">
              <a:ln>
                <a:noFill/>
              </a:ln>
              <a:solidFill>
                <a:srgbClr val="000000"/>
              </a:solidFill>
              <a:effectLst/>
              <a:uLnTx/>
              <a:uFillTx/>
              <a:cs typeface="+mn-ea"/>
              <a:sym typeface="+mn-lt"/>
            </a:endParaRPr>
          </a:p>
        </p:txBody>
      </p:sp>
      <p:sp>
        <p:nvSpPr>
          <p:cNvPr id="41" name="矩形 40"/>
          <p:cNvSpPr/>
          <p:nvPr>
            <p:custDataLst>
              <p:tags r:id="rId13"/>
            </p:custDataLst>
          </p:nvPr>
        </p:nvSpPr>
        <p:spPr>
          <a:xfrm>
            <a:off x="3715385" y="2538730"/>
            <a:ext cx="2682875"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Dialogue classification</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sp>
        <p:nvSpPr>
          <p:cNvPr id="42" name="Text Box 10"/>
          <p:cNvSpPr txBox="1">
            <a:spLocks noChangeArrowheads="1"/>
          </p:cNvSpPr>
          <p:nvPr>
            <p:custDataLst>
              <p:tags r:id="rId14"/>
            </p:custDataLst>
          </p:nvPr>
        </p:nvSpPr>
        <p:spPr bwMode="auto">
          <a:xfrm>
            <a:off x="3715501" y="4542363"/>
            <a:ext cx="4211043" cy="89154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Examine personal lived experiences in-depth, emphasising understanding of the individual’s own terms and seeking patterns across cases through interpretative processes</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43" name="矩形 42"/>
          <p:cNvSpPr/>
          <p:nvPr>
            <p:custDataLst>
              <p:tags r:id="rId15"/>
            </p:custDataLst>
          </p:nvPr>
        </p:nvSpPr>
        <p:spPr>
          <a:xfrm>
            <a:off x="3715385" y="4173855"/>
            <a:ext cx="441325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000000"/>
                </a:solidFill>
                <a:effectLst/>
                <a:uLnTx/>
                <a:uFillTx/>
                <a:cs typeface="+mn-ea"/>
                <a:sym typeface="+mn-lt"/>
              </a:rPr>
              <a:t>Interpretative phenomenological analysis</a:t>
            </a:r>
            <a:endParaRPr kumimoji="0" lang="en-US" altLang="zh-CN" b="1" i="0" u="none" strike="noStrike" kern="1200" cap="none" spc="0" normalizeH="0" baseline="0" noProof="0" dirty="0">
              <a:ln>
                <a:noFill/>
              </a:ln>
              <a:solidFill>
                <a:srgbClr val="000000"/>
              </a:solidFill>
              <a:effectLst/>
              <a:uLnTx/>
              <a:uFillTx/>
              <a:cs typeface="+mn-ea"/>
              <a:sym typeface="+mn-lt"/>
            </a:endParaRPr>
          </a:p>
        </p:txBody>
      </p:sp>
      <p:grpSp>
        <p:nvGrpSpPr>
          <p:cNvPr id="52" name="组合 51"/>
          <p:cNvGrpSpPr/>
          <p:nvPr/>
        </p:nvGrpSpPr>
        <p:grpSpPr>
          <a:xfrm>
            <a:off x="748244" y="776125"/>
            <a:ext cx="352439" cy="299049"/>
            <a:chOff x="4468761" y="1799303"/>
            <a:chExt cx="914400" cy="516194"/>
          </a:xfrm>
          <a:solidFill>
            <a:schemeClr val="accent1">
              <a:lumMod val="20000"/>
              <a:lumOff val="80000"/>
            </a:schemeClr>
          </a:solidFill>
        </p:grpSpPr>
        <p:sp>
          <p:nvSpPr>
            <p:cNvPr id="53" name="矩形 5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4" name="矩形 5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5" name="矩形 5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6"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Data Analysis</a:t>
            </a:r>
            <a:endParaRPr lang="en-US" altLang="zh-CN" sz="2800" dirty="0">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48244" y="776125"/>
            <a:ext cx="352439" cy="299049"/>
            <a:chOff x="4468761" y="1799303"/>
            <a:chExt cx="914400" cy="516194"/>
          </a:xfrm>
          <a:solidFill>
            <a:schemeClr val="accent1">
              <a:lumMod val="20000"/>
              <a:lumOff val="80000"/>
            </a:schemeClr>
          </a:solidFill>
        </p:grpSpPr>
        <p:sp>
          <p:nvSpPr>
            <p:cNvPr id="53" name="矩形 5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4" name="矩形 5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5" name="矩形 5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6"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Data Analysis</a:t>
            </a:r>
            <a:endParaRPr lang="en-US" altLang="zh-CN" sz="2800" dirty="0">
              <a:cs typeface="+mn-ea"/>
              <a:sym typeface="+mn-lt"/>
            </a:endParaRPr>
          </a:p>
        </p:txBody>
      </p:sp>
      <p:pic>
        <p:nvPicPr>
          <p:cNvPr id="11" name="图片 10"/>
          <p:cNvPicPr>
            <a:picLocks noChangeAspect="1"/>
          </p:cNvPicPr>
          <p:nvPr/>
        </p:nvPicPr>
        <p:blipFill>
          <a:blip r:embed="rId1"/>
          <a:stretch>
            <a:fillRect/>
          </a:stretch>
        </p:blipFill>
        <p:spPr>
          <a:xfrm>
            <a:off x="958850" y="1791335"/>
            <a:ext cx="10101580" cy="3510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32125" y="2269096"/>
            <a:ext cx="489125" cy="489125"/>
            <a:chOff x="1059280" y="4003114"/>
            <a:chExt cx="714661" cy="714661"/>
          </a:xfrm>
        </p:grpSpPr>
        <p:sp>
          <p:nvSpPr>
            <p:cNvPr id="3" name="Oval 4"/>
            <p:cNvSpPr/>
            <p:nvPr/>
          </p:nvSpPr>
          <p:spPr>
            <a:xfrm>
              <a:off x="1059280" y="4003114"/>
              <a:ext cx="714661" cy="7146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4" name="Freeform 20"/>
            <p:cNvSpPr>
              <a:spLocks noChangeAspect="1" noEditPoints="1"/>
            </p:cNvSpPr>
            <p:nvPr/>
          </p:nvSpPr>
          <p:spPr bwMode="auto">
            <a:xfrm>
              <a:off x="1192879" y="4150049"/>
              <a:ext cx="447464" cy="420793"/>
            </a:xfrm>
            <a:custGeom>
              <a:avLst/>
              <a:gdLst>
                <a:gd name="T0" fmla="*/ 64 w 128"/>
                <a:gd name="T1" fmla="*/ 0 h 120"/>
                <a:gd name="T2" fmla="*/ 128 w 128"/>
                <a:gd name="T3" fmla="*/ 64 h 120"/>
                <a:gd name="T4" fmla="*/ 95 w 128"/>
                <a:gd name="T5" fmla="*/ 120 h 120"/>
                <a:gd name="T6" fmla="*/ 33 w 128"/>
                <a:gd name="T7" fmla="*/ 120 h 120"/>
                <a:gd name="T8" fmla="*/ 0 w 128"/>
                <a:gd name="T9" fmla="*/ 64 h 120"/>
                <a:gd name="T10" fmla="*/ 64 w 128"/>
                <a:gd name="T11" fmla="*/ 0 h 120"/>
                <a:gd name="T12" fmla="*/ 100 w 128"/>
                <a:gd name="T13" fmla="*/ 100 h 120"/>
                <a:gd name="T14" fmla="*/ 115 w 128"/>
                <a:gd name="T15" fmla="*/ 64 h 120"/>
                <a:gd name="T16" fmla="*/ 104 w 128"/>
                <a:gd name="T17" fmla="*/ 64 h 120"/>
                <a:gd name="T18" fmla="*/ 104 w 128"/>
                <a:gd name="T19" fmla="*/ 56 h 120"/>
                <a:gd name="T20" fmla="*/ 115 w 128"/>
                <a:gd name="T21" fmla="*/ 56 h 120"/>
                <a:gd name="T22" fmla="*/ 109 w 128"/>
                <a:gd name="T23" fmla="*/ 40 h 120"/>
                <a:gd name="T24" fmla="*/ 96 w 128"/>
                <a:gd name="T25" fmla="*/ 40 h 120"/>
                <a:gd name="T26" fmla="*/ 96 w 128"/>
                <a:gd name="T27" fmla="*/ 32 h 120"/>
                <a:gd name="T28" fmla="*/ 104 w 128"/>
                <a:gd name="T29" fmla="*/ 32 h 120"/>
                <a:gd name="T30" fmla="*/ 100 w 128"/>
                <a:gd name="T31" fmla="*/ 28 h 120"/>
                <a:gd name="T32" fmla="*/ 80 w 128"/>
                <a:gd name="T33" fmla="*/ 15 h 120"/>
                <a:gd name="T34" fmla="*/ 80 w 128"/>
                <a:gd name="T35" fmla="*/ 24 h 120"/>
                <a:gd name="T36" fmla="*/ 72 w 128"/>
                <a:gd name="T37" fmla="*/ 24 h 120"/>
                <a:gd name="T38" fmla="*/ 72 w 128"/>
                <a:gd name="T39" fmla="*/ 13 h 120"/>
                <a:gd name="T40" fmla="*/ 64 w 128"/>
                <a:gd name="T41" fmla="*/ 13 h 120"/>
                <a:gd name="T42" fmla="*/ 56 w 128"/>
                <a:gd name="T43" fmla="*/ 13 h 120"/>
                <a:gd name="T44" fmla="*/ 56 w 128"/>
                <a:gd name="T45" fmla="*/ 24 h 120"/>
                <a:gd name="T46" fmla="*/ 48 w 128"/>
                <a:gd name="T47" fmla="*/ 24 h 120"/>
                <a:gd name="T48" fmla="*/ 48 w 128"/>
                <a:gd name="T49" fmla="*/ 15 h 120"/>
                <a:gd name="T50" fmla="*/ 28 w 128"/>
                <a:gd name="T51" fmla="*/ 28 h 120"/>
                <a:gd name="T52" fmla="*/ 24 w 128"/>
                <a:gd name="T53" fmla="*/ 32 h 120"/>
                <a:gd name="T54" fmla="*/ 32 w 128"/>
                <a:gd name="T55" fmla="*/ 32 h 120"/>
                <a:gd name="T56" fmla="*/ 32 w 128"/>
                <a:gd name="T57" fmla="*/ 40 h 120"/>
                <a:gd name="T58" fmla="*/ 19 w 128"/>
                <a:gd name="T59" fmla="*/ 40 h 120"/>
                <a:gd name="T60" fmla="*/ 13 w 128"/>
                <a:gd name="T61" fmla="*/ 56 h 120"/>
                <a:gd name="T62" fmla="*/ 24 w 128"/>
                <a:gd name="T63" fmla="*/ 56 h 120"/>
                <a:gd name="T64" fmla="*/ 24 w 128"/>
                <a:gd name="T65" fmla="*/ 64 h 120"/>
                <a:gd name="T66" fmla="*/ 13 w 128"/>
                <a:gd name="T67" fmla="*/ 64 h 120"/>
                <a:gd name="T68" fmla="*/ 28 w 128"/>
                <a:gd name="T69" fmla="*/ 100 h 120"/>
                <a:gd name="T70" fmla="*/ 32 w 128"/>
                <a:gd name="T71" fmla="*/ 104 h 120"/>
                <a:gd name="T72" fmla="*/ 56 w 128"/>
                <a:gd name="T73" fmla="*/ 104 h 120"/>
                <a:gd name="T74" fmla="*/ 61 w 128"/>
                <a:gd name="T75" fmla="*/ 40 h 120"/>
                <a:gd name="T76" fmla="*/ 67 w 128"/>
                <a:gd name="T77" fmla="*/ 40 h 120"/>
                <a:gd name="T78" fmla="*/ 72 w 128"/>
                <a:gd name="T79" fmla="*/ 104 h 120"/>
                <a:gd name="T80" fmla="*/ 96 w 128"/>
                <a:gd name="T81" fmla="*/ 104 h 120"/>
                <a:gd name="T82" fmla="*/ 100 w 128"/>
                <a:gd name="T83"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0">
                  <a:moveTo>
                    <a:pt x="64" y="0"/>
                  </a:moveTo>
                  <a:cubicBezTo>
                    <a:pt x="99" y="0"/>
                    <a:pt x="128" y="29"/>
                    <a:pt x="128" y="64"/>
                  </a:cubicBezTo>
                  <a:cubicBezTo>
                    <a:pt x="128" y="88"/>
                    <a:pt x="115" y="109"/>
                    <a:pt x="95" y="120"/>
                  </a:cubicBezTo>
                  <a:cubicBezTo>
                    <a:pt x="33" y="120"/>
                    <a:pt x="33" y="120"/>
                    <a:pt x="33" y="120"/>
                  </a:cubicBezTo>
                  <a:cubicBezTo>
                    <a:pt x="13" y="109"/>
                    <a:pt x="0" y="88"/>
                    <a:pt x="0" y="64"/>
                  </a:cubicBezTo>
                  <a:cubicBezTo>
                    <a:pt x="0" y="29"/>
                    <a:pt x="29" y="0"/>
                    <a:pt x="64" y="0"/>
                  </a:cubicBezTo>
                  <a:close/>
                  <a:moveTo>
                    <a:pt x="100" y="100"/>
                  </a:moveTo>
                  <a:cubicBezTo>
                    <a:pt x="110" y="91"/>
                    <a:pt x="115" y="78"/>
                    <a:pt x="115" y="64"/>
                  </a:cubicBezTo>
                  <a:cubicBezTo>
                    <a:pt x="104" y="64"/>
                    <a:pt x="104" y="64"/>
                    <a:pt x="104" y="64"/>
                  </a:cubicBezTo>
                  <a:cubicBezTo>
                    <a:pt x="104" y="56"/>
                    <a:pt x="104" y="56"/>
                    <a:pt x="104" y="56"/>
                  </a:cubicBezTo>
                  <a:cubicBezTo>
                    <a:pt x="115" y="56"/>
                    <a:pt x="115" y="56"/>
                    <a:pt x="115" y="56"/>
                  </a:cubicBezTo>
                  <a:cubicBezTo>
                    <a:pt x="114" y="50"/>
                    <a:pt x="112" y="45"/>
                    <a:pt x="109" y="40"/>
                  </a:cubicBezTo>
                  <a:cubicBezTo>
                    <a:pt x="96" y="40"/>
                    <a:pt x="96" y="40"/>
                    <a:pt x="96" y="40"/>
                  </a:cubicBezTo>
                  <a:cubicBezTo>
                    <a:pt x="96" y="32"/>
                    <a:pt x="96" y="32"/>
                    <a:pt x="96" y="32"/>
                  </a:cubicBezTo>
                  <a:cubicBezTo>
                    <a:pt x="104" y="32"/>
                    <a:pt x="104" y="32"/>
                    <a:pt x="104" y="32"/>
                  </a:cubicBezTo>
                  <a:cubicBezTo>
                    <a:pt x="103" y="31"/>
                    <a:pt x="102" y="29"/>
                    <a:pt x="100" y="28"/>
                  </a:cubicBezTo>
                  <a:cubicBezTo>
                    <a:pt x="94" y="22"/>
                    <a:pt x="88" y="18"/>
                    <a:pt x="80" y="15"/>
                  </a:cubicBezTo>
                  <a:cubicBezTo>
                    <a:pt x="80" y="24"/>
                    <a:pt x="80" y="24"/>
                    <a:pt x="80" y="24"/>
                  </a:cubicBezTo>
                  <a:cubicBezTo>
                    <a:pt x="72" y="24"/>
                    <a:pt x="72" y="24"/>
                    <a:pt x="72" y="24"/>
                  </a:cubicBezTo>
                  <a:cubicBezTo>
                    <a:pt x="72" y="13"/>
                    <a:pt x="72" y="13"/>
                    <a:pt x="72" y="13"/>
                  </a:cubicBezTo>
                  <a:cubicBezTo>
                    <a:pt x="69" y="13"/>
                    <a:pt x="67" y="13"/>
                    <a:pt x="64" y="13"/>
                  </a:cubicBezTo>
                  <a:cubicBezTo>
                    <a:pt x="61" y="13"/>
                    <a:pt x="59" y="13"/>
                    <a:pt x="56" y="13"/>
                  </a:cubicBezTo>
                  <a:cubicBezTo>
                    <a:pt x="56" y="24"/>
                    <a:pt x="56" y="24"/>
                    <a:pt x="56" y="24"/>
                  </a:cubicBezTo>
                  <a:cubicBezTo>
                    <a:pt x="48" y="24"/>
                    <a:pt x="48" y="24"/>
                    <a:pt x="48" y="24"/>
                  </a:cubicBezTo>
                  <a:cubicBezTo>
                    <a:pt x="48" y="15"/>
                    <a:pt x="48" y="15"/>
                    <a:pt x="48" y="15"/>
                  </a:cubicBezTo>
                  <a:cubicBezTo>
                    <a:pt x="40" y="18"/>
                    <a:pt x="34" y="22"/>
                    <a:pt x="28" y="28"/>
                  </a:cubicBezTo>
                  <a:cubicBezTo>
                    <a:pt x="26" y="29"/>
                    <a:pt x="25" y="31"/>
                    <a:pt x="24" y="32"/>
                  </a:cubicBezTo>
                  <a:cubicBezTo>
                    <a:pt x="32" y="32"/>
                    <a:pt x="32" y="32"/>
                    <a:pt x="32" y="32"/>
                  </a:cubicBezTo>
                  <a:cubicBezTo>
                    <a:pt x="32" y="40"/>
                    <a:pt x="32" y="40"/>
                    <a:pt x="32" y="40"/>
                  </a:cubicBezTo>
                  <a:cubicBezTo>
                    <a:pt x="19" y="40"/>
                    <a:pt x="19" y="40"/>
                    <a:pt x="19" y="40"/>
                  </a:cubicBezTo>
                  <a:cubicBezTo>
                    <a:pt x="16" y="45"/>
                    <a:pt x="14" y="50"/>
                    <a:pt x="13" y="56"/>
                  </a:cubicBezTo>
                  <a:cubicBezTo>
                    <a:pt x="24" y="56"/>
                    <a:pt x="24" y="56"/>
                    <a:pt x="24" y="56"/>
                  </a:cubicBezTo>
                  <a:cubicBezTo>
                    <a:pt x="24" y="64"/>
                    <a:pt x="24" y="64"/>
                    <a:pt x="24" y="64"/>
                  </a:cubicBezTo>
                  <a:cubicBezTo>
                    <a:pt x="13" y="64"/>
                    <a:pt x="13" y="64"/>
                    <a:pt x="13" y="64"/>
                  </a:cubicBezTo>
                  <a:cubicBezTo>
                    <a:pt x="13" y="78"/>
                    <a:pt x="18" y="91"/>
                    <a:pt x="28" y="100"/>
                  </a:cubicBezTo>
                  <a:cubicBezTo>
                    <a:pt x="29" y="102"/>
                    <a:pt x="30" y="103"/>
                    <a:pt x="32" y="104"/>
                  </a:cubicBezTo>
                  <a:cubicBezTo>
                    <a:pt x="56" y="104"/>
                    <a:pt x="56" y="104"/>
                    <a:pt x="56" y="104"/>
                  </a:cubicBezTo>
                  <a:cubicBezTo>
                    <a:pt x="61" y="40"/>
                    <a:pt x="61" y="40"/>
                    <a:pt x="61" y="40"/>
                  </a:cubicBezTo>
                  <a:cubicBezTo>
                    <a:pt x="67" y="40"/>
                    <a:pt x="67" y="40"/>
                    <a:pt x="67" y="40"/>
                  </a:cubicBezTo>
                  <a:cubicBezTo>
                    <a:pt x="72" y="104"/>
                    <a:pt x="72" y="104"/>
                    <a:pt x="72" y="104"/>
                  </a:cubicBezTo>
                  <a:cubicBezTo>
                    <a:pt x="96" y="104"/>
                    <a:pt x="96" y="104"/>
                    <a:pt x="96" y="104"/>
                  </a:cubicBezTo>
                  <a:cubicBezTo>
                    <a:pt x="97" y="103"/>
                    <a:pt x="99" y="102"/>
                    <a:pt x="100" y="100"/>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grpSp>
        <p:nvGrpSpPr>
          <p:cNvPr id="5" name="组合 4"/>
          <p:cNvGrpSpPr/>
          <p:nvPr/>
        </p:nvGrpSpPr>
        <p:grpSpPr>
          <a:xfrm>
            <a:off x="1032125" y="4367198"/>
            <a:ext cx="489125" cy="489125"/>
            <a:chOff x="1059280" y="5017374"/>
            <a:chExt cx="714661" cy="714661"/>
          </a:xfrm>
        </p:grpSpPr>
        <p:sp>
          <p:nvSpPr>
            <p:cNvPr id="6" name="Oval 37"/>
            <p:cNvSpPr/>
            <p:nvPr/>
          </p:nvSpPr>
          <p:spPr>
            <a:xfrm>
              <a:off x="1059280" y="5017374"/>
              <a:ext cx="714661" cy="714661"/>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7" name="Freeform 83"/>
            <p:cNvSpPr>
              <a:spLocks noChangeAspect="1" noEditPoints="1"/>
            </p:cNvSpPr>
            <p:nvPr/>
          </p:nvSpPr>
          <p:spPr bwMode="auto">
            <a:xfrm>
              <a:off x="1276594" y="5150232"/>
              <a:ext cx="280036" cy="448944"/>
            </a:xfrm>
            <a:custGeom>
              <a:avLst/>
              <a:gdLst>
                <a:gd name="T0" fmla="*/ 40 w 80"/>
                <a:gd name="T1" fmla="*/ 0 h 128"/>
                <a:gd name="T2" fmla="*/ 0 w 80"/>
                <a:gd name="T3" fmla="*/ 40 h 128"/>
                <a:gd name="T4" fmla="*/ 40 w 80"/>
                <a:gd name="T5" fmla="*/ 128 h 128"/>
                <a:gd name="T6" fmla="*/ 80 w 80"/>
                <a:gd name="T7" fmla="*/ 40 h 128"/>
                <a:gd name="T8" fmla="*/ 40 w 80"/>
                <a:gd name="T9" fmla="*/ 0 h 128"/>
                <a:gd name="T10" fmla="*/ 40 w 80"/>
                <a:gd name="T11" fmla="*/ 64 h 128"/>
                <a:gd name="T12" fmla="*/ 15 w 80"/>
                <a:gd name="T13" fmla="*/ 40 h 128"/>
                <a:gd name="T14" fmla="*/ 40 w 80"/>
                <a:gd name="T15" fmla="*/ 15 h 128"/>
                <a:gd name="T16" fmla="*/ 64 w 80"/>
                <a:gd name="T17" fmla="*/ 40 h 128"/>
                <a:gd name="T18" fmla="*/ 40 w 80"/>
                <a:gd name="T19" fmla="*/ 64 h 128"/>
                <a:gd name="T20" fmla="*/ 24 w 80"/>
                <a:gd name="T21" fmla="*/ 40 h 128"/>
                <a:gd name="T22" fmla="*/ 40 w 80"/>
                <a:gd name="T23" fmla="*/ 55 h 128"/>
                <a:gd name="T24" fmla="*/ 55 w 80"/>
                <a:gd name="T25" fmla="*/ 40 h 128"/>
                <a:gd name="T26" fmla="*/ 40 w 80"/>
                <a:gd name="T27" fmla="*/ 24 h 128"/>
                <a:gd name="T28" fmla="*/ 24 w 80"/>
                <a:gd name="T29"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128">
                  <a:moveTo>
                    <a:pt x="40" y="0"/>
                  </a:moveTo>
                  <a:cubicBezTo>
                    <a:pt x="18" y="0"/>
                    <a:pt x="0" y="18"/>
                    <a:pt x="0" y="40"/>
                  </a:cubicBezTo>
                  <a:cubicBezTo>
                    <a:pt x="0" y="80"/>
                    <a:pt x="40" y="128"/>
                    <a:pt x="40" y="128"/>
                  </a:cubicBezTo>
                  <a:cubicBezTo>
                    <a:pt x="40" y="128"/>
                    <a:pt x="80" y="80"/>
                    <a:pt x="80" y="40"/>
                  </a:cubicBezTo>
                  <a:cubicBezTo>
                    <a:pt x="80" y="18"/>
                    <a:pt x="62" y="0"/>
                    <a:pt x="40" y="0"/>
                  </a:cubicBezTo>
                  <a:close/>
                  <a:moveTo>
                    <a:pt x="40" y="64"/>
                  </a:moveTo>
                  <a:cubicBezTo>
                    <a:pt x="26" y="64"/>
                    <a:pt x="15" y="54"/>
                    <a:pt x="15" y="40"/>
                  </a:cubicBezTo>
                  <a:cubicBezTo>
                    <a:pt x="15" y="26"/>
                    <a:pt x="26" y="15"/>
                    <a:pt x="40" y="15"/>
                  </a:cubicBezTo>
                  <a:cubicBezTo>
                    <a:pt x="54" y="15"/>
                    <a:pt x="64" y="26"/>
                    <a:pt x="64" y="40"/>
                  </a:cubicBezTo>
                  <a:cubicBezTo>
                    <a:pt x="64" y="54"/>
                    <a:pt x="54" y="64"/>
                    <a:pt x="40" y="64"/>
                  </a:cubicBezTo>
                  <a:close/>
                  <a:moveTo>
                    <a:pt x="24" y="40"/>
                  </a:moveTo>
                  <a:cubicBezTo>
                    <a:pt x="24" y="49"/>
                    <a:pt x="31" y="55"/>
                    <a:pt x="40" y="55"/>
                  </a:cubicBezTo>
                  <a:cubicBezTo>
                    <a:pt x="49" y="55"/>
                    <a:pt x="55" y="49"/>
                    <a:pt x="55" y="40"/>
                  </a:cubicBezTo>
                  <a:cubicBezTo>
                    <a:pt x="55" y="31"/>
                    <a:pt x="49" y="24"/>
                    <a:pt x="40" y="24"/>
                  </a:cubicBezTo>
                  <a:cubicBezTo>
                    <a:pt x="31" y="24"/>
                    <a:pt x="24" y="31"/>
                    <a:pt x="24" y="40"/>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grpSp>
        <p:nvGrpSpPr>
          <p:cNvPr id="8" name="组合 7"/>
          <p:cNvGrpSpPr/>
          <p:nvPr/>
        </p:nvGrpSpPr>
        <p:grpSpPr>
          <a:xfrm>
            <a:off x="4221686" y="2269096"/>
            <a:ext cx="489125" cy="489125"/>
            <a:chOff x="4028328" y="3974078"/>
            <a:chExt cx="714661" cy="714661"/>
          </a:xfrm>
        </p:grpSpPr>
        <p:sp>
          <p:nvSpPr>
            <p:cNvPr id="9" name="Oval 38"/>
            <p:cNvSpPr/>
            <p:nvPr/>
          </p:nvSpPr>
          <p:spPr>
            <a:xfrm>
              <a:off x="4028328" y="3974078"/>
              <a:ext cx="714661" cy="714661"/>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10" name="Freeform 51"/>
            <p:cNvSpPr>
              <a:spLocks noChangeAspect="1" noEditPoints="1"/>
            </p:cNvSpPr>
            <p:nvPr/>
          </p:nvSpPr>
          <p:spPr bwMode="auto">
            <a:xfrm>
              <a:off x="4161185" y="4107676"/>
              <a:ext cx="448947" cy="447464"/>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40 w 128"/>
                <a:gd name="T11" fmla="*/ 64 h 128"/>
                <a:gd name="T12" fmla="*/ 64 w 128"/>
                <a:gd name="T13" fmla="*/ 40 h 128"/>
                <a:gd name="T14" fmla="*/ 88 w 128"/>
                <a:gd name="T15" fmla="*/ 64 h 128"/>
                <a:gd name="T16" fmla="*/ 64 w 128"/>
                <a:gd name="T17" fmla="*/ 88 h 128"/>
                <a:gd name="T18" fmla="*/ 40 w 128"/>
                <a:gd name="T19" fmla="*/ 64 h 128"/>
                <a:gd name="T20" fmla="*/ 116 w 128"/>
                <a:gd name="T21" fmla="*/ 85 h 128"/>
                <a:gd name="T22" fmla="*/ 116 w 128"/>
                <a:gd name="T23" fmla="*/ 85 h 128"/>
                <a:gd name="T24" fmla="*/ 94 w 128"/>
                <a:gd name="T25" fmla="*/ 76 h 128"/>
                <a:gd name="T26" fmla="*/ 96 w 128"/>
                <a:gd name="T27" fmla="*/ 64 h 128"/>
                <a:gd name="T28" fmla="*/ 94 w 128"/>
                <a:gd name="T29" fmla="*/ 52 h 128"/>
                <a:gd name="T30" fmla="*/ 109 w 128"/>
                <a:gd name="T31" fmla="*/ 45 h 128"/>
                <a:gd name="T32" fmla="*/ 116 w 128"/>
                <a:gd name="T33" fmla="*/ 43 h 128"/>
                <a:gd name="T34" fmla="*/ 120 w 128"/>
                <a:gd name="T35" fmla="*/ 64 h 128"/>
                <a:gd name="T36" fmla="*/ 116 w 128"/>
                <a:gd name="T37" fmla="*/ 85 h 128"/>
                <a:gd name="T38" fmla="*/ 85 w 128"/>
                <a:gd name="T39" fmla="*/ 12 h 128"/>
                <a:gd name="T40" fmla="*/ 85 w 128"/>
                <a:gd name="T41" fmla="*/ 12 h 128"/>
                <a:gd name="T42" fmla="*/ 85 w 128"/>
                <a:gd name="T43" fmla="*/ 12 h 128"/>
                <a:gd name="T44" fmla="*/ 76 w 128"/>
                <a:gd name="T45" fmla="*/ 34 h 128"/>
                <a:gd name="T46" fmla="*/ 64 w 128"/>
                <a:gd name="T47" fmla="*/ 32 h 128"/>
                <a:gd name="T48" fmla="*/ 52 w 128"/>
                <a:gd name="T49" fmla="*/ 34 h 128"/>
                <a:gd name="T50" fmla="*/ 47 w 128"/>
                <a:gd name="T51" fmla="*/ 24 h 128"/>
                <a:gd name="T52" fmla="*/ 43 w 128"/>
                <a:gd name="T53" fmla="*/ 12 h 128"/>
                <a:gd name="T54" fmla="*/ 64 w 128"/>
                <a:gd name="T55" fmla="*/ 8 h 128"/>
                <a:gd name="T56" fmla="*/ 85 w 128"/>
                <a:gd name="T57" fmla="*/ 12 h 128"/>
                <a:gd name="T58" fmla="*/ 12 w 128"/>
                <a:gd name="T59" fmla="*/ 43 h 128"/>
                <a:gd name="T60" fmla="*/ 24 w 128"/>
                <a:gd name="T61" fmla="*/ 47 h 128"/>
                <a:gd name="T62" fmla="*/ 34 w 128"/>
                <a:gd name="T63" fmla="*/ 52 h 128"/>
                <a:gd name="T64" fmla="*/ 32 w 128"/>
                <a:gd name="T65" fmla="*/ 64 h 128"/>
                <a:gd name="T66" fmla="*/ 34 w 128"/>
                <a:gd name="T67" fmla="*/ 76 h 128"/>
                <a:gd name="T68" fmla="*/ 12 w 128"/>
                <a:gd name="T69" fmla="*/ 85 h 128"/>
                <a:gd name="T70" fmla="*/ 8 w 128"/>
                <a:gd name="T71" fmla="*/ 64 h 128"/>
                <a:gd name="T72" fmla="*/ 12 w 128"/>
                <a:gd name="T73" fmla="*/ 43 h 128"/>
                <a:gd name="T74" fmla="*/ 43 w 128"/>
                <a:gd name="T75" fmla="*/ 116 h 128"/>
                <a:gd name="T76" fmla="*/ 45 w 128"/>
                <a:gd name="T77" fmla="*/ 109 h 128"/>
                <a:gd name="T78" fmla="*/ 52 w 128"/>
                <a:gd name="T79" fmla="*/ 94 h 128"/>
                <a:gd name="T80" fmla="*/ 64 w 128"/>
                <a:gd name="T81" fmla="*/ 96 h 128"/>
                <a:gd name="T82" fmla="*/ 76 w 128"/>
                <a:gd name="T83" fmla="*/ 94 h 128"/>
                <a:gd name="T84" fmla="*/ 85 w 128"/>
                <a:gd name="T85" fmla="*/ 116 h 128"/>
                <a:gd name="T86" fmla="*/ 85 w 128"/>
                <a:gd name="T87" fmla="*/ 116 h 128"/>
                <a:gd name="T88" fmla="*/ 85 w 128"/>
                <a:gd name="T89" fmla="*/ 116 h 128"/>
                <a:gd name="T90" fmla="*/ 64 w 128"/>
                <a:gd name="T91" fmla="*/ 120 h 128"/>
                <a:gd name="T92" fmla="*/ 43 w 128"/>
                <a:gd name="T93" fmla="*/ 1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40" y="64"/>
                  </a:moveTo>
                  <a:cubicBezTo>
                    <a:pt x="40" y="51"/>
                    <a:pt x="51" y="40"/>
                    <a:pt x="64" y="40"/>
                  </a:cubicBezTo>
                  <a:cubicBezTo>
                    <a:pt x="77" y="40"/>
                    <a:pt x="88" y="51"/>
                    <a:pt x="88" y="64"/>
                  </a:cubicBezTo>
                  <a:cubicBezTo>
                    <a:pt x="88" y="77"/>
                    <a:pt x="77" y="88"/>
                    <a:pt x="64" y="88"/>
                  </a:cubicBezTo>
                  <a:cubicBezTo>
                    <a:pt x="51" y="88"/>
                    <a:pt x="40" y="77"/>
                    <a:pt x="40" y="64"/>
                  </a:cubicBezTo>
                  <a:close/>
                  <a:moveTo>
                    <a:pt x="116" y="85"/>
                  </a:moveTo>
                  <a:cubicBezTo>
                    <a:pt x="116" y="85"/>
                    <a:pt x="116" y="85"/>
                    <a:pt x="116" y="85"/>
                  </a:cubicBezTo>
                  <a:cubicBezTo>
                    <a:pt x="94" y="76"/>
                    <a:pt x="94" y="76"/>
                    <a:pt x="94" y="76"/>
                  </a:cubicBezTo>
                  <a:cubicBezTo>
                    <a:pt x="95" y="72"/>
                    <a:pt x="96" y="68"/>
                    <a:pt x="96" y="64"/>
                  </a:cubicBezTo>
                  <a:cubicBezTo>
                    <a:pt x="96" y="60"/>
                    <a:pt x="95" y="56"/>
                    <a:pt x="94" y="52"/>
                  </a:cubicBezTo>
                  <a:cubicBezTo>
                    <a:pt x="109" y="45"/>
                    <a:pt x="109" y="45"/>
                    <a:pt x="109" y="45"/>
                  </a:cubicBezTo>
                  <a:cubicBezTo>
                    <a:pt x="116" y="43"/>
                    <a:pt x="116" y="43"/>
                    <a:pt x="116" y="43"/>
                  </a:cubicBezTo>
                  <a:cubicBezTo>
                    <a:pt x="118" y="49"/>
                    <a:pt x="120" y="56"/>
                    <a:pt x="120" y="64"/>
                  </a:cubicBezTo>
                  <a:cubicBezTo>
                    <a:pt x="120" y="72"/>
                    <a:pt x="118" y="79"/>
                    <a:pt x="116" y="85"/>
                  </a:cubicBezTo>
                  <a:close/>
                  <a:moveTo>
                    <a:pt x="85" y="12"/>
                  </a:moveTo>
                  <a:cubicBezTo>
                    <a:pt x="85" y="12"/>
                    <a:pt x="85" y="12"/>
                    <a:pt x="85" y="12"/>
                  </a:cubicBezTo>
                  <a:cubicBezTo>
                    <a:pt x="85" y="12"/>
                    <a:pt x="85" y="12"/>
                    <a:pt x="85" y="12"/>
                  </a:cubicBezTo>
                  <a:cubicBezTo>
                    <a:pt x="76" y="34"/>
                    <a:pt x="76" y="34"/>
                    <a:pt x="76" y="34"/>
                  </a:cubicBezTo>
                  <a:cubicBezTo>
                    <a:pt x="72" y="33"/>
                    <a:pt x="68" y="32"/>
                    <a:pt x="64" y="32"/>
                  </a:cubicBezTo>
                  <a:cubicBezTo>
                    <a:pt x="60" y="32"/>
                    <a:pt x="56" y="33"/>
                    <a:pt x="52" y="34"/>
                  </a:cubicBezTo>
                  <a:cubicBezTo>
                    <a:pt x="47" y="24"/>
                    <a:pt x="47" y="24"/>
                    <a:pt x="47" y="24"/>
                  </a:cubicBezTo>
                  <a:cubicBezTo>
                    <a:pt x="43" y="12"/>
                    <a:pt x="43" y="12"/>
                    <a:pt x="43" y="12"/>
                  </a:cubicBezTo>
                  <a:cubicBezTo>
                    <a:pt x="49" y="10"/>
                    <a:pt x="56" y="8"/>
                    <a:pt x="64" y="8"/>
                  </a:cubicBezTo>
                  <a:cubicBezTo>
                    <a:pt x="72" y="8"/>
                    <a:pt x="79" y="10"/>
                    <a:pt x="85" y="12"/>
                  </a:cubicBezTo>
                  <a:close/>
                  <a:moveTo>
                    <a:pt x="12" y="43"/>
                  </a:moveTo>
                  <a:cubicBezTo>
                    <a:pt x="24" y="47"/>
                    <a:pt x="24" y="47"/>
                    <a:pt x="24" y="47"/>
                  </a:cubicBezTo>
                  <a:cubicBezTo>
                    <a:pt x="34" y="52"/>
                    <a:pt x="34" y="52"/>
                    <a:pt x="34" y="52"/>
                  </a:cubicBezTo>
                  <a:cubicBezTo>
                    <a:pt x="33" y="56"/>
                    <a:pt x="32" y="60"/>
                    <a:pt x="32" y="64"/>
                  </a:cubicBezTo>
                  <a:cubicBezTo>
                    <a:pt x="32" y="68"/>
                    <a:pt x="33" y="72"/>
                    <a:pt x="34" y="76"/>
                  </a:cubicBezTo>
                  <a:cubicBezTo>
                    <a:pt x="12" y="85"/>
                    <a:pt x="12" y="85"/>
                    <a:pt x="12" y="85"/>
                  </a:cubicBezTo>
                  <a:cubicBezTo>
                    <a:pt x="10" y="79"/>
                    <a:pt x="8" y="72"/>
                    <a:pt x="8" y="64"/>
                  </a:cubicBezTo>
                  <a:cubicBezTo>
                    <a:pt x="8" y="56"/>
                    <a:pt x="10" y="49"/>
                    <a:pt x="12" y="43"/>
                  </a:cubicBezTo>
                  <a:close/>
                  <a:moveTo>
                    <a:pt x="43" y="116"/>
                  </a:moveTo>
                  <a:cubicBezTo>
                    <a:pt x="45" y="109"/>
                    <a:pt x="45" y="109"/>
                    <a:pt x="45" y="109"/>
                  </a:cubicBezTo>
                  <a:cubicBezTo>
                    <a:pt x="52" y="94"/>
                    <a:pt x="52" y="94"/>
                    <a:pt x="52" y="94"/>
                  </a:cubicBezTo>
                  <a:cubicBezTo>
                    <a:pt x="56" y="95"/>
                    <a:pt x="60" y="96"/>
                    <a:pt x="64" y="96"/>
                  </a:cubicBezTo>
                  <a:cubicBezTo>
                    <a:pt x="68" y="96"/>
                    <a:pt x="72" y="95"/>
                    <a:pt x="76" y="94"/>
                  </a:cubicBezTo>
                  <a:cubicBezTo>
                    <a:pt x="85" y="116"/>
                    <a:pt x="85" y="116"/>
                    <a:pt x="85" y="116"/>
                  </a:cubicBezTo>
                  <a:cubicBezTo>
                    <a:pt x="85" y="116"/>
                    <a:pt x="85" y="116"/>
                    <a:pt x="85" y="116"/>
                  </a:cubicBezTo>
                  <a:cubicBezTo>
                    <a:pt x="85" y="116"/>
                    <a:pt x="85" y="116"/>
                    <a:pt x="85" y="116"/>
                  </a:cubicBezTo>
                  <a:cubicBezTo>
                    <a:pt x="79" y="118"/>
                    <a:pt x="72" y="120"/>
                    <a:pt x="64" y="120"/>
                  </a:cubicBezTo>
                  <a:cubicBezTo>
                    <a:pt x="56" y="120"/>
                    <a:pt x="49" y="118"/>
                    <a:pt x="43" y="116"/>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grpSp>
        <p:nvGrpSpPr>
          <p:cNvPr id="11" name="组合 10"/>
          <p:cNvGrpSpPr/>
          <p:nvPr/>
        </p:nvGrpSpPr>
        <p:grpSpPr>
          <a:xfrm>
            <a:off x="4221686" y="4367198"/>
            <a:ext cx="489125" cy="489125"/>
            <a:chOff x="4028328" y="5017372"/>
            <a:chExt cx="714661" cy="714661"/>
          </a:xfrm>
        </p:grpSpPr>
        <p:sp>
          <p:nvSpPr>
            <p:cNvPr id="12" name="Oval 39"/>
            <p:cNvSpPr/>
            <p:nvPr/>
          </p:nvSpPr>
          <p:spPr>
            <a:xfrm>
              <a:off x="4028328" y="5017372"/>
              <a:ext cx="714661" cy="7146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13" name="Freeform 6"/>
            <p:cNvSpPr>
              <a:spLocks noChangeAspect="1"/>
            </p:cNvSpPr>
            <p:nvPr/>
          </p:nvSpPr>
          <p:spPr bwMode="auto">
            <a:xfrm>
              <a:off x="4161188" y="5151712"/>
              <a:ext cx="448944" cy="447464"/>
            </a:xfrm>
            <a:custGeom>
              <a:avLst/>
              <a:gdLst>
                <a:gd name="T0" fmla="*/ 108 w 128"/>
                <a:gd name="T1" fmla="*/ 88 h 128"/>
                <a:gd name="T2" fmla="*/ 94 w 128"/>
                <a:gd name="T3" fmla="*/ 94 h 128"/>
                <a:gd name="T4" fmla="*/ 40 w 128"/>
                <a:gd name="T5" fmla="*/ 67 h 128"/>
                <a:gd name="T6" fmla="*/ 40 w 128"/>
                <a:gd name="T7" fmla="*/ 64 h 128"/>
                <a:gd name="T8" fmla="*/ 40 w 128"/>
                <a:gd name="T9" fmla="*/ 61 h 128"/>
                <a:gd name="T10" fmla="*/ 94 w 128"/>
                <a:gd name="T11" fmla="*/ 34 h 128"/>
                <a:gd name="T12" fmla="*/ 108 w 128"/>
                <a:gd name="T13" fmla="*/ 40 h 128"/>
                <a:gd name="T14" fmla="*/ 128 w 128"/>
                <a:gd name="T15" fmla="*/ 20 h 128"/>
                <a:gd name="T16" fmla="*/ 108 w 128"/>
                <a:gd name="T17" fmla="*/ 0 h 128"/>
                <a:gd name="T18" fmla="*/ 88 w 128"/>
                <a:gd name="T19" fmla="*/ 20 h 128"/>
                <a:gd name="T20" fmla="*/ 88 w 128"/>
                <a:gd name="T21" fmla="*/ 23 h 128"/>
                <a:gd name="T22" fmla="*/ 34 w 128"/>
                <a:gd name="T23" fmla="*/ 50 h 128"/>
                <a:gd name="T24" fmla="*/ 20 w 128"/>
                <a:gd name="T25" fmla="*/ 44 h 128"/>
                <a:gd name="T26" fmla="*/ 0 w 128"/>
                <a:gd name="T27" fmla="*/ 64 h 128"/>
                <a:gd name="T28" fmla="*/ 20 w 128"/>
                <a:gd name="T29" fmla="*/ 84 h 128"/>
                <a:gd name="T30" fmla="*/ 34 w 128"/>
                <a:gd name="T31" fmla="*/ 78 h 128"/>
                <a:gd name="T32" fmla="*/ 88 w 128"/>
                <a:gd name="T33" fmla="*/ 105 h 128"/>
                <a:gd name="T34" fmla="*/ 88 w 128"/>
                <a:gd name="T35" fmla="*/ 108 h 128"/>
                <a:gd name="T36" fmla="*/ 108 w 128"/>
                <a:gd name="T37" fmla="*/ 128 h 128"/>
                <a:gd name="T38" fmla="*/ 128 w 128"/>
                <a:gd name="T39" fmla="*/ 108 h 128"/>
                <a:gd name="T40" fmla="*/ 108 w 128"/>
                <a:gd name="T41" fmla="*/ 8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8">
                  <a:moveTo>
                    <a:pt x="108" y="88"/>
                  </a:moveTo>
                  <a:cubicBezTo>
                    <a:pt x="102" y="88"/>
                    <a:pt x="97" y="90"/>
                    <a:pt x="94" y="94"/>
                  </a:cubicBezTo>
                  <a:cubicBezTo>
                    <a:pt x="40" y="67"/>
                    <a:pt x="40" y="67"/>
                    <a:pt x="40" y="67"/>
                  </a:cubicBezTo>
                  <a:cubicBezTo>
                    <a:pt x="40" y="66"/>
                    <a:pt x="40" y="65"/>
                    <a:pt x="40" y="64"/>
                  </a:cubicBezTo>
                  <a:cubicBezTo>
                    <a:pt x="40" y="63"/>
                    <a:pt x="40" y="62"/>
                    <a:pt x="40" y="61"/>
                  </a:cubicBezTo>
                  <a:cubicBezTo>
                    <a:pt x="94" y="34"/>
                    <a:pt x="94" y="34"/>
                    <a:pt x="94" y="34"/>
                  </a:cubicBezTo>
                  <a:cubicBezTo>
                    <a:pt x="97" y="38"/>
                    <a:pt x="102" y="40"/>
                    <a:pt x="108" y="40"/>
                  </a:cubicBezTo>
                  <a:cubicBezTo>
                    <a:pt x="119" y="40"/>
                    <a:pt x="128" y="31"/>
                    <a:pt x="128" y="20"/>
                  </a:cubicBezTo>
                  <a:cubicBezTo>
                    <a:pt x="128" y="9"/>
                    <a:pt x="119" y="0"/>
                    <a:pt x="108" y="0"/>
                  </a:cubicBezTo>
                  <a:cubicBezTo>
                    <a:pt x="97" y="0"/>
                    <a:pt x="88" y="9"/>
                    <a:pt x="88" y="20"/>
                  </a:cubicBezTo>
                  <a:cubicBezTo>
                    <a:pt x="88" y="21"/>
                    <a:pt x="88" y="22"/>
                    <a:pt x="88" y="23"/>
                  </a:cubicBezTo>
                  <a:cubicBezTo>
                    <a:pt x="34" y="50"/>
                    <a:pt x="34" y="50"/>
                    <a:pt x="34" y="50"/>
                  </a:cubicBezTo>
                  <a:cubicBezTo>
                    <a:pt x="31" y="46"/>
                    <a:pt x="26" y="44"/>
                    <a:pt x="20" y="44"/>
                  </a:cubicBezTo>
                  <a:cubicBezTo>
                    <a:pt x="9" y="44"/>
                    <a:pt x="0" y="53"/>
                    <a:pt x="0" y="64"/>
                  </a:cubicBezTo>
                  <a:cubicBezTo>
                    <a:pt x="0" y="75"/>
                    <a:pt x="9" y="84"/>
                    <a:pt x="20" y="84"/>
                  </a:cubicBezTo>
                  <a:cubicBezTo>
                    <a:pt x="26" y="84"/>
                    <a:pt x="31" y="82"/>
                    <a:pt x="34" y="78"/>
                  </a:cubicBezTo>
                  <a:cubicBezTo>
                    <a:pt x="88" y="105"/>
                    <a:pt x="88" y="105"/>
                    <a:pt x="88" y="105"/>
                  </a:cubicBezTo>
                  <a:cubicBezTo>
                    <a:pt x="88" y="106"/>
                    <a:pt x="88" y="107"/>
                    <a:pt x="88" y="108"/>
                  </a:cubicBezTo>
                  <a:cubicBezTo>
                    <a:pt x="88" y="119"/>
                    <a:pt x="97" y="128"/>
                    <a:pt x="108" y="128"/>
                  </a:cubicBezTo>
                  <a:cubicBezTo>
                    <a:pt x="119" y="128"/>
                    <a:pt x="128" y="119"/>
                    <a:pt x="128" y="108"/>
                  </a:cubicBezTo>
                  <a:cubicBezTo>
                    <a:pt x="128" y="97"/>
                    <a:pt x="119" y="88"/>
                    <a:pt x="108" y="88"/>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sp>
        <p:nvSpPr>
          <p:cNvPr id="14" name="Text Box 10"/>
          <p:cNvSpPr txBox="1">
            <a:spLocks noChangeArrowheads="1"/>
          </p:cNvSpPr>
          <p:nvPr/>
        </p:nvSpPr>
        <p:spPr bwMode="auto">
          <a:xfrm>
            <a:off x="1603059" y="2584667"/>
            <a:ext cx="2105007" cy="1140056"/>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本模板内所有图片及字体仅供参考，请根据您的实际情况进行替换或更改，并根据实际情况编辑文字内容。</a:t>
            </a:r>
            <a:endParaRPr lang="zh-CN" altLang="en-US" sz="1200" dirty="0">
              <a:cs typeface="+mn-ea"/>
              <a:sym typeface="+mn-lt"/>
            </a:endParaRPr>
          </a:p>
        </p:txBody>
      </p:sp>
      <p:sp>
        <p:nvSpPr>
          <p:cNvPr id="15" name="矩形 14"/>
          <p:cNvSpPr/>
          <p:nvPr/>
        </p:nvSpPr>
        <p:spPr>
          <a:xfrm>
            <a:off x="1596873" y="2243087"/>
            <a:ext cx="1930473" cy="36933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cs typeface="+mn-ea"/>
                <a:sym typeface="+mn-lt"/>
              </a:rPr>
              <a:t>输入小标题</a:t>
            </a:r>
            <a:endParaRPr lang="zh-CN" altLang="en-US" b="1" dirty="0">
              <a:cs typeface="+mn-ea"/>
              <a:sym typeface="+mn-lt"/>
            </a:endParaRPr>
          </a:p>
        </p:txBody>
      </p:sp>
      <p:sp>
        <p:nvSpPr>
          <p:cNvPr id="16" name="Text Box 10"/>
          <p:cNvSpPr txBox="1">
            <a:spLocks noChangeArrowheads="1"/>
          </p:cNvSpPr>
          <p:nvPr/>
        </p:nvSpPr>
        <p:spPr bwMode="auto">
          <a:xfrm>
            <a:off x="4845574" y="2584667"/>
            <a:ext cx="2105007" cy="1140056"/>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本模板内所有图片及字体仅供参考，请根据您的实际情况进行替换或更改，并根据实际情况编辑文字内容。</a:t>
            </a:r>
            <a:endParaRPr lang="zh-CN" altLang="en-US" sz="1200" dirty="0">
              <a:cs typeface="+mn-ea"/>
              <a:sym typeface="+mn-lt"/>
            </a:endParaRPr>
          </a:p>
        </p:txBody>
      </p:sp>
      <p:sp>
        <p:nvSpPr>
          <p:cNvPr id="17" name="矩形 16"/>
          <p:cNvSpPr/>
          <p:nvPr/>
        </p:nvSpPr>
        <p:spPr>
          <a:xfrm>
            <a:off x="4826796" y="2243087"/>
            <a:ext cx="1930473" cy="36933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cs typeface="+mn-ea"/>
                <a:sym typeface="+mn-lt"/>
              </a:rPr>
              <a:t>输入小标题</a:t>
            </a:r>
            <a:endParaRPr lang="zh-CN" altLang="en-US" b="1" dirty="0">
              <a:cs typeface="+mn-ea"/>
              <a:sym typeface="+mn-lt"/>
            </a:endParaRPr>
          </a:p>
        </p:txBody>
      </p:sp>
      <p:sp>
        <p:nvSpPr>
          <p:cNvPr id="18" name="Text Box 10"/>
          <p:cNvSpPr txBox="1">
            <a:spLocks noChangeArrowheads="1"/>
          </p:cNvSpPr>
          <p:nvPr/>
        </p:nvSpPr>
        <p:spPr bwMode="auto">
          <a:xfrm>
            <a:off x="1595419" y="4653733"/>
            <a:ext cx="2105007" cy="1140056"/>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本模板内所有图片及字体仅供参考，请根据您的实际情况进行替换或更改，并根据实际情况编辑文字内容。</a:t>
            </a:r>
            <a:endParaRPr lang="zh-CN" altLang="en-US" sz="1200" dirty="0">
              <a:cs typeface="+mn-ea"/>
              <a:sym typeface="+mn-lt"/>
            </a:endParaRPr>
          </a:p>
        </p:txBody>
      </p:sp>
      <p:sp>
        <p:nvSpPr>
          <p:cNvPr id="19" name="矩形 18"/>
          <p:cNvSpPr/>
          <p:nvPr/>
        </p:nvSpPr>
        <p:spPr>
          <a:xfrm>
            <a:off x="1586018" y="4315179"/>
            <a:ext cx="1930473" cy="36933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cs typeface="+mn-ea"/>
                <a:sym typeface="+mn-lt"/>
              </a:rPr>
              <a:t>输入小标题</a:t>
            </a:r>
            <a:endParaRPr lang="zh-CN" altLang="en-US" b="1" dirty="0">
              <a:cs typeface="+mn-ea"/>
              <a:sym typeface="+mn-lt"/>
            </a:endParaRPr>
          </a:p>
        </p:txBody>
      </p:sp>
      <p:sp>
        <p:nvSpPr>
          <p:cNvPr id="21" name="Text Box 10"/>
          <p:cNvSpPr txBox="1">
            <a:spLocks noChangeArrowheads="1"/>
          </p:cNvSpPr>
          <p:nvPr/>
        </p:nvSpPr>
        <p:spPr bwMode="auto">
          <a:xfrm>
            <a:off x="4839543" y="4653732"/>
            <a:ext cx="2105007" cy="1140056"/>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本模板内所有图片及字体仅供参考，请根据您的实际情况进行替换或更改，并根据实际情况编辑文字内容。</a:t>
            </a:r>
            <a:endParaRPr lang="zh-CN" altLang="en-US" sz="1200" dirty="0">
              <a:cs typeface="+mn-ea"/>
              <a:sym typeface="+mn-lt"/>
            </a:endParaRPr>
          </a:p>
        </p:txBody>
      </p:sp>
      <p:sp>
        <p:nvSpPr>
          <p:cNvPr id="22" name="矩形 21"/>
          <p:cNvSpPr/>
          <p:nvPr/>
        </p:nvSpPr>
        <p:spPr>
          <a:xfrm>
            <a:off x="4815941" y="4315179"/>
            <a:ext cx="1930473" cy="36933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cs typeface="+mn-ea"/>
                <a:sym typeface="+mn-lt"/>
              </a:rPr>
              <a:t>输入小标题</a:t>
            </a:r>
            <a:endParaRPr lang="zh-CN" altLang="en-US" b="1" dirty="0">
              <a:cs typeface="+mn-ea"/>
              <a:sym typeface="+mn-lt"/>
            </a:endParaRPr>
          </a:p>
        </p:txBody>
      </p:sp>
      <p:sp>
        <p:nvSpPr>
          <p:cNvPr id="24" name="矩形 23"/>
          <p:cNvSpPr/>
          <p:nvPr/>
        </p:nvSpPr>
        <p:spPr>
          <a:xfrm>
            <a:off x="7387592" y="1983901"/>
            <a:ext cx="3721209" cy="4055807"/>
          </a:xfrm>
          <a:prstGeom prst="rect">
            <a:avLst/>
          </a:prstGeom>
          <a:solidFill>
            <a:schemeClr val="accent1">
              <a:lumMod val="20000"/>
              <a:lumOff val="80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25" name="组合 24"/>
          <p:cNvGrpSpPr/>
          <p:nvPr/>
        </p:nvGrpSpPr>
        <p:grpSpPr>
          <a:xfrm>
            <a:off x="7886408" y="2710234"/>
            <a:ext cx="1447971" cy="341307"/>
            <a:chOff x="1265732" y="3016591"/>
            <a:chExt cx="1371009" cy="323166"/>
          </a:xfrm>
        </p:grpSpPr>
        <p:sp>
          <p:nvSpPr>
            <p:cNvPr id="31" name="Rectangle: Rounded Corners 30"/>
            <p:cNvSpPr/>
            <p:nvPr/>
          </p:nvSpPr>
          <p:spPr>
            <a:xfrm>
              <a:off x="1265732" y="3031980"/>
              <a:ext cx="1371009" cy="30777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cs typeface="+mn-ea"/>
                <a:sym typeface="+mn-lt"/>
              </a:endParaRPr>
            </a:p>
          </p:txBody>
        </p:sp>
        <p:sp>
          <p:nvSpPr>
            <p:cNvPr id="32" name="TextBox 30"/>
            <p:cNvSpPr txBox="1"/>
            <p:nvPr/>
          </p:nvSpPr>
          <p:spPr>
            <a:xfrm>
              <a:off x="1374321" y="3016591"/>
              <a:ext cx="1153831" cy="320559"/>
            </a:xfrm>
            <a:prstGeom prst="rect">
              <a:avLst/>
            </a:prstGeom>
            <a:noFill/>
          </p:spPr>
          <p:txBody>
            <a:bodyPr wrap="none" rtlCol="0" anchor="t">
              <a:spAutoFit/>
            </a:bodyPr>
            <a:lstStyle>
              <a:defPPr>
                <a:defRPr lang="en-US"/>
              </a:defPPr>
              <a:lvl1pPr>
                <a:defRPr sz="1600">
                  <a:solidFill>
                    <a:schemeClr val="bg1"/>
                  </a:solidFill>
                  <a:latin typeface="Montserrat" panose="00000500000000000000" pitchFamily="50" charset="0"/>
                  <a:cs typeface="Montserrat" panose="00000500000000000000" pitchFamily="50" charset="0"/>
                </a:defRPr>
              </a:lvl1pPr>
            </a:lstStyle>
            <a:p>
              <a:pPr algn="ctr"/>
              <a:r>
                <a:rPr lang="zh-CN" altLang="en-US" b="1" dirty="0">
                  <a:latin typeface="+mn-lt"/>
                  <a:cs typeface="+mn-ea"/>
                  <a:sym typeface="+mn-lt"/>
                </a:rPr>
                <a:t>输入小标题</a:t>
              </a:r>
              <a:endParaRPr lang="en-US" b="1" dirty="0">
                <a:latin typeface="+mn-lt"/>
                <a:cs typeface="+mn-ea"/>
                <a:sym typeface="+mn-lt"/>
              </a:endParaRPr>
            </a:p>
          </p:txBody>
        </p:sp>
      </p:grpSp>
      <p:sp>
        <p:nvSpPr>
          <p:cNvPr id="26" name="Text Box 10"/>
          <p:cNvSpPr txBox="1">
            <a:spLocks noChangeArrowheads="1"/>
          </p:cNvSpPr>
          <p:nvPr/>
        </p:nvSpPr>
        <p:spPr bwMode="auto">
          <a:xfrm>
            <a:off x="7814795" y="3056343"/>
            <a:ext cx="2851275" cy="85773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本模板内所有图片及字体仅供参考，请根据您的实际情况进行替换或更改，并根据实际情况编辑文字内容。</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grpSp>
        <p:nvGrpSpPr>
          <p:cNvPr id="27" name="组合 26"/>
          <p:cNvGrpSpPr/>
          <p:nvPr/>
        </p:nvGrpSpPr>
        <p:grpSpPr>
          <a:xfrm>
            <a:off x="7886408" y="4345444"/>
            <a:ext cx="1447971" cy="341307"/>
            <a:chOff x="1265732" y="4592810"/>
            <a:chExt cx="1371009" cy="323166"/>
          </a:xfrm>
        </p:grpSpPr>
        <p:sp>
          <p:nvSpPr>
            <p:cNvPr id="29" name="Rectangle: Rounded Corners 30"/>
            <p:cNvSpPr/>
            <p:nvPr/>
          </p:nvSpPr>
          <p:spPr>
            <a:xfrm>
              <a:off x="1265732" y="4608199"/>
              <a:ext cx="1371009" cy="30777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cs typeface="+mn-ea"/>
                <a:sym typeface="+mn-lt"/>
              </a:endParaRPr>
            </a:p>
          </p:txBody>
        </p:sp>
        <p:sp>
          <p:nvSpPr>
            <p:cNvPr id="30" name="TextBox 30"/>
            <p:cNvSpPr txBox="1"/>
            <p:nvPr/>
          </p:nvSpPr>
          <p:spPr>
            <a:xfrm>
              <a:off x="1374321" y="4592810"/>
              <a:ext cx="1153831" cy="320559"/>
            </a:xfrm>
            <a:prstGeom prst="rect">
              <a:avLst/>
            </a:prstGeom>
            <a:noFill/>
          </p:spPr>
          <p:txBody>
            <a:bodyPr wrap="none" rtlCol="0" anchor="t">
              <a:spAutoFit/>
            </a:bodyPr>
            <a:lstStyle>
              <a:defPPr>
                <a:defRPr lang="en-US"/>
              </a:defPPr>
              <a:lvl1pPr>
                <a:defRPr sz="1600">
                  <a:solidFill>
                    <a:schemeClr val="bg1"/>
                  </a:solidFill>
                  <a:latin typeface="Montserrat" panose="00000500000000000000" pitchFamily="50" charset="0"/>
                  <a:cs typeface="Montserrat" panose="00000500000000000000" pitchFamily="50" charset="0"/>
                </a:defRPr>
              </a:lvl1pPr>
            </a:lstStyle>
            <a:p>
              <a:pPr algn="ctr"/>
              <a:r>
                <a:rPr lang="zh-CN" altLang="en-US" b="1" dirty="0">
                  <a:latin typeface="+mn-lt"/>
                  <a:cs typeface="+mn-ea"/>
                  <a:sym typeface="+mn-lt"/>
                </a:rPr>
                <a:t>输入小标题</a:t>
              </a:r>
              <a:endParaRPr lang="en-US" b="1" dirty="0">
                <a:latin typeface="+mn-lt"/>
                <a:cs typeface="+mn-ea"/>
                <a:sym typeface="+mn-lt"/>
              </a:endParaRPr>
            </a:p>
          </p:txBody>
        </p:sp>
      </p:grpSp>
      <p:sp>
        <p:nvSpPr>
          <p:cNvPr id="28" name="Text Box 10"/>
          <p:cNvSpPr txBox="1">
            <a:spLocks noChangeArrowheads="1"/>
          </p:cNvSpPr>
          <p:nvPr/>
        </p:nvSpPr>
        <p:spPr bwMode="auto">
          <a:xfrm>
            <a:off x="7814795" y="4691554"/>
            <a:ext cx="2851275" cy="85773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450975"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本模板内所有图片及字体仅供参考，请根据您的实际情况进行替换或更改，并根据实际情况编辑文字内容。</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grpSp>
        <p:nvGrpSpPr>
          <p:cNvPr id="34" name="组合 33"/>
          <p:cNvGrpSpPr/>
          <p:nvPr/>
        </p:nvGrpSpPr>
        <p:grpSpPr>
          <a:xfrm>
            <a:off x="748244" y="776125"/>
            <a:ext cx="352439" cy="299049"/>
            <a:chOff x="4468761" y="1799303"/>
            <a:chExt cx="914400" cy="516194"/>
          </a:xfrm>
          <a:solidFill>
            <a:schemeClr val="accent1">
              <a:lumMod val="20000"/>
              <a:lumOff val="80000"/>
            </a:schemeClr>
          </a:solidFill>
        </p:grpSpPr>
        <p:sp>
          <p:nvSpPr>
            <p:cNvPr id="35" name="矩形 34"/>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6" name="矩形 35"/>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7" name="矩形 36"/>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38" name="Footer Text"/>
          <p:cNvSpPr txBox="1"/>
          <p:nvPr/>
        </p:nvSpPr>
        <p:spPr>
          <a:xfrm>
            <a:off x="1343247" y="710205"/>
            <a:ext cx="3295624" cy="43088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cs typeface="+mn-ea"/>
                <a:sym typeface="+mn-lt"/>
              </a:rPr>
              <a:t>研究成果与展示</a:t>
            </a:r>
            <a:endParaRPr lang="zh-CN" altLang="en-US" sz="2800" dirty="0">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04</a:t>
            </a:r>
            <a:endParaRPr lang="zh-CN" altLang="en-US" sz="3200" b="1" dirty="0">
              <a:cs typeface="+mn-ea"/>
              <a:sym typeface="+mn-lt"/>
            </a:endParaRPr>
          </a:p>
        </p:txBody>
      </p:sp>
      <p:sp>
        <p:nvSpPr>
          <p:cNvPr id="5" name="Footer Text"/>
          <p:cNvSpPr txBox="1"/>
          <p:nvPr/>
        </p:nvSpPr>
        <p:spPr>
          <a:xfrm>
            <a:off x="4448175" y="3282950"/>
            <a:ext cx="3695700"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cs typeface="+mn-ea"/>
                <a:sym typeface="+mn-lt"/>
              </a:rPr>
              <a:t>Research Findings</a:t>
            </a:r>
            <a:endParaRPr lang="en-US" altLang="zh-CN" sz="3600" b="1" dirty="0">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p:cNvGrpSpPr/>
          <p:nvPr/>
        </p:nvGrpSpPr>
        <p:grpSpPr>
          <a:xfrm>
            <a:off x="748244" y="776125"/>
            <a:ext cx="352439" cy="299049"/>
            <a:chOff x="4468761" y="1799303"/>
            <a:chExt cx="914400" cy="516194"/>
          </a:xfrm>
          <a:solidFill>
            <a:schemeClr val="accent1">
              <a:lumMod val="20000"/>
              <a:lumOff val="80000"/>
            </a:schemeClr>
          </a:solidFill>
        </p:grpSpPr>
        <p:sp>
          <p:nvSpPr>
            <p:cNvPr id="51" name="矩形 50"/>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2" name="矩形 51"/>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3" name="矩形 52"/>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4" name="Footer Text"/>
          <p:cNvSpPr txBox="1"/>
          <p:nvPr/>
        </p:nvSpPr>
        <p:spPr>
          <a:xfrm>
            <a:off x="1343025" y="709930"/>
            <a:ext cx="3683635"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Purpose to using GPT</a:t>
            </a:r>
            <a:endParaRPr lang="en-US" altLang="zh-CN" sz="2800" dirty="0">
              <a:cs typeface="+mn-ea"/>
              <a:sym typeface="+mn-lt"/>
            </a:endParaRPr>
          </a:p>
        </p:txBody>
      </p:sp>
      <p:pic>
        <p:nvPicPr>
          <p:cNvPr id="6" name="图片 5"/>
          <p:cNvPicPr>
            <a:picLocks noChangeAspect="1"/>
          </p:cNvPicPr>
          <p:nvPr/>
        </p:nvPicPr>
        <p:blipFill>
          <a:blip r:embed="rId1"/>
          <a:stretch>
            <a:fillRect/>
          </a:stretch>
        </p:blipFill>
        <p:spPr>
          <a:xfrm>
            <a:off x="2724785" y="1314450"/>
            <a:ext cx="6504305" cy="3310255"/>
          </a:xfrm>
          <a:prstGeom prst="rect">
            <a:avLst/>
          </a:prstGeom>
        </p:spPr>
      </p:pic>
      <p:sp>
        <p:nvSpPr>
          <p:cNvPr id="7" name="文本框 6"/>
          <p:cNvSpPr txBox="1"/>
          <p:nvPr/>
        </p:nvSpPr>
        <p:spPr>
          <a:xfrm>
            <a:off x="2355215" y="4876800"/>
            <a:ext cx="7232650" cy="922020"/>
          </a:xfrm>
          <a:prstGeom prst="rect">
            <a:avLst/>
          </a:prstGeom>
          <a:noFill/>
        </p:spPr>
        <p:txBody>
          <a:bodyPr wrap="square" rtlCol="0">
            <a:spAutoFit/>
          </a:bodyPr>
          <a:p>
            <a:r>
              <a:rPr lang="en-US" altLang="zh-CN"/>
              <a:t>E</a:t>
            </a:r>
            <a:r>
              <a:rPr lang="zh-CN" altLang="en-US"/>
              <a:t>xpert consultation was the most common scenario for ChatGPT use, accounting for 62% of all conversations.</a:t>
            </a:r>
            <a:r>
              <a:rPr lang="en-US" altLang="zh-CN"/>
              <a:t>And 22 participants have done expert consultation among 24 participants.</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p:cNvGrpSpPr/>
          <p:nvPr/>
        </p:nvGrpSpPr>
        <p:grpSpPr>
          <a:xfrm>
            <a:off x="748244" y="776125"/>
            <a:ext cx="352439" cy="299049"/>
            <a:chOff x="4468761" y="1799303"/>
            <a:chExt cx="914400" cy="516194"/>
          </a:xfrm>
          <a:solidFill>
            <a:schemeClr val="accent1">
              <a:lumMod val="20000"/>
              <a:lumOff val="80000"/>
            </a:schemeClr>
          </a:solidFill>
        </p:grpSpPr>
        <p:sp>
          <p:nvSpPr>
            <p:cNvPr id="51" name="矩形 50"/>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2" name="矩形 51"/>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3" name="矩形 52"/>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4" name="Footer Text"/>
          <p:cNvSpPr txBox="1"/>
          <p:nvPr/>
        </p:nvSpPr>
        <p:spPr>
          <a:xfrm>
            <a:off x="1343025" y="709930"/>
            <a:ext cx="3683635"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Purpose to using GPT</a:t>
            </a:r>
            <a:endParaRPr lang="en-US" altLang="zh-CN" sz="2800" dirty="0">
              <a:cs typeface="+mn-ea"/>
              <a:sym typeface="+mn-lt"/>
            </a:endParaRPr>
          </a:p>
        </p:txBody>
      </p:sp>
      <p:sp>
        <p:nvSpPr>
          <p:cNvPr id="7" name="文本框 6"/>
          <p:cNvSpPr txBox="1"/>
          <p:nvPr/>
        </p:nvSpPr>
        <p:spPr>
          <a:xfrm>
            <a:off x="2479675" y="4170680"/>
            <a:ext cx="7232650" cy="645160"/>
          </a:xfrm>
          <a:prstGeom prst="rect">
            <a:avLst/>
          </a:prstGeom>
          <a:noFill/>
        </p:spPr>
        <p:txBody>
          <a:bodyPr wrap="square" rtlCol="0">
            <a:spAutoFit/>
          </a:bodyPr>
          <a:p>
            <a:r>
              <a:t>ChatGPT is used in all phases of software development</a:t>
            </a:r>
            <a:r>
              <a:rPr lang="en-US"/>
              <a:t>, and most use occurs during the implementation phase of software development</a:t>
            </a:r>
            <a:endParaRPr lang="en-US"/>
          </a:p>
        </p:txBody>
      </p:sp>
      <p:pic>
        <p:nvPicPr>
          <p:cNvPr id="2" name="图片 1"/>
          <p:cNvPicPr>
            <a:picLocks noChangeAspect="1"/>
          </p:cNvPicPr>
          <p:nvPr/>
        </p:nvPicPr>
        <p:blipFill>
          <a:blip r:embed="rId1"/>
          <a:stretch>
            <a:fillRect/>
          </a:stretch>
        </p:blipFill>
        <p:spPr>
          <a:xfrm>
            <a:off x="859790" y="1822450"/>
            <a:ext cx="10472420" cy="21913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32125" y="2269096"/>
            <a:ext cx="489125" cy="489125"/>
            <a:chOff x="1059280" y="4003114"/>
            <a:chExt cx="714661" cy="714661"/>
          </a:xfrm>
        </p:grpSpPr>
        <p:sp>
          <p:nvSpPr>
            <p:cNvPr id="3" name="Oval 4"/>
            <p:cNvSpPr/>
            <p:nvPr/>
          </p:nvSpPr>
          <p:spPr>
            <a:xfrm>
              <a:off x="1059280" y="4003114"/>
              <a:ext cx="714661" cy="7146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4" name="Freeform 20"/>
            <p:cNvSpPr>
              <a:spLocks noChangeAspect="1" noEditPoints="1"/>
            </p:cNvSpPr>
            <p:nvPr/>
          </p:nvSpPr>
          <p:spPr bwMode="auto">
            <a:xfrm>
              <a:off x="1192879" y="4150049"/>
              <a:ext cx="447464" cy="420793"/>
            </a:xfrm>
            <a:custGeom>
              <a:avLst/>
              <a:gdLst>
                <a:gd name="T0" fmla="*/ 64 w 128"/>
                <a:gd name="T1" fmla="*/ 0 h 120"/>
                <a:gd name="T2" fmla="*/ 128 w 128"/>
                <a:gd name="T3" fmla="*/ 64 h 120"/>
                <a:gd name="T4" fmla="*/ 95 w 128"/>
                <a:gd name="T5" fmla="*/ 120 h 120"/>
                <a:gd name="T6" fmla="*/ 33 w 128"/>
                <a:gd name="T7" fmla="*/ 120 h 120"/>
                <a:gd name="T8" fmla="*/ 0 w 128"/>
                <a:gd name="T9" fmla="*/ 64 h 120"/>
                <a:gd name="T10" fmla="*/ 64 w 128"/>
                <a:gd name="T11" fmla="*/ 0 h 120"/>
                <a:gd name="T12" fmla="*/ 100 w 128"/>
                <a:gd name="T13" fmla="*/ 100 h 120"/>
                <a:gd name="T14" fmla="*/ 115 w 128"/>
                <a:gd name="T15" fmla="*/ 64 h 120"/>
                <a:gd name="T16" fmla="*/ 104 w 128"/>
                <a:gd name="T17" fmla="*/ 64 h 120"/>
                <a:gd name="T18" fmla="*/ 104 w 128"/>
                <a:gd name="T19" fmla="*/ 56 h 120"/>
                <a:gd name="T20" fmla="*/ 115 w 128"/>
                <a:gd name="T21" fmla="*/ 56 h 120"/>
                <a:gd name="T22" fmla="*/ 109 w 128"/>
                <a:gd name="T23" fmla="*/ 40 h 120"/>
                <a:gd name="T24" fmla="*/ 96 w 128"/>
                <a:gd name="T25" fmla="*/ 40 h 120"/>
                <a:gd name="T26" fmla="*/ 96 w 128"/>
                <a:gd name="T27" fmla="*/ 32 h 120"/>
                <a:gd name="T28" fmla="*/ 104 w 128"/>
                <a:gd name="T29" fmla="*/ 32 h 120"/>
                <a:gd name="T30" fmla="*/ 100 w 128"/>
                <a:gd name="T31" fmla="*/ 28 h 120"/>
                <a:gd name="T32" fmla="*/ 80 w 128"/>
                <a:gd name="T33" fmla="*/ 15 h 120"/>
                <a:gd name="T34" fmla="*/ 80 w 128"/>
                <a:gd name="T35" fmla="*/ 24 h 120"/>
                <a:gd name="T36" fmla="*/ 72 w 128"/>
                <a:gd name="T37" fmla="*/ 24 h 120"/>
                <a:gd name="T38" fmla="*/ 72 w 128"/>
                <a:gd name="T39" fmla="*/ 13 h 120"/>
                <a:gd name="T40" fmla="*/ 64 w 128"/>
                <a:gd name="T41" fmla="*/ 13 h 120"/>
                <a:gd name="T42" fmla="*/ 56 w 128"/>
                <a:gd name="T43" fmla="*/ 13 h 120"/>
                <a:gd name="T44" fmla="*/ 56 w 128"/>
                <a:gd name="T45" fmla="*/ 24 h 120"/>
                <a:gd name="T46" fmla="*/ 48 w 128"/>
                <a:gd name="T47" fmla="*/ 24 h 120"/>
                <a:gd name="T48" fmla="*/ 48 w 128"/>
                <a:gd name="T49" fmla="*/ 15 h 120"/>
                <a:gd name="T50" fmla="*/ 28 w 128"/>
                <a:gd name="T51" fmla="*/ 28 h 120"/>
                <a:gd name="T52" fmla="*/ 24 w 128"/>
                <a:gd name="T53" fmla="*/ 32 h 120"/>
                <a:gd name="T54" fmla="*/ 32 w 128"/>
                <a:gd name="T55" fmla="*/ 32 h 120"/>
                <a:gd name="T56" fmla="*/ 32 w 128"/>
                <a:gd name="T57" fmla="*/ 40 h 120"/>
                <a:gd name="T58" fmla="*/ 19 w 128"/>
                <a:gd name="T59" fmla="*/ 40 h 120"/>
                <a:gd name="T60" fmla="*/ 13 w 128"/>
                <a:gd name="T61" fmla="*/ 56 h 120"/>
                <a:gd name="T62" fmla="*/ 24 w 128"/>
                <a:gd name="T63" fmla="*/ 56 h 120"/>
                <a:gd name="T64" fmla="*/ 24 w 128"/>
                <a:gd name="T65" fmla="*/ 64 h 120"/>
                <a:gd name="T66" fmla="*/ 13 w 128"/>
                <a:gd name="T67" fmla="*/ 64 h 120"/>
                <a:gd name="T68" fmla="*/ 28 w 128"/>
                <a:gd name="T69" fmla="*/ 100 h 120"/>
                <a:gd name="T70" fmla="*/ 32 w 128"/>
                <a:gd name="T71" fmla="*/ 104 h 120"/>
                <a:gd name="T72" fmla="*/ 56 w 128"/>
                <a:gd name="T73" fmla="*/ 104 h 120"/>
                <a:gd name="T74" fmla="*/ 61 w 128"/>
                <a:gd name="T75" fmla="*/ 40 h 120"/>
                <a:gd name="T76" fmla="*/ 67 w 128"/>
                <a:gd name="T77" fmla="*/ 40 h 120"/>
                <a:gd name="T78" fmla="*/ 72 w 128"/>
                <a:gd name="T79" fmla="*/ 104 h 120"/>
                <a:gd name="T80" fmla="*/ 96 w 128"/>
                <a:gd name="T81" fmla="*/ 104 h 120"/>
                <a:gd name="T82" fmla="*/ 100 w 128"/>
                <a:gd name="T83"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0">
                  <a:moveTo>
                    <a:pt x="64" y="0"/>
                  </a:moveTo>
                  <a:cubicBezTo>
                    <a:pt x="99" y="0"/>
                    <a:pt x="128" y="29"/>
                    <a:pt x="128" y="64"/>
                  </a:cubicBezTo>
                  <a:cubicBezTo>
                    <a:pt x="128" y="88"/>
                    <a:pt x="115" y="109"/>
                    <a:pt x="95" y="120"/>
                  </a:cubicBezTo>
                  <a:cubicBezTo>
                    <a:pt x="33" y="120"/>
                    <a:pt x="33" y="120"/>
                    <a:pt x="33" y="120"/>
                  </a:cubicBezTo>
                  <a:cubicBezTo>
                    <a:pt x="13" y="109"/>
                    <a:pt x="0" y="88"/>
                    <a:pt x="0" y="64"/>
                  </a:cubicBezTo>
                  <a:cubicBezTo>
                    <a:pt x="0" y="29"/>
                    <a:pt x="29" y="0"/>
                    <a:pt x="64" y="0"/>
                  </a:cubicBezTo>
                  <a:close/>
                  <a:moveTo>
                    <a:pt x="100" y="100"/>
                  </a:moveTo>
                  <a:cubicBezTo>
                    <a:pt x="110" y="91"/>
                    <a:pt x="115" y="78"/>
                    <a:pt x="115" y="64"/>
                  </a:cubicBezTo>
                  <a:cubicBezTo>
                    <a:pt x="104" y="64"/>
                    <a:pt x="104" y="64"/>
                    <a:pt x="104" y="64"/>
                  </a:cubicBezTo>
                  <a:cubicBezTo>
                    <a:pt x="104" y="56"/>
                    <a:pt x="104" y="56"/>
                    <a:pt x="104" y="56"/>
                  </a:cubicBezTo>
                  <a:cubicBezTo>
                    <a:pt x="115" y="56"/>
                    <a:pt x="115" y="56"/>
                    <a:pt x="115" y="56"/>
                  </a:cubicBezTo>
                  <a:cubicBezTo>
                    <a:pt x="114" y="50"/>
                    <a:pt x="112" y="45"/>
                    <a:pt x="109" y="40"/>
                  </a:cubicBezTo>
                  <a:cubicBezTo>
                    <a:pt x="96" y="40"/>
                    <a:pt x="96" y="40"/>
                    <a:pt x="96" y="40"/>
                  </a:cubicBezTo>
                  <a:cubicBezTo>
                    <a:pt x="96" y="32"/>
                    <a:pt x="96" y="32"/>
                    <a:pt x="96" y="32"/>
                  </a:cubicBezTo>
                  <a:cubicBezTo>
                    <a:pt x="104" y="32"/>
                    <a:pt x="104" y="32"/>
                    <a:pt x="104" y="32"/>
                  </a:cubicBezTo>
                  <a:cubicBezTo>
                    <a:pt x="103" y="31"/>
                    <a:pt x="102" y="29"/>
                    <a:pt x="100" y="28"/>
                  </a:cubicBezTo>
                  <a:cubicBezTo>
                    <a:pt x="94" y="22"/>
                    <a:pt x="88" y="18"/>
                    <a:pt x="80" y="15"/>
                  </a:cubicBezTo>
                  <a:cubicBezTo>
                    <a:pt x="80" y="24"/>
                    <a:pt x="80" y="24"/>
                    <a:pt x="80" y="24"/>
                  </a:cubicBezTo>
                  <a:cubicBezTo>
                    <a:pt x="72" y="24"/>
                    <a:pt x="72" y="24"/>
                    <a:pt x="72" y="24"/>
                  </a:cubicBezTo>
                  <a:cubicBezTo>
                    <a:pt x="72" y="13"/>
                    <a:pt x="72" y="13"/>
                    <a:pt x="72" y="13"/>
                  </a:cubicBezTo>
                  <a:cubicBezTo>
                    <a:pt x="69" y="13"/>
                    <a:pt x="67" y="13"/>
                    <a:pt x="64" y="13"/>
                  </a:cubicBezTo>
                  <a:cubicBezTo>
                    <a:pt x="61" y="13"/>
                    <a:pt x="59" y="13"/>
                    <a:pt x="56" y="13"/>
                  </a:cubicBezTo>
                  <a:cubicBezTo>
                    <a:pt x="56" y="24"/>
                    <a:pt x="56" y="24"/>
                    <a:pt x="56" y="24"/>
                  </a:cubicBezTo>
                  <a:cubicBezTo>
                    <a:pt x="48" y="24"/>
                    <a:pt x="48" y="24"/>
                    <a:pt x="48" y="24"/>
                  </a:cubicBezTo>
                  <a:cubicBezTo>
                    <a:pt x="48" y="15"/>
                    <a:pt x="48" y="15"/>
                    <a:pt x="48" y="15"/>
                  </a:cubicBezTo>
                  <a:cubicBezTo>
                    <a:pt x="40" y="18"/>
                    <a:pt x="34" y="22"/>
                    <a:pt x="28" y="28"/>
                  </a:cubicBezTo>
                  <a:cubicBezTo>
                    <a:pt x="26" y="29"/>
                    <a:pt x="25" y="31"/>
                    <a:pt x="24" y="32"/>
                  </a:cubicBezTo>
                  <a:cubicBezTo>
                    <a:pt x="32" y="32"/>
                    <a:pt x="32" y="32"/>
                    <a:pt x="32" y="32"/>
                  </a:cubicBezTo>
                  <a:cubicBezTo>
                    <a:pt x="32" y="40"/>
                    <a:pt x="32" y="40"/>
                    <a:pt x="32" y="40"/>
                  </a:cubicBezTo>
                  <a:cubicBezTo>
                    <a:pt x="19" y="40"/>
                    <a:pt x="19" y="40"/>
                    <a:pt x="19" y="40"/>
                  </a:cubicBezTo>
                  <a:cubicBezTo>
                    <a:pt x="16" y="45"/>
                    <a:pt x="14" y="50"/>
                    <a:pt x="13" y="56"/>
                  </a:cubicBezTo>
                  <a:cubicBezTo>
                    <a:pt x="24" y="56"/>
                    <a:pt x="24" y="56"/>
                    <a:pt x="24" y="56"/>
                  </a:cubicBezTo>
                  <a:cubicBezTo>
                    <a:pt x="24" y="64"/>
                    <a:pt x="24" y="64"/>
                    <a:pt x="24" y="64"/>
                  </a:cubicBezTo>
                  <a:cubicBezTo>
                    <a:pt x="13" y="64"/>
                    <a:pt x="13" y="64"/>
                    <a:pt x="13" y="64"/>
                  </a:cubicBezTo>
                  <a:cubicBezTo>
                    <a:pt x="13" y="78"/>
                    <a:pt x="18" y="91"/>
                    <a:pt x="28" y="100"/>
                  </a:cubicBezTo>
                  <a:cubicBezTo>
                    <a:pt x="29" y="102"/>
                    <a:pt x="30" y="103"/>
                    <a:pt x="32" y="104"/>
                  </a:cubicBezTo>
                  <a:cubicBezTo>
                    <a:pt x="56" y="104"/>
                    <a:pt x="56" y="104"/>
                    <a:pt x="56" y="104"/>
                  </a:cubicBezTo>
                  <a:cubicBezTo>
                    <a:pt x="61" y="40"/>
                    <a:pt x="61" y="40"/>
                    <a:pt x="61" y="40"/>
                  </a:cubicBezTo>
                  <a:cubicBezTo>
                    <a:pt x="67" y="40"/>
                    <a:pt x="67" y="40"/>
                    <a:pt x="67" y="40"/>
                  </a:cubicBezTo>
                  <a:cubicBezTo>
                    <a:pt x="72" y="104"/>
                    <a:pt x="72" y="104"/>
                    <a:pt x="72" y="104"/>
                  </a:cubicBezTo>
                  <a:cubicBezTo>
                    <a:pt x="96" y="104"/>
                    <a:pt x="96" y="104"/>
                    <a:pt x="96" y="104"/>
                  </a:cubicBezTo>
                  <a:cubicBezTo>
                    <a:pt x="97" y="103"/>
                    <a:pt x="99" y="102"/>
                    <a:pt x="100" y="100"/>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grpSp>
        <p:nvGrpSpPr>
          <p:cNvPr id="5" name="组合 4"/>
          <p:cNvGrpSpPr/>
          <p:nvPr/>
        </p:nvGrpSpPr>
        <p:grpSpPr>
          <a:xfrm>
            <a:off x="1032125" y="4367198"/>
            <a:ext cx="489125" cy="489125"/>
            <a:chOff x="1059280" y="5017374"/>
            <a:chExt cx="714661" cy="714661"/>
          </a:xfrm>
        </p:grpSpPr>
        <p:sp>
          <p:nvSpPr>
            <p:cNvPr id="6" name="Oval 37"/>
            <p:cNvSpPr/>
            <p:nvPr/>
          </p:nvSpPr>
          <p:spPr>
            <a:xfrm>
              <a:off x="1059280" y="5017374"/>
              <a:ext cx="714661" cy="714661"/>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7" name="Freeform 83"/>
            <p:cNvSpPr>
              <a:spLocks noChangeAspect="1" noEditPoints="1"/>
            </p:cNvSpPr>
            <p:nvPr/>
          </p:nvSpPr>
          <p:spPr bwMode="auto">
            <a:xfrm>
              <a:off x="1276594" y="5150232"/>
              <a:ext cx="280036" cy="448944"/>
            </a:xfrm>
            <a:custGeom>
              <a:avLst/>
              <a:gdLst>
                <a:gd name="T0" fmla="*/ 40 w 80"/>
                <a:gd name="T1" fmla="*/ 0 h 128"/>
                <a:gd name="T2" fmla="*/ 0 w 80"/>
                <a:gd name="T3" fmla="*/ 40 h 128"/>
                <a:gd name="T4" fmla="*/ 40 w 80"/>
                <a:gd name="T5" fmla="*/ 128 h 128"/>
                <a:gd name="T6" fmla="*/ 80 w 80"/>
                <a:gd name="T7" fmla="*/ 40 h 128"/>
                <a:gd name="T8" fmla="*/ 40 w 80"/>
                <a:gd name="T9" fmla="*/ 0 h 128"/>
                <a:gd name="T10" fmla="*/ 40 w 80"/>
                <a:gd name="T11" fmla="*/ 64 h 128"/>
                <a:gd name="T12" fmla="*/ 15 w 80"/>
                <a:gd name="T13" fmla="*/ 40 h 128"/>
                <a:gd name="T14" fmla="*/ 40 w 80"/>
                <a:gd name="T15" fmla="*/ 15 h 128"/>
                <a:gd name="T16" fmla="*/ 64 w 80"/>
                <a:gd name="T17" fmla="*/ 40 h 128"/>
                <a:gd name="T18" fmla="*/ 40 w 80"/>
                <a:gd name="T19" fmla="*/ 64 h 128"/>
                <a:gd name="T20" fmla="*/ 24 w 80"/>
                <a:gd name="T21" fmla="*/ 40 h 128"/>
                <a:gd name="T22" fmla="*/ 40 w 80"/>
                <a:gd name="T23" fmla="*/ 55 h 128"/>
                <a:gd name="T24" fmla="*/ 55 w 80"/>
                <a:gd name="T25" fmla="*/ 40 h 128"/>
                <a:gd name="T26" fmla="*/ 40 w 80"/>
                <a:gd name="T27" fmla="*/ 24 h 128"/>
                <a:gd name="T28" fmla="*/ 24 w 80"/>
                <a:gd name="T29"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128">
                  <a:moveTo>
                    <a:pt x="40" y="0"/>
                  </a:moveTo>
                  <a:cubicBezTo>
                    <a:pt x="18" y="0"/>
                    <a:pt x="0" y="18"/>
                    <a:pt x="0" y="40"/>
                  </a:cubicBezTo>
                  <a:cubicBezTo>
                    <a:pt x="0" y="80"/>
                    <a:pt x="40" y="128"/>
                    <a:pt x="40" y="128"/>
                  </a:cubicBezTo>
                  <a:cubicBezTo>
                    <a:pt x="40" y="128"/>
                    <a:pt x="80" y="80"/>
                    <a:pt x="80" y="40"/>
                  </a:cubicBezTo>
                  <a:cubicBezTo>
                    <a:pt x="80" y="18"/>
                    <a:pt x="62" y="0"/>
                    <a:pt x="40" y="0"/>
                  </a:cubicBezTo>
                  <a:close/>
                  <a:moveTo>
                    <a:pt x="40" y="64"/>
                  </a:moveTo>
                  <a:cubicBezTo>
                    <a:pt x="26" y="64"/>
                    <a:pt x="15" y="54"/>
                    <a:pt x="15" y="40"/>
                  </a:cubicBezTo>
                  <a:cubicBezTo>
                    <a:pt x="15" y="26"/>
                    <a:pt x="26" y="15"/>
                    <a:pt x="40" y="15"/>
                  </a:cubicBezTo>
                  <a:cubicBezTo>
                    <a:pt x="54" y="15"/>
                    <a:pt x="64" y="26"/>
                    <a:pt x="64" y="40"/>
                  </a:cubicBezTo>
                  <a:cubicBezTo>
                    <a:pt x="64" y="54"/>
                    <a:pt x="54" y="64"/>
                    <a:pt x="40" y="64"/>
                  </a:cubicBezTo>
                  <a:close/>
                  <a:moveTo>
                    <a:pt x="24" y="40"/>
                  </a:moveTo>
                  <a:cubicBezTo>
                    <a:pt x="24" y="49"/>
                    <a:pt x="31" y="55"/>
                    <a:pt x="40" y="55"/>
                  </a:cubicBezTo>
                  <a:cubicBezTo>
                    <a:pt x="49" y="55"/>
                    <a:pt x="55" y="49"/>
                    <a:pt x="55" y="40"/>
                  </a:cubicBezTo>
                  <a:cubicBezTo>
                    <a:pt x="55" y="31"/>
                    <a:pt x="49" y="24"/>
                    <a:pt x="40" y="24"/>
                  </a:cubicBezTo>
                  <a:cubicBezTo>
                    <a:pt x="31" y="24"/>
                    <a:pt x="24" y="31"/>
                    <a:pt x="24" y="40"/>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sp>
        <p:nvSpPr>
          <p:cNvPr id="14" name="Text Box 10"/>
          <p:cNvSpPr txBox="1">
            <a:spLocks noChangeArrowheads="1"/>
          </p:cNvSpPr>
          <p:nvPr/>
        </p:nvSpPr>
        <p:spPr bwMode="auto">
          <a:xfrm>
            <a:off x="1603375" y="2584450"/>
            <a:ext cx="5426710" cy="172275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en-US" altLang="zh-CN" sz="1200" dirty="0">
                <a:cs typeface="+mn-ea"/>
                <a:sym typeface="+mn-lt"/>
              </a:rPr>
              <a:t>T</a:t>
            </a:r>
            <a:r>
              <a:rPr lang="zh-CN" altLang="en-US" sz="1200" dirty="0">
                <a:cs typeface="+mn-ea"/>
                <a:sym typeface="+mn-lt"/>
              </a:rPr>
              <a:t>he way </a:t>
            </a:r>
            <a:r>
              <a:rPr lang="en-US" altLang="zh-CN" sz="1200" dirty="0">
                <a:cs typeface="+mn-ea"/>
                <a:sym typeface="+mn-lt"/>
              </a:rPr>
              <a:t>Participants</a:t>
            </a:r>
            <a:r>
              <a:rPr lang="zh-CN" altLang="en-US" sz="1200" dirty="0">
                <a:cs typeface="+mn-ea"/>
                <a:sym typeface="+mn-lt"/>
              </a:rPr>
              <a:t> structure these prompts affects</a:t>
            </a:r>
            <a:r>
              <a:rPr lang="en-US" altLang="zh-CN" sz="1200" dirty="0">
                <a:cs typeface="+mn-ea"/>
                <a:sym typeface="+mn-lt"/>
              </a:rPr>
              <a:t> </a:t>
            </a:r>
            <a:r>
              <a:rPr lang="zh-CN" altLang="en-US" sz="1200" dirty="0">
                <a:cs typeface="+mn-ea"/>
                <a:sym typeface="+mn-lt"/>
              </a:rPr>
              <a:t>ChatGPT</a:t>
            </a:r>
            <a:r>
              <a:rPr lang="en-US" altLang="zh-CN" sz="1200" dirty="0">
                <a:cs typeface="+mn-ea"/>
                <a:sym typeface="+mn-lt"/>
              </a:rPr>
              <a:t>’</a:t>
            </a:r>
            <a:r>
              <a:rPr lang="zh-CN" altLang="en-US" sz="1200" dirty="0">
                <a:cs typeface="+mn-ea"/>
                <a:sym typeface="+mn-lt"/>
              </a:rPr>
              <a:t>s responses</a:t>
            </a:r>
            <a:r>
              <a:rPr lang="en-US" altLang="zh-CN" sz="1200" dirty="0">
                <a:cs typeface="+mn-ea"/>
                <a:sym typeface="+mn-lt"/>
              </a:rPr>
              <a:t>. There’s no evident disparsity of lingustic structures.Providing project-specific information(product requirements, code snippets, domain-specific</a:t>
            </a:r>
            <a:endParaRPr lang="en-US" altLang="zh-CN" sz="1200" dirty="0">
              <a:cs typeface="+mn-ea"/>
              <a:sym typeface="+mn-lt"/>
            </a:endParaRPr>
          </a:p>
          <a:p>
            <a:pPr defTabSz="1450975">
              <a:lnSpc>
                <a:spcPct val="150000"/>
              </a:lnSpc>
            </a:pPr>
            <a:r>
              <a:rPr lang="en-US" altLang="zh-CN" sz="1200" dirty="0">
                <a:cs typeface="+mn-ea"/>
                <a:sym typeface="+mn-lt"/>
              </a:rPr>
              <a:t>constraints, and process structure) could significantly enhance the participants’ overall experiences. </a:t>
            </a:r>
            <a:r>
              <a:rPr lang="en-US" altLang="zh-CN" sz="1200" dirty="0">
                <a:cs typeface="+mn-ea"/>
                <a:sym typeface="+mn-lt"/>
              </a:rPr>
              <a:t>P</a:t>
            </a:r>
            <a:r>
              <a:rPr lang="zh-CN" altLang="en-US" sz="1200" dirty="0">
                <a:cs typeface="+mn-ea"/>
                <a:sym typeface="+mn-lt"/>
              </a:rPr>
              <a:t>urpose behind a dialogue</a:t>
            </a:r>
            <a:r>
              <a:rPr lang="en-US" altLang="zh-CN" sz="1200" dirty="0">
                <a:cs typeface="+mn-ea"/>
                <a:sym typeface="+mn-lt"/>
              </a:rPr>
              <a:t> </a:t>
            </a:r>
            <a:r>
              <a:rPr lang="zh-CN" altLang="en-US" sz="1200" dirty="0">
                <a:cs typeface="+mn-ea"/>
                <a:sym typeface="+mn-lt"/>
              </a:rPr>
              <a:t>strongly influences the amount and type of context participants</a:t>
            </a:r>
            <a:r>
              <a:rPr lang="en-US" altLang="zh-CN" sz="1200" dirty="0">
                <a:cs typeface="+mn-ea"/>
                <a:sym typeface="+mn-lt"/>
              </a:rPr>
              <a:t> </a:t>
            </a:r>
            <a:r>
              <a:rPr lang="zh-CN" altLang="en-US" sz="1200" dirty="0">
                <a:cs typeface="+mn-ea"/>
                <a:sym typeface="+mn-lt"/>
              </a:rPr>
              <a:t>provide.</a:t>
            </a:r>
            <a:endParaRPr lang="en-US" altLang="zh-CN" sz="1200" dirty="0">
              <a:cs typeface="+mn-ea"/>
              <a:sym typeface="+mn-lt"/>
            </a:endParaRPr>
          </a:p>
        </p:txBody>
      </p:sp>
      <p:sp>
        <p:nvSpPr>
          <p:cNvPr id="15" name="矩形 14"/>
          <p:cNvSpPr/>
          <p:nvPr/>
        </p:nvSpPr>
        <p:spPr>
          <a:xfrm>
            <a:off x="1596873" y="2243087"/>
            <a:ext cx="1930473"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Prompt</a:t>
            </a:r>
            <a:endParaRPr lang="en-US" altLang="zh-CN" b="1" dirty="0">
              <a:cs typeface="+mn-ea"/>
              <a:sym typeface="+mn-lt"/>
            </a:endParaRPr>
          </a:p>
        </p:txBody>
      </p:sp>
      <p:sp>
        <p:nvSpPr>
          <p:cNvPr id="18" name="Text Box 10"/>
          <p:cNvSpPr txBox="1">
            <a:spLocks noChangeArrowheads="1"/>
          </p:cNvSpPr>
          <p:nvPr/>
        </p:nvSpPr>
        <p:spPr bwMode="auto">
          <a:xfrm>
            <a:off x="1595120" y="4653915"/>
            <a:ext cx="5320665"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en-US" altLang="zh-CN" sz="1200" dirty="0">
                <a:cs typeface="+mn-ea"/>
                <a:sym typeface="+mn-lt"/>
              </a:rPr>
              <a:t>H</a:t>
            </a:r>
            <a:r>
              <a:rPr lang="zh-CN" altLang="en-US" sz="1200" dirty="0">
                <a:cs typeface="+mn-ea"/>
                <a:sym typeface="+mn-lt"/>
              </a:rPr>
              <a:t>ow much they know</a:t>
            </a:r>
            <a:r>
              <a:rPr lang="en-US" altLang="zh-CN" sz="1200" dirty="0">
                <a:cs typeface="+mn-ea"/>
                <a:sym typeface="+mn-lt"/>
              </a:rPr>
              <a:t> </a:t>
            </a:r>
            <a:r>
              <a:rPr lang="zh-CN" altLang="en-US" sz="1200" dirty="0">
                <a:cs typeface="+mn-ea"/>
                <a:sym typeface="+mn-lt"/>
              </a:rPr>
              <a:t>about generative AI, and their tolerance to inaccuracies in</a:t>
            </a:r>
            <a:r>
              <a:rPr lang="en-US" altLang="zh-CN" sz="1200" dirty="0">
                <a:cs typeface="+mn-ea"/>
                <a:sym typeface="+mn-lt"/>
              </a:rPr>
              <a:t> </a:t>
            </a:r>
            <a:r>
              <a:rPr lang="zh-CN" altLang="en-US" sz="1200" dirty="0">
                <a:cs typeface="+mn-ea"/>
                <a:sym typeface="+mn-lt"/>
              </a:rPr>
              <a:t>responses.</a:t>
            </a:r>
            <a:r>
              <a:rPr lang="en-US" altLang="zh-CN" sz="1200" dirty="0">
                <a:cs typeface="+mn-ea"/>
                <a:sym typeface="+mn-lt"/>
              </a:rPr>
              <a:t> </a:t>
            </a:r>
            <a:r>
              <a:rPr lang="zh-CN" altLang="en-US" sz="1200" dirty="0">
                <a:cs typeface="+mn-ea"/>
                <a:sym typeface="+mn-lt"/>
              </a:rPr>
              <a:t>Sceptical participants are often confirmed in</a:t>
            </a:r>
            <a:r>
              <a:rPr lang="en-US" altLang="zh-CN" sz="1200" dirty="0">
                <a:cs typeface="+mn-ea"/>
                <a:sym typeface="+mn-lt"/>
              </a:rPr>
              <a:t> </a:t>
            </a:r>
            <a:r>
              <a:rPr lang="zh-CN" altLang="en-US" sz="1200" dirty="0">
                <a:cs typeface="+mn-ea"/>
                <a:sym typeface="+mn-lt"/>
              </a:rPr>
              <a:t>their believe that ChatGPT is not useful for their work,</a:t>
            </a:r>
            <a:r>
              <a:rPr lang="en-US" altLang="zh-CN" sz="1200" dirty="0">
                <a:cs typeface="+mn-ea"/>
                <a:sym typeface="+mn-lt"/>
              </a:rPr>
              <a:t> </a:t>
            </a:r>
            <a:r>
              <a:rPr lang="zh-CN" altLang="en-US" sz="1200" dirty="0">
                <a:cs typeface="+mn-ea"/>
                <a:sym typeface="+mn-lt"/>
              </a:rPr>
              <a:t>and stop using it quickly. Participants that use ChatGPT</a:t>
            </a:r>
            <a:r>
              <a:rPr lang="en-US" altLang="zh-CN" sz="1200" dirty="0">
                <a:cs typeface="+mn-ea"/>
                <a:sym typeface="+mn-lt"/>
              </a:rPr>
              <a:t> </a:t>
            </a:r>
            <a:r>
              <a:rPr lang="zh-CN" altLang="en-US" sz="1200" dirty="0">
                <a:cs typeface="+mn-ea"/>
                <a:sym typeface="+mn-lt"/>
              </a:rPr>
              <a:t>for training are often more happy with the results they</a:t>
            </a:r>
            <a:r>
              <a:rPr lang="en-US" altLang="zh-CN" sz="1200" dirty="0">
                <a:cs typeface="+mn-ea"/>
                <a:sym typeface="+mn-lt"/>
              </a:rPr>
              <a:t> </a:t>
            </a:r>
            <a:r>
              <a:rPr lang="zh-CN" altLang="en-US" sz="1200" dirty="0">
                <a:cs typeface="+mn-ea"/>
                <a:sym typeface="+mn-lt"/>
              </a:rPr>
              <a:t>receive.</a:t>
            </a:r>
            <a:endParaRPr lang="zh-CN" altLang="en-US" sz="1200" dirty="0">
              <a:cs typeface="+mn-ea"/>
              <a:sym typeface="+mn-lt"/>
            </a:endParaRPr>
          </a:p>
        </p:txBody>
      </p:sp>
      <p:sp>
        <p:nvSpPr>
          <p:cNvPr id="19" name="矩形 18"/>
          <p:cNvSpPr/>
          <p:nvPr/>
        </p:nvSpPr>
        <p:spPr>
          <a:xfrm>
            <a:off x="1586018" y="4315179"/>
            <a:ext cx="1930473"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Personal factors</a:t>
            </a:r>
            <a:endParaRPr lang="en-US" altLang="zh-CN" b="1" dirty="0">
              <a:cs typeface="+mn-ea"/>
              <a:sym typeface="+mn-lt"/>
            </a:endParaRPr>
          </a:p>
        </p:txBody>
      </p:sp>
      <p:grpSp>
        <p:nvGrpSpPr>
          <p:cNvPr id="34" name="组合 33"/>
          <p:cNvGrpSpPr/>
          <p:nvPr/>
        </p:nvGrpSpPr>
        <p:grpSpPr>
          <a:xfrm>
            <a:off x="748244" y="776125"/>
            <a:ext cx="352439" cy="299049"/>
            <a:chOff x="4468761" y="1799303"/>
            <a:chExt cx="914400" cy="516194"/>
          </a:xfrm>
          <a:solidFill>
            <a:schemeClr val="accent1">
              <a:lumMod val="20000"/>
              <a:lumOff val="80000"/>
            </a:schemeClr>
          </a:solidFill>
        </p:grpSpPr>
        <p:sp>
          <p:nvSpPr>
            <p:cNvPr id="35" name="矩形 34"/>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6" name="矩形 35"/>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7" name="矩形 36"/>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38" name="Footer Text"/>
          <p:cNvSpPr txBox="1"/>
          <p:nvPr/>
        </p:nvSpPr>
        <p:spPr>
          <a:xfrm>
            <a:off x="1343025" y="709930"/>
            <a:ext cx="4752340"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Internal  and External Factors</a:t>
            </a:r>
            <a:endParaRPr lang="en-US" altLang="zh-CN" sz="2800" dirty="0">
              <a:cs typeface="+mn-ea"/>
              <a:sym typeface="+mn-lt"/>
            </a:endParaRPr>
          </a:p>
        </p:txBody>
      </p:sp>
      <p:grpSp>
        <p:nvGrpSpPr>
          <p:cNvPr id="49" name="组合 48"/>
          <p:cNvGrpSpPr/>
          <p:nvPr/>
        </p:nvGrpSpPr>
        <p:grpSpPr>
          <a:xfrm>
            <a:off x="7567545" y="2222106"/>
            <a:ext cx="489125" cy="489125"/>
            <a:chOff x="1059280" y="4003114"/>
            <a:chExt cx="714661" cy="714661"/>
          </a:xfrm>
        </p:grpSpPr>
        <p:sp>
          <p:nvSpPr>
            <p:cNvPr id="50" name="Oval 4"/>
            <p:cNvSpPr/>
            <p:nvPr/>
          </p:nvSpPr>
          <p:spPr>
            <a:xfrm>
              <a:off x="1059280" y="4003114"/>
              <a:ext cx="714661" cy="7146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HK" altLang="en-US" sz="3200" dirty="0">
                <a:solidFill>
                  <a:schemeClr val="tx1"/>
                </a:solidFill>
                <a:cs typeface="+mn-ea"/>
                <a:sym typeface="+mn-lt"/>
              </a:endParaRPr>
            </a:p>
          </p:txBody>
        </p:sp>
        <p:sp>
          <p:nvSpPr>
            <p:cNvPr id="51" name="Freeform 20"/>
            <p:cNvSpPr>
              <a:spLocks noChangeAspect="1" noEditPoints="1"/>
            </p:cNvSpPr>
            <p:nvPr/>
          </p:nvSpPr>
          <p:spPr bwMode="auto">
            <a:xfrm>
              <a:off x="1192879" y="4150049"/>
              <a:ext cx="447464" cy="420793"/>
            </a:xfrm>
            <a:custGeom>
              <a:avLst/>
              <a:gdLst>
                <a:gd name="T0" fmla="*/ 64 w 128"/>
                <a:gd name="T1" fmla="*/ 0 h 120"/>
                <a:gd name="T2" fmla="*/ 128 w 128"/>
                <a:gd name="T3" fmla="*/ 64 h 120"/>
                <a:gd name="T4" fmla="*/ 95 w 128"/>
                <a:gd name="T5" fmla="*/ 120 h 120"/>
                <a:gd name="T6" fmla="*/ 33 w 128"/>
                <a:gd name="T7" fmla="*/ 120 h 120"/>
                <a:gd name="T8" fmla="*/ 0 w 128"/>
                <a:gd name="T9" fmla="*/ 64 h 120"/>
                <a:gd name="T10" fmla="*/ 64 w 128"/>
                <a:gd name="T11" fmla="*/ 0 h 120"/>
                <a:gd name="T12" fmla="*/ 100 w 128"/>
                <a:gd name="T13" fmla="*/ 100 h 120"/>
                <a:gd name="T14" fmla="*/ 115 w 128"/>
                <a:gd name="T15" fmla="*/ 64 h 120"/>
                <a:gd name="T16" fmla="*/ 104 w 128"/>
                <a:gd name="T17" fmla="*/ 64 h 120"/>
                <a:gd name="T18" fmla="*/ 104 w 128"/>
                <a:gd name="T19" fmla="*/ 56 h 120"/>
                <a:gd name="T20" fmla="*/ 115 w 128"/>
                <a:gd name="T21" fmla="*/ 56 h 120"/>
                <a:gd name="T22" fmla="*/ 109 w 128"/>
                <a:gd name="T23" fmla="*/ 40 h 120"/>
                <a:gd name="T24" fmla="*/ 96 w 128"/>
                <a:gd name="T25" fmla="*/ 40 h 120"/>
                <a:gd name="T26" fmla="*/ 96 w 128"/>
                <a:gd name="T27" fmla="*/ 32 h 120"/>
                <a:gd name="T28" fmla="*/ 104 w 128"/>
                <a:gd name="T29" fmla="*/ 32 h 120"/>
                <a:gd name="T30" fmla="*/ 100 w 128"/>
                <a:gd name="T31" fmla="*/ 28 h 120"/>
                <a:gd name="T32" fmla="*/ 80 w 128"/>
                <a:gd name="T33" fmla="*/ 15 h 120"/>
                <a:gd name="T34" fmla="*/ 80 w 128"/>
                <a:gd name="T35" fmla="*/ 24 h 120"/>
                <a:gd name="T36" fmla="*/ 72 w 128"/>
                <a:gd name="T37" fmla="*/ 24 h 120"/>
                <a:gd name="T38" fmla="*/ 72 w 128"/>
                <a:gd name="T39" fmla="*/ 13 h 120"/>
                <a:gd name="T40" fmla="*/ 64 w 128"/>
                <a:gd name="T41" fmla="*/ 13 h 120"/>
                <a:gd name="T42" fmla="*/ 56 w 128"/>
                <a:gd name="T43" fmla="*/ 13 h 120"/>
                <a:gd name="T44" fmla="*/ 56 w 128"/>
                <a:gd name="T45" fmla="*/ 24 h 120"/>
                <a:gd name="T46" fmla="*/ 48 w 128"/>
                <a:gd name="T47" fmla="*/ 24 h 120"/>
                <a:gd name="T48" fmla="*/ 48 w 128"/>
                <a:gd name="T49" fmla="*/ 15 h 120"/>
                <a:gd name="T50" fmla="*/ 28 w 128"/>
                <a:gd name="T51" fmla="*/ 28 h 120"/>
                <a:gd name="T52" fmla="*/ 24 w 128"/>
                <a:gd name="T53" fmla="*/ 32 h 120"/>
                <a:gd name="T54" fmla="*/ 32 w 128"/>
                <a:gd name="T55" fmla="*/ 32 h 120"/>
                <a:gd name="T56" fmla="*/ 32 w 128"/>
                <a:gd name="T57" fmla="*/ 40 h 120"/>
                <a:gd name="T58" fmla="*/ 19 w 128"/>
                <a:gd name="T59" fmla="*/ 40 h 120"/>
                <a:gd name="T60" fmla="*/ 13 w 128"/>
                <a:gd name="T61" fmla="*/ 56 h 120"/>
                <a:gd name="T62" fmla="*/ 24 w 128"/>
                <a:gd name="T63" fmla="*/ 56 h 120"/>
                <a:gd name="T64" fmla="*/ 24 w 128"/>
                <a:gd name="T65" fmla="*/ 64 h 120"/>
                <a:gd name="T66" fmla="*/ 13 w 128"/>
                <a:gd name="T67" fmla="*/ 64 h 120"/>
                <a:gd name="T68" fmla="*/ 28 w 128"/>
                <a:gd name="T69" fmla="*/ 100 h 120"/>
                <a:gd name="T70" fmla="*/ 32 w 128"/>
                <a:gd name="T71" fmla="*/ 104 h 120"/>
                <a:gd name="T72" fmla="*/ 56 w 128"/>
                <a:gd name="T73" fmla="*/ 104 h 120"/>
                <a:gd name="T74" fmla="*/ 61 w 128"/>
                <a:gd name="T75" fmla="*/ 40 h 120"/>
                <a:gd name="T76" fmla="*/ 67 w 128"/>
                <a:gd name="T77" fmla="*/ 40 h 120"/>
                <a:gd name="T78" fmla="*/ 72 w 128"/>
                <a:gd name="T79" fmla="*/ 104 h 120"/>
                <a:gd name="T80" fmla="*/ 96 w 128"/>
                <a:gd name="T81" fmla="*/ 104 h 120"/>
                <a:gd name="T82" fmla="*/ 100 w 128"/>
                <a:gd name="T83"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0">
                  <a:moveTo>
                    <a:pt x="64" y="0"/>
                  </a:moveTo>
                  <a:cubicBezTo>
                    <a:pt x="99" y="0"/>
                    <a:pt x="128" y="29"/>
                    <a:pt x="128" y="64"/>
                  </a:cubicBezTo>
                  <a:cubicBezTo>
                    <a:pt x="128" y="88"/>
                    <a:pt x="115" y="109"/>
                    <a:pt x="95" y="120"/>
                  </a:cubicBezTo>
                  <a:cubicBezTo>
                    <a:pt x="33" y="120"/>
                    <a:pt x="33" y="120"/>
                    <a:pt x="33" y="120"/>
                  </a:cubicBezTo>
                  <a:cubicBezTo>
                    <a:pt x="13" y="109"/>
                    <a:pt x="0" y="88"/>
                    <a:pt x="0" y="64"/>
                  </a:cubicBezTo>
                  <a:cubicBezTo>
                    <a:pt x="0" y="29"/>
                    <a:pt x="29" y="0"/>
                    <a:pt x="64" y="0"/>
                  </a:cubicBezTo>
                  <a:close/>
                  <a:moveTo>
                    <a:pt x="100" y="100"/>
                  </a:moveTo>
                  <a:cubicBezTo>
                    <a:pt x="110" y="91"/>
                    <a:pt x="115" y="78"/>
                    <a:pt x="115" y="64"/>
                  </a:cubicBezTo>
                  <a:cubicBezTo>
                    <a:pt x="104" y="64"/>
                    <a:pt x="104" y="64"/>
                    <a:pt x="104" y="64"/>
                  </a:cubicBezTo>
                  <a:cubicBezTo>
                    <a:pt x="104" y="56"/>
                    <a:pt x="104" y="56"/>
                    <a:pt x="104" y="56"/>
                  </a:cubicBezTo>
                  <a:cubicBezTo>
                    <a:pt x="115" y="56"/>
                    <a:pt x="115" y="56"/>
                    <a:pt x="115" y="56"/>
                  </a:cubicBezTo>
                  <a:cubicBezTo>
                    <a:pt x="114" y="50"/>
                    <a:pt x="112" y="45"/>
                    <a:pt x="109" y="40"/>
                  </a:cubicBezTo>
                  <a:cubicBezTo>
                    <a:pt x="96" y="40"/>
                    <a:pt x="96" y="40"/>
                    <a:pt x="96" y="40"/>
                  </a:cubicBezTo>
                  <a:cubicBezTo>
                    <a:pt x="96" y="32"/>
                    <a:pt x="96" y="32"/>
                    <a:pt x="96" y="32"/>
                  </a:cubicBezTo>
                  <a:cubicBezTo>
                    <a:pt x="104" y="32"/>
                    <a:pt x="104" y="32"/>
                    <a:pt x="104" y="32"/>
                  </a:cubicBezTo>
                  <a:cubicBezTo>
                    <a:pt x="103" y="31"/>
                    <a:pt x="102" y="29"/>
                    <a:pt x="100" y="28"/>
                  </a:cubicBezTo>
                  <a:cubicBezTo>
                    <a:pt x="94" y="22"/>
                    <a:pt x="88" y="18"/>
                    <a:pt x="80" y="15"/>
                  </a:cubicBezTo>
                  <a:cubicBezTo>
                    <a:pt x="80" y="24"/>
                    <a:pt x="80" y="24"/>
                    <a:pt x="80" y="24"/>
                  </a:cubicBezTo>
                  <a:cubicBezTo>
                    <a:pt x="72" y="24"/>
                    <a:pt x="72" y="24"/>
                    <a:pt x="72" y="24"/>
                  </a:cubicBezTo>
                  <a:cubicBezTo>
                    <a:pt x="72" y="13"/>
                    <a:pt x="72" y="13"/>
                    <a:pt x="72" y="13"/>
                  </a:cubicBezTo>
                  <a:cubicBezTo>
                    <a:pt x="69" y="13"/>
                    <a:pt x="67" y="13"/>
                    <a:pt x="64" y="13"/>
                  </a:cubicBezTo>
                  <a:cubicBezTo>
                    <a:pt x="61" y="13"/>
                    <a:pt x="59" y="13"/>
                    <a:pt x="56" y="13"/>
                  </a:cubicBezTo>
                  <a:cubicBezTo>
                    <a:pt x="56" y="24"/>
                    <a:pt x="56" y="24"/>
                    <a:pt x="56" y="24"/>
                  </a:cubicBezTo>
                  <a:cubicBezTo>
                    <a:pt x="48" y="24"/>
                    <a:pt x="48" y="24"/>
                    <a:pt x="48" y="24"/>
                  </a:cubicBezTo>
                  <a:cubicBezTo>
                    <a:pt x="48" y="15"/>
                    <a:pt x="48" y="15"/>
                    <a:pt x="48" y="15"/>
                  </a:cubicBezTo>
                  <a:cubicBezTo>
                    <a:pt x="40" y="18"/>
                    <a:pt x="34" y="22"/>
                    <a:pt x="28" y="28"/>
                  </a:cubicBezTo>
                  <a:cubicBezTo>
                    <a:pt x="26" y="29"/>
                    <a:pt x="25" y="31"/>
                    <a:pt x="24" y="32"/>
                  </a:cubicBezTo>
                  <a:cubicBezTo>
                    <a:pt x="32" y="32"/>
                    <a:pt x="32" y="32"/>
                    <a:pt x="32" y="32"/>
                  </a:cubicBezTo>
                  <a:cubicBezTo>
                    <a:pt x="32" y="40"/>
                    <a:pt x="32" y="40"/>
                    <a:pt x="32" y="40"/>
                  </a:cubicBezTo>
                  <a:cubicBezTo>
                    <a:pt x="19" y="40"/>
                    <a:pt x="19" y="40"/>
                    <a:pt x="19" y="40"/>
                  </a:cubicBezTo>
                  <a:cubicBezTo>
                    <a:pt x="16" y="45"/>
                    <a:pt x="14" y="50"/>
                    <a:pt x="13" y="56"/>
                  </a:cubicBezTo>
                  <a:cubicBezTo>
                    <a:pt x="24" y="56"/>
                    <a:pt x="24" y="56"/>
                    <a:pt x="24" y="56"/>
                  </a:cubicBezTo>
                  <a:cubicBezTo>
                    <a:pt x="24" y="64"/>
                    <a:pt x="24" y="64"/>
                    <a:pt x="24" y="64"/>
                  </a:cubicBezTo>
                  <a:cubicBezTo>
                    <a:pt x="13" y="64"/>
                    <a:pt x="13" y="64"/>
                    <a:pt x="13" y="64"/>
                  </a:cubicBezTo>
                  <a:cubicBezTo>
                    <a:pt x="13" y="78"/>
                    <a:pt x="18" y="91"/>
                    <a:pt x="28" y="100"/>
                  </a:cubicBezTo>
                  <a:cubicBezTo>
                    <a:pt x="29" y="102"/>
                    <a:pt x="30" y="103"/>
                    <a:pt x="32" y="104"/>
                  </a:cubicBezTo>
                  <a:cubicBezTo>
                    <a:pt x="56" y="104"/>
                    <a:pt x="56" y="104"/>
                    <a:pt x="56" y="104"/>
                  </a:cubicBezTo>
                  <a:cubicBezTo>
                    <a:pt x="61" y="40"/>
                    <a:pt x="61" y="40"/>
                    <a:pt x="61" y="40"/>
                  </a:cubicBezTo>
                  <a:cubicBezTo>
                    <a:pt x="67" y="40"/>
                    <a:pt x="67" y="40"/>
                    <a:pt x="67" y="40"/>
                  </a:cubicBezTo>
                  <a:cubicBezTo>
                    <a:pt x="72" y="104"/>
                    <a:pt x="72" y="104"/>
                    <a:pt x="72" y="104"/>
                  </a:cubicBezTo>
                  <a:cubicBezTo>
                    <a:pt x="96" y="104"/>
                    <a:pt x="96" y="104"/>
                    <a:pt x="96" y="104"/>
                  </a:cubicBezTo>
                  <a:cubicBezTo>
                    <a:pt x="97" y="103"/>
                    <a:pt x="99" y="102"/>
                    <a:pt x="100" y="100"/>
                  </a:cubicBezTo>
                  <a:close/>
                </a:path>
              </a:pathLst>
            </a:custGeom>
            <a:solidFill>
              <a:schemeClr val="bg1"/>
            </a:solidFill>
            <a:ln>
              <a:noFill/>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sz="3200">
                <a:cs typeface="+mn-ea"/>
                <a:sym typeface="+mn-lt"/>
              </a:endParaRPr>
            </a:p>
          </p:txBody>
        </p:sp>
      </p:grpSp>
      <p:sp>
        <p:nvSpPr>
          <p:cNvPr id="52" name="矩形 51"/>
          <p:cNvSpPr/>
          <p:nvPr/>
        </p:nvSpPr>
        <p:spPr>
          <a:xfrm>
            <a:off x="8131810" y="2128520"/>
            <a:ext cx="336804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Legal questions and concerns regarding company policies</a:t>
            </a:r>
            <a:endParaRPr lang="en-US" altLang="zh-CN" b="1" dirty="0">
              <a:cs typeface="+mn-ea"/>
              <a:sym typeface="+mn-lt"/>
            </a:endParaRPr>
          </a:p>
        </p:txBody>
      </p:sp>
      <p:sp>
        <p:nvSpPr>
          <p:cNvPr id="53" name="文本框 52"/>
          <p:cNvSpPr txBox="1"/>
          <p:nvPr/>
        </p:nvSpPr>
        <p:spPr>
          <a:xfrm>
            <a:off x="8056245" y="2827655"/>
            <a:ext cx="3534410" cy="1076960"/>
          </a:xfrm>
          <a:prstGeom prst="rect">
            <a:avLst/>
          </a:prstGeom>
          <a:noFill/>
        </p:spPr>
        <p:txBody>
          <a:bodyPr wrap="square" rtlCol="0">
            <a:noAutofit/>
          </a:bodyPr>
          <a:p>
            <a:r>
              <a:rPr lang="en-US" altLang="zh-CN" sz="1200"/>
              <a:t>U</a:t>
            </a:r>
            <a:r>
              <a:rPr lang="zh-CN" altLang="en-US" sz="1200"/>
              <a:t>ncertainty whether they are allowed to</a:t>
            </a:r>
            <a:r>
              <a:rPr lang="en-US" altLang="zh-CN" sz="1200"/>
              <a:t> </a:t>
            </a:r>
            <a:r>
              <a:rPr lang="zh-CN" altLang="en-US" sz="1200"/>
              <a:t>use the tool for a specific use case</a:t>
            </a:r>
            <a:r>
              <a:rPr lang="en-US" altLang="zh-CN" sz="1200"/>
              <a:t>.</a:t>
            </a:r>
            <a:r>
              <a:rPr lang="zh-CN" altLang="en-US" sz="1200"/>
              <a:t> </a:t>
            </a:r>
            <a:r>
              <a:rPr lang="en-US" altLang="zh-CN" sz="1200"/>
              <a:t>S</a:t>
            </a:r>
            <a:r>
              <a:rPr lang="zh-CN" altLang="en-US" sz="1200"/>
              <a:t>ome participants are</a:t>
            </a:r>
            <a:endParaRPr lang="zh-CN" altLang="en-US" sz="1200"/>
          </a:p>
          <a:p>
            <a:r>
              <a:rPr lang="zh-CN" altLang="en-US" sz="1200"/>
              <a:t>concerned about a stale knowledge base of the tool.</a:t>
            </a:r>
            <a:endParaRPr lang="zh-CN" alt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748244" y="776125"/>
            <a:ext cx="352439" cy="299049"/>
            <a:chOff x="4468761" y="1799303"/>
            <a:chExt cx="914400" cy="516194"/>
          </a:xfrm>
          <a:solidFill>
            <a:schemeClr val="accent1">
              <a:lumMod val="20000"/>
              <a:lumOff val="80000"/>
            </a:schemeClr>
          </a:solidFill>
        </p:grpSpPr>
        <p:sp>
          <p:nvSpPr>
            <p:cNvPr id="35" name="矩形 34"/>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6" name="矩形 35"/>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7" name="矩形 36"/>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38" name="Footer Text"/>
          <p:cNvSpPr txBox="1"/>
          <p:nvPr/>
        </p:nvSpPr>
        <p:spPr>
          <a:xfrm>
            <a:off x="1343025" y="709930"/>
            <a:ext cx="4752340"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Personal Experience</a:t>
            </a:r>
            <a:endParaRPr lang="en-US" altLang="zh-CN" sz="2800" dirty="0">
              <a:cs typeface="+mn-ea"/>
              <a:sym typeface="+mn-lt"/>
            </a:endParaRPr>
          </a:p>
        </p:txBody>
      </p:sp>
      <p:pic>
        <p:nvPicPr>
          <p:cNvPr id="8" name="图片 7"/>
          <p:cNvPicPr>
            <a:picLocks noChangeAspect="1"/>
          </p:cNvPicPr>
          <p:nvPr/>
        </p:nvPicPr>
        <p:blipFill>
          <a:blip r:embed="rId1"/>
          <a:stretch>
            <a:fillRect/>
          </a:stretch>
        </p:blipFill>
        <p:spPr>
          <a:xfrm>
            <a:off x="1819910" y="1721485"/>
            <a:ext cx="8796020" cy="3756660"/>
          </a:xfrm>
          <a:prstGeom prst="rect">
            <a:avLst/>
          </a:prstGeom>
        </p:spPr>
      </p:pic>
      <p:sp>
        <p:nvSpPr>
          <p:cNvPr id="9" name="文本框 8"/>
          <p:cNvSpPr txBox="1"/>
          <p:nvPr/>
        </p:nvSpPr>
        <p:spPr>
          <a:xfrm>
            <a:off x="1966595" y="5689600"/>
            <a:ext cx="8315325" cy="645160"/>
          </a:xfrm>
          <a:prstGeom prst="rect">
            <a:avLst/>
          </a:prstGeom>
          <a:noFill/>
        </p:spPr>
        <p:txBody>
          <a:bodyPr wrap="square" rtlCol="0">
            <a:spAutoFit/>
          </a:bodyPr>
          <a:p>
            <a:pPr algn="ctr"/>
            <a:r>
              <a:rPr lang="zh-CN" altLang="en-US"/>
              <a:t>Plots showing how the 23 participants reported ChatGPT’s usefulness (left) and trust in its answer (right)</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05</a:t>
            </a:r>
            <a:endParaRPr lang="zh-CN" altLang="en-US" sz="3200" b="1" dirty="0">
              <a:cs typeface="+mn-ea"/>
              <a:sym typeface="+mn-lt"/>
            </a:endParaRPr>
          </a:p>
        </p:txBody>
      </p:sp>
      <p:sp>
        <p:nvSpPr>
          <p:cNvPr id="5" name="Footer Text"/>
          <p:cNvSpPr txBox="1"/>
          <p:nvPr/>
        </p:nvSpPr>
        <p:spPr>
          <a:xfrm>
            <a:off x="4248150" y="3282950"/>
            <a:ext cx="3695700"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b="1" dirty="0">
                <a:cs typeface="+mn-ea"/>
                <a:sym typeface="+mn-lt"/>
              </a:rPr>
              <a:t>Conclusion</a:t>
            </a:r>
            <a:endParaRPr lang="en-US" altLang="zh-CN" sz="3600" b="1" dirty="0">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10"/>
          <p:cNvSpPr txBox="1">
            <a:spLocks noChangeArrowheads="1"/>
          </p:cNvSpPr>
          <p:nvPr/>
        </p:nvSpPr>
        <p:spPr bwMode="auto">
          <a:xfrm>
            <a:off x="8978591" y="4634673"/>
            <a:ext cx="2244932"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ChatGPT can be helpful in all phases of the software</a:t>
            </a:r>
            <a:endParaRPr lang="zh-CN" altLang="en-US" sz="1200" dirty="0">
              <a:cs typeface="+mn-ea"/>
              <a:sym typeface="+mn-lt"/>
            </a:endParaRPr>
          </a:p>
          <a:p>
            <a:pPr defTabSz="1450975">
              <a:lnSpc>
                <a:spcPct val="150000"/>
              </a:lnSpc>
            </a:pPr>
            <a:r>
              <a:rPr lang="zh-CN" altLang="en-US" sz="1200" dirty="0">
                <a:cs typeface="+mn-ea"/>
                <a:sym typeface="+mn-lt"/>
              </a:rPr>
              <a:t>development lifecycle, not just for implementation.</a:t>
            </a:r>
            <a:endParaRPr lang="zh-CN" altLang="en-US" sz="1200" dirty="0">
              <a:cs typeface="+mn-ea"/>
              <a:sym typeface="+mn-lt"/>
            </a:endParaRPr>
          </a:p>
        </p:txBody>
      </p:sp>
      <p:sp>
        <p:nvSpPr>
          <p:cNvPr id="23" name="Text Box 10"/>
          <p:cNvSpPr txBox="1">
            <a:spLocks noChangeArrowheads="1"/>
          </p:cNvSpPr>
          <p:nvPr/>
        </p:nvSpPr>
        <p:spPr bwMode="auto">
          <a:xfrm>
            <a:off x="6329168" y="3282172"/>
            <a:ext cx="2244932" cy="61468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ChatGPT can, in some ways, hurt developer productivity</a:t>
            </a:r>
            <a:endParaRPr lang="zh-CN" altLang="en-US" sz="1200" dirty="0">
              <a:cs typeface="+mn-ea"/>
              <a:sym typeface="+mn-lt"/>
            </a:endParaRPr>
          </a:p>
        </p:txBody>
      </p:sp>
      <p:sp>
        <p:nvSpPr>
          <p:cNvPr id="25" name="Text Box 10"/>
          <p:cNvSpPr txBox="1">
            <a:spLocks noChangeArrowheads="1"/>
          </p:cNvSpPr>
          <p:nvPr/>
        </p:nvSpPr>
        <p:spPr bwMode="auto">
          <a:xfrm>
            <a:off x="3805162" y="4096193"/>
            <a:ext cx="2244932" cy="89154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ChatGPT can be useful even for creative tasks, not</a:t>
            </a:r>
            <a:r>
              <a:rPr lang="en-US" altLang="zh-CN" sz="1200" dirty="0">
                <a:cs typeface="+mn-ea"/>
                <a:sym typeface="+mn-lt"/>
              </a:rPr>
              <a:t> </a:t>
            </a:r>
            <a:r>
              <a:rPr lang="zh-CN" altLang="en-US" sz="1200" dirty="0">
                <a:cs typeface="+mn-ea"/>
                <a:sym typeface="+mn-lt"/>
              </a:rPr>
              <a:t>just to solve clearly-specified problems.</a:t>
            </a:r>
            <a:endParaRPr lang="zh-CN" altLang="en-US" sz="1200" dirty="0">
              <a:cs typeface="+mn-ea"/>
              <a:sym typeface="+mn-lt"/>
            </a:endParaRPr>
          </a:p>
        </p:txBody>
      </p:sp>
      <p:sp>
        <p:nvSpPr>
          <p:cNvPr id="27" name="Text Box 10"/>
          <p:cNvSpPr txBox="1">
            <a:spLocks noChangeArrowheads="1"/>
          </p:cNvSpPr>
          <p:nvPr/>
        </p:nvSpPr>
        <p:spPr bwMode="auto">
          <a:xfrm>
            <a:off x="1121449" y="3846687"/>
            <a:ext cx="2244932"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450975">
              <a:lnSpc>
                <a:spcPct val="150000"/>
              </a:lnSpc>
            </a:pPr>
            <a:r>
              <a:rPr lang="zh-CN" altLang="en-US" sz="1200" dirty="0">
                <a:cs typeface="+mn-ea"/>
                <a:sym typeface="+mn-lt"/>
              </a:rPr>
              <a:t>ChatGPT is more frequently used for receiving</a:t>
            </a:r>
            <a:r>
              <a:rPr lang="en-US" altLang="zh-CN" sz="1200" dirty="0">
                <a:cs typeface="+mn-ea"/>
                <a:sym typeface="+mn-lt"/>
              </a:rPr>
              <a:t> </a:t>
            </a:r>
            <a:r>
              <a:rPr lang="zh-CN" altLang="en-US" sz="1200" dirty="0">
                <a:cs typeface="+mn-ea"/>
                <a:sym typeface="+mn-lt"/>
              </a:rPr>
              <a:t>guidance and training than for directly</a:t>
            </a:r>
            <a:r>
              <a:rPr lang="en-US" altLang="zh-CN" sz="1200" dirty="0">
                <a:cs typeface="+mn-ea"/>
                <a:sym typeface="+mn-lt"/>
              </a:rPr>
              <a:t> </a:t>
            </a:r>
            <a:r>
              <a:rPr lang="zh-CN" altLang="en-US" sz="1200" dirty="0">
                <a:cs typeface="+mn-ea"/>
                <a:sym typeface="+mn-lt"/>
              </a:rPr>
              <a:t>generating code</a:t>
            </a:r>
            <a:endParaRPr lang="zh-CN" altLang="en-US" sz="1200" dirty="0">
              <a:cs typeface="+mn-ea"/>
              <a:sym typeface="+mn-lt"/>
            </a:endParaRPr>
          </a:p>
        </p:txBody>
      </p:sp>
      <p:sp>
        <p:nvSpPr>
          <p:cNvPr id="28" name="矩形 27"/>
          <p:cNvSpPr/>
          <p:nvPr/>
        </p:nvSpPr>
        <p:spPr>
          <a:xfrm>
            <a:off x="1121449" y="3528455"/>
            <a:ext cx="2299392"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cs typeface="+mn-ea"/>
                <a:sym typeface="+mn-lt"/>
              </a:rPr>
              <a:t>Usage</a:t>
            </a:r>
            <a:endParaRPr lang="en-US" altLang="zh-CN" b="1" dirty="0">
              <a:cs typeface="+mn-ea"/>
              <a:sym typeface="+mn-lt"/>
            </a:endParaRPr>
          </a:p>
        </p:txBody>
      </p:sp>
      <p:grpSp>
        <p:nvGrpSpPr>
          <p:cNvPr id="31" name="组合 30"/>
          <p:cNvGrpSpPr/>
          <p:nvPr/>
        </p:nvGrpSpPr>
        <p:grpSpPr>
          <a:xfrm>
            <a:off x="1200150" y="2300094"/>
            <a:ext cx="9821605" cy="1635322"/>
            <a:chOff x="1200150" y="2300094"/>
            <a:chExt cx="9821605" cy="1635322"/>
          </a:xfrm>
        </p:grpSpPr>
        <p:grpSp>
          <p:nvGrpSpPr>
            <p:cNvPr id="4" name="组合 3"/>
            <p:cNvGrpSpPr/>
            <p:nvPr/>
          </p:nvGrpSpPr>
          <p:grpSpPr>
            <a:xfrm flipH="1">
              <a:off x="5582322" y="2610499"/>
              <a:ext cx="1082679" cy="1013450"/>
              <a:chOff x="3127992" y="3312226"/>
              <a:chExt cx="1082679" cy="1013450"/>
            </a:xfrm>
          </p:grpSpPr>
          <p:cxnSp>
            <p:nvCxnSpPr>
              <p:cNvPr id="5" name="直接连接符 4"/>
              <p:cNvCxnSpPr/>
              <p:nvPr/>
            </p:nvCxnSpPr>
            <p:spPr>
              <a:xfrm>
                <a:off x="3127992" y="3312226"/>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rot="5400000">
                <a:off x="3163992" y="3816226"/>
                <a:ext cx="1008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670671" y="4325676"/>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162406" y="2607773"/>
              <a:ext cx="1082679" cy="1013450"/>
              <a:chOff x="3127992" y="3312226"/>
              <a:chExt cx="1082679" cy="1013450"/>
            </a:xfrm>
          </p:grpSpPr>
          <p:cxnSp>
            <p:nvCxnSpPr>
              <p:cNvPr id="9" name="直接连接符 8"/>
              <p:cNvCxnSpPr/>
              <p:nvPr/>
            </p:nvCxnSpPr>
            <p:spPr>
              <a:xfrm>
                <a:off x="3127992" y="3312226"/>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3163992" y="3816226"/>
                <a:ext cx="1008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670671" y="4325676"/>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12" name="圆角矩形 16"/>
            <p:cNvSpPr/>
            <p:nvPr/>
          </p:nvSpPr>
          <p:spPr>
            <a:xfrm>
              <a:off x="1200150" y="2300094"/>
              <a:ext cx="2043164" cy="620716"/>
            </a:xfrm>
            <a:prstGeom prst="roundRect">
              <a:avLst>
                <a:gd name="adj" fmla="val 95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14" name="圆角矩形 18"/>
            <p:cNvSpPr/>
            <p:nvPr/>
          </p:nvSpPr>
          <p:spPr>
            <a:xfrm>
              <a:off x="6385777" y="2300094"/>
              <a:ext cx="2043164" cy="620716"/>
            </a:xfrm>
            <a:prstGeom prst="roundRect">
              <a:avLst>
                <a:gd name="adj" fmla="val 95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grpSp>
          <p:nvGrpSpPr>
            <p:cNvPr id="30" name="组合 29"/>
            <p:cNvGrpSpPr/>
            <p:nvPr/>
          </p:nvGrpSpPr>
          <p:grpSpPr>
            <a:xfrm>
              <a:off x="3013975" y="2613224"/>
              <a:ext cx="1082679" cy="1013450"/>
              <a:chOff x="3013975" y="2613224"/>
              <a:chExt cx="1082679" cy="1013450"/>
            </a:xfrm>
          </p:grpSpPr>
          <p:cxnSp>
            <p:nvCxnSpPr>
              <p:cNvPr id="3" name="直接连接符 2"/>
              <p:cNvCxnSpPr/>
              <p:nvPr/>
            </p:nvCxnSpPr>
            <p:spPr>
              <a:xfrm>
                <a:off x="3556654" y="3626674"/>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3013975" y="2613224"/>
                <a:ext cx="540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5400000">
                <a:off x="3049975" y="3117224"/>
                <a:ext cx="1008000"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17" name="文本框 39"/>
            <p:cNvSpPr txBox="1"/>
            <p:nvPr/>
          </p:nvSpPr>
          <p:spPr>
            <a:xfrm>
              <a:off x="1941046" y="2315385"/>
              <a:ext cx="649537" cy="584775"/>
            </a:xfrm>
            <a:prstGeom prst="rect">
              <a:avLst/>
            </a:prstGeom>
            <a:noFill/>
            <a:effectLst/>
          </p:spPr>
          <p:txBody>
            <a:bodyPr wrap="none" rtlCol="0">
              <a:spAutoFit/>
            </a:bodyPr>
            <a:lst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en-US" altLang="zh-CN" sz="3200" dirty="0">
                  <a:solidFill>
                    <a:srgbClr val="FFFFFF"/>
                  </a:solidFill>
                  <a:cs typeface="+mn-ea"/>
                  <a:sym typeface="+mn-lt"/>
                </a:rPr>
                <a:t>01</a:t>
              </a:r>
              <a:endParaRPr lang="zh-CN" altLang="en-US" sz="3200" dirty="0">
                <a:solidFill>
                  <a:srgbClr val="FFFFFF"/>
                </a:solidFill>
                <a:cs typeface="+mn-ea"/>
                <a:sym typeface="+mn-lt"/>
              </a:endParaRPr>
            </a:p>
          </p:txBody>
        </p:sp>
        <p:sp>
          <p:nvSpPr>
            <p:cNvPr id="19" name="文本框 41"/>
            <p:cNvSpPr txBox="1"/>
            <p:nvPr/>
          </p:nvSpPr>
          <p:spPr>
            <a:xfrm>
              <a:off x="7126673" y="2315385"/>
              <a:ext cx="649537" cy="584775"/>
            </a:xfrm>
            <a:prstGeom prst="rect">
              <a:avLst/>
            </a:prstGeom>
            <a:noFill/>
            <a:effectLst/>
          </p:spPr>
          <p:txBody>
            <a:bodyPr wrap="none" rtlCol="0">
              <a:spAutoFit/>
            </a:bodyPr>
            <a:lst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en-US" altLang="zh-CN" sz="3200" dirty="0">
                  <a:solidFill>
                    <a:srgbClr val="FFFFFF"/>
                  </a:solidFill>
                  <a:cs typeface="+mn-ea"/>
                  <a:sym typeface="+mn-lt"/>
                </a:rPr>
                <a:t>03</a:t>
              </a:r>
              <a:endParaRPr lang="zh-CN" altLang="en-US" sz="3200" dirty="0">
                <a:solidFill>
                  <a:srgbClr val="FFFFFF"/>
                </a:solidFill>
                <a:cs typeface="+mn-ea"/>
                <a:sym typeface="+mn-lt"/>
              </a:endParaRPr>
            </a:p>
          </p:txBody>
        </p:sp>
        <p:sp>
          <p:nvSpPr>
            <p:cNvPr id="13" name="圆角矩形 17"/>
            <p:cNvSpPr/>
            <p:nvPr/>
          </p:nvSpPr>
          <p:spPr>
            <a:xfrm>
              <a:off x="3792963" y="3314700"/>
              <a:ext cx="2043164" cy="620716"/>
            </a:xfrm>
            <a:prstGeom prst="roundRect">
              <a:avLst>
                <a:gd name="adj" fmla="val 953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15" name="圆角矩形 19"/>
            <p:cNvSpPr/>
            <p:nvPr/>
          </p:nvSpPr>
          <p:spPr>
            <a:xfrm>
              <a:off x="8978591" y="3314700"/>
              <a:ext cx="2043164" cy="620716"/>
            </a:xfrm>
            <a:prstGeom prst="roundRect">
              <a:avLst>
                <a:gd name="adj" fmla="val 953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18" name="文本框 40"/>
            <p:cNvSpPr txBox="1"/>
            <p:nvPr/>
          </p:nvSpPr>
          <p:spPr>
            <a:xfrm>
              <a:off x="4533859" y="3331561"/>
              <a:ext cx="649537" cy="584775"/>
            </a:xfrm>
            <a:prstGeom prst="rect">
              <a:avLst/>
            </a:prstGeom>
            <a:noFill/>
            <a:effectLst/>
          </p:spPr>
          <p:txBody>
            <a:bodyPr wrap="none" rtlCol="0">
              <a:spAutoFit/>
            </a:bodyPr>
            <a:lst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en-US" altLang="zh-CN" sz="3200" dirty="0">
                  <a:solidFill>
                    <a:schemeClr val="accent1"/>
                  </a:solidFill>
                  <a:cs typeface="+mn-ea"/>
                  <a:sym typeface="+mn-lt"/>
                </a:rPr>
                <a:t>02</a:t>
              </a:r>
              <a:endParaRPr lang="zh-CN" altLang="en-US" sz="3200" dirty="0">
                <a:solidFill>
                  <a:schemeClr val="accent1"/>
                </a:solidFill>
                <a:cs typeface="+mn-ea"/>
                <a:sym typeface="+mn-lt"/>
              </a:endParaRPr>
            </a:p>
          </p:txBody>
        </p:sp>
        <p:sp>
          <p:nvSpPr>
            <p:cNvPr id="20" name="文本框 42"/>
            <p:cNvSpPr txBox="1"/>
            <p:nvPr/>
          </p:nvSpPr>
          <p:spPr>
            <a:xfrm>
              <a:off x="9719487" y="3323385"/>
              <a:ext cx="649537" cy="584775"/>
            </a:xfrm>
            <a:prstGeom prst="rect">
              <a:avLst/>
            </a:prstGeom>
            <a:noFill/>
            <a:effectLst/>
          </p:spPr>
          <p:txBody>
            <a:bodyPr wrap="none" rtlCol="0">
              <a:spAutoFit/>
            </a:bodyPr>
            <a:lst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a:lstStyle>
            <a:p>
              <a:r>
                <a:rPr lang="en-US" altLang="zh-CN" sz="3200" dirty="0">
                  <a:solidFill>
                    <a:schemeClr val="accent1"/>
                  </a:solidFill>
                  <a:cs typeface="+mn-ea"/>
                  <a:sym typeface="+mn-lt"/>
                </a:rPr>
                <a:t>04</a:t>
              </a:r>
              <a:endParaRPr lang="zh-CN" altLang="en-US" sz="3200" dirty="0">
                <a:solidFill>
                  <a:schemeClr val="accent1"/>
                </a:solidFill>
                <a:cs typeface="+mn-ea"/>
                <a:sym typeface="+mn-lt"/>
              </a:endParaRPr>
            </a:p>
          </p:txBody>
        </p:sp>
      </p:grpSp>
      <p:grpSp>
        <p:nvGrpSpPr>
          <p:cNvPr id="32" name="组合 31"/>
          <p:cNvGrpSpPr/>
          <p:nvPr/>
        </p:nvGrpSpPr>
        <p:grpSpPr>
          <a:xfrm>
            <a:off x="748244" y="776125"/>
            <a:ext cx="352439" cy="299049"/>
            <a:chOff x="4468761" y="1799303"/>
            <a:chExt cx="914400" cy="516194"/>
          </a:xfrm>
          <a:solidFill>
            <a:schemeClr val="accent1">
              <a:lumMod val="20000"/>
              <a:lumOff val="80000"/>
            </a:schemeClr>
          </a:solidFill>
        </p:grpSpPr>
        <p:sp>
          <p:nvSpPr>
            <p:cNvPr id="33" name="矩形 32"/>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4" name="矩形 33"/>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5" name="矩形 34"/>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36"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Conclusion</a:t>
            </a:r>
            <a:endParaRPr lang="en-US" altLang="zh-CN" sz="2800" dirty="0">
              <a:cs typeface="+mn-ea"/>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p:cNvSpPr/>
          <p:nvPr/>
        </p:nvSpPr>
        <p:spPr>
          <a:xfrm>
            <a:off x="4921405" y="2577273"/>
            <a:ext cx="2349190" cy="4675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3200" b="1" dirty="0">
                <a:cs typeface="+mn-ea"/>
                <a:sym typeface="+mn-lt"/>
              </a:rPr>
              <a:t>PART 06</a:t>
            </a:r>
            <a:endParaRPr lang="zh-CN" altLang="en-US" sz="3200" b="1" dirty="0">
              <a:cs typeface="+mn-ea"/>
              <a:sym typeface="+mn-lt"/>
            </a:endParaRPr>
          </a:p>
        </p:txBody>
      </p:sp>
      <p:sp>
        <p:nvSpPr>
          <p:cNvPr id="5" name="Footer Text"/>
          <p:cNvSpPr txBox="1"/>
          <p:nvPr/>
        </p:nvSpPr>
        <p:spPr>
          <a:xfrm>
            <a:off x="4248150" y="3282950"/>
            <a:ext cx="3695700"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b="1" dirty="0">
                <a:cs typeface="+mn-ea"/>
                <a:sym typeface="+mn-lt"/>
              </a:rPr>
              <a:t>Personal opinion</a:t>
            </a:r>
            <a:endParaRPr lang="en-US" altLang="zh-CN" sz="3600" b="1" dirty="0">
              <a:cs typeface="+mn-ea"/>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custDataLst>
              <p:tags r:id="rId1"/>
            </p:custDataLst>
          </p:nvPr>
        </p:nvGrpSpPr>
        <p:grpSpPr>
          <a:xfrm>
            <a:off x="7024181" y="1909136"/>
            <a:ext cx="896049" cy="896048"/>
            <a:chOff x="7024181" y="1909136"/>
            <a:chExt cx="896049" cy="896048"/>
          </a:xfrm>
        </p:grpSpPr>
        <p:sp>
          <p:nvSpPr>
            <p:cNvPr id="11" name="Oval 26"/>
            <p:cNvSpPr/>
            <p:nvPr>
              <p:custDataLst>
                <p:tags r:id="rId2"/>
              </p:custDataLst>
            </p:nvPr>
          </p:nvSpPr>
          <p:spPr>
            <a:xfrm>
              <a:off x="7024181" y="1909136"/>
              <a:ext cx="896049" cy="89604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12" name="Freeform: Shape 76"/>
            <p:cNvSpPr/>
            <p:nvPr>
              <p:custDataLst>
                <p:tags r:id="rId3"/>
              </p:custDataLst>
            </p:nvPr>
          </p:nvSpPr>
          <p:spPr bwMode="auto">
            <a:xfrm>
              <a:off x="7247048" y="2124590"/>
              <a:ext cx="450314" cy="450313"/>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42" name="组合 41"/>
          <p:cNvGrpSpPr/>
          <p:nvPr>
            <p:custDataLst>
              <p:tags r:id="rId4"/>
            </p:custDataLst>
          </p:nvPr>
        </p:nvGrpSpPr>
        <p:grpSpPr>
          <a:xfrm>
            <a:off x="1521031" y="1909137"/>
            <a:ext cx="896049" cy="896048"/>
            <a:chOff x="1521031" y="1909137"/>
            <a:chExt cx="896049" cy="896048"/>
          </a:xfrm>
        </p:grpSpPr>
        <p:sp>
          <p:nvSpPr>
            <p:cNvPr id="14" name="Oval 4"/>
            <p:cNvSpPr/>
            <p:nvPr>
              <p:custDataLst>
                <p:tags r:id="rId5"/>
              </p:custDataLst>
            </p:nvPr>
          </p:nvSpPr>
          <p:spPr>
            <a:xfrm>
              <a:off x="1521031" y="1909137"/>
              <a:ext cx="896049" cy="89604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cs typeface="+mn-ea"/>
                <a:sym typeface="+mn-lt"/>
              </a:endParaRPr>
            </a:p>
          </p:txBody>
        </p:sp>
        <p:sp>
          <p:nvSpPr>
            <p:cNvPr id="15" name="Freeform: Shape 77"/>
            <p:cNvSpPr/>
            <p:nvPr>
              <p:custDataLst>
                <p:tags r:id="rId6"/>
              </p:custDataLst>
            </p:nvPr>
          </p:nvSpPr>
          <p:spPr bwMode="auto">
            <a:xfrm>
              <a:off x="1743898" y="2133451"/>
              <a:ext cx="450314" cy="450313"/>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grpSp>
        <p:nvGrpSpPr>
          <p:cNvPr id="43" name="组合 42"/>
          <p:cNvGrpSpPr/>
          <p:nvPr>
            <p:custDataLst>
              <p:tags r:id="rId7"/>
            </p:custDataLst>
          </p:nvPr>
        </p:nvGrpSpPr>
        <p:grpSpPr>
          <a:xfrm>
            <a:off x="4272606" y="1909136"/>
            <a:ext cx="896049" cy="896048"/>
            <a:chOff x="4272606" y="1909136"/>
            <a:chExt cx="896049" cy="896048"/>
          </a:xfrm>
        </p:grpSpPr>
        <p:sp>
          <p:nvSpPr>
            <p:cNvPr id="17" name="Oval 17"/>
            <p:cNvSpPr/>
            <p:nvPr>
              <p:custDataLst>
                <p:tags r:id="rId8"/>
              </p:custDataLst>
            </p:nvPr>
          </p:nvSpPr>
          <p:spPr>
            <a:xfrm>
              <a:off x="4272606" y="1909136"/>
              <a:ext cx="896049" cy="89604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18" name="Freeform: Shape 78"/>
            <p:cNvSpPr/>
            <p:nvPr>
              <p:custDataLst>
                <p:tags r:id="rId9"/>
              </p:custDataLst>
            </p:nvPr>
          </p:nvSpPr>
          <p:spPr bwMode="auto">
            <a:xfrm>
              <a:off x="4495473" y="2141915"/>
              <a:ext cx="450314" cy="450313"/>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sp>
        <p:nvSpPr>
          <p:cNvPr id="19" name="矩形: 圆角 18"/>
          <p:cNvSpPr/>
          <p:nvPr>
            <p:custDataLst>
              <p:tags r:id="rId10"/>
            </p:custDataLst>
          </p:nvPr>
        </p:nvSpPr>
        <p:spPr>
          <a:xfrm>
            <a:off x="971550" y="3200400"/>
            <a:ext cx="1995011" cy="262708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圆角 19"/>
          <p:cNvSpPr/>
          <p:nvPr>
            <p:custDataLst>
              <p:tags r:id="rId11"/>
            </p:custDataLst>
          </p:nvPr>
        </p:nvSpPr>
        <p:spPr>
          <a:xfrm>
            <a:off x="3723125" y="3200400"/>
            <a:ext cx="1995011" cy="262708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圆角 20"/>
          <p:cNvSpPr/>
          <p:nvPr>
            <p:custDataLst>
              <p:tags r:id="rId12"/>
            </p:custDataLst>
          </p:nvPr>
        </p:nvSpPr>
        <p:spPr>
          <a:xfrm>
            <a:off x="6474700" y="3200400"/>
            <a:ext cx="1995011" cy="262708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2" name="直接连接符 21"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p:cNvCxnSpPr/>
          <p:nvPr>
            <p:custDataLst>
              <p:tags r:id="rId13"/>
            </p:custDataLst>
          </p:nvPr>
        </p:nvCxnSpPr>
        <p:spPr>
          <a:xfrm>
            <a:off x="1796991" y="3967945"/>
            <a:ext cx="34412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p:cNvCxnSpPr/>
          <p:nvPr>
            <p:custDataLst>
              <p:tags r:id="rId14"/>
            </p:custDataLst>
          </p:nvPr>
        </p:nvCxnSpPr>
        <p:spPr>
          <a:xfrm>
            <a:off x="4548566" y="3967945"/>
            <a:ext cx="34412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p:cNvCxnSpPr/>
          <p:nvPr>
            <p:custDataLst>
              <p:tags r:id="rId15"/>
            </p:custDataLst>
          </p:nvPr>
        </p:nvCxnSpPr>
        <p:spPr>
          <a:xfrm>
            <a:off x="7300141" y="3967945"/>
            <a:ext cx="34412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矩形: 圆角 28"/>
          <p:cNvSpPr/>
          <p:nvPr>
            <p:custDataLst>
              <p:tags r:id="rId16"/>
            </p:custDataLst>
          </p:nvPr>
        </p:nvSpPr>
        <p:spPr>
          <a:xfrm>
            <a:off x="9226275" y="3200400"/>
            <a:ext cx="1995011" cy="262708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30" name="直接连接符 29"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p:cNvCxnSpPr/>
          <p:nvPr>
            <p:custDataLst>
              <p:tags r:id="rId17"/>
            </p:custDataLst>
          </p:nvPr>
        </p:nvCxnSpPr>
        <p:spPr>
          <a:xfrm>
            <a:off x="10051716" y="3967945"/>
            <a:ext cx="34412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p:custDataLst>
              <p:tags r:id="rId18"/>
            </p:custDataLst>
          </p:nvPr>
        </p:nvGrpSpPr>
        <p:grpSpPr>
          <a:xfrm>
            <a:off x="9775756" y="1909136"/>
            <a:ext cx="896049" cy="896048"/>
            <a:chOff x="9775756" y="1909136"/>
            <a:chExt cx="896049" cy="896048"/>
          </a:xfrm>
        </p:grpSpPr>
        <p:sp>
          <p:nvSpPr>
            <p:cNvPr id="32" name="Oval 26"/>
            <p:cNvSpPr/>
            <p:nvPr>
              <p:custDataLst>
                <p:tags r:id="rId19"/>
              </p:custDataLst>
            </p:nvPr>
          </p:nvSpPr>
          <p:spPr>
            <a:xfrm>
              <a:off x="9775756" y="1909136"/>
              <a:ext cx="896049" cy="89604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33" name="AutoShape 59"/>
            <p:cNvSpPr/>
            <p:nvPr>
              <p:custDataLst>
                <p:tags r:id="rId20"/>
              </p:custDataLst>
            </p:nvPr>
          </p:nvSpPr>
          <p:spPr bwMode="auto">
            <a:xfrm>
              <a:off x="10037361" y="2141915"/>
              <a:ext cx="372839" cy="37119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solidFill>
                <a:schemeClr val="bg1"/>
              </a:solidFill>
            </a:ln>
            <a:effectLst/>
          </p:spPr>
          <p:txBody>
            <a:bodyPr lIns="19050" tIns="19050" rIns="19050" bIns="1905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cs typeface="+mn-ea"/>
                <a:sym typeface="+mn-lt"/>
              </a:endParaRPr>
            </a:p>
          </p:txBody>
        </p:sp>
      </p:grpSp>
      <p:sp>
        <p:nvSpPr>
          <p:cNvPr id="34" name="Text Box 10"/>
          <p:cNvSpPr txBox="1">
            <a:spLocks noChangeArrowheads="1"/>
          </p:cNvSpPr>
          <p:nvPr>
            <p:custDataLst>
              <p:tags r:id="rId21"/>
            </p:custDataLst>
          </p:nvPr>
        </p:nvSpPr>
        <p:spPr bwMode="auto">
          <a:xfrm>
            <a:off x="1132930" y="4114763"/>
            <a:ext cx="1672251" cy="89154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450975">
              <a:lnSpc>
                <a:spcPct val="150000"/>
              </a:lnSpc>
            </a:pPr>
            <a:r>
              <a:rPr lang="en-US" altLang="zh-CN" sz="1200" dirty="0">
                <a:cs typeface="+mn-ea"/>
                <a:sym typeface="+mn-lt"/>
              </a:rPr>
              <a:t>This framework covers every step of software engineering.</a:t>
            </a:r>
            <a:endParaRPr lang="en-US" altLang="zh-CN" sz="1200" dirty="0">
              <a:cs typeface="+mn-ea"/>
              <a:sym typeface="+mn-lt"/>
            </a:endParaRPr>
          </a:p>
        </p:txBody>
      </p:sp>
      <p:sp>
        <p:nvSpPr>
          <p:cNvPr id="35" name="矩形 34"/>
          <p:cNvSpPr/>
          <p:nvPr>
            <p:custDataLst>
              <p:tags r:id="rId22"/>
            </p:custDataLst>
          </p:nvPr>
        </p:nvSpPr>
        <p:spPr>
          <a:xfrm>
            <a:off x="748665" y="3473450"/>
            <a:ext cx="2336800" cy="33718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cs typeface="+mn-ea"/>
                <a:sym typeface="+mn-lt"/>
              </a:rPr>
              <a:t>Comprehensiveness</a:t>
            </a:r>
            <a:endParaRPr lang="en-US" altLang="zh-CN" sz="1600" b="1" dirty="0">
              <a:cs typeface="+mn-ea"/>
              <a:sym typeface="+mn-lt"/>
            </a:endParaRPr>
          </a:p>
        </p:txBody>
      </p:sp>
      <p:sp>
        <p:nvSpPr>
          <p:cNvPr id="36" name="Text Box 10"/>
          <p:cNvSpPr txBox="1">
            <a:spLocks noChangeArrowheads="1"/>
          </p:cNvSpPr>
          <p:nvPr>
            <p:custDataLst>
              <p:tags r:id="rId23"/>
            </p:custDataLst>
          </p:nvPr>
        </p:nvSpPr>
        <p:spPr bwMode="auto">
          <a:xfrm>
            <a:off x="3884505" y="4114763"/>
            <a:ext cx="1672251" cy="1445895"/>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450975">
              <a:lnSpc>
                <a:spcPct val="150000"/>
              </a:lnSpc>
            </a:pPr>
            <a:r>
              <a:rPr lang="en-US" altLang="zh-CN" sz="1200" dirty="0">
                <a:cs typeface="+mn-ea"/>
                <a:sym typeface="+mn-lt"/>
              </a:rPr>
              <a:t>It inspires us how to use chatGPT effectively and dicover that chatGPT could also perform creativity tasks.</a:t>
            </a:r>
            <a:endParaRPr lang="zh-CN" altLang="en-US" sz="1200" dirty="0">
              <a:cs typeface="+mn-ea"/>
              <a:sym typeface="+mn-lt"/>
            </a:endParaRPr>
          </a:p>
        </p:txBody>
      </p:sp>
      <p:sp>
        <p:nvSpPr>
          <p:cNvPr id="37" name="矩形 36"/>
          <p:cNvSpPr/>
          <p:nvPr>
            <p:custDataLst>
              <p:tags r:id="rId24"/>
            </p:custDataLst>
          </p:nvPr>
        </p:nvSpPr>
        <p:spPr>
          <a:xfrm>
            <a:off x="3864221" y="3473244"/>
            <a:ext cx="1712818"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cs typeface="+mn-ea"/>
                <a:sym typeface="+mn-lt"/>
              </a:rPr>
              <a:t>Meaningful</a:t>
            </a:r>
            <a:endParaRPr lang="en-US" altLang="zh-CN" b="1" dirty="0">
              <a:cs typeface="+mn-ea"/>
              <a:sym typeface="+mn-lt"/>
            </a:endParaRPr>
          </a:p>
        </p:txBody>
      </p:sp>
      <p:sp>
        <p:nvSpPr>
          <p:cNvPr id="38" name="Text Box 10"/>
          <p:cNvSpPr txBox="1">
            <a:spLocks noChangeArrowheads="1"/>
          </p:cNvSpPr>
          <p:nvPr>
            <p:custDataLst>
              <p:tags r:id="rId25"/>
            </p:custDataLst>
          </p:nvPr>
        </p:nvSpPr>
        <p:spPr bwMode="auto">
          <a:xfrm>
            <a:off x="6636080" y="4114763"/>
            <a:ext cx="1672251"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450975">
              <a:lnSpc>
                <a:spcPct val="150000"/>
              </a:lnSpc>
            </a:pPr>
            <a:r>
              <a:rPr lang="en-US" altLang="zh-CN" sz="1200" dirty="0">
                <a:cs typeface="+mn-ea"/>
                <a:sym typeface="+mn-lt"/>
              </a:rPr>
              <a:t>Each step is based numerous of experience and discussion.</a:t>
            </a:r>
            <a:endParaRPr lang="zh-CN" altLang="en-US" sz="1200" dirty="0">
              <a:cs typeface="+mn-ea"/>
              <a:sym typeface="+mn-lt"/>
            </a:endParaRPr>
          </a:p>
        </p:txBody>
      </p:sp>
      <p:sp>
        <p:nvSpPr>
          <p:cNvPr id="39" name="矩形 38"/>
          <p:cNvSpPr/>
          <p:nvPr>
            <p:custDataLst>
              <p:tags r:id="rId26"/>
            </p:custDataLst>
          </p:nvPr>
        </p:nvSpPr>
        <p:spPr>
          <a:xfrm>
            <a:off x="6615796" y="3473244"/>
            <a:ext cx="1712818"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cs typeface="+mn-ea"/>
                <a:sym typeface="+mn-lt"/>
              </a:rPr>
              <a:t>Rigor</a:t>
            </a:r>
            <a:endParaRPr lang="en-US" altLang="zh-CN" b="1" dirty="0">
              <a:cs typeface="+mn-ea"/>
              <a:sym typeface="+mn-lt"/>
            </a:endParaRPr>
          </a:p>
        </p:txBody>
      </p:sp>
      <p:sp>
        <p:nvSpPr>
          <p:cNvPr id="40" name="Text Box 10"/>
          <p:cNvSpPr txBox="1">
            <a:spLocks noChangeArrowheads="1"/>
          </p:cNvSpPr>
          <p:nvPr>
            <p:custDataLst>
              <p:tags r:id="rId27"/>
            </p:custDataLst>
          </p:nvPr>
        </p:nvSpPr>
        <p:spPr bwMode="auto">
          <a:xfrm>
            <a:off x="9387655" y="4114763"/>
            <a:ext cx="1672251" cy="1168400"/>
          </a:xfrm>
          <a:prstGeom prst="rect">
            <a:avLst/>
          </a:prstGeom>
          <a:noFill/>
          <a:ln w="9525">
            <a:noFill/>
            <a:miter lim="800000"/>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450975">
              <a:lnSpc>
                <a:spcPct val="150000"/>
              </a:lnSpc>
            </a:pPr>
            <a:r>
              <a:rPr lang="en-US" altLang="zh-CN" sz="1200" dirty="0">
                <a:cs typeface="+mn-ea"/>
                <a:sym typeface="+mn-lt"/>
              </a:rPr>
              <a:t>The data visualization is great. Each table and figure is straightforward.</a:t>
            </a:r>
            <a:endParaRPr lang="en-US" altLang="zh-CN" sz="1200" dirty="0">
              <a:cs typeface="+mn-ea"/>
              <a:sym typeface="+mn-lt"/>
            </a:endParaRPr>
          </a:p>
        </p:txBody>
      </p:sp>
      <p:sp>
        <p:nvSpPr>
          <p:cNvPr id="41" name="矩形 40"/>
          <p:cNvSpPr/>
          <p:nvPr>
            <p:custDataLst>
              <p:tags r:id="rId28"/>
            </p:custDataLst>
          </p:nvPr>
        </p:nvSpPr>
        <p:spPr>
          <a:xfrm>
            <a:off x="9367371" y="3473244"/>
            <a:ext cx="1712818"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cs typeface="+mn-ea"/>
                <a:sym typeface="+mn-lt"/>
              </a:rPr>
              <a:t>Explainable</a:t>
            </a:r>
            <a:endParaRPr lang="en-US" altLang="zh-CN" b="1" dirty="0">
              <a:cs typeface="+mn-ea"/>
              <a:sym typeface="+mn-lt"/>
            </a:endParaRPr>
          </a:p>
        </p:txBody>
      </p:sp>
      <p:grpSp>
        <p:nvGrpSpPr>
          <p:cNvPr id="46" name="组合 45"/>
          <p:cNvGrpSpPr/>
          <p:nvPr/>
        </p:nvGrpSpPr>
        <p:grpSpPr>
          <a:xfrm>
            <a:off x="748244" y="776125"/>
            <a:ext cx="352439" cy="299049"/>
            <a:chOff x="4468761" y="1799303"/>
            <a:chExt cx="914400" cy="516194"/>
          </a:xfrm>
          <a:solidFill>
            <a:schemeClr val="accent1">
              <a:lumMod val="20000"/>
              <a:lumOff val="80000"/>
            </a:schemeClr>
          </a:solidFill>
        </p:grpSpPr>
        <p:sp>
          <p:nvSpPr>
            <p:cNvPr id="47" name="矩形 46"/>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8" name="矩形 47"/>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9" name="矩形 48"/>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0"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Advantage</a:t>
            </a:r>
            <a:endParaRPr lang="en-US" altLang="zh-CN" sz="2800" dirty="0">
              <a:cs typeface="+mn-ea"/>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748244" y="776125"/>
            <a:ext cx="352439" cy="299049"/>
            <a:chOff x="4468761" y="1799303"/>
            <a:chExt cx="914400" cy="516194"/>
          </a:xfrm>
          <a:solidFill>
            <a:schemeClr val="accent1">
              <a:lumMod val="20000"/>
              <a:lumOff val="80000"/>
            </a:schemeClr>
          </a:solidFill>
        </p:grpSpPr>
        <p:sp>
          <p:nvSpPr>
            <p:cNvPr id="47" name="矩形 46"/>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8" name="矩形 47"/>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9" name="矩形 48"/>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0"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dirty="0">
                <a:cs typeface="+mn-ea"/>
                <a:sym typeface="+mn-lt"/>
              </a:rPr>
              <a:t>Limitation</a:t>
            </a:r>
            <a:endParaRPr lang="en-US" altLang="zh-CN" sz="2800" dirty="0">
              <a:cs typeface="+mn-ea"/>
              <a:sym typeface="+mn-lt"/>
            </a:endParaRPr>
          </a:p>
        </p:txBody>
      </p:sp>
      <p:sp>
        <p:nvSpPr>
          <p:cNvPr id="2" name="文本框 1"/>
          <p:cNvSpPr txBox="1"/>
          <p:nvPr/>
        </p:nvSpPr>
        <p:spPr>
          <a:xfrm>
            <a:off x="1813560" y="1720215"/>
            <a:ext cx="9105265" cy="3113405"/>
          </a:xfrm>
          <a:prstGeom prst="rect">
            <a:avLst/>
          </a:prstGeom>
          <a:noFill/>
        </p:spPr>
        <p:txBody>
          <a:bodyPr wrap="square" rtlCol="0">
            <a:noAutofit/>
          </a:bodyPr>
          <a:p>
            <a:pPr marL="285750" indent="-285750">
              <a:buFont typeface="Arial" panose="020B0604020202020204" pitchFamily="34" charset="0"/>
              <a:buChar char="•"/>
            </a:pPr>
            <a:r>
              <a:rPr lang="en-US" altLang="zh-CN" sz="2400"/>
              <a:t>The amount of data is very small. It only select 24 participants. Paricipants are only from 3 European countries.</a:t>
            </a:r>
            <a:endParaRPr lang="en-US" altLang="zh-CN" sz="2400"/>
          </a:p>
          <a:p>
            <a:pPr marL="285750" indent="-285750">
              <a:buFont typeface="Arial" panose="020B0604020202020204" pitchFamily="34" charset="0"/>
              <a:buChar char="•"/>
            </a:pPr>
            <a:r>
              <a:rPr lang="en-US" altLang="zh-CN" sz="2400"/>
              <a:t>The classification of Dialogue is subjective and lacks an effective way to quantify</a:t>
            </a:r>
            <a:endParaRPr lang="en-US" altLang="zh-CN" sz="2400"/>
          </a:p>
          <a:p>
            <a:pPr marL="285750" indent="-285750">
              <a:buFont typeface="Arial" panose="020B0604020202020204" pitchFamily="34" charset="0"/>
              <a:buChar char="•"/>
            </a:pPr>
            <a:r>
              <a:rPr lang="en-US" altLang="zh-CN" sz="2400"/>
              <a:t>Only concentrate on the usage of ChatGPT and ignore other LLMs</a:t>
            </a:r>
            <a:endParaRPr lang="en-US" altLang="zh-CN" sz="2400"/>
          </a:p>
          <a:p>
            <a:pPr marL="285750" indent="-285750">
              <a:buFont typeface="Arial" panose="020B0604020202020204" pitchFamily="34" charset="0"/>
              <a:buChar char="•"/>
            </a:pPr>
            <a:r>
              <a:rPr lang="en-US" altLang="zh-CN" sz="2400"/>
              <a:t>Lacks research on Software Engineering Development Model (SEDM)</a:t>
            </a:r>
            <a:endParaRPr lang="en-US" altLang="zh-CN" sz="2400"/>
          </a:p>
          <a:p>
            <a:pPr marL="285750" indent="-285750">
              <a:buFont typeface="Arial" panose="020B0604020202020204" pitchFamily="34" charset="0"/>
              <a:buChar char="•"/>
            </a:pPr>
            <a:endParaRPr lang="en-US" altLang="zh-CN"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Text"/>
          <p:cNvSpPr txBox="1"/>
          <p:nvPr/>
        </p:nvSpPr>
        <p:spPr>
          <a:xfrm>
            <a:off x="4248150" y="3282950"/>
            <a:ext cx="3695700" cy="5537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b="1" dirty="0">
                <a:cs typeface="+mn-ea"/>
                <a:sym typeface="+mn-lt"/>
              </a:rPr>
              <a:t>Questions</a:t>
            </a:r>
            <a:endParaRPr lang="en-US" altLang="zh-CN" sz="3600" b="1" dirty="0">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748244" y="776125"/>
            <a:ext cx="352439" cy="299049"/>
            <a:chOff x="4468761" y="1799303"/>
            <a:chExt cx="914400" cy="516194"/>
          </a:xfrm>
          <a:solidFill>
            <a:schemeClr val="accent1">
              <a:lumMod val="20000"/>
              <a:lumOff val="80000"/>
            </a:schemeClr>
          </a:solidFill>
        </p:grpSpPr>
        <p:sp>
          <p:nvSpPr>
            <p:cNvPr id="47" name="矩形 46"/>
            <p:cNvSpPr/>
            <p:nvPr/>
          </p:nvSpPr>
          <p:spPr>
            <a:xfrm>
              <a:off x="4468761" y="1799303"/>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8" name="矩形 47"/>
            <p:cNvSpPr/>
            <p:nvPr/>
          </p:nvSpPr>
          <p:spPr>
            <a:xfrm>
              <a:off x="4468761" y="1999942"/>
              <a:ext cx="914400" cy="114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9" name="矩形 48"/>
            <p:cNvSpPr/>
            <p:nvPr/>
          </p:nvSpPr>
          <p:spPr>
            <a:xfrm>
              <a:off x="4468761" y="2200580"/>
              <a:ext cx="914400" cy="1149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0" name="Footer Text"/>
          <p:cNvSpPr txBox="1"/>
          <p:nvPr/>
        </p:nvSpPr>
        <p:spPr>
          <a:xfrm>
            <a:off x="1343247" y="710205"/>
            <a:ext cx="3295624" cy="43053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2800" dirty="0">
              <a:cs typeface="+mn-ea"/>
              <a:sym typeface="+mn-lt"/>
            </a:endParaRPr>
          </a:p>
        </p:txBody>
      </p:sp>
      <p:sp>
        <p:nvSpPr>
          <p:cNvPr id="2" name="文本框 1"/>
          <p:cNvSpPr txBox="1"/>
          <p:nvPr/>
        </p:nvSpPr>
        <p:spPr>
          <a:xfrm>
            <a:off x="1813560" y="1720215"/>
            <a:ext cx="9105265" cy="3113405"/>
          </a:xfrm>
          <a:prstGeom prst="rect">
            <a:avLst/>
          </a:prstGeom>
          <a:noFill/>
        </p:spPr>
        <p:txBody>
          <a:bodyPr wrap="square" rtlCol="0">
            <a:noAutofit/>
          </a:bodyPr>
          <a:p>
            <a:pPr indent="0">
              <a:buFont typeface="Arial" panose="020B0604020202020204" pitchFamily="34" charset="0"/>
              <a:buNone/>
            </a:pPr>
            <a:r>
              <a:rPr lang="en-US" altLang="zh-CN" sz="2400"/>
              <a:t>(1) Have you ever use ChatGPT or other LLMs to program? Please share your experience and what influence your personal experience while using it.</a:t>
            </a:r>
            <a:endParaRPr lang="en-US" altLang="zh-CN" sz="2400"/>
          </a:p>
          <a:p>
            <a:pPr indent="0">
              <a:buFont typeface="Arial" panose="020B0604020202020204" pitchFamily="34" charset="0"/>
              <a:buNone/>
            </a:pPr>
            <a:endParaRPr lang="en-US" altLang="zh-CN" sz="2400"/>
          </a:p>
          <a:p>
            <a:pPr indent="0">
              <a:buFont typeface="Arial" panose="020B0604020202020204" pitchFamily="34" charset="0"/>
              <a:buNone/>
            </a:pPr>
            <a:endParaRPr lang="en-US" altLang="zh-CN" sz="2400"/>
          </a:p>
          <a:p>
            <a:pPr indent="0">
              <a:buFont typeface="Arial" panose="020B0604020202020204" pitchFamily="34" charset="0"/>
              <a:buNone/>
            </a:pPr>
            <a:endParaRPr lang="en-US" altLang="zh-CN" sz="2400"/>
          </a:p>
          <a:p>
            <a:pPr indent="0">
              <a:buFont typeface="Arial" panose="020B0604020202020204" pitchFamily="34" charset="0"/>
              <a:buNone/>
            </a:pPr>
            <a:r>
              <a:rPr lang="en-US" altLang="zh-CN" sz="2400"/>
              <a:t>(2) According to this paper and your personal understanding, how to improve the accuracy of LLM answers?</a:t>
            </a:r>
            <a:endParaRPr lang="en-US" altLang="zh-CN" sz="2400"/>
          </a:p>
        </p:txBody>
      </p:sp>
    </p:spTree>
  </p:cSld>
  <p:clrMapOvr>
    <a:masterClrMapping/>
  </p:clrMapOvr>
</p:sld>
</file>

<file path=ppt/tags/tag1.xml><?xml version="1.0" encoding="utf-8"?>
<p:tagLst xmlns:p="http://schemas.openxmlformats.org/presentationml/2006/main">
  <p:tag name="KSO_WM_DIAGRAM_VIRTUALLY_FRAME" val="{&quot;height&quot;:323.28645669291336,&quot;left&quot;:140.63952755905513,&quot;top&quot;:148.6,&quot;width&quot;:715.4486614173228}"/>
</p:tagLst>
</file>

<file path=ppt/tags/tag2.xml><?xml version="1.0" encoding="utf-8"?>
<p:tagLst xmlns:p="http://schemas.openxmlformats.org/presentationml/2006/main">
  <p:tag name="KSO_WM_DIAGRAM_VIRTUALLY_FRAME" val="{&quot;height&quot;:323.28645669291336,&quot;left&quot;:140.63952755905513,&quot;top&quot;:148.6,&quot;width&quot;:715.4486614173228}"/>
</p:tagLst>
</file>

<file path=ppt/tags/tag3.xml><?xml version="1.0" encoding="utf-8"?>
<p:tagLst xmlns:p="http://schemas.openxmlformats.org/presentationml/2006/main">
  <p:tag name="KSO_WM_DIAGRAM_VIRTUALLY_FRAME" val="{&quot;height&quot;:323.28645669291336,&quot;left&quot;:140.63952755905513,&quot;top&quot;:148.6,&quot;width&quot;:715.4486614173228}"/>
</p:tagLst>
</file>

<file path=ppt/tags/tag4.xml><?xml version="1.0" encoding="utf-8"?>
<p:tagLst xmlns:p="http://schemas.openxmlformats.org/presentationml/2006/main">
  <p:tag name="KSO_WM_DIAGRAM_VIRTUALLY_FRAME" val="{&quot;height&quot;:323.28645669291336,&quot;left&quot;:140.63952755905513,&quot;top&quot;:148.6,&quot;width&quot;:715.4486614173228}"/>
</p:tagLst>
</file>

<file path=ppt/tags/tag5.xml><?xml version="1.0" encoding="utf-8"?>
<p:tagLst xmlns:p="http://schemas.openxmlformats.org/presentationml/2006/main">
  <p:tag name="KSO_WM_DIAGRAM_VIRTUALLY_FRAME" val="{&quot;height&quot;:323.28645669291336,&quot;left&quot;:140.63952755905513,&quot;top&quot;:148.6,&quot;width&quot;:715.4486614173228}"/>
</p:tagLst>
</file>

<file path=ppt/tags/tag6.xml><?xml version="1.0" encoding="utf-8"?>
<p:tagLst xmlns:p="http://schemas.openxmlformats.org/presentationml/2006/main">
  <p:tag name="KSO_WM_DIAGRAM_VIRTUALLY_FRAME" val="{&quot;height&quot;:323.28645669291336,&quot;left&quot;:140.63952755905513,&quot;top&quot;:148.6,&quot;width&quot;:715.4486614173228}"/>
</p:tagLst>
</file>

<file path=ppt/tags/tag7.xml><?xml version="1.0" encoding="utf-8"?>
<p:tagLst xmlns:p="http://schemas.openxmlformats.org/presentationml/2006/main">
  <p:tag name="KSO_WM_DIAGRAM_VIRTUALLY_FRAME" val="{&quot;height&quot;:323.28645669291336,&quot;left&quot;:140.63952755905513,&quot;top&quot;:148.6,&quot;width&quot;:715.4486614173228}"/>
</p:tagLst>
</file>

<file path=ppt/tags/tag8.xml><?xml version="1.0" encoding="utf-8"?>
<p:tagLst xmlns:p="http://schemas.openxmlformats.org/presentationml/2006/main">
  <p:tag name="KSO_WM_DIAGRAM_VIRTUALLY_FRAME" val="{&quot;height&quot;:323.28645669291336,&quot;left&quot;:140.63952755905513,&quot;top&quot;:148.6,&quot;width&quot;:715.4486614173228}"/>
</p:tagLst>
</file>

<file path=ppt/tags/tag9.xml><?xml version="1.0" encoding="utf-8"?>
<p:tagLst xmlns:p="http://schemas.openxmlformats.org/presentationml/2006/main">
  <p:tag name="KSO_WM_DIAGRAM_VIRTUALLY_FRAME" val="{&quot;height&quot;:323.28645669291336,&quot;left&quot;:140.63952755905513,&quot;top&quot;:148.6,&quot;width&quot;:715.4486614173228}"/>
</p:tagLst>
</file>

<file path=ppt/tags/tag10.xml><?xml version="1.0" encoding="utf-8"?>
<p:tagLst xmlns:p="http://schemas.openxmlformats.org/presentationml/2006/main">
  <p:tag name="KSO_WM_DIAGRAM_VIRTUALLY_FRAME" val="{&quot;height&quot;:323.28645669291336,&quot;left&quot;:140.63952755905513,&quot;top&quot;:148.6,&quot;width&quot;:715.4486614173228}"/>
</p:tagLst>
</file>

<file path=ppt/tags/tag11.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2.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3.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4.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5.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6.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7.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8.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19.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20.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21.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22.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23.xml><?xml version="1.0" encoding="utf-8"?>
<p:tagLst xmlns:p="http://schemas.openxmlformats.org/presentationml/2006/main">
  <p:tag name="KSO_WM_DIAGRAM_VIRTUALLY_FRAME" val="{&quot;height&quot;:258.5707874015749,&quot;left&quot;:62.341574803149605,&quot;top&quot;:169.72669291338582,&quot;width&quot;:845.9084251968504}"/>
</p:tagLst>
</file>

<file path=ppt/tags/tag24.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25.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26.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27.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28.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29.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30.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31.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2.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3.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4.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35.xml><?xml version="1.0" encoding="utf-8"?>
<p:tagLst xmlns:p="http://schemas.openxmlformats.org/presentationml/2006/main">
  <p:tag name="KSO_WM_DIAGRAM_VIRTUALLY_FRAME" val="{&quot;height&quot;:285.6051968503937,&quot;left&quot;:115.741968503937,&quot;top&quot;:170.0283464566929,&quot;width&quot;:728.5160629921259}"/>
</p:tagLst>
</file>

<file path=ppt/tags/tag36.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7.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8.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39.xml><?xml version="1.0" encoding="utf-8"?>
<p:tagLst xmlns:p="http://schemas.openxmlformats.org/presentationml/2006/main">
  <p:tag name="KSO_WM_DIAGRAM_VIRTUALLY_FRAME" val="{&quot;height&quot;:292.1051968503937,&quot;left&quot;:115.741968503937,&quot;top&quot;:170.0283464566929,&quot;width&quot;:728.5160629921259}"/>
</p:tagLst>
</file>

<file path=ppt/tags/tag40.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1.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2.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3.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4.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5.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6.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7.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8.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49.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0.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1.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2.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3.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4.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5.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6.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7.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8.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59.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60.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61.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62.xml><?xml version="1.0" encoding="utf-8"?>
<p:tagLst xmlns:p="http://schemas.openxmlformats.org/presentationml/2006/main">
  <p:tag name="KSO_WM_DIAGRAM_VIRTUALLY_FRAME" val="{&quot;height&quot;:415.41393700787404,&quot;left&quot;:139.6235433070866,&quot;top&quot;:142.44732283464566,&quot;width&quot;:711.0858267716536}"/>
</p:tagLst>
</file>

<file path=ppt/tags/tag63.xml><?xml version="1.0" encoding="utf-8"?>
<p:tagLst xmlns:p="http://schemas.openxmlformats.org/presentationml/2006/main">
  <p:tag name="KSO_WM_DIAGRAM_VIRTUALLY_FRAME" val="{&quot;height&quot;:397.81637795275594,&quot;left&quot;:508.03759842519696,&quot;top&quot;:146.15,&quot;width&quot;:353.09972440944864}"/>
</p:tagLst>
</file>

<file path=ppt/tags/tag64.xml><?xml version="1.0" encoding="utf-8"?>
<p:tagLst xmlns:p="http://schemas.openxmlformats.org/presentationml/2006/main">
  <p:tag name="KSO_WM_DIAGRAM_VIRTUALLY_FRAME" val="{&quot;height&quot;:397.81637795275594,&quot;left&quot;:508.03759842519696,&quot;top&quot;:146.15,&quot;width&quot;:353.09972440944864}"/>
</p:tagLst>
</file>

<file path=ppt/tags/tag65.xml><?xml version="1.0" encoding="utf-8"?>
<p:tagLst xmlns:p="http://schemas.openxmlformats.org/presentationml/2006/main">
  <p:tag name="KSO_WM_DIAGRAM_VIRTUALLY_FRAME" val="{&quot;height&quot;:397.81637795275594,&quot;left&quot;:508.03759842519696,&quot;top&quot;:146.15,&quot;width&quot;:353.09972440944864}"/>
</p:tagLst>
</file>

<file path=ppt/tags/tag66.xml><?xml version="1.0" encoding="utf-8"?>
<p:tagLst xmlns:p="http://schemas.openxmlformats.org/presentationml/2006/main">
  <p:tag name="KSO_WM_DIAGRAM_VIRTUALLY_FRAME" val="{&quot;height&quot;:397.81637795275594,&quot;left&quot;:508.03759842519696,&quot;top&quot;:146.15,&quot;width&quot;:353.09972440944864}"/>
</p:tagLst>
</file>

<file path=ppt/tags/tag67.xml><?xml version="1.0" encoding="utf-8"?>
<p:tagLst xmlns:p="http://schemas.openxmlformats.org/presentationml/2006/main">
  <p:tag name="KSO_WM_DIAGRAM_VIRTUALLY_FRAME" val="{&quot;height&quot;:397.81637795275594,&quot;left&quot;:508.03759842519696,&quot;top&quot;:146.15,&quot;width&quot;:353.09972440944864}"/>
</p:tagLst>
</file>

<file path=ppt/tags/tag68.xml><?xml version="1.0" encoding="utf-8"?>
<p:tagLst xmlns:p="http://schemas.openxmlformats.org/presentationml/2006/main">
  <p:tag name="KSO_WM_DIAGRAM_VIRTUALLY_FRAME" val="{&quot;height&quot;:397.81637795275594,&quot;left&quot;:508.03759842519696,&quot;top&quot;:146.15,&quot;width&quot;:353.09972440944864}"/>
</p:tagLst>
</file>

<file path=ppt/tags/tag69.xml><?xml version="1.0" encoding="utf-8"?>
<p:tagLst xmlns:p="http://schemas.openxmlformats.org/presentationml/2006/main">
  <p:tag name="KSO_WM_DIAGRAM_VIRTUALLY_FRAME" val="{&quot;height&quot;:397.81637795275594,&quot;left&quot;:508.03759842519696,&quot;top&quot;:146.15,&quot;width&quot;:353.09972440944864}"/>
</p:tagLst>
</file>

<file path=ppt/tags/tag70.xml><?xml version="1.0" encoding="utf-8"?>
<p:tagLst xmlns:p="http://schemas.openxmlformats.org/presentationml/2006/main">
  <p:tag name="KSO_WM_DIAGRAM_VIRTUALLY_FRAME" val="{&quot;height&quot;:397.81637795275594,&quot;left&quot;:508.03759842519696,&quot;top&quot;:146.15,&quot;width&quot;:353.09972440944864}"/>
</p:tagLst>
</file>

<file path=ppt/tags/tag71.xml><?xml version="1.0" encoding="utf-8"?>
<p:tagLst xmlns:p="http://schemas.openxmlformats.org/presentationml/2006/main">
  <p:tag name="KSO_WM_DIAGRAM_VIRTUALLY_FRAME" val="{&quot;height&quot;:397.81637795275594,&quot;left&quot;:508.03759842519696,&quot;top&quot;:146.15,&quot;width&quot;:353.09972440944864}"/>
</p:tagLst>
</file>

<file path=ppt/tags/tag72.xml><?xml version="1.0" encoding="utf-8"?>
<p:tagLst xmlns:p="http://schemas.openxmlformats.org/presentationml/2006/main">
  <p:tag name="KSO_WM_DIAGRAM_VIRTUALLY_FRAME" val="{&quot;height&quot;:397.81637795275594,&quot;left&quot;:508.03759842519696,&quot;top&quot;:146.15,&quot;width&quot;:353.09972440944864}"/>
</p:tagLst>
</file>

<file path=ppt/tags/tag73.xml><?xml version="1.0" encoding="utf-8"?>
<p:tagLst xmlns:p="http://schemas.openxmlformats.org/presentationml/2006/main">
  <p:tag name="KSO_WM_DIAGRAM_VIRTUALLY_FRAME" val="{&quot;height&quot;:397.81637795275594,&quot;left&quot;:508.03759842519696,&quot;top&quot;:146.15,&quot;width&quot;:353.09972440944864}"/>
</p:tagLst>
</file>

<file path=ppt/tags/tag74.xml><?xml version="1.0" encoding="utf-8"?>
<p:tagLst xmlns:p="http://schemas.openxmlformats.org/presentationml/2006/main">
  <p:tag name="KSO_WM_DIAGRAM_VIRTUALLY_FRAME" val="{&quot;height&quot;:397.81637795275594,&quot;left&quot;:508.03759842519696,&quot;top&quot;:146.15,&quot;width&quot;:353.09972440944864}"/>
</p:tagLst>
</file>

<file path=ppt/tags/tag75.xml><?xml version="1.0" encoding="utf-8"?>
<p:tagLst xmlns:p="http://schemas.openxmlformats.org/presentationml/2006/main">
  <p:tag name="KSO_WM_DIAGRAM_VIRTUALLY_FRAME" val="{&quot;height&quot;:397.81637795275594,&quot;left&quot;:508.03759842519696,&quot;top&quot;:146.15,&quot;width&quot;:353.09972440944864}"/>
</p:tagLst>
</file>

<file path=ppt/tags/tag76.xml><?xml version="1.0" encoding="utf-8"?>
<p:tagLst xmlns:p="http://schemas.openxmlformats.org/presentationml/2006/main">
  <p:tag name="KSO_WM_DIAGRAM_VIRTUALLY_FRAME" val="{&quot;height&quot;:397.81637795275594,&quot;left&quot;:508.03759842519696,&quot;top&quot;:146.15,&quot;width&quot;:353.09972440944864}"/>
</p:tagLst>
</file>

<file path=ppt/tags/tag77.xml><?xml version="1.0" encoding="utf-8"?>
<p:tagLst xmlns:p="http://schemas.openxmlformats.org/presentationml/2006/main">
  <p:tag name="KSO_WM_DIAGRAM_VIRTUALLY_FRAME" val="{&quot;height&quot;:397.81637795275594,&quot;left&quot;:508.03759842519696,&quot;top&quot;:146.15,&quot;width&quot;:353.09972440944864}"/>
</p:tagLst>
</file>

<file path=ppt/tags/tag78.xml><?xml version="1.0" encoding="utf-8"?>
<p:tagLst xmlns:p="http://schemas.openxmlformats.org/presentationml/2006/main">
  <p:tag name="KSO_WM_DIAGRAM_VIRTUALLY_FRAME" val="{&quot;height&quot;:397.81637795275594,&quot;left&quot;:273.3375984251969,&quot;top&quot;:115.5,&quot;width&quot;:366.7124015748031}"/>
</p:tagLst>
</file>

<file path=ppt/tags/tag79.xml><?xml version="1.0" encoding="utf-8"?>
<p:tagLst xmlns:p="http://schemas.openxmlformats.org/presentationml/2006/main">
  <p:tag name="KSO_WM_DIAGRAM_VIRTUALLY_FRAME" val="{&quot;height&quot;:397.81637795275594,&quot;left&quot;:273.3375984251969,&quot;top&quot;:115.5,&quot;width&quot;:366.7124015748031}"/>
</p:tagLst>
</file>

<file path=ppt/tags/tag80.xml><?xml version="1.0" encoding="utf-8"?>
<p:tagLst xmlns:p="http://schemas.openxmlformats.org/presentationml/2006/main">
  <p:tag name="KSO_WM_DIAGRAM_VIRTUALLY_FRAME" val="{&quot;height&quot;:397.81637795275594,&quot;left&quot;:273.3375984251969,&quot;top&quot;:115.5,&quot;width&quot;:366.7124015748031}"/>
</p:tagLst>
</file>

<file path=ppt/tags/tag81.xml><?xml version="1.0" encoding="utf-8"?>
<p:tagLst xmlns:p="http://schemas.openxmlformats.org/presentationml/2006/main">
  <p:tag name="KSO_WM_DIAGRAM_VIRTUALLY_FRAME" val="{&quot;height&quot;:397.81637795275594,&quot;left&quot;:273.3375984251969,&quot;top&quot;:115.5,&quot;width&quot;:366.7124015748031}"/>
</p:tagLst>
</file>

<file path=ppt/tags/tag82.xml><?xml version="1.0" encoding="utf-8"?>
<p:tagLst xmlns:p="http://schemas.openxmlformats.org/presentationml/2006/main">
  <p:tag name="KSO_WM_DIAGRAM_VIRTUALLY_FRAME" val="{&quot;height&quot;:397.81637795275594,&quot;left&quot;:273.3375984251969,&quot;top&quot;:115.5,&quot;width&quot;:366.7124015748031}"/>
</p:tagLst>
</file>

<file path=ppt/tags/tag83.xml><?xml version="1.0" encoding="utf-8"?>
<p:tagLst xmlns:p="http://schemas.openxmlformats.org/presentationml/2006/main">
  <p:tag name="KSO_WM_DIAGRAM_VIRTUALLY_FRAME" val="{&quot;height&quot;:397.81637795275594,&quot;left&quot;:273.3375984251969,&quot;top&quot;:115.5,&quot;width&quot;:366.7124015748031}"/>
</p:tagLst>
</file>

<file path=ppt/tags/tag84.xml><?xml version="1.0" encoding="utf-8"?>
<p:tagLst xmlns:p="http://schemas.openxmlformats.org/presentationml/2006/main">
  <p:tag name="KSO_WM_DIAGRAM_VIRTUALLY_FRAME" val="{&quot;height&quot;:397.81637795275594,&quot;left&quot;:273.3375984251969,&quot;top&quot;:115.5,&quot;width&quot;:366.7124015748031}"/>
</p:tagLst>
</file>

<file path=ppt/tags/tag85.xml><?xml version="1.0" encoding="utf-8"?>
<p:tagLst xmlns:p="http://schemas.openxmlformats.org/presentationml/2006/main">
  <p:tag name="KSO_WM_DIAGRAM_VIRTUALLY_FRAME" val="{&quot;height&quot;:397.81637795275594,&quot;left&quot;:273.3375984251969,&quot;top&quot;:115.5,&quot;width&quot;:366.7124015748031}"/>
</p:tagLst>
</file>

<file path=ppt/tags/tag86.xml><?xml version="1.0" encoding="utf-8"?>
<p:tagLst xmlns:p="http://schemas.openxmlformats.org/presentationml/2006/main">
  <p:tag name="KSO_WM_DIAGRAM_VIRTUALLY_FRAME" val="{&quot;height&quot;:397.81637795275594,&quot;left&quot;:273.3375984251969,&quot;top&quot;:115.5,&quot;width&quot;:366.7124015748031}"/>
</p:tagLst>
</file>

<file path=ppt/tags/tag87.xml><?xml version="1.0" encoding="utf-8"?>
<p:tagLst xmlns:p="http://schemas.openxmlformats.org/presentationml/2006/main">
  <p:tag name="KSO_WM_DIAGRAM_VIRTUALLY_FRAME" val="{&quot;height&quot;:397.81637795275594,&quot;left&quot;:273.3375984251969,&quot;top&quot;:115.5,&quot;width&quot;:366.7124015748031}"/>
</p:tagLst>
</file>

<file path=ppt/tags/tag88.xml><?xml version="1.0" encoding="utf-8"?>
<p:tagLst xmlns:p="http://schemas.openxmlformats.org/presentationml/2006/main">
  <p:tag name="KSO_WM_DIAGRAM_VIRTUALLY_FRAME" val="{&quot;height&quot;:397.81637795275594,&quot;left&quot;:273.3375984251969,&quot;top&quot;:115.5,&quot;width&quot;:366.7124015748031}"/>
</p:tagLst>
</file>

<file path=ppt/tags/tag89.xml><?xml version="1.0" encoding="utf-8"?>
<p:tagLst xmlns:p="http://schemas.openxmlformats.org/presentationml/2006/main">
  <p:tag name="KSO_WM_DIAGRAM_VIRTUALLY_FRAME" val="{&quot;height&quot;:397.81637795275594,&quot;left&quot;:273.3375984251969,&quot;top&quot;:115.5,&quot;width&quot;:366.7124015748031}"/>
</p:tagLst>
</file>

<file path=ppt/tags/tag90.xml><?xml version="1.0" encoding="utf-8"?>
<p:tagLst xmlns:p="http://schemas.openxmlformats.org/presentationml/2006/main">
  <p:tag name="KSO_WM_DIAGRAM_VIRTUALLY_FRAME" val="{&quot;height&quot;:397.81637795275594,&quot;left&quot;:273.3375984251969,&quot;top&quot;:115.5,&quot;width&quot;:366.7124015748031}"/>
</p:tagLst>
</file>

<file path=ppt/tags/tag91.xml><?xml version="1.0" encoding="utf-8"?>
<p:tagLst xmlns:p="http://schemas.openxmlformats.org/presentationml/2006/main">
  <p:tag name="KSO_WM_DIAGRAM_VIRTUALLY_FRAME" val="{&quot;height&quot;:397.81637795275594,&quot;left&quot;:273.3375984251969,&quot;top&quot;:115.5,&quot;width&quot;:366.7124015748031}"/>
</p:tagLst>
</file>

<file path=ppt/tags/tag92.xml><?xml version="1.0" encoding="utf-8"?>
<p:tagLst xmlns:p="http://schemas.openxmlformats.org/presentationml/2006/main">
  <p:tag name="KSO_WM_DIAGRAM_VIRTUALLY_FRAME" val="{&quot;height&quot;:397.81637795275594,&quot;left&quot;:273.3375984251969,&quot;top&quot;:115.5,&quot;width&quot;:366.7124015748031}"/>
</p:tagLst>
</file>

<file path=ppt/tags/tag93.xml><?xml version="1.0" encoding="utf-8"?>
<p:tagLst xmlns:p="http://schemas.openxmlformats.org/presentationml/2006/main">
  <p:tag name="KSO_WM_DIAGRAM_VIRTUALLY_FRAME" val="{&quot;height&quot;:308.5314960629922,&quot;left&quot;:58.95,&quot;top&quot;:150.32566929133858,&quot;width&quot;:824.6158267716535}"/>
</p:tagLst>
</file>

<file path=ppt/tags/tag94.xml><?xml version="1.0" encoding="utf-8"?>
<p:tagLst xmlns:p="http://schemas.openxmlformats.org/presentationml/2006/main">
  <p:tag name="KSO_WM_DIAGRAM_VIRTUALLY_FRAME" val="{&quot;height&quot;:308.5314960629922,&quot;left&quot;:58.95,&quot;top&quot;:150.32566929133858,&quot;width&quot;:824.6158267716535}"/>
</p:tagLst>
</file>

<file path=ppt/tags/tag95.xml><?xml version="1.0" encoding="utf-8"?>
<p:tagLst xmlns:p="http://schemas.openxmlformats.org/presentationml/2006/main">
  <p:tag name="KSO_WM_DIAGRAM_VIRTUALLY_FRAME" val="{&quot;height&quot;:308.5314960629922,&quot;left&quot;:58.95,&quot;top&quot;:150.32566929133858,&quot;width&quot;:824.6158267716535}"/>
</p:tagLst>
</file>

<file path=ppt/tags/tag96.xml><?xml version="1.0" encoding="utf-8"?>
<p:tagLst xmlns:p="http://schemas.openxmlformats.org/presentationml/2006/main">
  <p:tag name="KSO_WM_DIAGRAM_VIRTUALLY_FRAME" val="{&quot;height&quot;:308.5314960629922,&quot;left&quot;:58.95,&quot;top&quot;:150.32566929133858,&quot;width&quot;:824.6158267716535}"/>
</p:tagLst>
</file>

<file path=ppt/tags/tag97.xml><?xml version="1.0" encoding="utf-8"?>
<p:tagLst xmlns:p="http://schemas.openxmlformats.org/presentationml/2006/main">
  <p:tag name="KSO_WM_DIAGRAM_VIRTUALLY_FRAME" val="{&quot;height&quot;:308.5314960629922,&quot;left&quot;:58.95,&quot;top&quot;:150.32566929133858,&quot;width&quot;:824.6158267716535}"/>
</p:tagLst>
</file>

<file path=ppt/tags/tag98.xml><?xml version="1.0" encoding="utf-8"?>
<p:tagLst xmlns:p="http://schemas.openxmlformats.org/presentationml/2006/main">
  <p:tag name="KSO_WM_DIAGRAM_VIRTUALLY_FRAME" val="{&quot;height&quot;:308.5314960629922,&quot;left&quot;:58.95,&quot;top&quot;:150.32566929133858,&quot;width&quot;:824.6158267716535}"/>
</p:tagLst>
</file>

<file path=ppt/tags/tag99.xml><?xml version="1.0" encoding="utf-8"?>
<p:tagLst xmlns:p="http://schemas.openxmlformats.org/presentationml/2006/main">
  <p:tag name="KSO_WM_DIAGRAM_VIRTUALLY_FRAME" val="{&quot;height&quot;:308.5314960629922,&quot;left&quot;:58.95,&quot;top&quot;:150.32566929133858,&quot;width&quot;:824.6158267716535}"/>
</p:tagLst>
</file>

<file path=ppt/tags/tag100.xml><?xml version="1.0" encoding="utf-8"?>
<p:tagLst xmlns:p="http://schemas.openxmlformats.org/presentationml/2006/main">
  <p:tag name="KSO_WM_DIAGRAM_VIRTUALLY_FRAME" val="{&quot;height&quot;:308.5314960629922,&quot;left&quot;:58.95,&quot;top&quot;:150.32566929133858,&quot;width&quot;:824.6158267716535}"/>
</p:tagLst>
</file>

<file path=ppt/tags/tag101.xml><?xml version="1.0" encoding="utf-8"?>
<p:tagLst xmlns:p="http://schemas.openxmlformats.org/presentationml/2006/main">
  <p:tag name="KSO_WM_DIAGRAM_VIRTUALLY_FRAME" val="{&quot;height&quot;:308.5314960629922,&quot;left&quot;:58.95,&quot;top&quot;:150.32566929133858,&quot;width&quot;:824.6158267716535}"/>
</p:tagLst>
</file>

<file path=ppt/tags/tag102.xml><?xml version="1.0" encoding="utf-8"?>
<p:tagLst xmlns:p="http://schemas.openxmlformats.org/presentationml/2006/main">
  <p:tag name="KSO_WM_DIAGRAM_VIRTUALLY_FRAME" val="{&quot;height&quot;:308.5314960629922,&quot;left&quot;:58.95,&quot;top&quot;:150.32566929133858,&quot;width&quot;:824.6158267716535}"/>
</p:tagLst>
</file>

<file path=ppt/tags/tag103.xml><?xml version="1.0" encoding="utf-8"?>
<p:tagLst xmlns:p="http://schemas.openxmlformats.org/presentationml/2006/main">
  <p:tag name="KSO_WM_DIAGRAM_VIRTUALLY_FRAME" val="{&quot;height&quot;:308.5314960629922,&quot;left&quot;:58.95,&quot;top&quot;:150.32566929133858,&quot;width&quot;:824.6158267716535}"/>
</p:tagLst>
</file>

<file path=ppt/tags/tag104.xml><?xml version="1.0" encoding="utf-8"?>
<p:tagLst xmlns:p="http://schemas.openxmlformats.org/presentationml/2006/main">
  <p:tag name="KSO_WM_DIAGRAM_VIRTUALLY_FRAME" val="{&quot;height&quot;:308.5314960629922,&quot;left&quot;:58.95,&quot;top&quot;:150.32566929133858,&quot;width&quot;:824.6158267716535}"/>
</p:tagLst>
</file>

<file path=ppt/tags/tag105.xml><?xml version="1.0" encoding="utf-8"?>
<p:tagLst xmlns:p="http://schemas.openxmlformats.org/presentationml/2006/main">
  <p:tag name="KSO_WM_DIAGRAM_VIRTUALLY_FRAME" val="{&quot;height&quot;:308.5314960629922,&quot;left&quot;:58.95,&quot;top&quot;:150.32566929133858,&quot;width&quot;:824.6158267716535}"/>
</p:tagLst>
</file>

<file path=ppt/tags/tag106.xml><?xml version="1.0" encoding="utf-8"?>
<p:tagLst xmlns:p="http://schemas.openxmlformats.org/presentationml/2006/main">
  <p:tag name="KSO_WM_DIAGRAM_VIRTUALLY_FRAME" val="{&quot;height&quot;:308.5314960629922,&quot;left&quot;:58.95,&quot;top&quot;:150.32566929133858,&quot;width&quot;:824.6158267716535}"/>
</p:tagLst>
</file>

<file path=ppt/tags/tag107.xml><?xml version="1.0" encoding="utf-8"?>
<p:tagLst xmlns:p="http://schemas.openxmlformats.org/presentationml/2006/main">
  <p:tag name="KSO_WM_DIAGRAM_VIRTUALLY_FRAME" val="{&quot;height&quot;:308.5314960629922,&quot;left&quot;:58.95,&quot;top&quot;:150.32566929133858,&quot;width&quot;:824.6158267716535}"/>
</p:tagLst>
</file>

<file path=ppt/tags/tag108.xml><?xml version="1.0" encoding="utf-8"?>
<p:tagLst xmlns:p="http://schemas.openxmlformats.org/presentationml/2006/main">
  <p:tag name="KSO_WM_DIAGRAM_VIRTUALLY_FRAME" val="{&quot;height&quot;:308.5314960629922,&quot;left&quot;:58.95,&quot;top&quot;:150.32566929133858,&quot;width&quot;:824.6158267716535}"/>
</p:tagLst>
</file>

<file path=ppt/tags/tag109.xml><?xml version="1.0" encoding="utf-8"?>
<p:tagLst xmlns:p="http://schemas.openxmlformats.org/presentationml/2006/main">
  <p:tag name="KSO_WM_DIAGRAM_VIRTUALLY_FRAME" val="{&quot;height&quot;:308.5314960629922,&quot;left&quot;:58.95,&quot;top&quot;:150.32566929133858,&quot;width&quot;:824.6158267716535}"/>
</p:tagLst>
</file>

<file path=ppt/tags/tag110.xml><?xml version="1.0" encoding="utf-8"?>
<p:tagLst xmlns:p="http://schemas.openxmlformats.org/presentationml/2006/main">
  <p:tag name="KSO_WM_DIAGRAM_VIRTUALLY_FRAME" val="{&quot;height&quot;:308.5314960629922,&quot;left&quot;:58.95,&quot;top&quot;:150.32566929133858,&quot;width&quot;:824.6158267716535}"/>
</p:tagLst>
</file>

<file path=ppt/tags/tag111.xml><?xml version="1.0" encoding="utf-8"?>
<p:tagLst xmlns:p="http://schemas.openxmlformats.org/presentationml/2006/main">
  <p:tag name="KSO_WM_DIAGRAM_VIRTUALLY_FRAME" val="{&quot;height&quot;:308.5314960629922,&quot;left&quot;:58.95,&quot;top&quot;:150.32566929133858,&quot;width&quot;:824.6158267716535}"/>
</p:tagLst>
</file>

<file path=ppt/tags/tag112.xml><?xml version="1.0" encoding="utf-8"?>
<p:tagLst xmlns:p="http://schemas.openxmlformats.org/presentationml/2006/main">
  <p:tag name="KSO_WM_DIAGRAM_VIRTUALLY_FRAME" val="{&quot;height&quot;:308.5314960629922,&quot;left&quot;:58.95,&quot;top&quot;:150.32566929133858,&quot;width&quot;:824.6158267716535}"/>
</p:tagLst>
</file>

<file path=ppt/tags/tag113.xml><?xml version="1.0" encoding="utf-8"?>
<p:tagLst xmlns:p="http://schemas.openxmlformats.org/presentationml/2006/main">
  <p:tag name="KSO_WM_DIAGRAM_VIRTUALLY_FRAME" val="{&quot;height&quot;:308.5314960629922,&quot;left&quot;:58.95,&quot;top&quot;:150.32566929133858,&quot;width&quot;:824.6158267716535}"/>
</p:tagLst>
</file>

<file path=ppt/tags/tag114.xml><?xml version="1.0" encoding="utf-8"?>
<p:tagLst xmlns:p="http://schemas.openxmlformats.org/presentationml/2006/main">
  <p:tag name="KSO_WM_DIAGRAM_VIRTUALLY_FRAME" val="{&quot;height&quot;:308.5314960629922,&quot;left&quot;:58.95,&quot;top&quot;:150.32566929133858,&quot;width&quot;:824.6158267716535}"/>
</p:tagLst>
</file>

<file path=ppt/tags/tag115.xml><?xml version="1.0" encoding="utf-8"?>
<p:tagLst xmlns:p="http://schemas.openxmlformats.org/presentationml/2006/main">
  <p:tag name="KSO_WM_DIAGRAM_VIRTUALLY_FRAME" val="{&quot;height&quot;:308.5314960629922,&quot;left&quot;:58.95,&quot;top&quot;:150.32566929133858,&quot;width&quot;:824.6158267716535}"/>
</p:tagLst>
</file>

<file path=ppt/tags/tag116.xml><?xml version="1.0" encoding="utf-8"?>
<p:tagLst xmlns:p="http://schemas.openxmlformats.org/presentationml/2006/main">
  <p:tag name="KSO_WM_DIAGRAM_VIRTUALLY_FRAME" val="{&quot;height&quot;:308.5314960629922,&quot;left&quot;:58.95,&quot;top&quot;:150.32566929133858,&quot;width&quot;:824.6158267716535}"/>
</p:tagLst>
</file>

<file path=ppt/tags/tag117.xml><?xml version="1.0" encoding="utf-8"?>
<p:tagLst xmlns:p="http://schemas.openxmlformats.org/presentationml/2006/main">
  <p:tag name="KSO_WM_DIAGRAM_VIRTUALLY_FRAME" val="{&quot;height&quot;:308.5314960629922,&quot;left&quot;:58.95,&quot;top&quot;:150.32566929133858,&quot;width&quot;:824.6158267716535}"/>
</p:tagLst>
</file>

<file path=ppt/tags/tag118.xml><?xml version="1.0" encoding="utf-8"?>
<p:tagLst xmlns:p="http://schemas.openxmlformats.org/presentationml/2006/main">
  <p:tag name="KSO_WM_DIAGRAM_VIRTUALLY_FRAME" val="{&quot;height&quot;:308.5314960629922,&quot;left&quot;:58.95,&quot;top&quot;:150.32566929133858,&quot;width&quot;:824.6158267716535}"/>
</p:tagLst>
</file>

<file path=ppt/tags/tag119.xml><?xml version="1.0" encoding="utf-8"?>
<p:tagLst xmlns:p="http://schemas.openxmlformats.org/presentationml/2006/main">
  <p:tag name="KSO_WM_DIAGRAM_VIRTUALLY_FRAME" val="{&quot;height&quot;:308.5314960629922,&quot;left&quot;:58.95,&quot;top&quot;:150.32566929133858,&quot;width&quot;:824.6158267716535}"/>
</p:tagLst>
</file>

<file path=ppt/tags/tag120.xml><?xml version="1.0" encoding="utf-8"?>
<p:tagLst xmlns:p="http://schemas.openxmlformats.org/presentationml/2006/main">
  <p:tag name="KSO_WM_DIAGRAM_VIRTUALLY_FRAME" val="{&quot;height&quot;:308.5314960629922,&quot;left&quot;:58.95,&quot;top&quot;:150.32566929133858,&quot;width&quot;:824.6158267716535}"/>
</p:tagLst>
</file>

<file path=ppt/tags/tag121.xml><?xml version="1.0" encoding="utf-8"?>
<p:tagLst xmlns:p="http://schemas.openxmlformats.org/presentationml/2006/main">
  <p:tag name="commondata" val="eyJjb3VudCI6NiwiaGRpZCI6IjQ4NjI0NGQ0MjBmYTlhY2M5NjhkZmI5ZmI0NTJhNjIwIiwidXNlckNvdW50Ijo2fQ=="/>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005FA5"/>
      </a:accent1>
      <a:accent2>
        <a:srgbClr val="D52323"/>
      </a:accent2>
      <a:accent3>
        <a:srgbClr val="5596BE"/>
      </a:accent3>
      <a:accent4>
        <a:srgbClr val="DC4646"/>
      </a:accent4>
      <a:accent5>
        <a:srgbClr val="82AACD"/>
      </a:accent5>
      <a:accent6>
        <a:srgbClr val="E68C8C"/>
      </a:accent6>
      <a:hlink>
        <a:srgbClr val="005FA5"/>
      </a:hlink>
      <a:folHlink>
        <a:srgbClr val="BFBFBF"/>
      </a:folHlink>
    </a:clrScheme>
    <a:fontScheme name="2hzfxry5">
      <a:majorFont>
        <a:latin typeface="AvantGarde Bk BT"/>
        <a:ea typeface="幼圆"/>
        <a:cs typeface=""/>
      </a:majorFont>
      <a:minorFont>
        <a:latin typeface="AvantGarde Bk BT"/>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幼圆"/>
        <a:ea typeface=""/>
        <a:cs typeface=""/>
        <a:font script="Jpan" typeface="游ゴシック"/>
        <a:font script="Hang" typeface="맑은 고딕"/>
        <a:font script="Hans" typeface="幼圆"/>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幼圆"/>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antGarde Bk BT"/>
        <a:ea typeface=""/>
        <a:cs typeface=""/>
        <a:font script="Jpan" typeface="ＭＳ Ｐゴシック"/>
        <a:font script="Hang" typeface="맑은 고딕"/>
        <a:font script="Hans" typeface="幼圆"/>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005FA5"/>
    </a:accent1>
    <a:accent2>
      <a:srgbClr val="D52323"/>
    </a:accent2>
    <a:accent3>
      <a:srgbClr val="5596BE"/>
    </a:accent3>
    <a:accent4>
      <a:srgbClr val="DC4646"/>
    </a:accent4>
    <a:accent5>
      <a:srgbClr val="82AACD"/>
    </a:accent5>
    <a:accent6>
      <a:srgbClr val="E68C8C"/>
    </a:accent6>
    <a:hlink>
      <a:srgbClr val="005FA5"/>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6532</Words>
  <Application>WPS 演示</Application>
  <PresentationFormat>宽屏</PresentationFormat>
  <Paragraphs>268</Paragraphs>
  <Slides>25</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宋体</vt:lpstr>
      <vt:lpstr>Wingdings</vt:lpstr>
      <vt:lpstr>幼圆</vt:lpstr>
      <vt:lpstr>AvantGarde Bk BT</vt:lpstr>
      <vt:lpstr>Yu Gothic UI Semilight</vt:lpstr>
      <vt:lpstr>微软雅黑</vt:lpstr>
      <vt:lpstr>Arial Unicode MS</vt:lpstr>
      <vt:lpstr>Montserrat</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姚米多</dc:creator>
  <cp:lastModifiedBy>LLM菜鸟进行时</cp:lastModifiedBy>
  <cp:revision>20</cp:revision>
  <dcterms:created xsi:type="dcterms:W3CDTF">2021-02-09T14:00:00Z</dcterms:created>
  <dcterms:modified xsi:type="dcterms:W3CDTF">2024-12-19T12:35:42Z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v1.0_mb_zsGVZEXrJyLvs/h23AKHpQ==</vt:lpwstr>
  </property>
  <property fmtid="{D5CDD505-2E9C-101B-9397-08002B2CF9AE}" pid="4" name="ICV">
    <vt:lpwstr>3C636D68E5054EF9A1A2CEE2BB900D1E_11</vt:lpwstr>
  </property>
</Properties>
</file>